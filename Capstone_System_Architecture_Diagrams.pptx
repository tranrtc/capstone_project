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65C0"/>
                </a:solidFill>
              </a:defRPr>
            </a:pPr>
            <a:r>
              <a:t>System Architecture (Container 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36366"/>
                </a:solidFill>
              </a:defRPr>
            </a:pPr>
            <a:r>
              <a:t>React frontend + ASP.NET Core backend + SQL Server + MQTT + SignalR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0"/>
          </a:xfrm>
          <a:prstGeom prst="rect">
            <a:avLst/>
          </a:prstGeom>
          <a:solidFill>
            <a:srgbClr val="F7F9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[Operator Browser]</a:t>
            </a:r>
          </a:p>
          <a:p/>
          <a:p>
            <a:r>
              <a:t> | HTTP REST                             | SignalR (WebSocket)</a:t>
            </a:r>
          </a:p>
          <a:p/>
          <a:p>
            <a:r>
              <a:t> v                                       v</a:t>
            </a:r>
          </a:p>
          <a:p/>
          <a:p>
            <a:r>
              <a:t>[React SPA] ----------------------------&gt; [MonitoringHub]</a:t>
            </a:r>
          </a:p>
          <a:p/>
          <a:p>
            <a:r>
              <a:t>  |</a:t>
            </a:r>
          </a:p>
          <a:p/>
          <a:p>
            <a:r>
              <a:t>  v</a:t>
            </a:r>
          </a:p>
          <a:p/>
          <a:p>
            <a:r>
              <a:t>[ASP.NET Core API Controllers]</a:t>
            </a:r>
          </a:p>
          <a:p/>
          <a:p>
            <a:r>
              <a:t>  |</a:t>
            </a:r>
          </a:p>
          <a:p/>
          <a:p>
            <a:r>
              <a:t>  v</a:t>
            </a:r>
          </a:p>
          <a:p/>
          <a:p>
            <a:r>
              <a:t>[Application Services] -&gt; [Repositories] -&gt; [ApplicationDbContext] -&gt; [SQL Server]</a:t>
            </a:r>
          </a:p>
          <a:p/>
          <a:p>
            <a:r>
              <a:t>  ^</a:t>
            </a:r>
          </a:p>
          <a:p/>
          <a:p>
            <a:r>
              <a:t>  |</a:t>
            </a:r>
          </a:p>
          <a:p/>
          <a:p>
            <a:r>
              <a:t>[MqttService Hosted Worker] &lt;- MQTT topics &lt;- [MQTT Broker] &lt;- [IoT Devices / Gateway]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40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565C0"/>
                </a:solidFill>
              </a:defRPr>
            </a:pPr>
            <a: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REST handles CRUD/query operations; SignalR handles live updates.</a:t>
            </a:r>
          </a:p>
          <a:p>
            <a:pPr>
              <a:defRPr sz="1300"/>
            </a:pPr>
            <a:r>
              <a:t>• MQTT ingestion is isolated in a background hosted service.</a:t>
            </a:r>
          </a:p>
          <a:p>
            <a:pPr>
              <a:defRPr sz="1300"/>
            </a:pPr>
            <a:r>
              <a:t>• Service + repository layers separate business logic and data access.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65C0"/>
                </a:solidFill>
              </a:defRPr>
            </a:pPr>
            <a:r>
              <a:t>Real-Time Data Flow (Sequence)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36366"/>
                </a:solidFill>
              </a:defRPr>
            </a:pPr>
            <a:r>
              <a:t>End-to-end telemetry and alert broadcast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0"/>
          </a:xfrm>
          <a:prstGeom prst="rect">
            <a:avLst/>
          </a:prstGeom>
          <a:solidFill>
            <a:srgbClr val="F7F9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IoT Device -&gt; MQTT Broker -&gt; MqttService -&gt; SensorReadingService</a:t>
            </a:r>
          </a:p>
          <a:p/>
          <a:p>
            <a:r>
              <a:t>SensorReadingService -&gt; SQL Server (persist reading, update last seen)</a:t>
            </a:r>
          </a:p>
          <a:p/>
          <a:p>
            <a:r>
              <a:t>SensorReadingService -&gt; AlertService (evaluate rules)</a:t>
            </a:r>
          </a:p>
          <a:p/>
          <a:p>
            <a:r>
              <a:t>SensorReadingService -&gt; SignalRNotificationService -&gt; MonitoringHub -&gt; React UI</a:t>
            </a:r>
          </a:p>
          <a:p/>
          <a:p>
            <a:r>
              <a:t>React UI receives: SensorReadingReceived / NewAlert / AlertResolved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40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565C0"/>
                </a:solidFill>
              </a:defRPr>
            </a:pPr>
            <a: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Single ingestion path keeps telemetry processing deterministic.</a:t>
            </a:r>
          </a:p>
          <a:p>
            <a:pPr>
              <a:defRPr sz="1300"/>
            </a:pPr>
            <a:r>
              <a:t>• Alerts are evaluated immediately after reading persistence.</a:t>
            </a:r>
          </a:p>
          <a:p>
            <a:pPr>
              <a:defRPr sz="1300"/>
            </a:pPr>
            <a:r>
              <a:t>• Frontend receives push events without page refresh.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65C0"/>
                </a:solidFill>
              </a:defRPr>
            </a:pPr>
            <a:r>
              <a:t>Layered Backend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36366"/>
                </a:solidFill>
              </a:defRPr>
            </a:pPr>
            <a:r>
              <a:t>Maintainable modular monolith with clear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0"/>
          </a:xfrm>
          <a:prstGeom prst="rect">
            <a:avLst/>
          </a:prstGeom>
          <a:solidFill>
            <a:srgbClr val="F7F9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[API Layer]</a:t>
            </a:r>
          </a:p>
          <a:p/>
          <a:p>
            <a:r>
              <a:t>Controllers, MonitoringHub, MqttService</a:t>
            </a:r>
          </a:p>
          <a:p/>
          <a:p>
            <a:r>
              <a:t>      |</a:t>
            </a:r>
          </a:p>
          <a:p/>
          <a:p>
            <a:r>
              <a:t>[Domain Service Layer]</a:t>
            </a:r>
          </a:p>
          <a:p/>
          <a:p>
            <a:r>
              <a:t>DeviceService, SensorService, SensorReadingService, AlertService, AlertRuleService</a:t>
            </a:r>
          </a:p>
          <a:p/>
          <a:p>
            <a:r>
              <a:t>      |</a:t>
            </a:r>
          </a:p>
          <a:p/>
          <a:p>
            <a:r>
              <a:t>[Infrastructure Layer]</a:t>
            </a:r>
          </a:p>
          <a:p/>
          <a:p>
            <a:r>
              <a:t>Repositories, EF Core ApplicationDbContext</a:t>
            </a:r>
          </a:p>
          <a:p/>
          <a:p>
            <a:r>
              <a:t>      |</a:t>
            </a:r>
          </a:p>
          <a:p/>
          <a:p>
            <a:r>
              <a:t>[Data Layer]</a:t>
            </a:r>
          </a:p>
          <a:p/>
          <a:p>
            <a:r>
              <a:t>SQL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40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565C0"/>
                </a:solidFill>
              </a:defRPr>
            </a:pPr>
            <a: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Controller/Hub handle transport concerns.</a:t>
            </a:r>
          </a:p>
          <a:p>
            <a:pPr>
              <a:defRPr sz="1300"/>
            </a:pPr>
            <a:r>
              <a:t>• Services own domain workflows and rules.</a:t>
            </a:r>
          </a:p>
          <a:p>
            <a:pPr>
              <a:defRPr sz="1300"/>
            </a:pPr>
            <a:r>
              <a:t>• Infrastructure abstracts persistence and supports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