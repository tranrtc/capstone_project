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  <p:sldMasterId id="2147483684" r:id="rId4"/>
  </p:sldMasterIdLst>
  <p:notesMasterIdLst>
    <p:notesMasterId r:id="rId25"/>
  </p:notesMasterIdLst>
  <p:sldIdLst>
    <p:sldId id="256" r:id="rId5"/>
    <p:sldId id="289" r:id="rId6"/>
    <p:sldId id="287" r:id="rId7"/>
    <p:sldId id="286" r:id="rId8"/>
    <p:sldId id="288" r:id="rId9"/>
    <p:sldId id="297" r:id="rId10"/>
    <p:sldId id="274" r:id="rId11"/>
    <p:sldId id="294" r:id="rId12"/>
    <p:sldId id="296" r:id="rId13"/>
    <p:sldId id="290" r:id="rId14"/>
    <p:sldId id="291" r:id="rId15"/>
    <p:sldId id="276" r:id="rId16"/>
    <p:sldId id="277" r:id="rId17"/>
    <p:sldId id="278" r:id="rId18"/>
    <p:sldId id="284" r:id="rId19"/>
    <p:sldId id="283" r:id="rId20"/>
    <p:sldId id="285" r:id="rId21"/>
    <p:sldId id="281" r:id="rId22"/>
    <p:sldId id="282" r:id="rId23"/>
    <p:sldId id="295" r:id="rId2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234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DE3E3-4DC4-4033-AB14-8C688262196C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C98F2-B9F0-4148-8C0F-A1926149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8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81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6666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C74A3D-EE77-4EA1-8E36-75207C739CF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19452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190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5E3099-AD53-4D24-BA47-6CABBFAD577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09088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594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669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451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29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4" y="1535113"/>
            <a:ext cx="538763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4" y="2174875"/>
            <a:ext cx="538763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77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4280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930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2" y="273050"/>
            <a:ext cx="401003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1"/>
            <a:ext cx="681389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2" y="1435101"/>
            <a:ext cx="401003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149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78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14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9823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193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351" y="1775355"/>
            <a:ext cx="6475313" cy="12250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2702" y="3238500"/>
            <a:ext cx="5332611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17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2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3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4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5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6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71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7253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0327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71" y="3672417"/>
            <a:ext cx="6475313" cy="1135063"/>
          </a:xfrm>
        </p:spPr>
        <p:txBody>
          <a:bodyPr anchor="t"/>
          <a:lstStyle>
            <a:lvl1pPr algn="l">
              <a:defRPr sz="3332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771" y="2422261"/>
            <a:ext cx="6475313" cy="1250156"/>
          </a:xfrm>
        </p:spPr>
        <p:txBody>
          <a:bodyPr anchor="b"/>
          <a:lstStyle>
            <a:lvl1pPr marL="0" indent="0">
              <a:buNone/>
              <a:defRPr sz="1666">
                <a:solidFill>
                  <a:schemeClr val="tx1">
                    <a:tint val="75000"/>
                  </a:schemeClr>
                </a:solidFill>
              </a:defRPr>
            </a:lvl1pPr>
            <a:lvl2pPr marL="380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1787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3pPr>
            <a:lvl4pPr marL="114268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4pPr>
            <a:lvl5pPr marL="152357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5pPr>
            <a:lvl6pPr marL="190446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6pPr>
            <a:lvl7pPr marL="228536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7pPr>
            <a:lvl8pPr marL="266625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8pPr>
            <a:lvl9pPr marL="304714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6872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090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7249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1084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279261"/>
            <a:ext cx="3365947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0901" y="1812396"/>
            <a:ext cx="3365947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9846" y="1279261"/>
            <a:ext cx="3367269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9846" y="1812396"/>
            <a:ext cx="3367269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0488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4422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529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901" y="227542"/>
            <a:ext cx="2506275" cy="968375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8433" y="227542"/>
            <a:ext cx="4258682" cy="4877594"/>
          </a:xfrm>
        </p:spPr>
        <p:txBody>
          <a:bodyPr/>
          <a:lstStyle>
            <a:lvl1pPr>
              <a:defRPr sz="2666"/>
            </a:lvl1pPr>
            <a:lvl2pPr>
              <a:defRPr sz="2333"/>
            </a:lvl2pPr>
            <a:lvl3pPr>
              <a:defRPr sz="1999"/>
            </a:lvl3pPr>
            <a:lvl4pPr>
              <a:defRPr sz="1666"/>
            </a:lvl4pPr>
            <a:lvl5pPr>
              <a:defRPr sz="1666"/>
            </a:lvl5pPr>
            <a:lvl6pPr>
              <a:defRPr sz="1666"/>
            </a:lvl6pPr>
            <a:lvl7pPr>
              <a:defRPr sz="1666"/>
            </a:lvl7pPr>
            <a:lvl8pPr>
              <a:defRPr sz="1666"/>
            </a:lvl8pPr>
            <a:lvl9pPr>
              <a:defRPr sz="16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0901" y="1195917"/>
            <a:ext cx="2506275" cy="3909219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852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3185" y="4000500"/>
            <a:ext cx="4570809" cy="472282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93185" y="510646"/>
            <a:ext cx="4570809" cy="3429000"/>
          </a:xfrm>
        </p:spPr>
        <p:txBody>
          <a:bodyPr/>
          <a:lstStyle>
            <a:lvl1pPr marL="0" indent="0">
              <a:buNone/>
              <a:defRPr sz="2666"/>
            </a:lvl1pPr>
            <a:lvl2pPr marL="380893" indent="0">
              <a:buNone/>
              <a:defRPr sz="2333"/>
            </a:lvl2pPr>
            <a:lvl3pPr marL="761787" indent="0">
              <a:buNone/>
              <a:defRPr sz="1999"/>
            </a:lvl3pPr>
            <a:lvl4pPr marL="1142680" indent="0">
              <a:buNone/>
              <a:defRPr sz="1666"/>
            </a:lvl4pPr>
            <a:lvl5pPr marL="1523573" indent="0">
              <a:buNone/>
              <a:defRPr sz="1666"/>
            </a:lvl5pPr>
            <a:lvl6pPr marL="1904467" indent="0">
              <a:buNone/>
              <a:defRPr sz="1666"/>
            </a:lvl6pPr>
            <a:lvl7pPr marL="2285360" indent="0">
              <a:buNone/>
              <a:defRPr sz="1666"/>
            </a:lvl7pPr>
            <a:lvl8pPr marL="2666253" indent="0">
              <a:buNone/>
              <a:defRPr sz="1666"/>
            </a:lvl8pPr>
            <a:lvl9pPr marL="3047147" indent="0">
              <a:buNone/>
              <a:defRPr sz="166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3185" y="4472782"/>
            <a:ext cx="4570809" cy="670718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90729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7197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23061" y="228865"/>
            <a:ext cx="1714054" cy="487627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0901" y="228865"/>
            <a:ext cx="5015194" cy="48762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539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7332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8"/>
            <a:ext cx="1096994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600201"/>
            <a:ext cx="1096994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712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86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0901" y="228865"/>
            <a:ext cx="6856214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333500"/>
            <a:ext cx="6856214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0901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02822" y="5296959"/>
            <a:ext cx="2412372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59578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860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380893" rtl="0" eaLnBrk="1" latinLnBrk="0" hangingPunct="1">
        <a:spcBef>
          <a:spcPct val="0"/>
        </a:spcBef>
        <a:buNone/>
        <a:defRPr sz="36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670" indent="-285670" algn="l" defTabSz="380893" rtl="0" eaLnBrk="1" latinLnBrk="0" hangingPunct="1">
        <a:spcBef>
          <a:spcPct val="20000"/>
        </a:spcBef>
        <a:buFont typeface="Arial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1pPr>
      <a:lvl2pPr marL="618952" indent="-238058" algn="l" defTabSz="380893" rtl="0" eaLnBrk="1" latinLnBrk="0" hangingPunct="1">
        <a:spcBef>
          <a:spcPct val="20000"/>
        </a:spcBef>
        <a:buFont typeface="Arial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233" indent="-190447" algn="l" defTabSz="38089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333127" indent="-190447" algn="l" defTabSz="380893" rtl="0" eaLnBrk="1" latinLnBrk="0" hangingPunct="1">
        <a:spcBef>
          <a:spcPct val="20000"/>
        </a:spcBef>
        <a:buFont typeface="Arial"/>
        <a:buChar char="–"/>
        <a:defRPr sz="1666" kern="1200">
          <a:solidFill>
            <a:schemeClr val="tx1"/>
          </a:solidFill>
          <a:latin typeface="+mn-lt"/>
          <a:ea typeface="+mn-ea"/>
          <a:cs typeface="+mn-cs"/>
        </a:defRPr>
      </a:lvl4pPr>
      <a:lvl5pPr marL="1714020" indent="-190447" algn="l" defTabSz="380893" rtl="0" eaLnBrk="1" latinLnBrk="0" hangingPunct="1">
        <a:spcBef>
          <a:spcPct val="20000"/>
        </a:spcBef>
        <a:buFont typeface="Arial"/>
        <a:buChar char="»"/>
        <a:defRPr sz="1666" kern="1200">
          <a:solidFill>
            <a:schemeClr val="tx1"/>
          </a:solidFill>
          <a:latin typeface="+mn-lt"/>
          <a:ea typeface="+mn-ea"/>
          <a:cs typeface="+mn-cs"/>
        </a:defRPr>
      </a:lvl5pPr>
      <a:lvl6pPr marL="209491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6pPr>
      <a:lvl7pPr marL="2475807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7pPr>
      <a:lvl8pPr marL="2856700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8pPr>
      <a:lvl9pPr marL="323759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8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6622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sldNum="0" hdr="0" ftr="0" dt="0"/>
  <p:txStyles>
    <p:titleStyle>
      <a:lvl1pPr algn="ctr" defTabSz="1218895" rtl="0" eaLnBrk="1" latinLnBrk="0" hangingPunct="1">
        <a:spcBef>
          <a:spcPct val="0"/>
        </a:spcBef>
        <a:buNone/>
        <a:defRPr sz="58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086" indent="-457086" algn="l" defTabSz="1218895" rtl="0" eaLnBrk="1" latinLnBrk="0" hangingPunct="1">
        <a:spcBef>
          <a:spcPct val="20000"/>
        </a:spcBef>
        <a:buFont typeface="Arial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352" indent="-380905" algn="l" defTabSz="1218895" rtl="0" eaLnBrk="1" latinLnBrk="0" hangingPunct="1">
        <a:spcBef>
          <a:spcPct val="20000"/>
        </a:spcBef>
        <a:buFont typeface="Arial" pitchFamily="34" charset="0"/>
        <a:buChar char="–"/>
        <a:defRPr sz="3732" kern="1200">
          <a:solidFill>
            <a:schemeClr val="tx1"/>
          </a:solidFill>
          <a:latin typeface="+mn-lt"/>
          <a:ea typeface="+mn-ea"/>
          <a:cs typeface="+mn-cs"/>
        </a:defRPr>
      </a:lvl2pPr>
      <a:lvl3pPr marL="152361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3pPr>
      <a:lvl4pPr marL="2133067" indent="-304724" algn="l" defTabSz="1218895" rtl="0" eaLnBrk="1" latinLnBrk="0" hangingPunct="1">
        <a:spcBef>
          <a:spcPct val="20000"/>
        </a:spcBef>
        <a:buFont typeface="Arial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4" indent="-304724" algn="l" defTabSz="1218895" rtl="0" eaLnBrk="1" latinLnBrk="0" hangingPunct="1">
        <a:spcBef>
          <a:spcPct val="20000"/>
        </a:spcBef>
        <a:buFont typeface="Arial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2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140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0857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5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1pPr>
      <a:lvl2pPr marL="60944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218895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5pPr>
      <a:lvl6pPr marL="304723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6pPr>
      <a:lvl7pPr marL="3656686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1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../../Users/tranr/OneDrive/Desktop/Capstone%20ERD.pdf" TargetMode="Externa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35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26.png"/><Relationship Id="rId5" Type="http://schemas.openxmlformats.org/officeDocument/2006/relationships/image" Target="../media/image36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27.png"/><Relationship Id="rId5" Type="http://schemas.openxmlformats.org/officeDocument/2006/relationships/image" Target="../media/image40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3.png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21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4" Type="http://schemas.openxmlformats.org/officeDocument/2006/relationships/image" Target="../media/image42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754880" y="50292"/>
            <a:ext cx="45719" cy="68077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2941" y="2234881"/>
            <a:ext cx="22815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dirty="0">
                <a:solidFill>
                  <a:srgbClr val="00C896"/>
                </a:solidFill>
                <a:latin typeface="Candara" panose="020E0502030303020204" pitchFamily="34" charset="0"/>
              </a:rPr>
              <a:t>IoT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5119" y="2119443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5119" y="1453537"/>
            <a:ext cx="1030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React</a:t>
            </a:r>
            <a:r>
              <a:rPr lang="en-US"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SPA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85119" y="1151432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5119" y="4313770"/>
            <a:ext cx="11832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SignalR</a:t>
            </a:r>
            <a:r>
              <a:rPr lang="en-US" sz="1400" b="1" i="0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Hub</a:t>
            </a:r>
            <a:endParaRPr sz="1400" b="1" i="0" dirty="0">
              <a:solidFill>
                <a:srgbClr val="00B8D4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685119" y="4015828"/>
            <a:ext cx="13859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Real-Time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5119" y="3487132"/>
            <a:ext cx="122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F0A50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SQL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5119" y="3188398"/>
            <a:ext cx="105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1657779"/>
            <a:ext cx="70408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dirty="0">
                <a:solidFill>
                  <a:srgbClr val="E8F5EE"/>
                </a:solidFill>
                <a:latin typeface="Candara" panose="020E0502030303020204" pitchFamily="34" charset="0"/>
              </a:rPr>
              <a:t>Web-Based IoT Device</a:t>
            </a:r>
          </a:p>
          <a:p>
            <a:pPr algn="r"/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Real-Time Monitoring</a:t>
            </a:r>
            <a:r>
              <a:rPr lang="en-US"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 </a:t>
            </a:r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583216"/>
            <a:ext cx="512064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solidFill>
                  <a:srgbClr val="00C896"/>
                </a:solidFill>
                <a:latin typeface="Candara" panose="020E0502030303020204" pitchFamily="34" charset="0"/>
              </a:rPr>
              <a:t>CAPSTONE PROJECT</a:t>
            </a:r>
          </a:p>
          <a:p>
            <a:pPr algn="r"/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BAS — Application Development</a:t>
            </a:r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Instructor </a:t>
            </a:r>
            <a:r>
              <a:rPr lang="en-US" sz="1400" b="0" i="1" dirty="0">
                <a:solidFill>
                  <a:srgbClr val="E8F5EE"/>
                </a:solidFill>
                <a:latin typeface="Candara" panose="020E0502030303020204" pitchFamily="34" charset="0"/>
              </a:rPr>
              <a:t>|  </a:t>
            </a:r>
            <a:endParaRPr lang="en-US" sz="1400" i="1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dirty="0">
                <a:solidFill>
                  <a:srgbClr val="E8F5EE"/>
                </a:solidFill>
                <a:latin typeface="Candara" panose="020E0502030303020204" pitchFamily="34" charset="0"/>
              </a:rPr>
              <a:t>Student | </a:t>
            </a:r>
          </a:p>
        </p:txBody>
      </p:sp>
      <p:sp>
        <p:nvSpPr>
          <p:cNvPr id="45" name="Rectangle 44"/>
          <p:cNvSpPr/>
          <p:nvPr/>
        </p:nvSpPr>
        <p:spPr>
          <a:xfrm flipV="1">
            <a:off x="0" y="6857999"/>
            <a:ext cx="12188952" cy="45719"/>
          </a:xfrm>
          <a:prstGeom prst="rect">
            <a:avLst/>
          </a:prstGeom>
          <a:solidFill>
            <a:srgbClr val="0E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1D83F4-9365-79B9-0BBD-C1AA74F11C60}"/>
              </a:ext>
            </a:extLst>
          </p:cNvPr>
          <p:cNvSpPr txBox="1"/>
          <p:nvPr/>
        </p:nvSpPr>
        <p:spPr>
          <a:xfrm>
            <a:off x="2685119" y="2415632"/>
            <a:ext cx="15243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C#, ASP.net core, Restful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API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0D05B-0666-C083-EA65-9FF9DCECD86B}"/>
              </a:ext>
            </a:extLst>
          </p:cNvPr>
          <p:cNvSpPr txBox="1"/>
          <p:nvPr/>
        </p:nvSpPr>
        <p:spPr>
          <a:xfrm>
            <a:off x="2634833" y="4855136"/>
            <a:ext cx="15289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IoT messaging</a:t>
            </a:r>
          </a:p>
          <a:p>
            <a:r>
              <a:rPr lang="en-US" sz="1400" b="1" i="0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MQTT Broker</a:t>
            </a:r>
            <a:endParaRPr sz="1400" b="1" i="0" dirty="0">
              <a:solidFill>
                <a:srgbClr val="00B050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15390" y="429547"/>
            <a:ext cx="62735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Presentation 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53312" y="1408176"/>
            <a:ext cx="3182111" cy="118158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472184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2184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1591056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1975104"/>
            <a:ext cx="2761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Why IoT monitoring matters in industrial settings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53312" y="2679192"/>
            <a:ext cx="3182111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472184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72184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75104" y="2862072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Project Goals &amp;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75105" y="3246120"/>
            <a:ext cx="2487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Objectives, requirements, boundaries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53312" y="3950208"/>
            <a:ext cx="3163824" cy="1181587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72184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72184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4133088"/>
            <a:ext cx="248716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Technology 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5104" y="4517136"/>
            <a:ext cx="24871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C#, ASP.NET Core, React, SQL Server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3312" y="5212079"/>
            <a:ext cx="3182111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472184" y="5413247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472184" y="5404103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75104" y="5394959"/>
            <a:ext cx="2560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System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75104" y="5779007"/>
            <a:ext cx="2761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Edge → API → DB → SignalR → React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1408176"/>
            <a:ext cx="3113532" cy="118158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562856" y="1408176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736592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736592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39511" y="1591056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Database Design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9511" y="1975104"/>
            <a:ext cx="19933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Devices, sensors, readings, alerts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17720" y="2679192"/>
            <a:ext cx="3113532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62856" y="2679192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4736592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736592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9511" y="2862072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Backend &amp; API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9511" y="3246120"/>
            <a:ext cx="22494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Services, repositories, DTOs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3950208"/>
            <a:ext cx="3113532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562856" y="3950208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36592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736592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39511" y="4133088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Frontend Design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39511" y="4517136"/>
            <a:ext cx="20574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React SPA, charts,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client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5212079"/>
            <a:ext cx="3113532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562856" y="5212079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736592" y="5413247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736592" y="5404103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9511" y="5394959"/>
            <a:ext cx="276148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Key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9511" y="5779007"/>
            <a:ext cx="21671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Streaming, dashboards, alerts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63840" y="1408176"/>
            <a:ext cx="3154553" cy="115816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772400" y="1408176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982712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982712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3" y="1591056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Live Demo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5633" y="1975104"/>
            <a:ext cx="2395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Edge → API → SignalR → Dashboard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2679192"/>
            <a:ext cx="3154553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772400" y="2679192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982712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982712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85632" y="2862072"/>
            <a:ext cx="224028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Challenges &amp; Solutions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85632" y="3246120"/>
            <a:ext cx="2240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Sync, data volume, design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63840" y="3950208"/>
            <a:ext cx="3154553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772400" y="3950208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982712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982712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85633" y="41330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Conclusion &amp; Future</a:t>
            </a:r>
          </a:p>
        </p:txBody>
      </p:sp>
      <p:sp>
        <p:nvSpPr>
          <p:cNvPr id="74" name="Rounded Rectangle 65">
            <a:extLst>
              <a:ext uri="{FF2B5EF4-FFF2-40B4-BE49-F238E27FC236}">
                <a16:creationId xmlns:a16="http://schemas.microsoft.com/office/drawing/2014/main" id="{47AB4A4A-A8CE-FF32-418B-F6A5ECDEFA50}"/>
              </a:ext>
            </a:extLst>
          </p:cNvPr>
          <p:cNvSpPr/>
          <p:nvPr/>
        </p:nvSpPr>
        <p:spPr>
          <a:xfrm>
            <a:off x="7885937" y="5212079"/>
            <a:ext cx="3132456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7DB0902-45A1-6AAA-C9B7-2054F58EC30E}"/>
              </a:ext>
            </a:extLst>
          </p:cNvPr>
          <p:cNvSpPr/>
          <p:nvPr/>
        </p:nvSpPr>
        <p:spPr>
          <a:xfrm>
            <a:off x="7772400" y="5212079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Rounded Rectangle 67">
            <a:extLst>
              <a:ext uri="{FF2B5EF4-FFF2-40B4-BE49-F238E27FC236}">
                <a16:creationId xmlns:a16="http://schemas.microsoft.com/office/drawing/2014/main" id="{393D4FDF-306E-5F8B-2AE3-3DC411ACC2EB}"/>
              </a:ext>
            </a:extLst>
          </p:cNvPr>
          <p:cNvSpPr/>
          <p:nvPr/>
        </p:nvSpPr>
        <p:spPr>
          <a:xfrm>
            <a:off x="8014335" y="5427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8A8FEF-47C5-679C-F49E-19721944EA82}"/>
              </a:ext>
            </a:extLst>
          </p:cNvPr>
          <p:cNvSpPr txBox="1"/>
          <p:nvPr/>
        </p:nvSpPr>
        <p:spPr>
          <a:xfrm>
            <a:off x="8014335" y="5418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2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3ECF80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B7797C-7309-8EC4-1A4D-B8987CFB0555}"/>
              </a:ext>
            </a:extLst>
          </p:cNvPr>
          <p:cNvSpPr txBox="1"/>
          <p:nvPr/>
        </p:nvSpPr>
        <p:spPr>
          <a:xfrm>
            <a:off x="8517256" y="5409056"/>
            <a:ext cx="20714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End Of Presentation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8699" y="578072"/>
            <a:ext cx="45838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Project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8699" y="1483114"/>
            <a:ext cx="438546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Continuous monitoring is critical in industrial, commercial, and agricultural settings for safety, early fault detection, and performance optimization. SCADA/BMS solutions are often costly, complex, and vendor-locked.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3" y="2932098"/>
            <a:ext cx="44823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This project </a:t>
            </a: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delivers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a web-based IoT monitoring system that is: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6161" y="4241232"/>
            <a:ext cx="4048963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ECF8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Web-based — no proprietary hardware</a:t>
            </a:r>
          </a:p>
          <a:p>
            <a:pPr marL="285750" marR="0" lvl="0" indent="-28575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ECF8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Real-time via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/ WebSocket</a:t>
            </a:r>
          </a:p>
          <a:p>
            <a:pPr marL="285750" marR="0" lvl="0" indent="-28575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ECF8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SQL Server-backed historical storage</a:t>
            </a:r>
          </a:p>
          <a:p>
            <a:pPr marL="285750" marR="0" lvl="0" indent="-28575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ECF8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Accessible from any browser</a:t>
            </a:r>
          </a:p>
        </p:txBody>
      </p:sp>
      <p:sp>
        <p:nvSpPr>
          <p:cNvPr id="6" name="Rectangle 5"/>
          <p:cNvSpPr/>
          <p:nvPr/>
        </p:nvSpPr>
        <p:spPr>
          <a:xfrm flipH="1">
            <a:off x="5424679" y="1298448"/>
            <a:ext cx="45719" cy="4352544"/>
          </a:xfrm>
          <a:prstGeom prst="rect">
            <a:avLst/>
          </a:prstGeom>
          <a:solidFill>
            <a:srgbClr val="255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493" y="1298448"/>
            <a:ext cx="475488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74284" y="1316736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Web-Based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4284" y="15727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No proprietary hardware required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853" y="129844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54645" y="1316736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Any 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4645" y="1572768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Accessible from any device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493" y="3236976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4284" y="3255264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Real-Time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4284" y="3511296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/ WebSocket streaming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3" y="3236976"/>
            <a:ext cx="475488" cy="4754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54645" y="3255264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Cost-Effective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4645" y="3511296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Open-source technology stack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2493" y="5175504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74284" y="5193792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SQL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284" y="5449824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Full historical data storage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2853" y="5175504"/>
            <a:ext cx="475488" cy="4754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54645" y="5193792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Hardware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4645" y="5449824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Arduino, ESP32, Raspberry 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320040"/>
            <a:ext cx="106344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Project Goals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60120"/>
            <a:ext cx="7406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Six core objectives mapped to key system capabilities and platform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9616" y="14630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CORE SYSTEM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76872" y="14630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PLATFORM &amp; INTEGRATION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16" y="1874519"/>
            <a:ext cx="420624" cy="4206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56232" y="18745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2" y="213055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 sensor streaming (&lt;2s latency) via SignalR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97864" y="187451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32918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329183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Interactive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6232" y="35478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Live dashboards with charts, gauges, and trends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97864" y="329183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016" y="4709160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56232" y="47091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Historical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2" y="496519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Query, filter, and export time-series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97864" y="4709160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1874519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79207" y="18745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Device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7" y="2130552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Register and manage IoT devices (Arduino, ESP32, Raspberry Pi)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187451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3291839"/>
            <a:ext cx="420624" cy="4206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79207" y="329183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Alerting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9207" y="35478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Threshold-based alerts with real-time notifications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29183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3992" y="4709160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79207" y="47091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Capstone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9207" y="496519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C#, React, SQL, REST APIs, SignalR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4709160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74552" cy="9144"/>
          </a:xfrm>
          <a:prstGeom prst="rect">
            <a:avLst/>
          </a:prstGeom>
          <a:solidFill>
            <a:srgbClr val="2A6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7455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Out of Scope (Future Enhancements):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4D7A5E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Auth · RBAC · Mobile · ML · Multi-tenancy · ERP</a:t>
            </a:r>
            <a:b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</a:b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4D7A5E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Focused on delivering a scalable, real-time IoT monitoring foundation.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86968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End-to-end pipeline: Device → MQTT → Backend →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SignalR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 →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89888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984248"/>
            <a:ext cx="804672" cy="804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57276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0195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C# / ASP.NET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2377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Handles ingestion, processing,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19956" y="1389888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091940" y="1362908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428" y="1984248"/>
            <a:ext cx="804672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02836" y="157276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IoT Messaging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2836" y="1901952"/>
            <a:ext cx="2377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MQTT + Broker (Mosquitto/EMQX)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0258" y="24251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Device → Broker → Backend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82712" y="1389888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863840" y="1412861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6184" y="1984248"/>
            <a:ext cx="804672" cy="8046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65592" y="157276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190195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SignalR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167128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Server-to-client live updates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4206240"/>
            <a:ext cx="804672" cy="80467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3794760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23944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React + TypeScript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19956" y="3611880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107942" y="3611880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3428" y="4206240"/>
            <a:ext cx="804672" cy="8046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02836" y="3794760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Database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2836" y="4123944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SQL Server + EF Core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82712" y="3611880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863840" y="3602736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6184" y="4206240"/>
            <a:ext cx="804672" cy="8046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65592" y="3794760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123944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Git + GitHub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 + Azure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3ECF80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9956" y="110592"/>
            <a:ext cx="11518440" cy="457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99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System Architecture </a:t>
            </a:r>
            <a:r>
              <a:rPr lang="en-US" sz="2799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799" dirty="0">
              <a:latin typeface="Candara" panose="020E0502030303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64549" y="713939"/>
            <a:ext cx="1874032" cy="6033468"/>
          </a:xfrm>
          <a:prstGeom prst="roundRect">
            <a:avLst>
              <a:gd name="adj" fmla="val 3902"/>
            </a:avLst>
          </a:prstGeom>
          <a:solidFill>
            <a:srgbClr val="081610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55965" y="878488"/>
            <a:ext cx="1691199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External Systems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148280" y="713939"/>
            <a:ext cx="2102572" cy="6033468"/>
          </a:xfrm>
          <a:prstGeom prst="roundRect">
            <a:avLst>
              <a:gd name="adj" fmla="val 3478"/>
            </a:avLst>
          </a:prstGeom>
          <a:solidFill>
            <a:srgbClr val="081610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239696" y="878488"/>
            <a:ext cx="1919740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60552" y="713939"/>
            <a:ext cx="5759220" cy="6033468"/>
          </a:xfrm>
          <a:prstGeom prst="roundRect">
            <a:avLst>
              <a:gd name="adj" fmla="val 1270"/>
            </a:avLst>
          </a:prstGeom>
          <a:solidFill>
            <a:srgbClr val="081610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451968" y="878488"/>
            <a:ext cx="5576387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229471" y="713939"/>
            <a:ext cx="1828324" cy="6033468"/>
          </a:xfrm>
          <a:prstGeom prst="roundRect">
            <a:avLst>
              <a:gd name="adj" fmla="val 4000"/>
            </a:avLst>
          </a:prstGeom>
          <a:solidFill>
            <a:srgbClr val="081610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320887" y="878488"/>
            <a:ext cx="1645491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832894" y="1737801"/>
            <a:ext cx="45251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3728" y="3337584"/>
            <a:ext cx="3382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113728" y="4571702"/>
            <a:ext cx="3382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832894" y="5760113"/>
            <a:ext cx="2619074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211188" y="4571702"/>
            <a:ext cx="109699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71708" y="3337584"/>
            <a:ext cx="164549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684537" y="3337584"/>
            <a:ext cx="20111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80292" y="4571702"/>
            <a:ext cx="255965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84537" y="4571702"/>
            <a:ext cx="63991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101565" y="3520416"/>
            <a:ext cx="0" cy="196544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479858" y="3588978"/>
            <a:ext cx="0" cy="73133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016734" y="2103465"/>
            <a:ext cx="0" cy="98272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382398" y="2103465"/>
            <a:ext cx="0" cy="2193989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660" y="1468123"/>
            <a:ext cx="1462659" cy="594205"/>
          </a:xfrm>
          <a:prstGeom prst="roundRect">
            <a:avLst>
              <a:gd name="adj" fmla="val 9231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70235" y="1440698"/>
            <a:ext cx="1462659" cy="594205"/>
          </a:xfrm>
          <a:prstGeom prst="roundRect">
            <a:avLst>
              <a:gd name="adj" fmla="val 9231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25085" y="1477265"/>
            <a:ext cx="1352960" cy="521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97660" y="2999344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70235" y="2971919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5085" y="3008486"/>
            <a:ext cx="1352960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IoT Devices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/Gateway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97660" y="5513289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0235" y="5485864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25085" y="5522431"/>
            <a:ext cx="1352960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MQTT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312829" y="1399560"/>
            <a:ext cx="1828324" cy="731330"/>
          </a:xfrm>
          <a:prstGeom prst="roundRect">
            <a:avLst>
              <a:gd name="adj" fmla="val 75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2285404" y="1372136"/>
            <a:ext cx="1828324" cy="731330"/>
          </a:xfrm>
          <a:prstGeom prst="roundRect">
            <a:avLst>
              <a:gd name="adj" fmla="val 75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2340254" y="1408702"/>
            <a:ext cx="1718624" cy="658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(MUI + React Router)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2312829" y="3113614"/>
            <a:ext cx="1828324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2285404" y="3086189"/>
            <a:ext cx="1828324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2340254" y="3122756"/>
            <a:ext cx="1718624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api.ts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(REST client)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2312829" y="4324879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2285404" y="4297454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2340254" y="4334020"/>
            <a:ext cx="1718624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signalRService.ts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(SignalR client)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479393" y="2862220"/>
            <a:ext cx="1919740" cy="1005578"/>
          </a:xfrm>
          <a:prstGeom prst="roundRect">
            <a:avLst>
              <a:gd name="adj" fmla="val 5455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451968" y="2834795"/>
            <a:ext cx="1919740" cy="1005578"/>
          </a:xfrm>
          <a:prstGeom prst="roundRect">
            <a:avLst>
              <a:gd name="adj" fmla="val 5455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506817" y="2871361"/>
            <a:ext cx="1810041" cy="93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REST Controllers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(Devices, Sensors,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SensorReadings,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Alerts, AlertRules,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Health)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563682" y="2770804"/>
            <a:ext cx="2148280" cy="1188410"/>
          </a:xfrm>
          <a:prstGeom prst="roundRect">
            <a:avLst>
              <a:gd name="adj" fmla="val 4615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536257" y="2743379"/>
            <a:ext cx="2148280" cy="1188410"/>
          </a:xfrm>
          <a:prstGeom prst="roundRect">
            <a:avLst>
              <a:gd name="adj" fmla="val 4615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6591107" y="2779945"/>
            <a:ext cx="2038581" cy="1115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Application Services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DeviceService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SensorService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SensorReadingService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AlertService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AlertRuleService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913078" y="3113614"/>
            <a:ext cx="1188410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885653" y="3086189"/>
            <a:ext cx="1188410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940503" y="3122756"/>
            <a:ext cx="1078711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4479393" y="4324879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451968" y="4297454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506818" y="4334020"/>
            <a:ext cx="1718624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MonitoringHub</a:t>
            </a:r>
            <a:endParaRPr lang="en-US" sz="1400" dirty="0">
              <a:latin typeface="Candara" panose="020E0502030303020204" pitchFamily="34" charset="0"/>
            </a:endParaRP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(SignalR)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6563682" y="4347733"/>
            <a:ext cx="2148280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536257" y="4320308"/>
            <a:ext cx="2148280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6591107" y="4356874"/>
            <a:ext cx="2038581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SignalRNotificationService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8775954" y="4347733"/>
            <a:ext cx="1462659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8748529" y="4320308"/>
            <a:ext cx="1462659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803378" y="4356874"/>
            <a:ext cx="1352960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ApplicationDbContext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4479393" y="5536143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4451968" y="5508718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4506817" y="5545285"/>
            <a:ext cx="1444376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MqttService</a:t>
            </a:r>
            <a:endParaRPr lang="en-US" sz="1400" dirty="0">
              <a:latin typeface="Candara" panose="020E0502030303020204" pitchFamily="34" charset="0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10348312" y="4347733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10320887" y="4320308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375737" y="4356874"/>
            <a:ext cx="1444376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400" dirty="0"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22">
            <a:extLst>
              <a:ext uri="{FF2B5EF4-FFF2-40B4-BE49-F238E27FC236}">
                <a16:creationId xmlns:a16="http://schemas.microsoft.com/office/drawing/2014/main" id="{6395627D-1DC6-2B80-4ACC-20F8E1CC5A23}"/>
              </a:ext>
            </a:extLst>
          </p:cNvPr>
          <p:cNvSpPr/>
          <p:nvPr/>
        </p:nvSpPr>
        <p:spPr>
          <a:xfrm>
            <a:off x="7302230" y="3800951"/>
            <a:ext cx="249555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F3AE1BE8-A677-8DF4-8E27-8CF3A70DE558}"/>
              </a:ext>
            </a:extLst>
          </p:cNvPr>
          <p:cNvSpPr/>
          <p:nvPr/>
        </p:nvSpPr>
        <p:spPr>
          <a:xfrm>
            <a:off x="4686294" y="3775764"/>
            <a:ext cx="249555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4" name="Rounded Rectangle 22">
            <a:extLst>
              <a:ext uri="{FF2B5EF4-FFF2-40B4-BE49-F238E27FC236}">
                <a16:creationId xmlns:a16="http://schemas.microsoft.com/office/drawing/2014/main" id="{43E289AE-C02E-F05C-0B0B-45BDE293589F}"/>
              </a:ext>
            </a:extLst>
          </p:cNvPr>
          <p:cNvSpPr/>
          <p:nvPr/>
        </p:nvSpPr>
        <p:spPr>
          <a:xfrm>
            <a:off x="7302230" y="1670824"/>
            <a:ext cx="249555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3" name="Rounded Rectangle 22">
            <a:extLst>
              <a:ext uri="{FF2B5EF4-FFF2-40B4-BE49-F238E27FC236}">
                <a16:creationId xmlns:a16="http://schemas.microsoft.com/office/drawing/2014/main" id="{4BE728C9-AA6E-5D2E-6705-40632FE61A3E}"/>
              </a:ext>
            </a:extLst>
          </p:cNvPr>
          <p:cNvSpPr/>
          <p:nvPr/>
        </p:nvSpPr>
        <p:spPr>
          <a:xfrm>
            <a:off x="4686294" y="1652253"/>
            <a:ext cx="249555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2" name="Rounded Rectangle 22">
            <a:extLst>
              <a:ext uri="{FF2B5EF4-FFF2-40B4-BE49-F238E27FC236}">
                <a16:creationId xmlns:a16="http://schemas.microsoft.com/office/drawing/2014/main" id="{655248DB-282B-F56E-FB91-A3E0BF928C40}"/>
              </a:ext>
            </a:extLst>
          </p:cNvPr>
          <p:cNvSpPr/>
          <p:nvPr/>
        </p:nvSpPr>
        <p:spPr>
          <a:xfrm>
            <a:off x="1928812" y="1670824"/>
            <a:ext cx="249555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6A06395C-C900-5BDD-9461-E000D0801769}"/>
              </a:ext>
            </a:extLst>
          </p:cNvPr>
          <p:cNvSpPr/>
          <p:nvPr/>
        </p:nvSpPr>
        <p:spPr>
          <a:xfrm>
            <a:off x="1934263" y="3800951"/>
            <a:ext cx="249555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90435" y="749588"/>
            <a:ext cx="555152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dirty="0">
                <a:solidFill>
                  <a:srgbClr val="FFFFFF"/>
                </a:solidFill>
                <a:latin typeface="Candara" panose="020E0502030303020204" pitchFamily="34" charset="0"/>
              </a:rPr>
              <a:t>System Architecture </a:t>
            </a:r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8882" y="3886113"/>
            <a:ext cx="1725152" cy="17670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Edge Devices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Arduino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ESP32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Raspberry Pi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Sensors &amp; Actuators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19147" y="1670824"/>
            <a:ext cx="1609736" cy="1765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IoT Messaging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MQTT Broker</a:t>
            </a:r>
          </a:p>
          <a:p>
            <a:pPr>
              <a:lnSpc>
                <a:spcPct val="150000"/>
              </a:lnSpc>
            </a:pPr>
            <a:r>
              <a:rPr sz="1400" dirty="0" err="1">
                <a:solidFill>
                  <a:srgbClr val="FFFFFF"/>
                </a:solidFill>
                <a:latin typeface="Candara" panose="020E0502030303020204" pitchFamily="34" charset="0"/>
              </a:rPr>
              <a:t>Mosquitto</a:t>
            </a: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 / EMQX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Pub/Sub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Device → Broker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86376" y="1765406"/>
            <a:ext cx="1415772" cy="17670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Backend API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ASP.NET Core 8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RESTful API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SignalR Hub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MQTT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97040" y="1807559"/>
            <a:ext cx="1186543" cy="11207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Database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SQL Server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EF Core 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69563" y="3955019"/>
            <a:ext cx="1647823" cy="14439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Real-Time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SignalR WebSocket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Server Push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&lt;2 sec latency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9257" y="4021508"/>
            <a:ext cx="1218603" cy="14439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Frontend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React 18 SPA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SignalR Client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Chart.js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4E9B4-4CDB-9B25-8D21-88A9A5C07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52F1506-B3B0-7C94-EF04-05E6AA3B95B7}"/>
              </a:ext>
            </a:extLst>
          </p:cNvPr>
          <p:cNvSpPr txBox="1"/>
          <p:nvPr/>
        </p:nvSpPr>
        <p:spPr>
          <a:xfrm>
            <a:off x="450355" y="384049"/>
            <a:ext cx="555152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</a:rPr>
              <a:t>System Architecture </a:t>
            </a:r>
            <a:r>
              <a:rPr lang="en-US"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Overview</a:t>
            </a:r>
          </a:p>
        </p:txBody>
      </p:sp>
      <p:pic>
        <p:nvPicPr>
          <p:cNvPr id="2074" name="Picture 26">
            <a:extLst>
              <a:ext uri="{FF2B5EF4-FFF2-40B4-BE49-F238E27FC236}">
                <a16:creationId xmlns:a16="http://schemas.microsoft.com/office/drawing/2014/main" id="{8B7B86A4-9D51-4F23-4166-241114BE8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60475"/>
            <a:ext cx="12188825" cy="433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024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080" y="110592"/>
            <a:ext cx="11244191" cy="411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99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Schema Map</a:t>
            </a:r>
            <a:endParaRPr lang="en-US" sz="2799" dirty="0"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080" y="549390"/>
            <a:ext cx="11244191" cy="228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 tables  •  Devices = central hub  •  Key fields and relationships shown</a:t>
            </a:r>
            <a:endParaRPr lang="en-US" sz="1200" dirty="0"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651069" y="2079339"/>
            <a:ext cx="2422529" cy="998981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 flipV="1">
            <a:off x="2651069" y="3534459"/>
            <a:ext cx="2422529" cy="9989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 flipV="1">
            <a:off x="7084754" y="1888637"/>
            <a:ext cx="2559653" cy="1151844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 flipV="1">
            <a:off x="7084754" y="3100816"/>
            <a:ext cx="2559653" cy="281562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084754" y="3704163"/>
            <a:ext cx="2559653" cy="537527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084754" y="4025947"/>
            <a:ext cx="2559653" cy="1356617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 flipV="1">
            <a:off x="4316367" y="4059772"/>
            <a:ext cx="1148797" cy="106042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 flipV="1">
            <a:off x="5977475" y="4059772"/>
            <a:ext cx="66277" cy="106042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10533" y="4059772"/>
            <a:ext cx="994151" cy="1060428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 flipV="1">
            <a:off x="2651069" y="1461649"/>
            <a:ext cx="6993338" cy="177496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560069" y="2231448"/>
            <a:ext cx="4661395" cy="2888752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651069" y="2139382"/>
            <a:ext cx="6993338" cy="3301424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645491" y="2231448"/>
            <a:ext cx="0" cy="877595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141618" y="5778396"/>
            <a:ext cx="502789" cy="4570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651069" y="4146521"/>
            <a:ext cx="2285405" cy="1069764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101023" y="2953636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73598" y="2926211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073598" y="2999344"/>
            <a:ext cx="50279" cy="987295"/>
          </a:xfrm>
          <a:prstGeom prst="rect">
            <a:avLst/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073598" y="2926211"/>
            <a:ext cx="50279" cy="164549"/>
          </a:xfrm>
          <a:prstGeom prst="roundRect">
            <a:avLst>
              <a:gd name="adj" fmla="val 72727"/>
            </a:avLst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581965" y="2981061"/>
            <a:ext cx="438798" cy="182832"/>
          </a:xfrm>
          <a:prstGeom prst="roundRect">
            <a:avLst>
              <a:gd name="adj" fmla="val 20000"/>
            </a:avLst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81965" y="2981061"/>
            <a:ext cx="438798" cy="18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300" dirty="0">
                <a:solidFill>
                  <a:srgbClr val="0D2117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800" dirty="0">
              <a:latin typeface="Candara" panose="020E05020303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219864" y="2944494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219864" y="3218743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IoT equipment registry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201580" y="3401575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219864" y="3438142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512396" y="343814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17974" y="343814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512396" y="357983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DeviceName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517974" y="357983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512396" y="372153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17974" y="372153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512396" y="386322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IsActive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517974" y="386322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67338" y="1125312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39913" y="1097887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39913" y="1171020"/>
            <a:ext cx="50279" cy="987295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39913" y="1097887"/>
            <a:ext cx="50279" cy="164549"/>
          </a:xfrm>
          <a:prstGeom prst="roundRect">
            <a:avLst>
              <a:gd name="adj" fmla="val 72727"/>
            </a:avLst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86178" y="1116171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786178" y="1390419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Inputs on each device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67895" y="1573251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86178" y="1609818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78711" y="160981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2084289" y="160981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786178" y="1751513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78711" y="175151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2084289" y="175151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78711" y="189320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SensorName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2084289" y="189320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78711" y="203490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2084289" y="203490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667338" y="3136468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39913" y="3109043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639913" y="3182176"/>
            <a:ext cx="50279" cy="987295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39913" y="3109043"/>
            <a:ext cx="50279" cy="164549"/>
          </a:xfrm>
          <a:prstGeom prst="roundRect">
            <a:avLst>
              <a:gd name="adj" fmla="val 72727"/>
            </a:avLst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786178" y="3127327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786178" y="3401575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Controllable outputs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767895" y="3584408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786178" y="3620974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78711" y="3620974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2084289" y="3620974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786178" y="3762669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78711" y="3762669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2084289" y="3762669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786178" y="3904364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1078711" y="3904364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FeedbackSensorId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2084289" y="3904364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1078711" y="4046059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Kind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2084289" y="4046059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string(20)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667338" y="5147624"/>
            <a:ext cx="2011156" cy="1334676"/>
          </a:xfrm>
          <a:prstGeom prst="roundRect">
            <a:avLst>
              <a:gd name="adj" fmla="val 5479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3" name="Shape 71"/>
          <p:cNvSpPr/>
          <p:nvPr/>
        </p:nvSpPr>
        <p:spPr>
          <a:xfrm>
            <a:off x="639913" y="5120200"/>
            <a:ext cx="2011156" cy="1334676"/>
          </a:xfrm>
          <a:prstGeom prst="roundRect">
            <a:avLst>
              <a:gd name="adj" fmla="val 5479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639913" y="5193333"/>
            <a:ext cx="50279" cy="1188410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639913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786178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786178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 login and roles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767895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786178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1078711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2084289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078711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2084289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1078711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2084289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string(20)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1078711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IsActive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2084289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786178" y="6253760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⊘  standalone — no FK links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9671832" y="896771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9644407" y="869347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1" name="Shape 89"/>
          <p:cNvSpPr/>
          <p:nvPr/>
        </p:nvSpPr>
        <p:spPr>
          <a:xfrm>
            <a:off x="9644407" y="942480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9644407" y="869347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9790673" y="887630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9790673" y="1161879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Raw measurements over time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9772390" y="1344711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9790673" y="1381277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10083205" y="138127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ReadingId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11088783" y="138127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9790673" y="1522973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00" name="Text 98"/>
          <p:cNvSpPr/>
          <p:nvPr/>
        </p:nvSpPr>
        <p:spPr>
          <a:xfrm>
            <a:off x="10083205" y="152297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01" name="Text 99"/>
          <p:cNvSpPr/>
          <p:nvPr/>
        </p:nvSpPr>
        <p:spPr>
          <a:xfrm>
            <a:off x="11088783" y="152297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9790673" y="1664668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083205" y="166466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04" name="Text 102"/>
          <p:cNvSpPr/>
          <p:nvPr/>
        </p:nvSpPr>
        <p:spPr>
          <a:xfrm>
            <a:off x="11088783" y="166466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10083205" y="180636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11088783" y="180636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dec(18,4)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07" name="Shape 105"/>
          <p:cNvSpPr/>
          <p:nvPr/>
        </p:nvSpPr>
        <p:spPr>
          <a:xfrm>
            <a:off x="9671832" y="2450847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9644407" y="2423422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9" name="Shape 107"/>
          <p:cNvSpPr/>
          <p:nvPr/>
        </p:nvSpPr>
        <p:spPr>
          <a:xfrm>
            <a:off x="9644407" y="2496555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0" name="Shape 108"/>
          <p:cNvSpPr/>
          <p:nvPr/>
        </p:nvSpPr>
        <p:spPr>
          <a:xfrm>
            <a:off x="9644407" y="2423422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1" name="Text 109"/>
          <p:cNvSpPr/>
          <p:nvPr/>
        </p:nvSpPr>
        <p:spPr>
          <a:xfrm>
            <a:off x="9790673" y="2441705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DeviceStatusHistories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9790673" y="2715954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status change log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13" name="Shape 111"/>
          <p:cNvSpPr/>
          <p:nvPr/>
        </p:nvSpPr>
        <p:spPr>
          <a:xfrm>
            <a:off x="9772390" y="2898786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4" name="Text 112"/>
          <p:cNvSpPr/>
          <p:nvPr/>
        </p:nvSpPr>
        <p:spPr>
          <a:xfrm>
            <a:off x="9790673" y="2935353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15" name="Text 113"/>
          <p:cNvSpPr/>
          <p:nvPr/>
        </p:nvSpPr>
        <p:spPr>
          <a:xfrm>
            <a:off x="10083205" y="293535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StatusHistoryId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16" name="Text 114"/>
          <p:cNvSpPr/>
          <p:nvPr/>
        </p:nvSpPr>
        <p:spPr>
          <a:xfrm>
            <a:off x="11088783" y="293535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9790673" y="3077048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10083205" y="307704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19" name="Text 117"/>
          <p:cNvSpPr/>
          <p:nvPr/>
        </p:nvSpPr>
        <p:spPr>
          <a:xfrm>
            <a:off x="11088783" y="307704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20" name="Text 118"/>
          <p:cNvSpPr/>
          <p:nvPr/>
        </p:nvSpPr>
        <p:spPr>
          <a:xfrm>
            <a:off x="10083205" y="321874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21" name="Text 119"/>
          <p:cNvSpPr/>
          <p:nvPr/>
        </p:nvSpPr>
        <p:spPr>
          <a:xfrm>
            <a:off x="11088783" y="321874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22" name="Text 120"/>
          <p:cNvSpPr/>
          <p:nvPr/>
        </p:nvSpPr>
        <p:spPr>
          <a:xfrm>
            <a:off x="10083205" y="336043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23" name="Text 121"/>
          <p:cNvSpPr/>
          <p:nvPr/>
        </p:nvSpPr>
        <p:spPr>
          <a:xfrm>
            <a:off x="11088783" y="336043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DateTime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24" name="Shape 122"/>
          <p:cNvSpPr/>
          <p:nvPr/>
        </p:nvSpPr>
        <p:spPr>
          <a:xfrm>
            <a:off x="9671832" y="3913506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5" name="Shape 123"/>
          <p:cNvSpPr/>
          <p:nvPr/>
        </p:nvSpPr>
        <p:spPr>
          <a:xfrm>
            <a:off x="9644407" y="3886081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6" name="Shape 124"/>
          <p:cNvSpPr/>
          <p:nvPr/>
        </p:nvSpPr>
        <p:spPr>
          <a:xfrm>
            <a:off x="9644407" y="3959214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7" name="Shape 125"/>
          <p:cNvSpPr/>
          <p:nvPr/>
        </p:nvSpPr>
        <p:spPr>
          <a:xfrm>
            <a:off x="9644407" y="3886081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8" name="Text 126"/>
          <p:cNvSpPr/>
          <p:nvPr/>
        </p:nvSpPr>
        <p:spPr>
          <a:xfrm>
            <a:off x="9790673" y="3904364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OperationalMetrics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29" name="Text 127"/>
          <p:cNvSpPr/>
          <p:nvPr/>
        </p:nvSpPr>
        <p:spPr>
          <a:xfrm>
            <a:off x="9790673" y="4178613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Calculated KPIs per device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0" name="Shape 128"/>
          <p:cNvSpPr/>
          <p:nvPr/>
        </p:nvSpPr>
        <p:spPr>
          <a:xfrm>
            <a:off x="9772390" y="4361445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31" name="Text 129"/>
          <p:cNvSpPr/>
          <p:nvPr/>
        </p:nvSpPr>
        <p:spPr>
          <a:xfrm>
            <a:off x="9790673" y="4398012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10083205" y="439801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MetricId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3" name="Text 131"/>
          <p:cNvSpPr/>
          <p:nvPr/>
        </p:nvSpPr>
        <p:spPr>
          <a:xfrm>
            <a:off x="11088783" y="439801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9790673" y="4539707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10083205" y="453970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6" name="Text 134"/>
          <p:cNvSpPr/>
          <p:nvPr/>
        </p:nvSpPr>
        <p:spPr>
          <a:xfrm>
            <a:off x="11088783" y="453970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37" name="Text 135"/>
          <p:cNvSpPr/>
          <p:nvPr/>
        </p:nvSpPr>
        <p:spPr>
          <a:xfrm>
            <a:off x="10083205" y="468140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MetricType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8" name="Text 136"/>
          <p:cNvSpPr/>
          <p:nvPr/>
        </p:nvSpPr>
        <p:spPr>
          <a:xfrm>
            <a:off x="11088783" y="468140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10083205" y="482309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MetricValue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40" name="Text 138"/>
          <p:cNvSpPr/>
          <p:nvPr/>
        </p:nvSpPr>
        <p:spPr>
          <a:xfrm>
            <a:off x="11088783" y="482309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dec(18,4)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41" name="Shape 139"/>
          <p:cNvSpPr/>
          <p:nvPr/>
        </p:nvSpPr>
        <p:spPr>
          <a:xfrm>
            <a:off x="9671832" y="5376165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9644407" y="5348740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3" name="Shape 141"/>
          <p:cNvSpPr/>
          <p:nvPr/>
        </p:nvSpPr>
        <p:spPr>
          <a:xfrm>
            <a:off x="9644407" y="5421873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4" name="Shape 142"/>
          <p:cNvSpPr/>
          <p:nvPr/>
        </p:nvSpPr>
        <p:spPr>
          <a:xfrm>
            <a:off x="9644407" y="534874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5" name="Text 143"/>
          <p:cNvSpPr/>
          <p:nvPr/>
        </p:nvSpPr>
        <p:spPr>
          <a:xfrm>
            <a:off x="9790673" y="536702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6" name="Text 144"/>
          <p:cNvSpPr/>
          <p:nvPr/>
        </p:nvSpPr>
        <p:spPr>
          <a:xfrm>
            <a:off x="9790673" y="5641272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Fired alert records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47" name="Shape 145"/>
          <p:cNvSpPr/>
          <p:nvPr/>
        </p:nvSpPr>
        <p:spPr>
          <a:xfrm>
            <a:off x="9772390" y="582410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8" name="Text 146"/>
          <p:cNvSpPr/>
          <p:nvPr/>
        </p:nvSpPr>
        <p:spPr>
          <a:xfrm>
            <a:off x="9790673" y="5860671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49" name="Text 147"/>
          <p:cNvSpPr/>
          <p:nvPr/>
        </p:nvSpPr>
        <p:spPr>
          <a:xfrm>
            <a:off x="10083205" y="5860671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0" name="Text 148"/>
          <p:cNvSpPr/>
          <p:nvPr/>
        </p:nvSpPr>
        <p:spPr>
          <a:xfrm>
            <a:off x="11088783" y="5860671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51" name="Text 149"/>
          <p:cNvSpPr/>
          <p:nvPr/>
        </p:nvSpPr>
        <p:spPr>
          <a:xfrm>
            <a:off x="9790673" y="6002366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52" name="Text 150"/>
          <p:cNvSpPr/>
          <p:nvPr/>
        </p:nvSpPr>
        <p:spPr>
          <a:xfrm>
            <a:off x="10083205" y="6002366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3" name="Text 151"/>
          <p:cNvSpPr/>
          <p:nvPr/>
        </p:nvSpPr>
        <p:spPr>
          <a:xfrm>
            <a:off x="11088783" y="6002366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54" name="Text 152"/>
          <p:cNvSpPr/>
          <p:nvPr/>
        </p:nvSpPr>
        <p:spPr>
          <a:xfrm>
            <a:off x="9790673" y="6144061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55" name="Text 153"/>
          <p:cNvSpPr/>
          <p:nvPr/>
        </p:nvSpPr>
        <p:spPr>
          <a:xfrm>
            <a:off x="10083205" y="6144061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6" name="Text 154"/>
          <p:cNvSpPr/>
          <p:nvPr/>
        </p:nvSpPr>
        <p:spPr>
          <a:xfrm>
            <a:off x="11088783" y="6144061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57" name="Text 155"/>
          <p:cNvSpPr/>
          <p:nvPr/>
        </p:nvSpPr>
        <p:spPr>
          <a:xfrm>
            <a:off x="9790673" y="6285756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58" name="Text 156"/>
          <p:cNvSpPr/>
          <p:nvPr/>
        </p:nvSpPr>
        <p:spPr>
          <a:xfrm>
            <a:off x="10083205" y="6285756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9" name="Text 157"/>
          <p:cNvSpPr/>
          <p:nvPr/>
        </p:nvSpPr>
        <p:spPr>
          <a:xfrm>
            <a:off x="11088783" y="6285756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60" name="Shape 158"/>
          <p:cNvSpPr/>
          <p:nvPr/>
        </p:nvSpPr>
        <p:spPr>
          <a:xfrm>
            <a:off x="2724202" y="5147624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1" name="Shape 159"/>
          <p:cNvSpPr/>
          <p:nvPr/>
        </p:nvSpPr>
        <p:spPr>
          <a:xfrm>
            <a:off x="2696777" y="5120199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2" name="Shape 160"/>
          <p:cNvSpPr/>
          <p:nvPr/>
        </p:nvSpPr>
        <p:spPr>
          <a:xfrm>
            <a:off x="2696777" y="5193332"/>
            <a:ext cx="50279" cy="987295"/>
          </a:xfrm>
          <a:prstGeom prst="rect">
            <a:avLst/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3" name="Shape 161"/>
          <p:cNvSpPr/>
          <p:nvPr/>
        </p:nvSpPr>
        <p:spPr>
          <a:xfrm>
            <a:off x="2696777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4" name="Text 162"/>
          <p:cNvSpPr/>
          <p:nvPr/>
        </p:nvSpPr>
        <p:spPr>
          <a:xfrm>
            <a:off x="2843043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DeviceConfigurations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5" name="Text 163"/>
          <p:cNvSpPr/>
          <p:nvPr/>
        </p:nvSpPr>
        <p:spPr>
          <a:xfrm>
            <a:off x="2843043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Per-device settings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66" name="Shape 164"/>
          <p:cNvSpPr/>
          <p:nvPr/>
        </p:nvSpPr>
        <p:spPr>
          <a:xfrm>
            <a:off x="2824760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7" name="Text 165"/>
          <p:cNvSpPr/>
          <p:nvPr/>
        </p:nvSpPr>
        <p:spPr>
          <a:xfrm>
            <a:off x="2843043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68" name="Text 166"/>
          <p:cNvSpPr/>
          <p:nvPr/>
        </p:nvSpPr>
        <p:spPr>
          <a:xfrm>
            <a:off x="3135575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69" name="Text 167"/>
          <p:cNvSpPr/>
          <p:nvPr/>
        </p:nvSpPr>
        <p:spPr>
          <a:xfrm>
            <a:off x="4141153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0" name="Text 168"/>
          <p:cNvSpPr/>
          <p:nvPr/>
        </p:nvSpPr>
        <p:spPr>
          <a:xfrm>
            <a:off x="2843043" y="5773825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71" name="Text 169"/>
          <p:cNvSpPr/>
          <p:nvPr/>
        </p:nvSpPr>
        <p:spPr>
          <a:xfrm>
            <a:off x="3135575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72" name="Text 170"/>
          <p:cNvSpPr/>
          <p:nvPr/>
        </p:nvSpPr>
        <p:spPr>
          <a:xfrm>
            <a:off x="4141153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3" name="Text 171"/>
          <p:cNvSpPr/>
          <p:nvPr/>
        </p:nvSpPr>
        <p:spPr>
          <a:xfrm>
            <a:off x="3135575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ConfigurationKey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74" name="Text 172"/>
          <p:cNvSpPr/>
          <p:nvPr/>
        </p:nvSpPr>
        <p:spPr>
          <a:xfrm>
            <a:off x="4141153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5" name="Text 173"/>
          <p:cNvSpPr/>
          <p:nvPr/>
        </p:nvSpPr>
        <p:spPr>
          <a:xfrm>
            <a:off x="3135575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ConfigurationValue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76" name="Text 174"/>
          <p:cNvSpPr/>
          <p:nvPr/>
        </p:nvSpPr>
        <p:spPr>
          <a:xfrm>
            <a:off x="4141153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7" name="Shape 175"/>
          <p:cNvSpPr/>
          <p:nvPr/>
        </p:nvSpPr>
        <p:spPr>
          <a:xfrm>
            <a:off x="4963899" y="5147624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78" name="Shape 176"/>
          <p:cNvSpPr/>
          <p:nvPr/>
        </p:nvSpPr>
        <p:spPr>
          <a:xfrm>
            <a:off x="4936474" y="5120199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79" name="Shape 177"/>
          <p:cNvSpPr/>
          <p:nvPr/>
        </p:nvSpPr>
        <p:spPr>
          <a:xfrm>
            <a:off x="4936474" y="5193332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0" name="Shape 178"/>
          <p:cNvSpPr/>
          <p:nvPr/>
        </p:nvSpPr>
        <p:spPr>
          <a:xfrm>
            <a:off x="4936474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1" name="Text 179"/>
          <p:cNvSpPr/>
          <p:nvPr/>
        </p:nvSpPr>
        <p:spPr>
          <a:xfrm>
            <a:off x="5082739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DeviceCommands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2" name="Text 180"/>
          <p:cNvSpPr/>
          <p:nvPr/>
        </p:nvSpPr>
        <p:spPr>
          <a:xfrm>
            <a:off x="5082739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Commands sent to device / actuator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83" name="Shape 181"/>
          <p:cNvSpPr/>
          <p:nvPr/>
        </p:nvSpPr>
        <p:spPr>
          <a:xfrm>
            <a:off x="5064456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4" name="Text 182"/>
          <p:cNvSpPr/>
          <p:nvPr/>
        </p:nvSpPr>
        <p:spPr>
          <a:xfrm>
            <a:off x="5082739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85" name="Text 183"/>
          <p:cNvSpPr/>
          <p:nvPr/>
        </p:nvSpPr>
        <p:spPr>
          <a:xfrm>
            <a:off x="5375271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86" name="Text 184"/>
          <p:cNvSpPr/>
          <p:nvPr/>
        </p:nvSpPr>
        <p:spPr>
          <a:xfrm>
            <a:off x="6380849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87" name="Text 185"/>
          <p:cNvSpPr/>
          <p:nvPr/>
        </p:nvSpPr>
        <p:spPr>
          <a:xfrm>
            <a:off x="5082739" y="5773825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88" name="Text 186"/>
          <p:cNvSpPr/>
          <p:nvPr/>
        </p:nvSpPr>
        <p:spPr>
          <a:xfrm>
            <a:off x="5375271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89" name="Text 187"/>
          <p:cNvSpPr/>
          <p:nvPr/>
        </p:nvSpPr>
        <p:spPr>
          <a:xfrm>
            <a:off x="6380849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90" name="Text 188"/>
          <p:cNvSpPr/>
          <p:nvPr/>
        </p:nvSpPr>
        <p:spPr>
          <a:xfrm>
            <a:off x="5082739" y="591552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91" name="Text 189"/>
          <p:cNvSpPr/>
          <p:nvPr/>
        </p:nvSpPr>
        <p:spPr>
          <a:xfrm>
            <a:off x="5375271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92" name="Text 190"/>
          <p:cNvSpPr/>
          <p:nvPr/>
        </p:nvSpPr>
        <p:spPr>
          <a:xfrm>
            <a:off x="6380849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93" name="Text 191"/>
          <p:cNvSpPr/>
          <p:nvPr/>
        </p:nvSpPr>
        <p:spPr>
          <a:xfrm>
            <a:off x="5375271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94" name="Text 192"/>
          <p:cNvSpPr/>
          <p:nvPr/>
        </p:nvSpPr>
        <p:spPr>
          <a:xfrm>
            <a:off x="6380849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95" name="Shape 193"/>
          <p:cNvSpPr/>
          <p:nvPr/>
        </p:nvSpPr>
        <p:spPr>
          <a:xfrm>
            <a:off x="7157887" y="5147624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6" name="Shape 194"/>
          <p:cNvSpPr/>
          <p:nvPr/>
        </p:nvSpPr>
        <p:spPr>
          <a:xfrm>
            <a:off x="7130462" y="5120199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7" name="Shape 195"/>
          <p:cNvSpPr/>
          <p:nvPr/>
        </p:nvSpPr>
        <p:spPr>
          <a:xfrm>
            <a:off x="7130462" y="5193332"/>
            <a:ext cx="50279" cy="987295"/>
          </a:xfrm>
          <a:prstGeom prst="rect">
            <a:avLst/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8" name="Shape 196"/>
          <p:cNvSpPr/>
          <p:nvPr/>
        </p:nvSpPr>
        <p:spPr>
          <a:xfrm>
            <a:off x="7130462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7276728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0" name="Text 198"/>
          <p:cNvSpPr/>
          <p:nvPr/>
        </p:nvSpPr>
        <p:spPr>
          <a:xfrm>
            <a:off x="7276728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 / threshold rules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01" name="Shape 199"/>
          <p:cNvSpPr/>
          <p:nvPr/>
        </p:nvSpPr>
        <p:spPr>
          <a:xfrm>
            <a:off x="7258445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02" name="Text 200"/>
          <p:cNvSpPr/>
          <p:nvPr/>
        </p:nvSpPr>
        <p:spPr>
          <a:xfrm>
            <a:off x="7276728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03" name="Text 201"/>
          <p:cNvSpPr/>
          <p:nvPr/>
        </p:nvSpPr>
        <p:spPr>
          <a:xfrm>
            <a:off x="7569260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04" name="Text 202"/>
          <p:cNvSpPr/>
          <p:nvPr/>
        </p:nvSpPr>
        <p:spPr>
          <a:xfrm>
            <a:off x="8574838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05" name="Text 203"/>
          <p:cNvSpPr/>
          <p:nvPr/>
        </p:nvSpPr>
        <p:spPr>
          <a:xfrm>
            <a:off x="7276728" y="5773825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06" name="Text 204"/>
          <p:cNvSpPr/>
          <p:nvPr/>
        </p:nvSpPr>
        <p:spPr>
          <a:xfrm>
            <a:off x="7569260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07" name="Text 205"/>
          <p:cNvSpPr/>
          <p:nvPr/>
        </p:nvSpPr>
        <p:spPr>
          <a:xfrm>
            <a:off x="8574838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08" name="Text 206"/>
          <p:cNvSpPr/>
          <p:nvPr/>
        </p:nvSpPr>
        <p:spPr>
          <a:xfrm>
            <a:off x="7276728" y="591552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09" name="Text 207"/>
          <p:cNvSpPr/>
          <p:nvPr/>
        </p:nvSpPr>
        <p:spPr>
          <a:xfrm>
            <a:off x="7569260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10" name="Text 208"/>
          <p:cNvSpPr/>
          <p:nvPr/>
        </p:nvSpPr>
        <p:spPr>
          <a:xfrm>
            <a:off x="8574838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11" name="Text 209"/>
          <p:cNvSpPr/>
          <p:nvPr/>
        </p:nvSpPr>
        <p:spPr>
          <a:xfrm>
            <a:off x="7569260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12" name="Text 210"/>
          <p:cNvSpPr/>
          <p:nvPr/>
        </p:nvSpPr>
        <p:spPr>
          <a:xfrm>
            <a:off x="8574838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string(20)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13" name="Text 211"/>
          <p:cNvSpPr/>
          <p:nvPr/>
        </p:nvSpPr>
        <p:spPr>
          <a:xfrm>
            <a:off x="4756524" y="281430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4" name="Text 212"/>
          <p:cNvSpPr/>
          <p:nvPr/>
        </p:nvSpPr>
        <p:spPr>
          <a:xfrm>
            <a:off x="2547629" y="216052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5" name="Text 213"/>
          <p:cNvSpPr/>
          <p:nvPr/>
        </p:nvSpPr>
        <p:spPr>
          <a:xfrm>
            <a:off x="4694035" y="3331082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6" name="Text 214"/>
          <p:cNvSpPr/>
          <p:nvPr/>
        </p:nvSpPr>
        <p:spPr>
          <a:xfrm>
            <a:off x="2610118" y="365490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7" name="Text 215"/>
          <p:cNvSpPr/>
          <p:nvPr/>
        </p:nvSpPr>
        <p:spPr>
          <a:xfrm>
            <a:off x="7073321" y="2989914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8" name="Text 216"/>
          <p:cNvSpPr/>
          <p:nvPr/>
        </p:nvSpPr>
        <p:spPr>
          <a:xfrm>
            <a:off x="9235326" y="1756373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9" name="Text 217"/>
          <p:cNvSpPr/>
          <p:nvPr/>
        </p:nvSpPr>
        <p:spPr>
          <a:xfrm>
            <a:off x="7051054" y="339109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0" name="Text 218"/>
          <p:cNvSpPr/>
          <p:nvPr/>
        </p:nvSpPr>
        <p:spPr>
          <a:xfrm>
            <a:off x="9257593" y="2909264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1" name="Text 219"/>
          <p:cNvSpPr/>
          <p:nvPr/>
        </p:nvSpPr>
        <p:spPr>
          <a:xfrm>
            <a:off x="7011109" y="376286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2" name="Text 220"/>
          <p:cNvSpPr/>
          <p:nvPr/>
        </p:nvSpPr>
        <p:spPr>
          <a:xfrm>
            <a:off x="9297538" y="4000152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3" name="Text 221"/>
          <p:cNvSpPr/>
          <p:nvPr/>
        </p:nvSpPr>
        <p:spPr>
          <a:xfrm>
            <a:off x="6964236" y="4116594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4" name="Text 222"/>
          <p:cNvSpPr/>
          <p:nvPr/>
        </p:nvSpPr>
        <p:spPr>
          <a:xfrm>
            <a:off x="9344412" y="510908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5" name="Text 223"/>
          <p:cNvSpPr/>
          <p:nvPr/>
        </p:nvSpPr>
        <p:spPr>
          <a:xfrm>
            <a:off x="5053388" y="399264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6" name="Text 224"/>
          <p:cNvSpPr/>
          <p:nvPr/>
        </p:nvSpPr>
        <p:spPr>
          <a:xfrm>
            <a:off x="4307629" y="500449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7" name="Text 225"/>
          <p:cNvSpPr/>
          <p:nvPr/>
        </p:nvSpPr>
        <p:spPr>
          <a:xfrm>
            <a:off x="5704622" y="412517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8" name="Text 226"/>
          <p:cNvSpPr/>
          <p:nvPr/>
        </p:nvSpPr>
        <p:spPr>
          <a:xfrm>
            <a:off x="5896092" y="487196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9" name="Text 227"/>
          <p:cNvSpPr/>
          <p:nvPr/>
        </p:nvSpPr>
        <p:spPr>
          <a:xfrm>
            <a:off x="6426119" y="4169680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0" name="Text 228"/>
          <p:cNvSpPr/>
          <p:nvPr/>
        </p:nvSpPr>
        <p:spPr>
          <a:xfrm>
            <a:off x="7368583" y="4827459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1" name="Text 229"/>
          <p:cNvSpPr/>
          <p:nvPr/>
        </p:nvSpPr>
        <p:spPr>
          <a:xfrm>
            <a:off x="2608323" y="1662357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2" name="Text 230"/>
          <p:cNvSpPr/>
          <p:nvPr/>
        </p:nvSpPr>
        <p:spPr>
          <a:xfrm>
            <a:off x="9266639" y="1255605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3" name="Text 231"/>
          <p:cNvSpPr/>
          <p:nvPr/>
        </p:nvSpPr>
        <p:spPr>
          <a:xfrm>
            <a:off x="2427079" y="2327727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4" name="Text 232"/>
          <p:cNvSpPr/>
          <p:nvPr/>
        </p:nvSpPr>
        <p:spPr>
          <a:xfrm>
            <a:off x="6933939" y="484108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5" name="Text 233"/>
          <p:cNvSpPr/>
          <p:nvPr/>
        </p:nvSpPr>
        <p:spPr>
          <a:xfrm>
            <a:off x="2538879" y="222568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6" name="Text 234"/>
          <p:cNvSpPr/>
          <p:nvPr/>
        </p:nvSpPr>
        <p:spPr>
          <a:xfrm>
            <a:off x="9336083" y="5171675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7" name="Text 235"/>
          <p:cNvSpPr/>
          <p:nvPr/>
        </p:nvSpPr>
        <p:spPr>
          <a:xfrm>
            <a:off x="1316393" y="230458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8" name="Text 236"/>
          <p:cNvSpPr/>
          <p:nvPr/>
        </p:nvSpPr>
        <p:spPr>
          <a:xfrm>
            <a:off x="1554075" y="285307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9" name="Text 237"/>
          <p:cNvSpPr/>
          <p:nvPr/>
        </p:nvSpPr>
        <p:spPr>
          <a:xfrm>
            <a:off x="9084475" y="5820230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0" name="Text 238"/>
          <p:cNvSpPr/>
          <p:nvPr/>
        </p:nvSpPr>
        <p:spPr>
          <a:xfrm>
            <a:off x="9281036" y="559943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1" name="Text 239"/>
          <p:cNvSpPr/>
          <p:nvPr/>
        </p:nvSpPr>
        <p:spPr>
          <a:xfrm>
            <a:off x="2539461" y="423249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2" name="Text 240"/>
          <p:cNvSpPr/>
          <p:nvPr/>
        </p:nvSpPr>
        <p:spPr>
          <a:xfrm>
            <a:off x="4627567" y="494747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3" name="Shape 241"/>
          <p:cNvSpPr/>
          <p:nvPr/>
        </p:nvSpPr>
        <p:spPr>
          <a:xfrm>
            <a:off x="457080" y="6619425"/>
            <a:ext cx="50279" cy="164549"/>
          </a:xfrm>
          <a:prstGeom prst="rect">
            <a:avLst/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4" name="Text 242"/>
          <p:cNvSpPr/>
          <p:nvPr/>
        </p:nvSpPr>
        <p:spPr>
          <a:xfrm>
            <a:off x="566780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Hub (Devices)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5" name="Shape 243"/>
          <p:cNvSpPr/>
          <p:nvPr/>
        </p:nvSpPr>
        <p:spPr>
          <a:xfrm>
            <a:off x="2056864" y="6619425"/>
            <a:ext cx="50279" cy="164549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6" name="Text 244"/>
          <p:cNvSpPr/>
          <p:nvPr/>
        </p:nvSpPr>
        <p:spPr>
          <a:xfrm>
            <a:off x="2166563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Primary entities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7" name="Shape 245"/>
          <p:cNvSpPr/>
          <p:nvPr/>
        </p:nvSpPr>
        <p:spPr>
          <a:xfrm>
            <a:off x="3793771" y="6619425"/>
            <a:ext cx="50279" cy="164549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8" name="Text 246"/>
          <p:cNvSpPr/>
          <p:nvPr/>
        </p:nvSpPr>
        <p:spPr>
          <a:xfrm>
            <a:off x="3903471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Event / log tables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9" name="Shape 247"/>
          <p:cNvSpPr/>
          <p:nvPr/>
        </p:nvSpPr>
        <p:spPr>
          <a:xfrm>
            <a:off x="5667803" y="6619425"/>
            <a:ext cx="50279" cy="164549"/>
          </a:xfrm>
          <a:prstGeom prst="rect">
            <a:avLst/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0" name="Text 248"/>
          <p:cNvSpPr/>
          <p:nvPr/>
        </p:nvSpPr>
        <p:spPr>
          <a:xfrm>
            <a:off x="5777503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1" name="Shape 249"/>
          <p:cNvSpPr/>
          <p:nvPr/>
        </p:nvSpPr>
        <p:spPr>
          <a:xfrm>
            <a:off x="7359003" y="6665133"/>
            <a:ext cx="0" cy="91416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2" name="Shape 250"/>
          <p:cNvSpPr/>
          <p:nvPr/>
        </p:nvSpPr>
        <p:spPr>
          <a:xfrm>
            <a:off x="7496127" y="6701700"/>
            <a:ext cx="319957" cy="0"/>
          </a:xfrm>
          <a:prstGeom prst="line">
            <a:avLst/>
          </a:prstGeom>
          <a:noFill/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3" name="Text 251"/>
          <p:cNvSpPr/>
          <p:nvPr/>
        </p:nvSpPr>
        <p:spPr>
          <a:xfrm>
            <a:off x="7724668" y="6601142"/>
            <a:ext cx="420514" cy="201116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4" name="Text 252"/>
          <p:cNvSpPr/>
          <p:nvPr/>
        </p:nvSpPr>
        <p:spPr>
          <a:xfrm>
            <a:off x="8172607" y="6601142"/>
            <a:ext cx="1096994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required (1)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5" name="Shape 253"/>
          <p:cNvSpPr/>
          <p:nvPr/>
        </p:nvSpPr>
        <p:spPr>
          <a:xfrm>
            <a:off x="8867370" y="6701700"/>
            <a:ext cx="319957" cy="0"/>
          </a:xfrm>
          <a:prstGeom prst="line">
            <a:avLst/>
          </a:prstGeom>
          <a:noFill/>
          <a:ln w="15875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6" name="Text 254"/>
          <p:cNvSpPr/>
          <p:nvPr/>
        </p:nvSpPr>
        <p:spPr>
          <a:xfrm>
            <a:off x="9095910" y="6601142"/>
            <a:ext cx="420514" cy="201116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7" name="Text 255"/>
          <p:cNvSpPr/>
          <p:nvPr/>
        </p:nvSpPr>
        <p:spPr>
          <a:xfrm>
            <a:off x="9543850" y="6601142"/>
            <a:ext cx="1096994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optional (0..1)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8" name="Shape 256"/>
          <p:cNvSpPr/>
          <p:nvPr/>
        </p:nvSpPr>
        <p:spPr>
          <a:xfrm>
            <a:off x="10421445" y="6701700"/>
            <a:ext cx="319957" cy="0"/>
          </a:xfrm>
          <a:prstGeom prst="line">
            <a:avLst/>
          </a:prstGeom>
          <a:noFill/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9" name="Text 257"/>
          <p:cNvSpPr/>
          <p:nvPr/>
        </p:nvSpPr>
        <p:spPr>
          <a:xfrm>
            <a:off x="10649986" y="6601142"/>
            <a:ext cx="420514" cy="201116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60" name="Text 258"/>
          <p:cNvSpPr/>
          <p:nvPr/>
        </p:nvSpPr>
        <p:spPr>
          <a:xfrm>
            <a:off x="11097925" y="6601142"/>
            <a:ext cx="1096994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many (0..*)</a:t>
            </a:r>
            <a:endParaRPr lang="en-US" sz="900" dirty="0"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hlinkClick r:id="rId2" action="ppaction://hlinkfile"/>
            <a:extLst>
              <a:ext uri="{FF2B5EF4-FFF2-40B4-BE49-F238E27FC236}">
                <a16:creationId xmlns:a16="http://schemas.microsoft.com/office/drawing/2014/main" id="{EEE48F22-2D12-17F3-C67D-F533B810B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748" y="1782535"/>
            <a:ext cx="2887579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IoT DASHBOARD - DATABASE DIAGRAM</a:t>
            </a:r>
            <a:endParaRPr kumimoji="0" lang="en-US" altLang="en-US" sz="7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93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Table 89">
            <a:extLst>
              <a:ext uri="{FF2B5EF4-FFF2-40B4-BE49-F238E27FC236}">
                <a16:creationId xmlns:a16="http://schemas.microsoft.com/office/drawing/2014/main" id="{2A86FAE4-0E6A-0510-CF34-6ED40C3FC1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472365"/>
              </p:ext>
            </p:extLst>
          </p:nvPr>
        </p:nvGraphicFramePr>
        <p:xfrm>
          <a:off x="1543056" y="1173019"/>
          <a:ext cx="9355854" cy="51466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488">
                  <a:extLst>
                    <a:ext uri="{9D8B030D-6E8A-4147-A177-3AD203B41FA5}">
                      <a16:colId xmlns:a16="http://schemas.microsoft.com/office/drawing/2014/main" val="221112925"/>
                    </a:ext>
                  </a:extLst>
                </a:gridCol>
                <a:gridCol w="1763713">
                  <a:extLst>
                    <a:ext uri="{9D8B030D-6E8A-4147-A177-3AD203B41FA5}">
                      <a16:colId xmlns:a16="http://schemas.microsoft.com/office/drawing/2014/main" val="836126388"/>
                    </a:ext>
                  </a:extLst>
                </a:gridCol>
                <a:gridCol w="2429486">
                  <a:extLst>
                    <a:ext uri="{9D8B030D-6E8A-4147-A177-3AD203B41FA5}">
                      <a16:colId xmlns:a16="http://schemas.microsoft.com/office/drawing/2014/main" val="3689972077"/>
                    </a:ext>
                  </a:extLst>
                </a:gridCol>
                <a:gridCol w="1740348">
                  <a:extLst>
                    <a:ext uri="{9D8B030D-6E8A-4147-A177-3AD203B41FA5}">
                      <a16:colId xmlns:a16="http://schemas.microsoft.com/office/drawing/2014/main" val="4090736638"/>
                    </a:ext>
                  </a:extLst>
                </a:gridCol>
                <a:gridCol w="3001819">
                  <a:extLst>
                    <a:ext uri="{9D8B030D-6E8A-4147-A177-3AD203B41FA5}">
                      <a16:colId xmlns:a16="http://schemas.microsoft.com/office/drawing/2014/main" val="668277606"/>
                    </a:ext>
                  </a:extLst>
                </a:gridCol>
              </a:tblGrid>
              <a:tr h="47446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B050"/>
                          </a:solidFill>
                          <a:effectLst/>
                          <a:latin typeface="Candara" panose="020E0502030303020204" pitchFamily="34" charset="0"/>
                        </a:rPr>
                        <a:t>#</a:t>
                      </a:r>
                      <a:endParaRPr lang="en-US" sz="2400" b="1" i="0" u="none" strike="noStrike" dirty="0">
                        <a:solidFill>
                          <a:srgbClr val="00B05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B050"/>
                          </a:solidFill>
                          <a:effectLst/>
                          <a:latin typeface="Candara" panose="020E0502030303020204" pitchFamily="34" charset="0"/>
                        </a:rPr>
                        <a:t>Table</a:t>
                      </a:r>
                      <a:endParaRPr lang="en-US" sz="2400" b="1" i="0" u="none" strike="noStrike" dirty="0">
                        <a:solidFill>
                          <a:srgbClr val="00B05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B050"/>
                          </a:solidFill>
                          <a:effectLst/>
                          <a:latin typeface="Candara" panose="020E0502030303020204" pitchFamily="34" charset="0"/>
                        </a:rPr>
                        <a:t>Purpose</a:t>
                      </a:r>
                      <a:endParaRPr lang="en-US" sz="2400" b="1" i="0" u="none" strike="noStrike" dirty="0">
                        <a:solidFill>
                          <a:srgbClr val="00B05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B050"/>
                          </a:solidFill>
                          <a:effectLst/>
                          <a:latin typeface="Candara" panose="020E0502030303020204" pitchFamily="34" charset="0"/>
                        </a:rPr>
                        <a:t>Primary key</a:t>
                      </a:r>
                      <a:endParaRPr lang="en-US" sz="2400" b="1" i="0" u="none" strike="noStrike" dirty="0">
                        <a:solidFill>
                          <a:srgbClr val="00B05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B050"/>
                          </a:solidFill>
                          <a:effectLst/>
                          <a:latin typeface="Candara" panose="020E0502030303020204" pitchFamily="34" charset="0"/>
                        </a:rPr>
                        <a:t>Foreign keys</a:t>
                      </a:r>
                      <a:endParaRPr lang="en-US" sz="2400" b="1" i="0" u="none" strike="noStrike" dirty="0">
                        <a:solidFill>
                          <a:srgbClr val="00B05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8205783"/>
                  </a:ext>
                </a:extLst>
              </a:tr>
              <a:tr h="34318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1</a:t>
                      </a:r>
                      <a:endParaRPr lang="en-US" sz="14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Devices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IoT equipment registry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DeviceId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—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9404244"/>
                  </a:ext>
                </a:extLst>
              </a:tr>
              <a:tr h="34318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2</a:t>
                      </a:r>
                      <a:endParaRPr lang="en-US" sz="14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Sensors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Inputs on each device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SensorId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DeviceId → Devices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937100"/>
                  </a:ext>
                </a:extLst>
              </a:tr>
              <a:tr h="4419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3</a:t>
                      </a:r>
                      <a:endParaRPr lang="en-US" sz="14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SensorReadings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Raw measurements over time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ReadingId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DeviceId → Devices; SensorId → Sensors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244884"/>
                  </a:ext>
                </a:extLst>
              </a:tr>
              <a:tr h="4419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4</a:t>
                      </a:r>
                      <a:endParaRPr lang="en-US" sz="14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DeviceStatusHistories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 status change log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StatusHistoryId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DeviceId → Devices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963784"/>
                  </a:ext>
                </a:extLst>
              </a:tr>
              <a:tr h="34318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5</a:t>
                      </a:r>
                      <a:endParaRPr lang="en-US" sz="14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OperationalMetrics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Calculated KPIs per device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MetricId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DeviceId</a:t>
                      </a: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 → Devices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85098"/>
                  </a:ext>
                </a:extLst>
              </a:tr>
              <a:tr h="4419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6</a:t>
                      </a:r>
                      <a:endParaRPr lang="en-US" sz="14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AlertRules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Alert/threshold rules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AlertRuleId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DeviceId → Devices (opt.); SensorId → Sensors (opt.)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980348"/>
                  </a:ext>
                </a:extLst>
              </a:tr>
              <a:tr h="660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7</a:t>
                      </a:r>
                      <a:endParaRPr lang="en-US" sz="14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Alerts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Fired alert records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AlertId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AlertRuleId → AlertRules; DeviceId → Devices; SensorId → Sensors (opt.)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098700"/>
                  </a:ext>
                </a:extLst>
              </a:tr>
              <a:tr h="4419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8</a:t>
                      </a:r>
                      <a:endParaRPr lang="en-US" sz="14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DeviceConfigurations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Per-device settings (key-value)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ConfigurationId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DeviceId</a:t>
                      </a: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 → Devices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6028629"/>
                  </a:ext>
                </a:extLst>
              </a:tr>
              <a:tr h="4419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9</a:t>
                      </a:r>
                      <a:endParaRPr lang="en-US" sz="14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Actuators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Controllable outputs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ActuatorId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DeviceId</a:t>
                      </a: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 → Devices; </a:t>
                      </a: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FeedbackSensorId</a:t>
                      </a: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 → Sensors (opt.)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965571"/>
                  </a:ext>
                </a:extLst>
              </a:tr>
              <a:tr h="4419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10</a:t>
                      </a:r>
                      <a:endParaRPr lang="en-US" sz="14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DeviceCommands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Commands to device/actuator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CommandId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DeviceId</a:t>
                      </a: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 → Devices; </a:t>
                      </a: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ActuatorId</a:t>
                      </a: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 → Actuators (opt.)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214059"/>
                  </a:ext>
                </a:extLst>
              </a:tr>
              <a:tr h="3311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11</a:t>
                      </a:r>
                      <a:endParaRPr lang="en-US" sz="14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339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Users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App login and roles</a:t>
                      </a:r>
                      <a:endParaRPr lang="en-US" sz="1300" b="0" i="0" u="none" strike="noStrike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 err="1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UserId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300" u="none" strike="noStrike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  <a:effectLst/>
                          <a:latin typeface="Candara" panose="020E0502030303020204" pitchFamily="34" charset="0"/>
                        </a:rPr>
                        <a:t>—</a:t>
                      </a:r>
                      <a:endParaRPr lang="en-US" sz="1300" b="0" i="0" u="none" strike="noStrike" dirty="0"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57050" marR="6339" marT="6339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1587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2160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45708"/>
          </a:xfrm>
          <a:prstGeom prst="rect">
            <a:avLst/>
          </a:prstGeom>
          <a:solidFill>
            <a:srgbClr val="008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350" y="595099"/>
            <a:ext cx="6094413" cy="456407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17322"/>
            <a:r>
              <a:rPr lang="en-US" sz="2666" b="1" dirty="0">
                <a:solidFill>
                  <a:srgbClr val="F5FAF8"/>
                </a:solidFill>
                <a:latin typeface="Candara" panose="020E0502030303020204" pitchFamily="34" charset="0"/>
              </a:rPr>
              <a:t>Database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351" y="1052180"/>
            <a:ext cx="9293979" cy="26161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17322"/>
            <a:r>
              <a:rPr lang="en-US" sz="1400" b="1" dirty="0">
                <a:solidFill>
                  <a:srgbClr val="F5FAF8"/>
                </a:solidFill>
                <a:latin typeface="Candara" panose="020E0502030303020204" pitchFamily="34" charset="0"/>
              </a:rPr>
              <a:t>Entity Relationship Diagram</a:t>
            </a:r>
            <a:r>
              <a:rPr lang="en-US" sz="1333" i="1" dirty="0">
                <a:solidFill>
                  <a:srgbClr val="B9CDC3"/>
                </a:solidFill>
                <a:latin typeface="Candara" panose="020E0502030303020204" pitchFamily="34" charset="0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8990" y="1562585"/>
            <a:ext cx="2818666" cy="3656648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3261" y="1654003"/>
            <a:ext cx="2590125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SENSOR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0467" y="1562585"/>
            <a:ext cx="5218341" cy="4380359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008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94737" y="1654003"/>
            <a:ext cx="4989800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8770"/>
                </a:solidFill>
                <a:latin typeface="Candara" panose="020E0502030303020204" pitchFamily="34" charset="0"/>
              </a:rPr>
              <a:t>DEVICE 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51168" y="1562585"/>
            <a:ext cx="2780576" cy="4532719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065438" y="1654003"/>
            <a:ext cx="2552035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ALERTING &amp; CONFIGURATION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885187" y="2552928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3885187" y="2377714"/>
            <a:ext cx="0" cy="175214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71026" y="2377714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13087" y="2880503"/>
            <a:ext cx="0" cy="1005578"/>
          </a:xfrm>
          <a:prstGeom prst="line">
            <a:avLst/>
          </a:prstGeom>
          <a:ln w="15875">
            <a:solidFill>
              <a:srgbClr val="00B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390016" y="2933829"/>
            <a:ext cx="1371243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90016" y="2933829"/>
            <a:ext cx="0" cy="1500749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123386" y="4434578"/>
            <a:ext cx="266631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389475" y="2552928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265546" y="2377714"/>
            <a:ext cx="0" cy="175214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65546" y="2377714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89475" y="2758615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65546" y="2758615"/>
            <a:ext cx="0" cy="1165556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265546" y="3924171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08791" y="3200460"/>
            <a:ext cx="0" cy="1104612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4989800" y="4305072"/>
            <a:ext cx="418991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989800" y="4305072"/>
            <a:ext cx="0" cy="342811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741943" y="3200460"/>
            <a:ext cx="0" cy="1104612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1943" y="4305072"/>
            <a:ext cx="83798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79925" y="4305072"/>
            <a:ext cx="0" cy="342811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360501" y="4495522"/>
            <a:ext cx="0" cy="418991"/>
          </a:xfrm>
          <a:prstGeom prst="line">
            <a:avLst/>
          </a:prstGeom>
          <a:ln w="15875">
            <a:solidFill>
              <a:srgbClr val="E6A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813087" y="1433080"/>
            <a:ext cx="0" cy="434227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13087" y="1433080"/>
            <a:ext cx="10032927" cy="0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846014" y="1433080"/>
            <a:ext cx="0" cy="2491091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541293" y="3924171"/>
            <a:ext cx="304721" cy="0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47531" y="1867307"/>
            <a:ext cx="2323495" cy="1013196"/>
          </a:xfrm>
          <a:prstGeom prst="rect">
            <a:avLst/>
          </a:prstGeom>
          <a:solidFill>
            <a:srgbClr val="112621"/>
          </a:solidFill>
          <a:ln w="1270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47531" y="1867307"/>
            <a:ext cx="2323495" cy="251395"/>
          </a:xfrm>
          <a:prstGeom prst="rect">
            <a:avLst/>
          </a:prstGeom>
          <a:solidFill>
            <a:srgbClr val="00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48791" y="1913015"/>
            <a:ext cx="520976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SENSORS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184" y="2194881"/>
            <a:ext cx="2110189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 dirty="0">
                <a:solidFill>
                  <a:srgbClr val="F5F8F6"/>
                </a:solidFill>
                <a:latin typeface="Candara" panose="020E0502030303020204" pitchFamily="34" charset="0"/>
              </a:rPr>
              <a:t>PK  </a:t>
            </a:r>
            <a:r>
              <a:rPr sz="1000" b="1" dirty="0" err="1">
                <a:solidFill>
                  <a:srgbClr val="F5F8F6"/>
                </a:solidFill>
                <a:latin typeface="Candara" panose="020E0502030303020204" pitchFamily="34" charset="0"/>
              </a:rPr>
              <a:t>SensorId</a:t>
            </a:r>
            <a:endParaRPr sz="1000" b="1" dirty="0">
              <a:solidFill>
                <a:srgbClr val="F5F8F6"/>
              </a:solidFill>
              <a:latin typeface="Candara" panose="020E0502030303020204" pitchFamily="34" charset="0"/>
            </a:endParaRPr>
          </a:p>
          <a:p>
            <a:pPr defTabSz="380893">
              <a:spcAft>
                <a:spcPts val="83"/>
              </a:spcAft>
            </a:pP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FK  </a:t>
            </a: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DeviceId</a:t>
            </a: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 → Devices</a:t>
            </a:r>
          </a:p>
          <a:p>
            <a:pPr defTabSz="380893">
              <a:spcAft>
                <a:spcPts val="83"/>
              </a:spcAft>
            </a:pP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SensorName</a:t>
            </a: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 · </a:t>
            </a: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SensorType</a:t>
            </a:r>
            <a:endParaRPr sz="1000" dirty="0">
              <a:solidFill>
                <a:srgbClr val="B2C4BC"/>
              </a:solidFill>
              <a:latin typeface="Candara" panose="020E0502030303020204" pitchFamily="34" charset="0"/>
            </a:endParaRPr>
          </a:p>
          <a:p>
            <a:pPr defTabSz="380893">
              <a:spcAft>
                <a:spcPts val="83"/>
              </a:spcAft>
            </a:pP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Unit · </a:t>
            </a: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MinValue</a:t>
            </a: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 · </a:t>
            </a: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MaxValue</a:t>
            </a:r>
            <a:endParaRPr sz="1000" dirty="0">
              <a:solidFill>
                <a:srgbClr val="B2C4BC"/>
              </a:solidFill>
              <a:latin typeface="Candara" panose="020E0502030303020204" pitchFamily="34" charset="0"/>
            </a:endParaRPr>
          </a:p>
          <a:p>
            <a:pPr defTabSz="380893">
              <a:spcAft>
                <a:spcPts val="83"/>
              </a:spcAft>
            </a:pP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IsActive</a:t>
            </a: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 · </a:t>
            </a: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CreatedAt</a:t>
            </a:r>
            <a:endParaRPr sz="1000" dirty="0">
              <a:solidFill>
                <a:srgbClr val="B2C4BC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47531" y="3886081"/>
            <a:ext cx="2475855" cy="1104612"/>
          </a:xfrm>
          <a:prstGeom prst="rect">
            <a:avLst/>
          </a:prstGeom>
          <a:solidFill>
            <a:srgbClr val="112621"/>
          </a:solidFill>
          <a:ln w="1270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47531" y="3886081"/>
            <a:ext cx="2475855" cy="251395"/>
          </a:xfrm>
          <a:prstGeom prst="rect">
            <a:avLst/>
          </a:prstGeom>
          <a:solidFill>
            <a:srgbClr val="00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357269" y="3931789"/>
            <a:ext cx="1056379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SENSOR READINGS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183" y="4213655"/>
            <a:ext cx="2262551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ReadingId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Value · Timestamp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Quality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61259" y="1943487"/>
            <a:ext cx="2628215" cy="1256973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761259" y="1943487"/>
            <a:ext cx="262821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842932" y="1989196"/>
            <a:ext cx="46487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7911" y="2271062"/>
            <a:ext cx="2414911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 dirty="0">
                <a:solidFill>
                  <a:srgbClr val="F5F8F6"/>
                </a:solidFill>
                <a:latin typeface="Candara" panose="020E0502030303020204" pitchFamily="34" charset="0"/>
              </a:rPr>
              <a:t>PK  </a:t>
            </a:r>
            <a:r>
              <a:rPr sz="1000" b="1" dirty="0" err="1">
                <a:solidFill>
                  <a:srgbClr val="F5F8F6"/>
                </a:solidFill>
                <a:latin typeface="Candara" panose="020E0502030303020204" pitchFamily="34" charset="0"/>
              </a:rPr>
              <a:t>DeviceId</a:t>
            </a:r>
            <a:endParaRPr sz="1000" b="1" dirty="0">
              <a:solidFill>
                <a:srgbClr val="F5F8F6"/>
              </a:solidFill>
              <a:latin typeface="Candara" panose="020E0502030303020204" pitchFamily="34" charset="0"/>
            </a:endParaRPr>
          </a:p>
          <a:p>
            <a:pPr defTabSz="380893">
              <a:spcAft>
                <a:spcPts val="83"/>
              </a:spcAft>
            </a:pP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DeviceName</a:t>
            </a: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 · </a:t>
            </a: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DeviceType</a:t>
            </a:r>
            <a:endParaRPr sz="1000" dirty="0">
              <a:solidFill>
                <a:srgbClr val="B2C4BC"/>
              </a:solidFill>
              <a:latin typeface="Candara" panose="020E0502030303020204" pitchFamily="34" charset="0"/>
            </a:endParaRPr>
          </a:p>
          <a:p>
            <a:pPr defTabSz="380893">
              <a:spcAft>
                <a:spcPts val="83"/>
              </a:spcAft>
            </a:pP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Location · </a:t>
            </a: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FacilityType</a:t>
            </a:r>
            <a:endParaRPr sz="1000" dirty="0">
              <a:solidFill>
                <a:srgbClr val="B2C4BC"/>
              </a:solidFill>
              <a:latin typeface="Candara" panose="020E0502030303020204" pitchFamily="34" charset="0"/>
            </a:endParaRPr>
          </a:p>
          <a:p>
            <a:pPr defTabSz="380893">
              <a:spcAft>
                <a:spcPts val="83"/>
              </a:spcAft>
            </a:pP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EdgeDeviceType</a:t>
            </a: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 · </a:t>
            </a: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EdgeDeviceId</a:t>
            </a:r>
            <a:endParaRPr sz="1000" dirty="0">
              <a:solidFill>
                <a:srgbClr val="B2C4BC"/>
              </a:solidFill>
              <a:latin typeface="Candara" panose="020E0502030303020204" pitchFamily="34" charset="0"/>
            </a:endParaRPr>
          </a:p>
          <a:p>
            <a:pPr defTabSz="380893">
              <a:spcAft>
                <a:spcPts val="83"/>
              </a:spcAft>
            </a:pP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IsActive</a:t>
            </a:r>
            <a:r>
              <a:rPr sz="1000" dirty="0">
                <a:solidFill>
                  <a:srgbClr val="B2C4BC"/>
                </a:solidFill>
                <a:latin typeface="Candara" panose="020E0502030303020204" pitchFamily="34" charset="0"/>
              </a:rPr>
              <a:t> · </a:t>
            </a:r>
            <a:r>
              <a:rPr sz="1000" dirty="0" err="1">
                <a:solidFill>
                  <a:srgbClr val="B2C4BC"/>
                </a:solidFill>
                <a:latin typeface="Candara" panose="020E0502030303020204" pitchFamily="34" charset="0"/>
              </a:rPr>
              <a:t>LastSeenAt</a:t>
            </a:r>
            <a:endParaRPr sz="1000" dirty="0">
              <a:solidFill>
                <a:srgbClr val="B2C4BC"/>
              </a:solidFill>
              <a:latin typeface="Candara" panose="020E0502030303020204" pitchFamily="34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47097" y="4647883"/>
            <a:ext cx="228540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847097" y="4647882"/>
            <a:ext cx="228540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301310" y="4693590"/>
            <a:ext cx="1376980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 STATUS HISTORY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53750" y="4975457"/>
            <a:ext cx="207210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StatusHistoryId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PreviousStatus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Message · Timestamp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37222" y="4647883"/>
            <a:ext cx="228540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437222" y="4647882"/>
            <a:ext cx="228540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916281" y="4693590"/>
            <a:ext cx="1327286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OPERATIONAL METRICS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43875" y="4975457"/>
            <a:ext cx="207210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MetricId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MetricType · MetricValue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PeriodStart · PeriodEnd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79708" y="1867307"/>
            <a:ext cx="2361585" cy="1013196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179708" y="1867307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902842" y="1913015"/>
            <a:ext cx="915315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 dirty="0">
                <a:solidFill>
                  <a:srgbClr val="000000"/>
                </a:solidFill>
                <a:latin typeface="Candara" panose="020E0502030303020204" pitchFamily="34" charset="0"/>
              </a:rPr>
              <a:t>DEVICE CONFIGS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6361" y="2194882"/>
            <a:ext cx="214828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ConfigurationId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ConfigurationKey · 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Unique: DeviceId + Key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79708" y="3352820"/>
            <a:ext cx="2361585" cy="1142702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9179708" y="3352820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990207" y="3398528"/>
            <a:ext cx="740588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 dirty="0">
                <a:solidFill>
                  <a:srgbClr val="000000"/>
                </a:solidFill>
                <a:latin typeface="Candara" panose="020E0502030303020204" pitchFamily="34" charset="0"/>
              </a:rPr>
              <a:t>ALERT RULES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6361" y="3680394"/>
            <a:ext cx="2148280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AlertRuleId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 (optional)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Condition · Threshold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Severity · IsEnabled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79708" y="4914513"/>
            <a:ext cx="236158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9179708" y="4914513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0149706" y="4960222"/>
            <a:ext cx="421590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ALERTS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86361" y="5242088"/>
            <a:ext cx="2148280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AlertId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AlertRuleId → AlertRules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 (optional)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TriggeredAt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17483" y="246151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625349" y="2469130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986261" y="230153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066876" y="2309152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83581" y="2910975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791447" y="2918593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83581" y="3710867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764196" y="3718485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17483" y="2850031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625349" y="2857649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08150" y="434316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188765" y="4350780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42801" y="246151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550667" y="2469130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13078" y="230153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8993693" y="2309152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42801" y="266719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7550667" y="2674817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913078" y="3847991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993693" y="385560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94520" y="322331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5402386" y="3230932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860293" y="4465050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4940908" y="447266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27672" y="322331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6735538" y="3230932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50419" y="4465050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531034" y="447266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230994" y="4480286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0338860" y="4487905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230994" y="473929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0311609" y="4746917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675963" y="1692093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783829" y="1699711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556529" y="377942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1570619" y="3787047"/>
            <a:ext cx="230833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0..∞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71351" y="6080069"/>
            <a:ext cx="11122303" cy="403755"/>
          </a:xfrm>
          <a:prstGeom prst="roundRect">
            <a:avLst/>
          </a:prstGeom>
          <a:solidFill>
            <a:srgbClr val="0C1C18"/>
          </a:solidFill>
          <a:ln w="8890">
            <a:solidFill>
              <a:srgbClr val="008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166" dirty="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61801" y="6179103"/>
            <a:ext cx="1523603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C896"/>
                </a:solidFill>
                <a:latin typeface="Candara" panose="020E0502030303020204" pitchFamily="34" charset="0"/>
              </a:rPr>
              <a:t>Legend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99783" y="6171486"/>
            <a:ext cx="8379817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1 → ∞ = one-to-many     0..∞ = optional child relationship     dashed line = optional sensor-level alert rule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22411" y="6171486"/>
            <a:ext cx="1104612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1000" b="1">
                <a:solidFill>
                  <a:srgbClr val="00C896"/>
                </a:solidFill>
                <a:latin typeface="Candara" panose="020E0502030303020204" pitchFamily="34" charset="0"/>
              </a:rPr>
              <a:t>8 tables · 3NF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427023" y="6567622"/>
            <a:ext cx="457081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1000">
                <a:solidFill>
                  <a:srgbClr val="73877F"/>
                </a:solidFill>
                <a:latin typeface="Candara" panose="020E0502030303020204" pitchFamily="34" charset="0"/>
              </a:rPr>
              <a:t>7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609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4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9441" y="457974"/>
            <a:ext cx="5044971" cy="5847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3200" b="1" dirty="0">
                <a:solidFill>
                  <a:srgbClr val="F0F8F5"/>
                </a:solidFill>
                <a:latin typeface="Candara" panose="020E0502030303020204" pitchFamily="34" charset="0"/>
              </a:rPr>
              <a:t>Backend &amp; API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1" y="1067416"/>
            <a:ext cx="4613764" cy="338554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Layered architecture + RESTful APIs + </a:t>
            </a:r>
            <a:r>
              <a:rPr sz="1600" dirty="0">
                <a:solidFill>
                  <a:srgbClr val="B4C8BE"/>
                </a:solidFill>
                <a:latin typeface="Candara" panose="020E0502030303020204" pitchFamily="34" charset="0"/>
              </a:rPr>
              <a:t>real-time</a:t>
            </a:r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 streaming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1" y="1753036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Presentation Layer</a:t>
            </a:r>
          </a:p>
          <a:p>
            <a:pPr algn="r" defTabSz="380893"/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Controllers · SignalR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1" y="2743378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Service Layer</a:t>
            </a:r>
          </a:p>
          <a:p>
            <a:pPr algn="r" defTabSz="380893"/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Business Logic ·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441" y="3733720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>
                <a:solidFill>
                  <a:srgbClr val="00C896"/>
                </a:solidFill>
                <a:latin typeface="Candara" panose="020E0502030303020204" pitchFamily="34" charset="0"/>
              </a:rPr>
              <a:t>Data Access Layer</a:t>
            </a:r>
          </a:p>
          <a:p>
            <a:pPr algn="r" defTabSz="380893"/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EF Core · Repository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1" y="4724063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>
                <a:solidFill>
                  <a:srgbClr val="00C896"/>
                </a:solidFill>
                <a:latin typeface="Candara" panose="020E0502030303020204" pitchFamily="34" charset="0"/>
              </a:rPr>
              <a:t>Database Layer</a:t>
            </a:r>
          </a:p>
          <a:p>
            <a:pPr algn="r" defTabSz="380893"/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SQL Server · IoTMonitoringDB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4412" y="790230"/>
            <a:ext cx="4951710" cy="13687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Device APIs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/devices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PUT /devices/{id}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DELETE /devices/{id}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/devices/{id}/status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12" y="2389092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 dirty="0">
                <a:solidFill>
                  <a:srgbClr val="00BEE6"/>
                </a:solidFill>
                <a:latin typeface="Candara" panose="020E0502030303020204" pitchFamily="34" charset="0"/>
              </a:rPr>
              <a:t>Sensor APIs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}/sensors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/sensors/{id}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/devices/{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}/sensors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PUT /sensors/{id}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DELETE /sensors/{id}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4412" y="3806225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Sensor Readings (Core IoT)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endParaRPr sz="1400" dirty="0">
              <a:solidFill>
                <a:srgbClr val="F0F8F5"/>
              </a:solidFill>
              <a:latin typeface="Candara" panose="020E0502030303020204" pitchFamily="34" charset="0"/>
            </a:endParaRP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/batch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endParaRPr sz="1400" dirty="0">
              <a:solidFill>
                <a:srgbClr val="F0F8F5"/>
              </a:solidFill>
              <a:latin typeface="Candara" panose="020E0502030303020204" pitchFamily="34" charset="0"/>
            </a:endParaRP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}/readings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/sensors/{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}/readings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4412" y="5226985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>
                <a:solidFill>
                  <a:srgbClr val="E6AA00"/>
                </a:solidFill>
                <a:latin typeface="Candara" panose="020E0502030303020204" pitchFamily="34" charset="0"/>
              </a:rPr>
              <a:t>Alert APIs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GET /alerts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GET /alerts/{id}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GET /alerts/active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PUT /alerts/{id}/acknowledge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PUT /alerts/{id}/resolve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1" y="6400026"/>
            <a:ext cx="5889754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⚡ MQTT → Broker → API → SignalR → Frontend  (&lt;2s real-time updates)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45708"/>
          </a:xfrm>
          <a:prstGeom prst="rect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1351" y="259906"/>
            <a:ext cx="2818666" cy="16401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66" b="1">
                <a:solidFill>
                  <a:srgbClr val="00C896"/>
                </a:solidFill>
                <a:latin typeface="Candara" panose="020E0502030303020204" pitchFamily="34" charset="0"/>
              </a:rPr>
              <a:t>FRONTEND DESIGN · INDUSTRY STANDARD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351" y="465592"/>
            <a:ext cx="2094954" cy="1904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351" y="595099"/>
            <a:ext cx="5942052" cy="456407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2666" b="1">
                <a:solidFill>
                  <a:srgbClr val="F2F8F5"/>
                </a:solidFill>
                <a:latin typeface="Candara" panose="020E0502030303020204" pitchFamily="34" charset="0"/>
              </a:rPr>
              <a:t>Frontend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351" y="1090270"/>
            <a:ext cx="8989258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i="1" dirty="0">
                <a:solidFill>
                  <a:srgbClr val="AFC6BC"/>
                </a:solidFill>
                <a:latin typeface="Candara" panose="020E0502030303020204" pitchFamily="34" charset="0"/>
              </a:rPr>
              <a:t>React SPA organized by layers: routes, reusable components, state, API services, and SignalR real-time updates.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531" y="1356900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Layered Frontend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3722" y="1646122"/>
            <a:ext cx="4304179" cy="700857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7531" y="1844453"/>
            <a:ext cx="68562" cy="700857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5127" y="1935869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00C896"/>
                </a:solidFill>
                <a:latin typeface="Candara" panose="020E0502030303020204" pitchFamily="34" charset="0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27" y="2103465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Pages / Routes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27" y="2392949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27" y="2583399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27" y="277385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27" y="296430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Historical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7531" y="2663669"/>
            <a:ext cx="4304179" cy="799892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47531" y="2728142"/>
            <a:ext cx="68562" cy="799892"/>
          </a:xfrm>
          <a:prstGeom prst="rect">
            <a:avLst/>
          </a:prstGeom>
          <a:solidFill>
            <a:srgbClr val="A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15127" y="2819559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AA8CFF"/>
                </a:solidFill>
                <a:latin typeface="Candara" panose="020E0502030303020204" pitchFamily="34" charset="0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127" y="2987155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Reusable Components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127" y="327664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Layout, Card, Table, Button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127" y="346709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•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DeviceCard</a:t>
            </a:r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,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SensorCard</a:t>
            </a:r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,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AlertCard</a:t>
            </a:r>
            <a:endParaRPr sz="791" dirty="0">
              <a:solidFill>
                <a:srgbClr val="AFC6BC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5127" y="365754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RealTimeChart, HistoricalChart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531" y="3703248"/>
            <a:ext cx="4304179" cy="799892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7531" y="3703248"/>
            <a:ext cx="68562" cy="799892"/>
          </a:xfrm>
          <a:prstGeom prst="rect">
            <a:avLst/>
          </a:prstGeom>
          <a:solidFill>
            <a:srgbClr val="00B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5127" y="3794665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00B8DC"/>
                </a:solidFill>
                <a:latin typeface="Candara" panose="020E0502030303020204" pitchFamily="34" charset="0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127" y="3962261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State + Hooks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127" y="4251746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DeviceContext, AlertContext, SignalRContext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127" y="4442196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useDevices, useAlerts, useSensorReadings, useSignalR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531" y="4678355"/>
            <a:ext cx="4304179" cy="723711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47531" y="4678355"/>
            <a:ext cx="68562" cy="723711"/>
          </a:xfrm>
          <a:prstGeom prst="rect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15127" y="4769771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DCA000"/>
                </a:solidFill>
                <a:latin typeface="Candara" panose="020E0502030303020204" pitchFamily="34" charset="0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127" y="4937367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Service Layer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127" y="5226851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Axios / Fetch API client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127" y="5417301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deviceService, sensorService, readingService, alertService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799620" y="2545310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10800000">
            <a:off x="2738676" y="2712907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2799620" y="3528034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2738676" y="3695631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2799620" y="4503140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10800000">
            <a:off x="2738676" y="4670737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218340" y="1539733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Runtime Data Flow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8341" y="1844453"/>
            <a:ext cx="6437222" cy="3161476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561151" y="2324388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622095" y="2423421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Backend 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095" y="2644344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DCA000"/>
                </a:solidFill>
                <a:latin typeface="Candara" panose="020E0502030303020204" pitchFamily="34" charset="0"/>
              </a:rPr>
              <a:t>REST JSON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61151" y="3543270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622095" y="3642304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 dirty="0">
                <a:solidFill>
                  <a:srgbClr val="F2F8F5"/>
                </a:solidFill>
                <a:latin typeface="Candara" panose="020E0502030303020204" pitchFamily="34" charset="0"/>
              </a:rPr>
              <a:t>SignalR 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2095" y="3863227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C896"/>
                </a:solidFill>
                <a:latin typeface="Candara" panose="020E0502030303020204" pitchFamily="34" charset="0"/>
              </a:rPr>
              <a:t>WebSocket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27565" y="2324388"/>
            <a:ext cx="140933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488509" y="2423421"/>
            <a:ext cx="128744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API Services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88509" y="2644344"/>
            <a:ext cx="128744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DCA000"/>
                </a:solidFill>
                <a:latin typeface="Candara" panose="020E0502030303020204" pitchFamily="34" charset="0"/>
              </a:rPr>
              <a:t>Axios / Fetch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27565" y="3543270"/>
            <a:ext cx="140933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488509" y="3642304"/>
            <a:ext cx="128744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 dirty="0">
                <a:solidFill>
                  <a:srgbClr val="F2F8F5"/>
                </a:solidFill>
                <a:latin typeface="Candara" panose="020E0502030303020204" pitchFamily="34" charset="0"/>
              </a:rPr>
              <a:t>SignalR Client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88509" y="3863227"/>
            <a:ext cx="128744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C896"/>
                </a:solidFill>
                <a:latin typeface="Candara" panose="020E0502030303020204" pitchFamily="34" charset="0"/>
              </a:rPr>
              <a:t>Subscriptions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79708" y="2933829"/>
            <a:ext cx="144742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B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240652" y="3032863"/>
            <a:ext cx="132553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State Layer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40652" y="3253786"/>
            <a:ext cx="132553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B8DC"/>
                </a:solidFill>
                <a:latin typeface="Candara" panose="020E0502030303020204" pitchFamily="34" charset="0"/>
              </a:rPr>
              <a:t>Context + hooks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703311" y="2933829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AA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0764256" y="3032863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UI Components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64256" y="3253786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AA8CFF"/>
                </a:solidFill>
                <a:latin typeface="Candara" panose="020E0502030303020204" pitchFamily="34" charset="0"/>
              </a:rPr>
              <a:t>Pages + charts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94304" y="2606254"/>
            <a:ext cx="533261" cy="0"/>
          </a:xfrm>
          <a:prstGeom prst="line">
            <a:avLst/>
          </a:prstGeom>
          <a:ln w="16510">
            <a:solidFill>
              <a:srgbClr val="DCA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sosceles Triangle 61"/>
          <p:cNvSpPr/>
          <p:nvPr/>
        </p:nvSpPr>
        <p:spPr>
          <a:xfrm rot="5400000">
            <a:off x="7351384" y="2545310"/>
            <a:ext cx="121888" cy="121888"/>
          </a:xfrm>
          <a:prstGeom prst="triangle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3" name="Connector 62"/>
          <p:cNvCxnSpPr/>
          <p:nvPr/>
        </p:nvCxnSpPr>
        <p:spPr>
          <a:xfrm>
            <a:off x="6894304" y="3825137"/>
            <a:ext cx="533261" cy="0"/>
          </a:xfrm>
          <a:prstGeom prst="line">
            <a:avLst/>
          </a:prstGeom>
          <a:ln w="16510">
            <a:solidFill>
              <a:srgbClr val="00C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7351384" y="3764193"/>
            <a:ext cx="121888" cy="121888"/>
          </a:xfrm>
          <a:prstGeom prst="triangl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5" name="Connector 64"/>
          <p:cNvCxnSpPr/>
          <p:nvPr/>
        </p:nvCxnSpPr>
        <p:spPr>
          <a:xfrm>
            <a:off x="8836897" y="2606254"/>
            <a:ext cx="342811" cy="502789"/>
          </a:xfrm>
          <a:prstGeom prst="line">
            <a:avLst/>
          </a:prstGeom>
          <a:ln w="15240">
            <a:solidFill>
              <a:srgbClr val="DCA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Isosceles Triangle 65"/>
          <p:cNvSpPr/>
          <p:nvPr/>
        </p:nvSpPr>
        <p:spPr>
          <a:xfrm rot="5400000">
            <a:off x="9103528" y="3010009"/>
            <a:ext cx="121888" cy="121888"/>
          </a:xfrm>
          <a:prstGeom prst="triangle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7" name="Connector 66"/>
          <p:cNvCxnSpPr/>
          <p:nvPr/>
        </p:nvCxnSpPr>
        <p:spPr>
          <a:xfrm flipV="1">
            <a:off x="8836897" y="3390910"/>
            <a:ext cx="342811" cy="434227"/>
          </a:xfrm>
          <a:prstGeom prst="line">
            <a:avLst/>
          </a:prstGeom>
          <a:ln w="15240">
            <a:solidFill>
              <a:srgbClr val="00C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5400000">
            <a:off x="9103528" y="3444235"/>
            <a:ext cx="121888" cy="121888"/>
          </a:xfrm>
          <a:prstGeom prst="triangl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9" name="Connector 68"/>
          <p:cNvCxnSpPr/>
          <p:nvPr/>
        </p:nvCxnSpPr>
        <p:spPr>
          <a:xfrm>
            <a:off x="10627131" y="3215696"/>
            <a:ext cx="76180" cy="0"/>
          </a:xfrm>
          <a:prstGeom prst="line">
            <a:avLst/>
          </a:prstGeom>
          <a:ln w="16510">
            <a:solidFill>
              <a:srgbClr val="00B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5400000">
            <a:off x="10627131" y="3154751"/>
            <a:ext cx="121888" cy="121888"/>
          </a:xfrm>
          <a:prstGeom prst="triangle">
            <a:avLst/>
          </a:prstGeom>
          <a:solidFill>
            <a:srgbClr val="00B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5408791" y="1981577"/>
            <a:ext cx="1637873" cy="259013"/>
          </a:xfrm>
          <a:prstGeom prst="roundRect">
            <a:avLst/>
          </a:prstGeom>
          <a:solidFill>
            <a:srgbClr val="02120F"/>
          </a:solidFill>
          <a:ln w="1016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408791" y="2042521"/>
            <a:ext cx="1637873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733" b="1">
                <a:solidFill>
                  <a:srgbClr val="DCA000"/>
                </a:solidFill>
                <a:latin typeface="Candara" panose="020E0502030303020204" pitchFamily="34" charset="0"/>
              </a:rPr>
              <a:t>REQUEST / RESPONSE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408791" y="4404106"/>
            <a:ext cx="1637873" cy="259013"/>
          </a:xfrm>
          <a:prstGeom prst="roundRect">
            <a:avLst/>
          </a:prstGeom>
          <a:solidFill>
            <a:srgbClr val="02120F"/>
          </a:solidFill>
          <a:ln w="1016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408791" y="4465050"/>
            <a:ext cx="1637873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733" b="1">
                <a:solidFill>
                  <a:srgbClr val="00C896"/>
                </a:solidFill>
                <a:latin typeface="Candara" panose="020E0502030303020204" pitchFamily="34" charset="0"/>
              </a:rPr>
              <a:t>REAL-TIME EVENTS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94944" y="3809901"/>
            <a:ext cx="2742486" cy="15632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16">
                <a:solidFill>
                  <a:srgbClr val="AFC6BC"/>
                </a:solidFill>
                <a:latin typeface="Candara" panose="020E0502030303020204" pitchFamily="34" charset="0"/>
              </a:rPr>
              <a:t>Events: SensorReadingReceived · DeviceStatusChanged · AlertTriggered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7531" y="5600135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Frontend Engineering Practices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7531" y="5866765"/>
            <a:ext cx="10893762" cy="441845"/>
          </a:xfrm>
          <a:prstGeom prst="roundRect">
            <a:avLst/>
          </a:prstGeom>
          <a:solidFill>
            <a:srgbClr val="020F0D"/>
          </a:solidFill>
          <a:ln w="10160">
            <a:solidFill>
              <a:srgbClr val="008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37981" y="6003889"/>
            <a:ext cx="10512862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858" b="1">
                <a:solidFill>
                  <a:srgbClr val="00C896"/>
                </a:solidFill>
                <a:latin typeface="Candara" panose="020E0502030303020204" pitchFamily="34" charset="0"/>
              </a:rPr>
              <a:t>✓ TypeScript models   ✓ Route-based structure   ✓ Service abstraction   ✓ ErrorBoundary + loading states   ✓ Rolling real-time chart window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7531" y="6400027"/>
            <a:ext cx="10817582" cy="18081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875" dirty="0">
                <a:solidFill>
                  <a:srgbClr val="AFC6BC"/>
                </a:solidFill>
                <a:latin typeface="Candara" panose="020E0502030303020204" pitchFamily="34" charset="0"/>
              </a:rPr>
              <a:t>Flow: REST API → Services → State → UI   |   SignalR → Context → Hooks → Components → Charts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27023" y="6537150"/>
            <a:ext cx="457081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733">
                <a:solidFill>
                  <a:srgbClr val="738C82"/>
                </a:solidFill>
                <a:latin typeface="Candara" panose="020E0502030303020204" pitchFamily="34" charset="0"/>
              </a:rPr>
              <a:t>9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Key Features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2133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Core capabilities mapped directly to system architecture and real-world needs</a:t>
            </a:r>
            <a:endParaRPr lang="en-US" sz="2133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280720"/>
            <a:ext cx="5545915" cy="2376821"/>
          </a:xfrm>
          <a:prstGeom prst="rect">
            <a:avLst/>
          </a:prstGeom>
          <a:solidFill>
            <a:srgbClr val="132B1A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280719"/>
            <a:ext cx="5545915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8839" y="1426985"/>
            <a:ext cx="511931" cy="511931"/>
          </a:xfrm>
          <a:prstGeom prst="ellipse">
            <a:avLst/>
          </a:prstGeom>
          <a:solidFill>
            <a:srgbClr val="132B1A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72" y="1487929"/>
            <a:ext cx="365665" cy="3656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7036" y="1451363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Streaming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12049"/>
            <a:ext cx="5107118" cy="0"/>
          </a:xfrm>
          <a:prstGeom prst="line">
            <a:avLst/>
          </a:prstGeom>
          <a:noFill/>
          <a:ln w="9525">
            <a:solidFill>
              <a:srgbClr val="1E4A27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109560"/>
            <a:ext cx="182832" cy="1828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21371" y="206080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SignalR WebSocket pushes live sensor data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481319"/>
            <a:ext cx="182832" cy="1828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21371" y="243256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&lt;2s latency — no polling or refresh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853078"/>
            <a:ext cx="182832" cy="1828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21371" y="2804323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Supports multi-device concurrent streams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3224837"/>
            <a:ext cx="182832" cy="1828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21371" y="3176082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Rolling real-time charts (50-point window)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6399133" y="1280720"/>
            <a:ext cx="5545915" cy="2376821"/>
          </a:xfrm>
          <a:prstGeom prst="rect">
            <a:avLst/>
          </a:prstGeom>
          <a:solidFill>
            <a:srgbClr val="0E2B33"/>
          </a:solidFill>
          <a:ln w="9525">
            <a:solidFill>
              <a:srgbClr val="1A4A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280719"/>
            <a:ext cx="5545915" cy="5485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618531" y="1426985"/>
            <a:ext cx="511931" cy="511931"/>
          </a:xfrm>
          <a:prstGeom prst="ellipse">
            <a:avLst/>
          </a:prstGeom>
          <a:solidFill>
            <a:srgbClr val="0E2B33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664" y="1487929"/>
            <a:ext cx="365665" cy="36566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276728" y="1451363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Dashboard &amp; Visualization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12049"/>
            <a:ext cx="5107118" cy="0"/>
          </a:xfrm>
          <a:prstGeom prst="line">
            <a:avLst/>
          </a:prstGeom>
          <a:noFill/>
          <a:ln w="9525">
            <a:solidFill>
              <a:srgbClr val="1A4A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109560"/>
            <a:ext cx="182832" cy="18283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11063" y="206080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Interactive charts (Chart.js / Recharts)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481319"/>
            <a:ext cx="182832" cy="18283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11063" y="243256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Line, Bar, Gauge visualizations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853078"/>
            <a:ext cx="182832" cy="182832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11063" y="2804323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Historical analysis with date filters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3224837"/>
            <a:ext cx="182832" cy="18283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6911063" y="3176082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Responsive UI for monitoring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609441" y="3803806"/>
            <a:ext cx="5545915" cy="2376821"/>
          </a:xfrm>
          <a:prstGeom prst="rect">
            <a:avLst/>
          </a:prstGeom>
          <a:solidFill>
            <a:srgbClr val="2B2310"/>
          </a:solidFill>
          <a:ln w="9525">
            <a:solidFill>
              <a:srgbClr val="4A3A1A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03806"/>
            <a:ext cx="5545915" cy="5485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4" name="Shape 22"/>
          <p:cNvSpPr/>
          <p:nvPr/>
        </p:nvSpPr>
        <p:spPr>
          <a:xfrm>
            <a:off x="828839" y="3950072"/>
            <a:ext cx="511931" cy="511931"/>
          </a:xfrm>
          <a:prstGeom prst="ellipse">
            <a:avLst/>
          </a:prstGeom>
          <a:solidFill>
            <a:srgbClr val="2B231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972" y="4011016"/>
            <a:ext cx="365665" cy="365665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1487036" y="3974450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Alerting System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35136"/>
            <a:ext cx="5107118" cy="0"/>
          </a:xfrm>
          <a:prstGeom prst="line">
            <a:avLst/>
          </a:prstGeom>
          <a:noFill/>
          <a:ln w="9525">
            <a:solidFill>
              <a:srgbClr val="4A3A1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4632647"/>
            <a:ext cx="182832" cy="18283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1121371" y="4583891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Configurable threshold-based rules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004406"/>
            <a:ext cx="182832" cy="182832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1121371" y="495565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alerts via SignalR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376165"/>
            <a:ext cx="182832" cy="182832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1121371" y="532741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Acknowledge / Resolve workflow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747924"/>
            <a:ext cx="182832" cy="182832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1121371" y="569916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Persistent alert history tracking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6" name="Shape 29"/>
          <p:cNvSpPr/>
          <p:nvPr/>
        </p:nvSpPr>
        <p:spPr>
          <a:xfrm>
            <a:off x="6399133" y="3803806"/>
            <a:ext cx="5545915" cy="2376821"/>
          </a:xfrm>
          <a:prstGeom prst="rect">
            <a:avLst/>
          </a:prstGeom>
          <a:solidFill>
            <a:srgbClr val="1E1B2E"/>
          </a:solidFill>
          <a:ln w="9525">
            <a:solidFill>
              <a:srgbClr val="3A32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7" name="Shape 30"/>
          <p:cNvSpPr/>
          <p:nvPr/>
        </p:nvSpPr>
        <p:spPr>
          <a:xfrm>
            <a:off x="6399133" y="3803806"/>
            <a:ext cx="5545915" cy="5485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6618531" y="3950072"/>
            <a:ext cx="511931" cy="511931"/>
          </a:xfrm>
          <a:prstGeom prst="ellipse">
            <a:avLst/>
          </a:prstGeom>
          <a:solidFill>
            <a:srgbClr val="1E1B2E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9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1664" y="4011016"/>
            <a:ext cx="365665" cy="365665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7276728" y="3974450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Device Management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35136"/>
            <a:ext cx="5107118" cy="0"/>
          </a:xfrm>
          <a:prstGeom prst="line">
            <a:avLst/>
          </a:prstGeom>
          <a:noFill/>
          <a:ln w="9525">
            <a:solidFill>
              <a:srgbClr val="3A32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4632647"/>
            <a:ext cx="182832" cy="182832"/>
          </a:xfrm>
          <a:prstGeom prst="rect">
            <a:avLst/>
          </a:prstGeom>
        </p:spPr>
      </p:pic>
      <p:sp>
        <p:nvSpPr>
          <p:cNvPr id="53" name="Text 34"/>
          <p:cNvSpPr/>
          <p:nvPr/>
        </p:nvSpPr>
        <p:spPr>
          <a:xfrm>
            <a:off x="6911063" y="4583891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Register IoT devices (Arduino, ESP32, Pi)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4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004406"/>
            <a:ext cx="182832" cy="182832"/>
          </a:xfrm>
          <a:prstGeom prst="rect">
            <a:avLst/>
          </a:prstGeom>
        </p:spPr>
      </p:pic>
      <p:sp>
        <p:nvSpPr>
          <p:cNvPr id="55" name="Text 35"/>
          <p:cNvSpPr/>
          <p:nvPr/>
        </p:nvSpPr>
        <p:spPr>
          <a:xfrm>
            <a:off x="6911063" y="495565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Online/offline detection via heartbeat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6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376165"/>
            <a:ext cx="182832" cy="182832"/>
          </a:xfrm>
          <a:prstGeom prst="rect">
            <a:avLst/>
          </a:prstGeom>
        </p:spPr>
      </p:pic>
      <p:sp>
        <p:nvSpPr>
          <p:cNvPr id="57" name="Text 36"/>
          <p:cNvSpPr/>
          <p:nvPr/>
        </p:nvSpPr>
        <p:spPr>
          <a:xfrm>
            <a:off x="6911063" y="532741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Sensor config (type, unit, thresholds)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8" name="Image 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747924"/>
            <a:ext cx="182832" cy="182832"/>
          </a:xfrm>
          <a:prstGeom prst="rect">
            <a:avLst/>
          </a:prstGeom>
        </p:spPr>
      </p:pic>
      <p:sp>
        <p:nvSpPr>
          <p:cNvPr id="59" name="Text 37"/>
          <p:cNvSpPr/>
          <p:nvPr/>
        </p:nvSpPr>
        <p:spPr>
          <a:xfrm>
            <a:off x="6911063" y="569916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Flexible key-value device configs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0" name="Shape 38"/>
          <p:cNvSpPr/>
          <p:nvPr/>
        </p:nvSpPr>
        <p:spPr>
          <a:xfrm>
            <a:off x="-1" y="6217194"/>
            <a:ext cx="12188825" cy="639913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1" name="Shape 39"/>
          <p:cNvSpPr/>
          <p:nvPr/>
        </p:nvSpPr>
        <p:spPr>
          <a:xfrm>
            <a:off x="-1" y="6217194"/>
            <a:ext cx="12188825" cy="0"/>
          </a:xfrm>
          <a:prstGeom prst="line">
            <a:avLst/>
          </a:prstGeom>
          <a:noFill/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2" name="Image 2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988" y="6400026"/>
            <a:ext cx="243777" cy="243777"/>
          </a:xfrm>
          <a:prstGeom prst="rect">
            <a:avLst/>
          </a:prstGeom>
        </p:spPr>
      </p:pic>
      <p:sp>
        <p:nvSpPr>
          <p:cNvPr id="63" name="Text 40"/>
          <p:cNvSpPr/>
          <p:nvPr/>
        </p:nvSpPr>
        <p:spPr>
          <a:xfrm>
            <a:off x="2559653" y="6314704"/>
            <a:ext cx="7922736" cy="426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system: </a:t>
            </a:r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MQTT → Backend → SignalR → Frontend dashboard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69047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927244"/>
            <a:ext cx="1096994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one sensor reading travel the full stack — from edge device to dashboard — in real time.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439174"/>
            <a:ext cx="10969943" cy="2096478"/>
          </a:xfrm>
          <a:prstGeom prst="rect">
            <a:avLst/>
          </a:prstGeom>
          <a:solidFill>
            <a:srgbClr val="0F2A1C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439174"/>
            <a:ext cx="10969943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2273" y="1561063"/>
            <a:ext cx="3656648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kern="0" spc="267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 FLOW PIPELINE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55707" y="1951105"/>
            <a:ext cx="1779568" cy="1365148"/>
          </a:xfrm>
          <a:prstGeom prst="rect">
            <a:avLst/>
          </a:prstGeom>
          <a:solidFill>
            <a:srgbClr val="173D24"/>
          </a:solidFill>
          <a:ln w="9525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55707" y="1951105"/>
            <a:ext cx="60944" cy="1365148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5" y="2085182"/>
            <a:ext cx="341287" cy="3412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3217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Edge Device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53217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Sends JSON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HTTP POST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408" y="2463036"/>
            <a:ext cx="219399" cy="219399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900940" y="1951105"/>
            <a:ext cx="1779568" cy="1365148"/>
          </a:xfrm>
          <a:prstGeom prst="rect">
            <a:avLst/>
          </a:prstGeom>
          <a:solidFill>
            <a:srgbClr val="0E2B33"/>
          </a:solidFill>
          <a:ln w="9525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900940" y="1951105"/>
            <a:ext cx="60944" cy="136514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2828" y="2085182"/>
            <a:ext cx="341287" cy="34128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998450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ASP.NET Core API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2998450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Validates &amp;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Persists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641" y="2463036"/>
            <a:ext cx="219399" cy="219399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046173" y="1951105"/>
            <a:ext cx="1779568" cy="1365148"/>
          </a:xfrm>
          <a:prstGeom prst="rect">
            <a:avLst/>
          </a:prstGeom>
          <a:solidFill>
            <a:srgbClr val="111B2E"/>
          </a:solidFill>
          <a:ln w="9525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5046173" y="1951105"/>
            <a:ext cx="60944" cy="136514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8061" y="2085182"/>
            <a:ext cx="341287" cy="34128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143683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60A5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 DB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5143683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Stores to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8874" y="2463036"/>
            <a:ext cx="219399" cy="219399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7191406" y="1951105"/>
            <a:ext cx="1779568" cy="1365148"/>
          </a:xfrm>
          <a:prstGeom prst="rect">
            <a:avLst/>
          </a:prstGeom>
          <a:solidFill>
            <a:srgbClr val="2B2310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7191406" y="1951105"/>
            <a:ext cx="60944" cy="13651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295" y="2085182"/>
            <a:ext cx="341287" cy="341287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288917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Hub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Text 20"/>
          <p:cNvSpPr/>
          <p:nvPr/>
        </p:nvSpPr>
        <p:spPr>
          <a:xfrm>
            <a:off x="7288917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Broadcasts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to clients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108" y="2463036"/>
            <a:ext cx="219399" cy="219399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9336640" y="1951105"/>
            <a:ext cx="1779568" cy="1365148"/>
          </a:xfrm>
          <a:prstGeom prst="rect">
            <a:avLst/>
          </a:prstGeom>
          <a:solidFill>
            <a:srgbClr val="1E1B2E"/>
          </a:solidFill>
          <a:ln w="9525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22"/>
          <p:cNvSpPr/>
          <p:nvPr/>
        </p:nvSpPr>
        <p:spPr>
          <a:xfrm>
            <a:off x="9336640" y="1951105"/>
            <a:ext cx="60944" cy="1365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58528" y="2085182"/>
            <a:ext cx="341287" cy="341287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9434150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Dashboard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24"/>
          <p:cNvSpPr/>
          <p:nvPr/>
        </p:nvSpPr>
        <p:spPr>
          <a:xfrm>
            <a:off x="9434150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Chart updates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25"/>
          <p:cNvSpPr/>
          <p:nvPr/>
        </p:nvSpPr>
        <p:spPr>
          <a:xfrm>
            <a:off x="609440" y="3779429"/>
            <a:ext cx="3656648" cy="29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kern="0" spc="267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DEMO CHECKLIST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26"/>
          <p:cNvSpPr/>
          <p:nvPr/>
        </p:nvSpPr>
        <p:spPr>
          <a:xfrm>
            <a:off x="609441" y="4169471"/>
            <a:ext cx="2145233" cy="2096478"/>
          </a:xfrm>
          <a:prstGeom prst="rect">
            <a:avLst/>
          </a:prstGeom>
          <a:solidFill>
            <a:srgbClr val="132B1A"/>
          </a:solidFill>
          <a:ln w="9525">
            <a:solidFill>
              <a:srgbClr val="3DDB61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Shape 27"/>
          <p:cNvSpPr/>
          <p:nvPr/>
        </p:nvSpPr>
        <p:spPr>
          <a:xfrm>
            <a:off x="609441" y="4169471"/>
            <a:ext cx="2145233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8"/>
          <p:cNvSpPr/>
          <p:nvPr/>
        </p:nvSpPr>
        <p:spPr>
          <a:xfrm>
            <a:off x="1365148" y="4413248"/>
            <a:ext cx="633819" cy="633819"/>
          </a:xfrm>
          <a:prstGeom prst="ellipse">
            <a:avLst/>
          </a:prstGeom>
          <a:solidFill>
            <a:srgbClr val="132B1A"/>
          </a:solidFill>
          <a:ln w="190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0" name="Text 29"/>
          <p:cNvSpPr/>
          <p:nvPr/>
        </p:nvSpPr>
        <p:spPr>
          <a:xfrm>
            <a:off x="1365148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 30"/>
          <p:cNvSpPr/>
          <p:nvPr/>
        </p:nvSpPr>
        <p:spPr>
          <a:xfrm>
            <a:off x="780084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Register ESP32 device in dashboard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Shape 31"/>
          <p:cNvSpPr/>
          <p:nvPr/>
        </p:nvSpPr>
        <p:spPr>
          <a:xfrm>
            <a:off x="2815618" y="4169471"/>
            <a:ext cx="2145233" cy="2096478"/>
          </a:xfrm>
          <a:prstGeom prst="rect">
            <a:avLst/>
          </a:prstGeom>
          <a:solidFill>
            <a:srgbClr val="0E2B33"/>
          </a:solidFill>
          <a:ln w="9525">
            <a:solidFill>
              <a:srgbClr val="00BCD4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32"/>
          <p:cNvSpPr/>
          <p:nvPr/>
        </p:nvSpPr>
        <p:spPr>
          <a:xfrm>
            <a:off x="2815618" y="4169471"/>
            <a:ext cx="2145233" cy="5485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Shape 33"/>
          <p:cNvSpPr/>
          <p:nvPr/>
        </p:nvSpPr>
        <p:spPr>
          <a:xfrm>
            <a:off x="3571325" y="4413248"/>
            <a:ext cx="633819" cy="633819"/>
          </a:xfrm>
          <a:prstGeom prst="ellipse">
            <a:avLst/>
          </a:prstGeom>
          <a:solidFill>
            <a:srgbClr val="0E2B33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Text 34"/>
          <p:cNvSpPr/>
          <p:nvPr/>
        </p:nvSpPr>
        <p:spPr>
          <a:xfrm>
            <a:off x="3571325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Text 35"/>
          <p:cNvSpPr/>
          <p:nvPr/>
        </p:nvSpPr>
        <p:spPr>
          <a:xfrm>
            <a:off x="2986262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Send POST from edge device or Postman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36"/>
          <p:cNvSpPr/>
          <p:nvPr/>
        </p:nvSpPr>
        <p:spPr>
          <a:xfrm>
            <a:off x="5021796" y="4169471"/>
            <a:ext cx="2145233" cy="2096478"/>
          </a:xfrm>
          <a:prstGeom prst="rect">
            <a:avLst/>
          </a:prstGeom>
          <a:solidFill>
            <a:srgbClr val="111B2E"/>
          </a:solidFill>
          <a:ln w="9525">
            <a:solidFill>
              <a:srgbClr val="60A5FA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7"/>
          <p:cNvSpPr/>
          <p:nvPr/>
        </p:nvSpPr>
        <p:spPr>
          <a:xfrm>
            <a:off x="5021796" y="4169471"/>
            <a:ext cx="2145233" cy="5485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9" name="Shape 38"/>
          <p:cNvSpPr/>
          <p:nvPr/>
        </p:nvSpPr>
        <p:spPr>
          <a:xfrm>
            <a:off x="5777503" y="4413248"/>
            <a:ext cx="633819" cy="633819"/>
          </a:xfrm>
          <a:prstGeom prst="ellipse">
            <a:avLst/>
          </a:prstGeom>
          <a:solidFill>
            <a:srgbClr val="111B2E"/>
          </a:solidFill>
          <a:ln w="19050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Text 39"/>
          <p:cNvSpPr/>
          <p:nvPr/>
        </p:nvSpPr>
        <p:spPr>
          <a:xfrm>
            <a:off x="5777503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60A5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Text 40"/>
          <p:cNvSpPr/>
          <p:nvPr/>
        </p:nvSpPr>
        <p:spPr>
          <a:xfrm>
            <a:off x="5192439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real-time chart update within 2 sec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2" name="Shape 41"/>
          <p:cNvSpPr/>
          <p:nvPr/>
        </p:nvSpPr>
        <p:spPr>
          <a:xfrm>
            <a:off x="7227973" y="4169471"/>
            <a:ext cx="2145233" cy="2096478"/>
          </a:xfrm>
          <a:prstGeom prst="rect">
            <a:avLst/>
          </a:prstGeom>
          <a:solidFill>
            <a:srgbClr val="2B2310"/>
          </a:solidFill>
          <a:ln w="9525">
            <a:solidFill>
              <a:srgbClr val="F59E0B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3" name="Shape 42"/>
          <p:cNvSpPr/>
          <p:nvPr/>
        </p:nvSpPr>
        <p:spPr>
          <a:xfrm>
            <a:off x="7227973" y="4169471"/>
            <a:ext cx="2145233" cy="5485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43"/>
          <p:cNvSpPr/>
          <p:nvPr/>
        </p:nvSpPr>
        <p:spPr>
          <a:xfrm>
            <a:off x="7983680" y="4413248"/>
            <a:ext cx="633819" cy="633819"/>
          </a:xfrm>
          <a:prstGeom prst="ellipse">
            <a:avLst/>
          </a:prstGeom>
          <a:solidFill>
            <a:srgbClr val="2B2310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Text 44"/>
          <p:cNvSpPr/>
          <p:nvPr/>
        </p:nvSpPr>
        <p:spPr>
          <a:xfrm>
            <a:off x="7983680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Text 45"/>
          <p:cNvSpPr/>
          <p:nvPr/>
        </p:nvSpPr>
        <p:spPr>
          <a:xfrm>
            <a:off x="7398616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Trigger threshold breach — alert in real time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Shape 46"/>
          <p:cNvSpPr/>
          <p:nvPr/>
        </p:nvSpPr>
        <p:spPr>
          <a:xfrm>
            <a:off x="9434150" y="4169471"/>
            <a:ext cx="2145233" cy="2096478"/>
          </a:xfrm>
          <a:prstGeom prst="rect">
            <a:avLst/>
          </a:prstGeom>
          <a:solidFill>
            <a:srgbClr val="1E1B2E"/>
          </a:solidFill>
          <a:ln w="9525">
            <a:solidFill>
              <a:srgbClr val="A78BFA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Shape 47"/>
          <p:cNvSpPr/>
          <p:nvPr/>
        </p:nvSpPr>
        <p:spPr>
          <a:xfrm>
            <a:off x="9434150" y="4169471"/>
            <a:ext cx="2145233" cy="5485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Shape 48"/>
          <p:cNvSpPr/>
          <p:nvPr/>
        </p:nvSpPr>
        <p:spPr>
          <a:xfrm>
            <a:off x="10189857" y="4413248"/>
            <a:ext cx="633819" cy="633819"/>
          </a:xfrm>
          <a:prstGeom prst="ellipse">
            <a:avLst/>
          </a:prstGeom>
          <a:solidFill>
            <a:srgbClr val="1E1B2E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9"/>
          <p:cNvSpPr/>
          <p:nvPr/>
        </p:nvSpPr>
        <p:spPr>
          <a:xfrm>
            <a:off x="10189857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Text 50"/>
          <p:cNvSpPr/>
          <p:nvPr/>
        </p:nvSpPr>
        <p:spPr>
          <a:xfrm>
            <a:off x="9604794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Query historical data via date-range filter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51"/>
          <p:cNvSpPr/>
          <p:nvPr/>
        </p:nvSpPr>
        <p:spPr>
          <a:xfrm>
            <a:off x="10726166" y="6521914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866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Testing &amp; Code Quality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2133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Quality is built in — not bolted on. Applied throughout development, not added at the end.</a:t>
            </a:r>
            <a:endParaRPr lang="en-US" sz="21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317286"/>
            <a:ext cx="5545915" cy="2376821"/>
          </a:xfrm>
          <a:prstGeom prst="rect">
            <a:avLst/>
          </a:prstGeom>
          <a:solidFill>
            <a:srgbClr val="132B1A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317286"/>
            <a:ext cx="5545915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8839" y="1439174"/>
            <a:ext cx="511931" cy="511931"/>
          </a:xfrm>
          <a:prstGeom prst="ellipse">
            <a:avLst/>
          </a:prstGeom>
          <a:solidFill>
            <a:srgbClr val="132B1A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72" y="1500118"/>
            <a:ext cx="365665" cy="3656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7036" y="1463552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24238"/>
            <a:ext cx="5107118" cy="0"/>
          </a:xfrm>
          <a:prstGeom prst="line">
            <a:avLst/>
          </a:prstGeom>
          <a:noFill/>
          <a:ln w="9525">
            <a:solidFill>
              <a:srgbClr val="1E4A27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158315"/>
            <a:ext cx="182832" cy="1828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21371" y="210956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FluentValidation on all DTOs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530074"/>
            <a:ext cx="182832" cy="1828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21371" y="248131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injection prevention via EF Core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901834"/>
            <a:ext cx="182832" cy="1828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21371" y="2853078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XSS prevention — React escapes output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3273593"/>
            <a:ext cx="182832" cy="1828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21371" y="322483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C# nullable types — null-safety at compile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6399133" y="1317286"/>
            <a:ext cx="5545915" cy="2376821"/>
          </a:xfrm>
          <a:prstGeom prst="rect">
            <a:avLst/>
          </a:prstGeom>
          <a:solidFill>
            <a:srgbClr val="2B2310"/>
          </a:solidFill>
          <a:ln w="9525">
            <a:solidFill>
              <a:srgbClr val="4A3A1A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317286"/>
            <a:ext cx="5545915" cy="5485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618531" y="1439174"/>
            <a:ext cx="511931" cy="511931"/>
          </a:xfrm>
          <a:prstGeom prst="ellipse">
            <a:avLst/>
          </a:prstGeom>
          <a:solidFill>
            <a:srgbClr val="2B231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664" y="1500118"/>
            <a:ext cx="365665" cy="36566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276728" y="1463552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24238"/>
            <a:ext cx="5107118" cy="0"/>
          </a:xfrm>
          <a:prstGeom prst="line">
            <a:avLst/>
          </a:prstGeom>
          <a:noFill/>
          <a:ln w="9525">
            <a:solidFill>
              <a:srgbClr val="4A3A1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158315"/>
            <a:ext cx="182832" cy="18283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11063" y="210956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Global Exception Handler — JSON responses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530074"/>
            <a:ext cx="182832" cy="18283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11063" y="248131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ErrorBoundary for component failures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901834"/>
            <a:ext cx="182832" cy="182832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11063" y="2853078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API: server vs network vs unexpected errors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3273593"/>
            <a:ext cx="182832" cy="18283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6911063" y="322483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offline via LastSeenAt heartbeat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609441" y="3840373"/>
            <a:ext cx="5545915" cy="2376821"/>
          </a:xfrm>
          <a:prstGeom prst="rect">
            <a:avLst/>
          </a:prstGeom>
          <a:solidFill>
            <a:srgbClr val="0E2B33"/>
          </a:solidFill>
          <a:ln w="9525">
            <a:solidFill>
              <a:srgbClr val="1A4A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40373"/>
            <a:ext cx="5545915" cy="5485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Shape 22"/>
          <p:cNvSpPr/>
          <p:nvPr/>
        </p:nvSpPr>
        <p:spPr>
          <a:xfrm>
            <a:off x="828839" y="3962261"/>
            <a:ext cx="511931" cy="511931"/>
          </a:xfrm>
          <a:prstGeom prst="ellipse">
            <a:avLst/>
          </a:prstGeom>
          <a:solidFill>
            <a:srgbClr val="0E2B33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972" y="4023205"/>
            <a:ext cx="365665" cy="365665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1487036" y="3986639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Quality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47325"/>
            <a:ext cx="5107118" cy="0"/>
          </a:xfrm>
          <a:prstGeom prst="line">
            <a:avLst/>
          </a:prstGeom>
          <a:noFill/>
          <a:ln w="9525">
            <a:solidFill>
              <a:srgbClr val="1A4A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4681402"/>
            <a:ext cx="182832" cy="18283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1121371" y="463264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EF Core Migrations — schema versioned in Git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053161"/>
            <a:ext cx="182832" cy="182832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1121371" y="5004406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Foreign keys with CASCADE DELETE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424920"/>
            <a:ext cx="182832" cy="182832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1121371" y="5376165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Composite indexes (Timestamp + DeviceId)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796679"/>
            <a:ext cx="182832" cy="182832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1121371" y="574792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DECIMAL(18,4) — no floating-point errors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Shape 29"/>
          <p:cNvSpPr/>
          <p:nvPr/>
        </p:nvSpPr>
        <p:spPr>
          <a:xfrm>
            <a:off x="6399133" y="3840373"/>
            <a:ext cx="5545915" cy="2376821"/>
          </a:xfrm>
          <a:prstGeom prst="rect">
            <a:avLst/>
          </a:prstGeom>
          <a:solidFill>
            <a:srgbClr val="1E1B2E"/>
          </a:solidFill>
          <a:ln w="9525">
            <a:solidFill>
              <a:srgbClr val="3A32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30"/>
          <p:cNvSpPr/>
          <p:nvPr/>
        </p:nvSpPr>
        <p:spPr>
          <a:xfrm>
            <a:off x="6399133" y="3840373"/>
            <a:ext cx="5545915" cy="5485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6618531" y="3962261"/>
            <a:ext cx="511931" cy="511931"/>
          </a:xfrm>
          <a:prstGeom prst="ellipse">
            <a:avLst/>
          </a:prstGeom>
          <a:solidFill>
            <a:srgbClr val="1E1B2E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1664" y="4023205"/>
            <a:ext cx="365665" cy="365665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7276728" y="3986639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Code Architecture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47325"/>
            <a:ext cx="5107118" cy="0"/>
          </a:xfrm>
          <a:prstGeom prst="line">
            <a:avLst/>
          </a:prstGeom>
          <a:noFill/>
          <a:ln w="9525">
            <a:solidFill>
              <a:srgbClr val="3A32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4681402"/>
            <a:ext cx="182832" cy="182832"/>
          </a:xfrm>
          <a:prstGeom prst="rect">
            <a:avLst/>
          </a:prstGeom>
        </p:spPr>
      </p:pic>
      <p:sp>
        <p:nvSpPr>
          <p:cNvPr id="53" name="Text 34"/>
          <p:cNvSpPr/>
          <p:nvPr/>
        </p:nvSpPr>
        <p:spPr>
          <a:xfrm>
            <a:off x="6911063" y="463264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Repository Pattern — data access abstracted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4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053161"/>
            <a:ext cx="182832" cy="182832"/>
          </a:xfrm>
          <a:prstGeom prst="rect">
            <a:avLst/>
          </a:prstGeom>
        </p:spPr>
      </p:pic>
      <p:sp>
        <p:nvSpPr>
          <p:cNvPr id="55" name="Text 35"/>
          <p:cNvSpPr/>
          <p:nvPr/>
        </p:nvSpPr>
        <p:spPr>
          <a:xfrm>
            <a:off x="6911063" y="5004406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Dependency Injection (Scoped services)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6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424920"/>
            <a:ext cx="182832" cy="182832"/>
          </a:xfrm>
          <a:prstGeom prst="rect">
            <a:avLst/>
          </a:prstGeom>
        </p:spPr>
      </p:pic>
      <p:sp>
        <p:nvSpPr>
          <p:cNvPr id="57" name="Text 36"/>
          <p:cNvSpPr/>
          <p:nvPr/>
        </p:nvSpPr>
        <p:spPr>
          <a:xfrm>
            <a:off x="6911063" y="5376165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TypeScript — type-safe API &amp; component props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8" name="Image 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796679"/>
            <a:ext cx="182832" cy="182832"/>
          </a:xfrm>
          <a:prstGeom prst="rect">
            <a:avLst/>
          </a:prstGeom>
        </p:spPr>
      </p:pic>
      <p:sp>
        <p:nvSpPr>
          <p:cNvPr id="59" name="Text 37"/>
          <p:cNvSpPr/>
          <p:nvPr/>
        </p:nvSpPr>
        <p:spPr>
          <a:xfrm>
            <a:off x="6911063" y="574792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Clean structure: API / Core / Infra / Services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Shape 38"/>
          <p:cNvSpPr/>
          <p:nvPr/>
        </p:nvSpPr>
        <p:spPr>
          <a:xfrm>
            <a:off x="-1" y="6217194"/>
            <a:ext cx="12188825" cy="639913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Shape 39"/>
          <p:cNvSpPr/>
          <p:nvPr/>
        </p:nvSpPr>
        <p:spPr>
          <a:xfrm>
            <a:off x="-1" y="6217194"/>
            <a:ext cx="12188825" cy="0"/>
          </a:xfrm>
          <a:prstGeom prst="line">
            <a:avLst/>
          </a:prstGeom>
          <a:noFill/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40"/>
          <p:cNvSpPr/>
          <p:nvPr/>
        </p:nvSpPr>
        <p:spPr>
          <a:xfrm>
            <a:off x="609441" y="6253760"/>
            <a:ext cx="10969943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866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Every layer validated — </a:t>
            </a:r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→ Business Logic → Database → Frontend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 41"/>
          <p:cNvSpPr/>
          <p:nvPr/>
        </p:nvSpPr>
        <p:spPr>
          <a:xfrm>
            <a:off x="10726166" y="6558481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866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342180"/>
            <a:ext cx="10969943" cy="731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1073509"/>
            <a:ext cx="10969943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Four real engineering decisions — showing the depth of thinking behind the design.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585440"/>
            <a:ext cx="5399649" cy="2303688"/>
          </a:xfrm>
          <a:prstGeom prst="rect">
            <a:avLst/>
          </a:prstGeom>
          <a:solidFill>
            <a:srgbClr val="132B1A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585440"/>
            <a:ext cx="5545915" cy="60944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399649" y="1707329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3DDB61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39" y="1756084"/>
            <a:ext cx="438798" cy="43879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9525" y="1731706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Real-Time Data Synchronization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268014"/>
            <a:ext cx="5107118" cy="0"/>
          </a:xfrm>
          <a:prstGeom prst="line">
            <a:avLst/>
          </a:prstGeom>
          <a:noFill/>
          <a:ln w="9525">
            <a:solidFill>
              <a:srgbClr val="1E4A27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28839" y="2353336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Keeping multiple browser clients in sync with live sensor data without polling or page refreshes.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28839" y="3218743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WebSocket hub with device-group subscriptions. Server pushes to groups on data receipt.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399133" y="1585440"/>
            <a:ext cx="5424027" cy="2303688"/>
          </a:xfrm>
          <a:prstGeom prst="rect">
            <a:avLst/>
          </a:prstGeom>
          <a:solidFill>
            <a:srgbClr val="0E2B33"/>
          </a:solidFill>
          <a:ln w="9525">
            <a:solidFill>
              <a:srgbClr val="1A4A55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399133" y="1585440"/>
            <a:ext cx="5545915" cy="60944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189341" y="1707329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00BCD4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531" y="1756084"/>
            <a:ext cx="438798" cy="43879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9217" y="1731706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High-Volume Time-Series Storage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618531" y="2268014"/>
            <a:ext cx="5107118" cy="0"/>
          </a:xfrm>
          <a:prstGeom prst="line">
            <a:avLst/>
          </a:prstGeom>
          <a:noFill/>
          <a:ln w="9525">
            <a:solidFill>
              <a:srgbClr val="1A4A55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6618531" y="2353336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 grows to thousands of rows per device per day. Queries must stay fast.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6618531" y="3218743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BIGINT key, composite indexes on (Timestamp, DeviceId), 30-day detail + aggregated archive policy.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09441" y="4037135"/>
            <a:ext cx="5545915" cy="2657164"/>
          </a:xfrm>
          <a:prstGeom prst="rect">
            <a:avLst/>
          </a:prstGeom>
          <a:solidFill>
            <a:srgbClr val="2B2310"/>
          </a:solidFill>
          <a:ln w="9525">
            <a:solidFill>
              <a:srgbClr val="4A3A1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609441" y="4037135"/>
            <a:ext cx="5545915" cy="609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5399649" y="4159023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F59E0B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839" y="4207778"/>
            <a:ext cx="438798" cy="43879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89525" y="4183401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Cross-Layer Data Flow Design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828839" y="4719709"/>
            <a:ext cx="5107118" cy="0"/>
          </a:xfrm>
          <a:prstGeom prst="line">
            <a:avLst/>
          </a:prstGeom>
          <a:noFill/>
          <a:ln w="9525">
            <a:solidFill>
              <a:srgbClr val="4A3A1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828839" y="4805031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One sensor reading must flow cleanly: edge device → API → DB → SignalR → React chart.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828839" y="5670437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Layered architecture (Controller → Service → Repository → DB). SignalR notifies after DB write. DTOs decouple layers.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6399133" y="4005792"/>
            <a:ext cx="5545915" cy="2657164"/>
          </a:xfrm>
          <a:prstGeom prst="rect">
            <a:avLst/>
          </a:prstGeom>
          <a:solidFill>
            <a:srgbClr val="1E1B2E"/>
          </a:solidFill>
          <a:ln w="9525">
            <a:solidFill>
              <a:srgbClr val="3A3255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6399133" y="4005792"/>
            <a:ext cx="5545915" cy="6094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11189341" y="4127681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A78BFA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1" y="4176436"/>
            <a:ext cx="438798" cy="43879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79217" y="4152058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Edge Device Compatibility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7"/>
          <p:cNvSpPr/>
          <p:nvPr/>
        </p:nvSpPr>
        <p:spPr>
          <a:xfrm>
            <a:off x="6618531" y="4688367"/>
            <a:ext cx="5107118" cy="0"/>
          </a:xfrm>
          <a:prstGeom prst="line">
            <a:avLst/>
          </a:prstGeom>
          <a:noFill/>
          <a:ln w="9525">
            <a:solidFill>
              <a:srgbClr val="3A3255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618531" y="4773688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Supporting Arduino, ESP32, and Raspberry Pi — all with different hardware and communication capabilities.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6618531" y="5639095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Flexible JSON payload format. HTTP POST endpoint for all devices. EdgeDeviceId as universal identifier.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10726166" y="6004760"/>
            <a:ext cx="1096994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69047"/>
            <a:ext cx="10969943" cy="6703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3999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3999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09441" y="1073510"/>
            <a:ext cx="5545915" cy="463175"/>
          </a:xfrm>
          <a:prstGeom prst="rect">
            <a:avLst/>
          </a:prstGeom>
          <a:solidFill>
            <a:srgbClr val="132B1A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073510"/>
            <a:ext cx="73133" cy="463175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2273" y="1073510"/>
            <a:ext cx="524119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What's Been Achieved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70385" y="1707328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1743895"/>
            <a:ext cx="243777" cy="24377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2316" y="1658573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System architecture designed &amp; documented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70385" y="2316770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29" y="2353336"/>
            <a:ext cx="243777" cy="24377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2316" y="2268015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8-table SQL Server schema, 3NF normalized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70385" y="2926211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329" y="2962777"/>
            <a:ext cx="243777" cy="24377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2316" y="2877456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ASP.NET Core backend, Repository pattern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670385" y="3535652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9" y="3572218"/>
            <a:ext cx="243777" cy="24377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2316" y="3486897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real-time hub designed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70385" y="4145093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29" y="4181660"/>
            <a:ext cx="243777" cy="24377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2316" y="4096338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SPA component hierarchy designed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670385" y="4754535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4791101"/>
            <a:ext cx="243777" cy="24377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182316" y="4705780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All design docs completed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670385" y="5363976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329" y="5400542"/>
            <a:ext cx="243777" cy="243777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1182316" y="5315221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Git + GitHub + 3-2-1 backup strategy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Shape 18"/>
          <p:cNvSpPr/>
          <p:nvPr/>
        </p:nvSpPr>
        <p:spPr>
          <a:xfrm>
            <a:off x="6435699" y="1073510"/>
            <a:ext cx="5143684" cy="463175"/>
          </a:xfrm>
          <a:prstGeom prst="rect">
            <a:avLst/>
          </a:prstGeom>
          <a:solidFill>
            <a:srgbClr val="0E2B33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19"/>
          <p:cNvSpPr/>
          <p:nvPr/>
        </p:nvSpPr>
        <p:spPr>
          <a:xfrm>
            <a:off x="6435699" y="1073510"/>
            <a:ext cx="73133" cy="463175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Text 20"/>
          <p:cNvSpPr/>
          <p:nvPr/>
        </p:nvSpPr>
        <p:spPr>
          <a:xfrm>
            <a:off x="6618531" y="1073510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Shape 21"/>
          <p:cNvSpPr/>
          <p:nvPr/>
        </p:nvSpPr>
        <p:spPr>
          <a:xfrm>
            <a:off x="6496643" y="1707328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7587" y="1743895"/>
            <a:ext cx="243777" cy="243777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008574" y="1658573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Complete backend API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3"/>
          <p:cNvSpPr/>
          <p:nvPr/>
        </p:nvSpPr>
        <p:spPr>
          <a:xfrm>
            <a:off x="6496643" y="2194881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7587" y="2231448"/>
            <a:ext cx="243777" cy="243777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7008574" y="2146126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Build React frontend + SignalR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6496643" y="2682434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7587" y="2719001"/>
            <a:ext cx="243777" cy="243777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7008574" y="2633679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Integrate ESP32 devices &amp; sensors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7"/>
          <p:cNvSpPr/>
          <p:nvPr/>
        </p:nvSpPr>
        <p:spPr>
          <a:xfrm>
            <a:off x="6496643" y="3169987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7587" y="3206554"/>
            <a:ext cx="243777" cy="243777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7008574" y="3121232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End-to-end live demo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Shape 29"/>
          <p:cNvSpPr/>
          <p:nvPr/>
        </p:nvSpPr>
        <p:spPr>
          <a:xfrm>
            <a:off x="6435699" y="3657541"/>
            <a:ext cx="5143684" cy="463175"/>
          </a:xfrm>
          <a:prstGeom prst="rect">
            <a:avLst/>
          </a:prstGeom>
          <a:solidFill>
            <a:srgbClr val="2B231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30"/>
          <p:cNvSpPr/>
          <p:nvPr/>
        </p:nvSpPr>
        <p:spPr>
          <a:xfrm>
            <a:off x="6435699" y="3657541"/>
            <a:ext cx="73133" cy="46317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Text 31"/>
          <p:cNvSpPr/>
          <p:nvPr/>
        </p:nvSpPr>
        <p:spPr>
          <a:xfrm>
            <a:off x="6618531" y="3657541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Shape 32"/>
          <p:cNvSpPr/>
          <p:nvPr/>
        </p:nvSpPr>
        <p:spPr>
          <a:xfrm>
            <a:off x="6496643" y="4266982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7587" y="4303548"/>
            <a:ext cx="243777" cy="243777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7008574" y="4218227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Mobile app (iOS / Android)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4"/>
          <p:cNvSpPr/>
          <p:nvPr/>
        </p:nvSpPr>
        <p:spPr>
          <a:xfrm>
            <a:off x="6496643" y="4730157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587" y="4766723"/>
            <a:ext cx="243777" cy="243777"/>
          </a:xfrm>
          <a:prstGeom prst="rect">
            <a:avLst/>
          </a:prstGeom>
        </p:spPr>
      </p:pic>
      <p:sp>
        <p:nvSpPr>
          <p:cNvPr id="50" name="Text 35"/>
          <p:cNvSpPr/>
          <p:nvPr/>
        </p:nvSpPr>
        <p:spPr>
          <a:xfrm>
            <a:off x="7008574" y="4681402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ML predictive maintenance &amp; anomaly detection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6"/>
          <p:cNvSpPr/>
          <p:nvPr/>
        </p:nvSpPr>
        <p:spPr>
          <a:xfrm>
            <a:off x="6496643" y="5193332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7587" y="5229899"/>
            <a:ext cx="243777" cy="243777"/>
          </a:xfrm>
          <a:prstGeom prst="rect">
            <a:avLst/>
          </a:prstGeom>
        </p:spPr>
      </p:pic>
      <p:sp>
        <p:nvSpPr>
          <p:cNvPr id="53" name="Text 37"/>
          <p:cNvSpPr/>
          <p:nvPr/>
        </p:nvSpPr>
        <p:spPr>
          <a:xfrm>
            <a:off x="7008574" y="5144577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OAuth / JWT authentication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38"/>
          <p:cNvSpPr/>
          <p:nvPr/>
        </p:nvSpPr>
        <p:spPr>
          <a:xfrm>
            <a:off x="6496643" y="5656508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5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7587" y="5693074"/>
            <a:ext cx="243777" cy="243777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7008574" y="5607753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Multi-tenant facility support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Shape 40"/>
          <p:cNvSpPr/>
          <p:nvPr/>
        </p:nvSpPr>
        <p:spPr>
          <a:xfrm>
            <a:off x="-1" y="6192816"/>
            <a:ext cx="12188825" cy="664291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Shape 41"/>
          <p:cNvSpPr/>
          <p:nvPr/>
        </p:nvSpPr>
        <p:spPr>
          <a:xfrm>
            <a:off x="-1" y="6192816"/>
            <a:ext cx="12188825" cy="0"/>
          </a:xfrm>
          <a:prstGeom prst="line">
            <a:avLst/>
          </a:prstGeom>
          <a:noFill/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 42"/>
          <p:cNvSpPr/>
          <p:nvPr/>
        </p:nvSpPr>
        <p:spPr>
          <a:xfrm>
            <a:off x="609441" y="6217194"/>
            <a:ext cx="1096994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866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Full stack — </a:t>
            </a:r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physical sensor to cloud dashboard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3"/>
          <p:cNvSpPr/>
          <p:nvPr/>
        </p:nvSpPr>
        <p:spPr>
          <a:xfrm>
            <a:off x="609441" y="6558481"/>
            <a:ext cx="10969943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866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Practical evidence of BAS Application Development program competency.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82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3136</TotalTime>
  <Words>2305</Words>
  <Application>Microsoft Office PowerPoint</Application>
  <PresentationFormat>Custom</PresentationFormat>
  <Paragraphs>691</Paragraphs>
  <Slides>20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Arial</vt:lpstr>
      <vt:lpstr>Calibri</vt:lpstr>
      <vt:lpstr>Candara</vt:lpstr>
      <vt:lpstr>Wingdings</vt:lpstr>
      <vt:lpstr>Office Theme</vt:lpstr>
      <vt:lpstr>1_Office Theme</vt:lpstr>
      <vt:lpstr>2_Office Theme</vt:lpstr>
      <vt:lpstr>3_Office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Quoc Bao Tran</cp:lastModifiedBy>
  <cp:revision>135</cp:revision>
  <dcterms:created xsi:type="dcterms:W3CDTF">2013-01-27T09:14:16Z</dcterms:created>
  <dcterms:modified xsi:type="dcterms:W3CDTF">2026-05-17T04:46:09Z</dcterms:modified>
  <cp:category/>
</cp:coreProperties>
</file>