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9"/>
  </p:notesMasterIdLst>
  <p:sldIdLst>
    <p:sldId id="256" r:id="rId5"/>
    <p:sldId id="289" r:id="rId6"/>
    <p:sldId id="287" r:id="rId7"/>
    <p:sldId id="286" r:id="rId8"/>
    <p:sldId id="288" r:id="rId9"/>
    <p:sldId id="297" r:id="rId10"/>
    <p:sldId id="296" r:id="rId11"/>
    <p:sldId id="298" r:id="rId12"/>
    <p:sldId id="299" r:id="rId13"/>
    <p:sldId id="284" r:id="rId14"/>
    <p:sldId id="283" r:id="rId15"/>
    <p:sldId id="285" r:id="rId16"/>
    <p:sldId id="281" r:id="rId17"/>
    <p:sldId id="28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 snapToObjects="1">
      <p:cViewPr>
        <p:scale>
          <a:sx n="100" d="100"/>
          <a:sy n="100" d="100"/>
        </p:scale>
        <p:origin x="23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DE3E3-4DC4-4033-AB14-8C688262196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C98F2-B9F0-4148-8C0F-A1926149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C98F2-B9F0-4148-8C0F-A19261494B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81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C98F2-B9F0-4148-8C0F-A19261494B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74A3D-EE77-4EA1-8E36-75207C739C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945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94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69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51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9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77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28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93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14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78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82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93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51" y="1775355"/>
            <a:ext cx="6475313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702" y="3238500"/>
            <a:ext cx="5332611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725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32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71" y="3672417"/>
            <a:ext cx="6475313" cy="1135063"/>
          </a:xfrm>
        </p:spPr>
        <p:txBody>
          <a:bodyPr anchor="t"/>
          <a:lstStyle>
            <a:lvl1pPr algn="l">
              <a:defRPr sz="3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771" y="2422261"/>
            <a:ext cx="6475313" cy="1250156"/>
          </a:xfrm>
        </p:spPr>
        <p:txBody>
          <a:bodyPr anchor="b"/>
          <a:lstStyle>
            <a:lvl1pPr marL="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1pPr>
            <a:lvl2pPr marL="380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787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680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4pPr>
            <a:lvl5pPr marL="152357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5pPr>
            <a:lvl6pPr marL="1904467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6pPr>
            <a:lvl7pPr marL="2285360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7pPr>
            <a:lvl8pPr marL="266625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8pPr>
            <a:lvl9pPr marL="3047147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687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0901" y="1333500"/>
            <a:ext cx="3364624" cy="3771636"/>
          </a:xfrm>
        </p:spPr>
        <p:txBody>
          <a:bodyPr/>
          <a:lstStyle>
            <a:lvl1pPr>
              <a:defRPr sz="2333"/>
            </a:lvl1pPr>
            <a:lvl2pPr>
              <a:defRPr sz="1999"/>
            </a:lvl2pPr>
            <a:lvl3pPr>
              <a:defRPr sz="1666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91" y="1333500"/>
            <a:ext cx="3364624" cy="3771636"/>
          </a:xfrm>
        </p:spPr>
        <p:txBody>
          <a:bodyPr/>
          <a:lstStyle>
            <a:lvl1pPr>
              <a:defRPr sz="2333"/>
            </a:lvl1pPr>
            <a:lvl2pPr>
              <a:defRPr sz="1999"/>
            </a:lvl2pPr>
            <a:lvl3pPr>
              <a:defRPr sz="1666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084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01" y="1279261"/>
            <a:ext cx="3365947" cy="533135"/>
          </a:xfrm>
        </p:spPr>
        <p:txBody>
          <a:bodyPr anchor="b"/>
          <a:lstStyle>
            <a:lvl1pPr marL="0" indent="0">
              <a:buNone/>
              <a:defRPr sz="1999" b="1"/>
            </a:lvl1pPr>
            <a:lvl2pPr marL="380893" indent="0">
              <a:buNone/>
              <a:defRPr sz="1666" b="1"/>
            </a:lvl2pPr>
            <a:lvl3pPr marL="761787" indent="0">
              <a:buNone/>
              <a:defRPr sz="1500" b="1"/>
            </a:lvl3pPr>
            <a:lvl4pPr marL="1142680" indent="0">
              <a:buNone/>
              <a:defRPr sz="1333" b="1"/>
            </a:lvl4pPr>
            <a:lvl5pPr marL="1523573" indent="0">
              <a:buNone/>
              <a:defRPr sz="1333" b="1"/>
            </a:lvl5pPr>
            <a:lvl6pPr marL="1904467" indent="0">
              <a:buNone/>
              <a:defRPr sz="1333" b="1"/>
            </a:lvl6pPr>
            <a:lvl7pPr marL="2285360" indent="0">
              <a:buNone/>
              <a:defRPr sz="1333" b="1"/>
            </a:lvl7pPr>
            <a:lvl8pPr marL="2666253" indent="0">
              <a:buNone/>
              <a:defRPr sz="1333" b="1"/>
            </a:lvl8pPr>
            <a:lvl9pPr marL="3047147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01" y="1812396"/>
            <a:ext cx="3365947" cy="3292740"/>
          </a:xfrm>
        </p:spPr>
        <p:txBody>
          <a:bodyPr/>
          <a:lstStyle>
            <a:lvl1pPr>
              <a:defRPr sz="1999"/>
            </a:lvl1pPr>
            <a:lvl2pPr>
              <a:defRPr sz="1666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9846" y="1279261"/>
            <a:ext cx="3367269" cy="533135"/>
          </a:xfrm>
        </p:spPr>
        <p:txBody>
          <a:bodyPr anchor="b"/>
          <a:lstStyle>
            <a:lvl1pPr marL="0" indent="0">
              <a:buNone/>
              <a:defRPr sz="1999" b="1"/>
            </a:lvl1pPr>
            <a:lvl2pPr marL="380893" indent="0">
              <a:buNone/>
              <a:defRPr sz="1666" b="1"/>
            </a:lvl2pPr>
            <a:lvl3pPr marL="761787" indent="0">
              <a:buNone/>
              <a:defRPr sz="1500" b="1"/>
            </a:lvl3pPr>
            <a:lvl4pPr marL="1142680" indent="0">
              <a:buNone/>
              <a:defRPr sz="1333" b="1"/>
            </a:lvl4pPr>
            <a:lvl5pPr marL="1523573" indent="0">
              <a:buNone/>
              <a:defRPr sz="1333" b="1"/>
            </a:lvl5pPr>
            <a:lvl6pPr marL="1904467" indent="0">
              <a:buNone/>
              <a:defRPr sz="1333" b="1"/>
            </a:lvl6pPr>
            <a:lvl7pPr marL="2285360" indent="0">
              <a:buNone/>
              <a:defRPr sz="1333" b="1"/>
            </a:lvl7pPr>
            <a:lvl8pPr marL="2666253" indent="0">
              <a:buNone/>
              <a:defRPr sz="1333" b="1"/>
            </a:lvl8pPr>
            <a:lvl9pPr marL="3047147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9846" y="1812396"/>
            <a:ext cx="3367269" cy="3292740"/>
          </a:xfrm>
        </p:spPr>
        <p:txBody>
          <a:bodyPr/>
          <a:lstStyle>
            <a:lvl1pPr>
              <a:defRPr sz="1999"/>
            </a:lvl1pPr>
            <a:lvl2pPr>
              <a:defRPr sz="1666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488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422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529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01" y="227542"/>
            <a:ext cx="2506275" cy="968375"/>
          </a:xfrm>
        </p:spPr>
        <p:txBody>
          <a:bodyPr anchor="b"/>
          <a:lstStyle>
            <a:lvl1pPr algn="l">
              <a:defRPr sz="1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8433" y="227542"/>
            <a:ext cx="4258682" cy="4877594"/>
          </a:xfrm>
        </p:spPr>
        <p:txBody>
          <a:bodyPr/>
          <a:lstStyle>
            <a:lvl1pPr>
              <a:defRPr sz="2666"/>
            </a:lvl1pPr>
            <a:lvl2pPr>
              <a:defRPr sz="2333"/>
            </a:lvl2pPr>
            <a:lvl3pPr>
              <a:defRPr sz="1999"/>
            </a:lvl3pPr>
            <a:lvl4pPr>
              <a:defRPr sz="1666"/>
            </a:lvl4pPr>
            <a:lvl5pPr>
              <a:defRPr sz="1666"/>
            </a:lvl5pPr>
            <a:lvl6pPr>
              <a:defRPr sz="1666"/>
            </a:lvl6pPr>
            <a:lvl7pPr>
              <a:defRPr sz="1666"/>
            </a:lvl7pPr>
            <a:lvl8pPr>
              <a:defRPr sz="1666"/>
            </a:lvl8pPr>
            <a:lvl9pPr>
              <a:defRPr sz="1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0901" y="1195917"/>
            <a:ext cx="2506275" cy="3909219"/>
          </a:xfrm>
        </p:spPr>
        <p:txBody>
          <a:bodyPr/>
          <a:lstStyle>
            <a:lvl1pPr marL="0" indent="0">
              <a:buNone/>
              <a:defRPr sz="1166"/>
            </a:lvl1pPr>
            <a:lvl2pPr marL="380893" indent="0">
              <a:buNone/>
              <a:defRPr sz="1000"/>
            </a:lvl2pPr>
            <a:lvl3pPr marL="761787" indent="0">
              <a:buNone/>
              <a:defRPr sz="833"/>
            </a:lvl3pPr>
            <a:lvl4pPr marL="1142680" indent="0">
              <a:buNone/>
              <a:defRPr sz="750"/>
            </a:lvl4pPr>
            <a:lvl5pPr marL="1523573" indent="0">
              <a:buNone/>
              <a:defRPr sz="750"/>
            </a:lvl5pPr>
            <a:lvl6pPr marL="1904467" indent="0">
              <a:buNone/>
              <a:defRPr sz="750"/>
            </a:lvl6pPr>
            <a:lvl7pPr marL="2285360" indent="0">
              <a:buNone/>
              <a:defRPr sz="750"/>
            </a:lvl7pPr>
            <a:lvl8pPr marL="2666253" indent="0">
              <a:buNone/>
              <a:defRPr sz="750"/>
            </a:lvl8pPr>
            <a:lvl9pPr marL="304714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52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185" y="4000500"/>
            <a:ext cx="4570809" cy="472282"/>
          </a:xfrm>
        </p:spPr>
        <p:txBody>
          <a:bodyPr anchor="b"/>
          <a:lstStyle>
            <a:lvl1pPr algn="l">
              <a:defRPr sz="1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185" y="510646"/>
            <a:ext cx="4570809" cy="3429000"/>
          </a:xfrm>
        </p:spPr>
        <p:txBody>
          <a:bodyPr/>
          <a:lstStyle>
            <a:lvl1pPr marL="0" indent="0">
              <a:buNone/>
              <a:defRPr sz="2666"/>
            </a:lvl1pPr>
            <a:lvl2pPr marL="380893" indent="0">
              <a:buNone/>
              <a:defRPr sz="2333"/>
            </a:lvl2pPr>
            <a:lvl3pPr marL="761787" indent="0">
              <a:buNone/>
              <a:defRPr sz="1999"/>
            </a:lvl3pPr>
            <a:lvl4pPr marL="1142680" indent="0">
              <a:buNone/>
              <a:defRPr sz="1666"/>
            </a:lvl4pPr>
            <a:lvl5pPr marL="1523573" indent="0">
              <a:buNone/>
              <a:defRPr sz="1666"/>
            </a:lvl5pPr>
            <a:lvl6pPr marL="1904467" indent="0">
              <a:buNone/>
              <a:defRPr sz="1666"/>
            </a:lvl6pPr>
            <a:lvl7pPr marL="2285360" indent="0">
              <a:buNone/>
              <a:defRPr sz="1666"/>
            </a:lvl7pPr>
            <a:lvl8pPr marL="2666253" indent="0">
              <a:buNone/>
              <a:defRPr sz="1666"/>
            </a:lvl8pPr>
            <a:lvl9pPr marL="3047147" indent="0">
              <a:buNone/>
              <a:defRPr sz="1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185" y="4472782"/>
            <a:ext cx="4570809" cy="670718"/>
          </a:xfrm>
        </p:spPr>
        <p:txBody>
          <a:bodyPr/>
          <a:lstStyle>
            <a:lvl1pPr marL="0" indent="0">
              <a:buNone/>
              <a:defRPr sz="1166"/>
            </a:lvl1pPr>
            <a:lvl2pPr marL="380893" indent="0">
              <a:buNone/>
              <a:defRPr sz="1000"/>
            </a:lvl2pPr>
            <a:lvl3pPr marL="761787" indent="0">
              <a:buNone/>
              <a:defRPr sz="833"/>
            </a:lvl3pPr>
            <a:lvl4pPr marL="1142680" indent="0">
              <a:buNone/>
              <a:defRPr sz="750"/>
            </a:lvl4pPr>
            <a:lvl5pPr marL="1523573" indent="0">
              <a:buNone/>
              <a:defRPr sz="750"/>
            </a:lvl5pPr>
            <a:lvl6pPr marL="1904467" indent="0">
              <a:buNone/>
              <a:defRPr sz="750"/>
            </a:lvl6pPr>
            <a:lvl7pPr marL="2285360" indent="0">
              <a:buNone/>
              <a:defRPr sz="750"/>
            </a:lvl7pPr>
            <a:lvl8pPr marL="2666253" indent="0">
              <a:buNone/>
              <a:defRPr sz="750"/>
            </a:lvl8pPr>
            <a:lvl9pPr marL="304714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072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19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3061" y="228865"/>
            <a:ext cx="1714054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0901" y="228865"/>
            <a:ext cx="5015194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5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039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33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901" y="228865"/>
            <a:ext cx="6856214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01" y="1333500"/>
            <a:ext cx="685621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0901" y="5296959"/>
            <a:ext cx="177753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2822" y="5296959"/>
            <a:ext cx="2412372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59578" y="5296959"/>
            <a:ext cx="1777537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6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7" r:id="rId12"/>
  </p:sldLayoutIdLst>
  <p:txStyles>
    <p:titleStyle>
      <a:lvl1pPr algn="ctr" defTabSz="380893" rtl="0" eaLnBrk="1" latinLnBrk="0" hangingPunct="1">
        <a:spcBef>
          <a:spcPct val="0"/>
        </a:spcBef>
        <a:buNone/>
        <a:defRPr sz="36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670" indent="-285670" algn="l" defTabSz="380893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1pPr>
      <a:lvl2pPr marL="618952" indent="-238058" algn="l" defTabSz="380893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233" indent="-190447" algn="l" defTabSz="38089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333127" indent="-190447" algn="l" defTabSz="380893" rtl="0" eaLnBrk="1" latinLnBrk="0" hangingPunct="1">
        <a:spcBef>
          <a:spcPct val="20000"/>
        </a:spcBef>
        <a:buFont typeface="Arial"/>
        <a:buChar char="–"/>
        <a:defRPr sz="1666" kern="1200">
          <a:solidFill>
            <a:schemeClr val="tx1"/>
          </a:solidFill>
          <a:latin typeface="+mn-lt"/>
          <a:ea typeface="+mn-ea"/>
          <a:cs typeface="+mn-cs"/>
        </a:defRPr>
      </a:lvl4pPr>
      <a:lvl5pPr marL="1714020" indent="-190447" algn="l" defTabSz="380893" rtl="0" eaLnBrk="1" latinLnBrk="0" hangingPunct="1">
        <a:spcBef>
          <a:spcPct val="20000"/>
        </a:spcBef>
        <a:buFont typeface="Arial"/>
        <a:buChar char="»"/>
        <a:defRPr sz="1666" kern="1200">
          <a:solidFill>
            <a:schemeClr val="tx1"/>
          </a:solidFill>
          <a:latin typeface="+mn-lt"/>
          <a:ea typeface="+mn-ea"/>
          <a:cs typeface="+mn-cs"/>
        </a:defRPr>
      </a:lvl5pPr>
      <a:lvl6pPr marL="2094913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6pPr>
      <a:lvl7pPr marL="2475807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7pPr>
      <a:lvl8pPr marL="2856700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8pPr>
      <a:lvl9pPr marL="3237593" indent="-190447" algn="l" defTabSz="380893" rtl="0" eaLnBrk="1" latinLnBrk="0" hangingPunct="1">
        <a:spcBef>
          <a:spcPct val="20000"/>
        </a:spcBef>
        <a:buFont typeface="Arial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8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0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7" algn="l" defTabSz="38089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62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ctr" defTabSz="121889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0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54880" y="50292"/>
            <a:ext cx="45719" cy="68077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941" y="2234881"/>
            <a:ext cx="22815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dirty="0">
                <a:solidFill>
                  <a:srgbClr val="00C896"/>
                </a:solidFill>
                <a:latin typeface="Candara" panose="020E0502030303020204" pitchFamily="34" charset="0"/>
              </a:rPr>
              <a:t>IoT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5119" y="2119443"/>
            <a:ext cx="1282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119" y="1453537"/>
            <a:ext cx="10307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React</a:t>
            </a:r>
            <a:r>
              <a:rPr lang="en-US" sz="1400" b="1" i="0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SPA</a:t>
            </a:r>
            <a:endParaRPr sz="1400" b="1" i="0" dirty="0">
              <a:solidFill>
                <a:srgbClr val="009A72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85119" y="1151432"/>
            <a:ext cx="1282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119" y="4313770"/>
            <a:ext cx="1183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00B8D4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SignalR</a:t>
            </a:r>
            <a:r>
              <a:rPr lang="en-US" sz="1400" b="1" i="0" dirty="0">
                <a:solidFill>
                  <a:srgbClr val="00B8D4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Hub</a:t>
            </a:r>
            <a:endParaRPr sz="1400" b="1" i="0" dirty="0">
              <a:solidFill>
                <a:srgbClr val="00B8D4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85119" y="4015828"/>
            <a:ext cx="1385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5119" y="3487132"/>
            <a:ext cx="1227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0A50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5119" y="3188398"/>
            <a:ext cx="105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1657779"/>
            <a:ext cx="70408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dirty="0">
                <a:solidFill>
                  <a:srgbClr val="E8F5EE"/>
                </a:solidFill>
                <a:latin typeface="Candara" panose="020E0502030303020204" pitchFamily="34" charset="0"/>
              </a:rPr>
              <a:t>Web-Based IoT Device</a:t>
            </a:r>
          </a:p>
          <a:p>
            <a:pPr algn="r"/>
            <a:r>
              <a:rPr sz="3200" b="1" dirty="0">
                <a:solidFill>
                  <a:srgbClr val="00C896"/>
                </a:solidFill>
                <a:latin typeface="Candara" panose="020E0502030303020204" pitchFamily="34" charset="0"/>
              </a:rPr>
              <a:t>Real-Time Monitoring</a:t>
            </a:r>
            <a:r>
              <a:rPr lang="en-US" sz="3200" b="1" dirty="0">
                <a:solidFill>
                  <a:srgbClr val="00C896"/>
                </a:solidFill>
                <a:latin typeface="Candara" panose="020E0502030303020204" pitchFamily="34" charset="0"/>
              </a:rPr>
              <a:t> </a:t>
            </a:r>
            <a:r>
              <a:rPr sz="3200" b="1" dirty="0">
                <a:solidFill>
                  <a:srgbClr val="00C896"/>
                </a:solidFill>
                <a:latin typeface="Candara" panose="020E0502030303020204" pitchFamily="34" charset="0"/>
              </a:rPr>
              <a:t>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583216"/>
            <a:ext cx="51206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00C896"/>
                </a:solidFill>
                <a:latin typeface="Candara" panose="020E0502030303020204" pitchFamily="34" charset="0"/>
              </a:rPr>
              <a:t>CAPSTONE PROJECT</a:t>
            </a:r>
          </a:p>
          <a:p>
            <a:pPr algn="r"/>
            <a:endParaRPr lang="en-US" sz="1400" b="0" i="0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sz="1400" b="0" i="0" dirty="0">
                <a:solidFill>
                  <a:srgbClr val="E8F5EE"/>
                </a:solidFill>
                <a:latin typeface="Candara" panose="020E0502030303020204" pitchFamily="34" charset="0"/>
              </a:rPr>
              <a:t>BAS — Application Development</a:t>
            </a:r>
            <a:endParaRPr lang="en-US" sz="1400" b="0" i="0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lang="en-US" sz="1400" b="0" i="0" dirty="0">
                <a:solidFill>
                  <a:srgbClr val="E8F5EE"/>
                </a:solidFill>
                <a:latin typeface="Candara" panose="020E0502030303020204" pitchFamily="34" charset="0"/>
              </a:rPr>
              <a:t>Instructor </a:t>
            </a:r>
            <a:r>
              <a:rPr lang="en-US" sz="1400" b="0" i="1" dirty="0">
                <a:solidFill>
                  <a:srgbClr val="E8F5EE"/>
                </a:solidFill>
                <a:latin typeface="Candara" panose="020E0502030303020204" pitchFamily="34" charset="0"/>
              </a:rPr>
              <a:t>|  </a:t>
            </a:r>
            <a:endParaRPr lang="en-US" sz="1400" i="1" dirty="0">
              <a:solidFill>
                <a:srgbClr val="E8F5EE"/>
              </a:solidFill>
              <a:latin typeface="Candara" panose="020E0502030303020204" pitchFamily="34" charset="0"/>
            </a:endParaRPr>
          </a:p>
          <a:p>
            <a:pPr algn="r"/>
            <a:r>
              <a:rPr lang="en-US" sz="1400" dirty="0">
                <a:solidFill>
                  <a:srgbClr val="E8F5EE"/>
                </a:solidFill>
                <a:latin typeface="Candara" panose="020E0502030303020204" pitchFamily="34" charset="0"/>
              </a:rPr>
              <a:t>Student | </a:t>
            </a:r>
          </a:p>
        </p:txBody>
      </p:sp>
      <p:sp>
        <p:nvSpPr>
          <p:cNvPr id="45" name="Rectangle 44"/>
          <p:cNvSpPr/>
          <p:nvPr/>
        </p:nvSpPr>
        <p:spPr>
          <a:xfrm flipV="1">
            <a:off x="0" y="6857999"/>
            <a:ext cx="12188952" cy="45719"/>
          </a:xfrm>
          <a:prstGeom prst="rect">
            <a:avLst/>
          </a:prstGeom>
          <a:solidFill>
            <a:srgbClr val="0E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ndara" panose="020E0502030303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1D83F4-9365-79B9-0BBD-C1AA74F11C60}"/>
              </a:ext>
            </a:extLst>
          </p:cNvPr>
          <p:cNvSpPr txBox="1"/>
          <p:nvPr/>
        </p:nvSpPr>
        <p:spPr>
          <a:xfrm>
            <a:off x="2685119" y="2415632"/>
            <a:ext cx="1524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9A72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C#, ASP.net core, Restful </a:t>
            </a:r>
            <a:r>
              <a:rPr lang="en-US" sz="1400" dirty="0">
                <a:solidFill>
                  <a:srgbClr val="9EC4AE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API</a:t>
            </a:r>
            <a:endParaRPr sz="1400" b="1" i="0" dirty="0">
              <a:solidFill>
                <a:srgbClr val="009A72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D05B-0666-C083-EA65-9FF9DCECD86B}"/>
              </a:ext>
            </a:extLst>
          </p:cNvPr>
          <p:cNvSpPr txBox="1"/>
          <p:nvPr/>
        </p:nvSpPr>
        <p:spPr>
          <a:xfrm>
            <a:off x="2634833" y="4855136"/>
            <a:ext cx="15289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IoT messaging</a:t>
            </a:r>
          </a:p>
          <a:p>
            <a:r>
              <a:rPr lang="en-US" sz="1400" b="1" i="0" dirty="0">
                <a:solidFill>
                  <a:srgbClr val="00B050"/>
                </a:solidFill>
                <a:latin typeface="Candara" panose="020E0502030303020204" pitchFamily="34" charset="0"/>
                <a:ea typeface="Cambria Math" panose="02040503050406030204" pitchFamily="18" charset="0"/>
              </a:rPr>
              <a:t>MQTT Broker</a:t>
            </a:r>
            <a:endParaRPr sz="1400" b="1" i="0" dirty="0">
              <a:solidFill>
                <a:srgbClr val="00B050"/>
              </a:solidFill>
              <a:latin typeface="Candara" panose="020E0502030303020204" pitchFamily="34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5390" y="429547"/>
            <a:ext cx="62735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Presentation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53312" y="1408176"/>
            <a:ext cx="3182111" cy="1181588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72184" y="1609344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2184" y="1600200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1591056"/>
            <a:ext cx="27614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1975104"/>
            <a:ext cx="2761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Why IoT monitoring matters in industrial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2" y="2679192"/>
            <a:ext cx="3182111" cy="118871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72184" y="2880360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72184" y="2871216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2862072"/>
            <a:ext cx="27614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Project Goals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5" y="3246120"/>
            <a:ext cx="2487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Objectives, requirements, boundaries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3950208"/>
            <a:ext cx="3163824" cy="1181587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472184" y="4151376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72184" y="4142232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4133088"/>
            <a:ext cx="248716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Technology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5104" y="4517136"/>
            <a:ext cx="2487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C#, ASP.NET Core, React, SQL 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3312" y="5212079"/>
            <a:ext cx="3182111" cy="1090148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472184" y="5413247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72184" y="5404103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5104" y="5394959"/>
            <a:ext cx="2560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5779007"/>
            <a:ext cx="2761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Edge → API → DB → SignalR → React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1408176"/>
            <a:ext cx="3113532" cy="1181588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62856" y="1408176"/>
            <a:ext cx="45719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736592" y="1609344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36592" y="1600200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1" y="1591056"/>
            <a:ext cx="27614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Database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1" y="1975104"/>
            <a:ext cx="1993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Devices, sensors, readings, 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2679192"/>
            <a:ext cx="3113532" cy="118871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62856" y="2679192"/>
            <a:ext cx="45719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736592" y="2880360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36592" y="2871216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9511" y="2862072"/>
            <a:ext cx="27614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Backend &amp;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1" y="3246120"/>
            <a:ext cx="2249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Services, repositories, DTOs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3950208"/>
            <a:ext cx="3113532" cy="118871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62856" y="3950208"/>
            <a:ext cx="45719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736592" y="4151376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36592" y="4142232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1" y="4133088"/>
            <a:ext cx="27614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Frontend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9511" y="4517136"/>
            <a:ext cx="2057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React SPA, charts,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SignalR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 client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5212079"/>
            <a:ext cx="3113532" cy="1090148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62856" y="5212079"/>
            <a:ext cx="45719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736592" y="5413247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36592" y="5404103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1" y="5394959"/>
            <a:ext cx="27614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Key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1" y="5779007"/>
            <a:ext cx="2167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Streaming, dashboards, alerts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63840" y="1408176"/>
            <a:ext cx="3154553" cy="115816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72400" y="1408176"/>
            <a:ext cx="54480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982712" y="1609344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82712" y="1600200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3" y="159105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Live Demo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3" y="1975104"/>
            <a:ext cx="2395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Edge → API → SignalR → Dashboard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3840" y="2679192"/>
            <a:ext cx="3154553" cy="118871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772400" y="2679192"/>
            <a:ext cx="54480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982712" y="2880360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82712" y="2871216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5632" y="2862072"/>
            <a:ext cx="224028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Challenges &amp; Solutions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3246120"/>
            <a:ext cx="2240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Sync, data volume, design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63840" y="3950208"/>
            <a:ext cx="3154553" cy="1188719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772400" y="3950208"/>
            <a:ext cx="54480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982712" y="4151376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982712" y="4142232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85633" y="41330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Conclusion &amp; Future</a:t>
            </a:r>
          </a:p>
        </p:txBody>
      </p:sp>
      <p:sp>
        <p:nvSpPr>
          <p:cNvPr id="74" name="Rounded Rectangle 65">
            <a:extLst>
              <a:ext uri="{FF2B5EF4-FFF2-40B4-BE49-F238E27FC236}">
                <a16:creationId xmlns:a16="http://schemas.microsoft.com/office/drawing/2014/main" id="{47AB4A4A-A8CE-FF32-418B-F6A5ECDEFA50}"/>
              </a:ext>
            </a:extLst>
          </p:cNvPr>
          <p:cNvSpPr/>
          <p:nvPr/>
        </p:nvSpPr>
        <p:spPr>
          <a:xfrm>
            <a:off x="7885937" y="5212079"/>
            <a:ext cx="3132456" cy="1090148"/>
          </a:xfrm>
          <a:prstGeom prst="roundRect">
            <a:avLst>
              <a:gd name="adj" fmla="val 4000"/>
            </a:avLst>
          </a:prstGeom>
          <a:solidFill>
            <a:srgbClr val="0F261A"/>
          </a:solidFill>
          <a:ln w="7620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7DB0902-45A1-6AAA-C9B7-2054F58EC30E}"/>
              </a:ext>
            </a:extLst>
          </p:cNvPr>
          <p:cNvSpPr/>
          <p:nvPr/>
        </p:nvSpPr>
        <p:spPr>
          <a:xfrm>
            <a:off x="7772400" y="5212079"/>
            <a:ext cx="54480" cy="1090148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ounded Rectangle 67">
            <a:extLst>
              <a:ext uri="{FF2B5EF4-FFF2-40B4-BE49-F238E27FC236}">
                <a16:creationId xmlns:a16="http://schemas.microsoft.com/office/drawing/2014/main" id="{393D4FDF-306E-5F8B-2AE3-3DC411ACC2EB}"/>
              </a:ext>
            </a:extLst>
          </p:cNvPr>
          <p:cNvSpPr/>
          <p:nvPr/>
        </p:nvSpPr>
        <p:spPr>
          <a:xfrm>
            <a:off x="8014335" y="5427344"/>
            <a:ext cx="420624" cy="329184"/>
          </a:xfrm>
          <a:prstGeom prst="roundRect">
            <a:avLst>
              <a:gd name="adj" fmla="val 4000"/>
            </a:avLst>
          </a:prstGeom>
          <a:solidFill>
            <a:srgbClr val="143A26"/>
          </a:solidFill>
          <a:ln w="6350">
            <a:solidFill>
              <a:srgbClr val="3EC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8A8FEF-47C5-679C-F49E-19721944EA82}"/>
              </a:ext>
            </a:extLst>
          </p:cNvPr>
          <p:cNvSpPr txBox="1"/>
          <p:nvPr/>
        </p:nvSpPr>
        <p:spPr>
          <a:xfrm>
            <a:off x="8014335" y="5418200"/>
            <a:ext cx="42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2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3ECF80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B7797C-7309-8EC4-1A4D-B8987CFB0555}"/>
              </a:ext>
            </a:extLst>
          </p:cNvPr>
          <p:cNvSpPr txBox="1"/>
          <p:nvPr/>
        </p:nvSpPr>
        <p:spPr>
          <a:xfrm>
            <a:off x="8517256" y="5409056"/>
            <a:ext cx="2071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End Of Presentation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8699" y="578072"/>
            <a:ext cx="4583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Project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699" y="1483114"/>
            <a:ext cx="43854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Continuous monitoring is critical in industrial, commercial, and agricultural settings for safety, early fault detection, and performance optimization. SCADA/BMS solutions are often costly, complex, and vendor-locked.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3" y="2932098"/>
            <a:ext cx="44823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This project </a:t>
            </a: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delivers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 a web-based IoT monitoring system that 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6161" y="4241232"/>
            <a:ext cx="4048963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ECF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Web-based — no proprietary hardware</a:t>
            </a:r>
          </a:p>
          <a:p>
            <a:pPr marL="285750" marR="0" lvl="0" indent="-28575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ECF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Real-time via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SignalR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 / WebSocket</a:t>
            </a:r>
          </a:p>
          <a:p>
            <a:pPr marL="285750" marR="0" lvl="0" indent="-28575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ECF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SQL Server-backed historical storage</a:t>
            </a:r>
          </a:p>
          <a:p>
            <a:pPr marL="285750" marR="0" lvl="0" indent="-28575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ECF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Accessible from any browser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5424679" y="1298448"/>
            <a:ext cx="45719" cy="4352544"/>
          </a:xfrm>
          <a:prstGeom prst="rect">
            <a:avLst/>
          </a:prstGeom>
          <a:solidFill>
            <a:srgbClr val="25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493" y="1298448"/>
            <a:ext cx="475488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74284" y="1316736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Web-Based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4284" y="1572768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No proprietary hardware required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853" y="1298448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54645" y="1316736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Any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4645" y="1572768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Accessible from any device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493" y="3236976"/>
            <a:ext cx="475488" cy="475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4284" y="3255264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4284" y="3511296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SignalR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 / WebSocket streaming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853" y="3236976"/>
            <a:ext cx="475488" cy="475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54645" y="3255264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Cost-Effective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4645" y="3511296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Open-source technology stack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2493" y="5175504"/>
            <a:ext cx="475488" cy="4754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74284" y="519379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SQL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284" y="5449824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Full historical data storage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2853" y="5175504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54645" y="519379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4645" y="5449824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Arduino, ESP32, Raspberry 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320040"/>
            <a:ext cx="1063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Project Goals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7406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Six core objectives mapped to key system capabilities and platform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14630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CORE SYSTEM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6872" y="14630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PLATFORM &amp; INTEGRATION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874519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56232" y="18745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21305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Real-time sensor streaming (&lt;2s latency) via SignalR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7864" y="1874519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291839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56232" y="32918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Interactive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6232" y="35478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Live dashboards with charts, gauges, and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7864" y="3291839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4709160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56232" y="47091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Historical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496519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Query, filter, and export time-series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" y="4709160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1874519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79207" y="18745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Device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21305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Register and manage IoT devices (Arduino, ESP32, Raspberry Pi)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1874519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291839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79207" y="32918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Alerting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7" y="35478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Threshold-based alerts with real-time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291839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4709160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79207" y="47091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Capstone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496519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C#, React, SQL, REST APIs, SignalR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709160"/>
            <a:ext cx="36576" cy="420624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11274552" cy="9144"/>
          </a:xfrm>
          <a:prstGeom prst="rect">
            <a:avLst/>
          </a:prstGeom>
          <a:solidFill>
            <a:srgbClr val="2A6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745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Out of Scope (Future Enhancements):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D7A5E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Auth · RBAC · Mobile · ML · Multi-tenancy · ERP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D7A5E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Focused on delivering a scalable, real-time IoT monitoring foundation.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8696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End-to-end pipeline: Device → MQTT → Backend →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SignalR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→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89888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984248"/>
            <a:ext cx="804672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57276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C# / ASP.NET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Handles ingestion, processing,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9956" y="1389888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91940" y="1362908"/>
            <a:ext cx="50292" cy="1993392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428" y="1984248"/>
            <a:ext cx="804672" cy="804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02836" y="157276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IoT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2836" y="1901952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MQTT + Broker (Mosquitto/EMQX)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0258" y="242517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Device → Broker → 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389888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412861"/>
            <a:ext cx="50292" cy="1993392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84" y="1984248"/>
            <a:ext cx="804672" cy="8046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65592" y="157276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90195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SignalR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16712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AAB8A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Server-to-client live 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4206240"/>
            <a:ext cx="804672" cy="8046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379476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2394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React + TypeScript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19956" y="3611880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107942" y="3611880"/>
            <a:ext cx="50292" cy="1993392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428" y="4206240"/>
            <a:ext cx="804672" cy="8046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02836" y="379476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2836" y="412394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SQL Server + EF 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82712" y="3611880"/>
            <a:ext cx="3566160" cy="1993392"/>
          </a:xfrm>
          <a:prstGeom prst="roundRect">
            <a:avLst>
              <a:gd name="adj" fmla="val 4000"/>
            </a:avLst>
          </a:prstGeom>
          <a:solidFill>
            <a:srgbClr val="112B1D"/>
          </a:solidFill>
          <a:ln w="9525">
            <a:solidFill>
              <a:srgbClr val="1E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863840" y="3602736"/>
            <a:ext cx="50292" cy="1993392"/>
          </a:xfrm>
          <a:prstGeom prst="rect">
            <a:avLst/>
          </a:prstGeom>
          <a:solidFill>
            <a:srgbClr val="3EC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4206240"/>
            <a:ext cx="804672" cy="8046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65592" y="379476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DevOps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412394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Git + GitHub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ECF80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+ Azure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3ECF80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49" y="272165"/>
            <a:ext cx="1151844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System Architecture </a:t>
            </a:r>
            <a:r>
              <a:rPr lang="en-US" sz="32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4549" y="904875"/>
            <a:ext cx="1874032" cy="5842532"/>
          </a:xfrm>
          <a:prstGeom prst="roundRect">
            <a:avLst>
              <a:gd name="adj" fmla="val 3902"/>
            </a:avLst>
          </a:prstGeom>
          <a:solidFill>
            <a:srgbClr val="081610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5965" y="1145188"/>
            <a:ext cx="1691199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48280" y="904875"/>
            <a:ext cx="2102572" cy="5842532"/>
          </a:xfrm>
          <a:prstGeom prst="roundRect">
            <a:avLst>
              <a:gd name="adj" fmla="val 3478"/>
            </a:avLst>
          </a:prstGeom>
          <a:solidFill>
            <a:srgbClr val="081610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39696" y="1145188"/>
            <a:ext cx="1919740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60552" y="904873"/>
            <a:ext cx="5759220" cy="5842533"/>
          </a:xfrm>
          <a:prstGeom prst="roundRect">
            <a:avLst>
              <a:gd name="adj" fmla="val 1270"/>
            </a:avLst>
          </a:prstGeom>
          <a:solidFill>
            <a:srgbClr val="081610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51968" y="1145188"/>
            <a:ext cx="5576387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229471" y="904875"/>
            <a:ext cx="1828324" cy="5842532"/>
          </a:xfrm>
          <a:prstGeom prst="roundRect">
            <a:avLst>
              <a:gd name="adj" fmla="val 4000"/>
            </a:avLst>
          </a:prstGeom>
          <a:solidFill>
            <a:srgbClr val="081610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20887" y="1145188"/>
            <a:ext cx="1645491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32894" y="2004501"/>
            <a:ext cx="45251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3728" y="3604284"/>
            <a:ext cx="3382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3728" y="4838402"/>
            <a:ext cx="3382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32894" y="6026813"/>
            <a:ext cx="261907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211188" y="4838402"/>
            <a:ext cx="109699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71708" y="3604284"/>
            <a:ext cx="164549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4537" y="3604284"/>
            <a:ext cx="20111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80292" y="4838402"/>
            <a:ext cx="25596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4537" y="4838402"/>
            <a:ext cx="63991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01565" y="3787116"/>
            <a:ext cx="0" cy="196544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79858" y="3855678"/>
            <a:ext cx="0" cy="73133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016734" y="2370165"/>
            <a:ext cx="0" cy="98272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82398" y="2370165"/>
            <a:ext cx="0" cy="2193989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7660" y="1734823"/>
            <a:ext cx="1462659" cy="594205"/>
          </a:xfrm>
          <a:prstGeom prst="roundRect">
            <a:avLst>
              <a:gd name="adj" fmla="val 9231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0235" y="1707398"/>
            <a:ext cx="1462659" cy="594205"/>
          </a:xfrm>
          <a:prstGeom prst="roundRect">
            <a:avLst>
              <a:gd name="adj" fmla="val 9231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5085" y="1743965"/>
            <a:ext cx="1352960" cy="521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97660" y="3266044"/>
            <a:ext cx="1462659" cy="548497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0235" y="3238619"/>
            <a:ext cx="1462659" cy="548497"/>
          </a:xfrm>
          <a:prstGeom prst="roundRect">
            <a:avLst>
              <a:gd name="adj" fmla="val 10000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5085" y="3275186"/>
            <a:ext cx="1352960" cy="47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/Gateway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97660" y="5779989"/>
            <a:ext cx="1462659" cy="548497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70235" y="5752564"/>
            <a:ext cx="1462659" cy="548497"/>
          </a:xfrm>
          <a:prstGeom prst="roundRect">
            <a:avLst>
              <a:gd name="adj" fmla="val 10000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5085" y="5789131"/>
            <a:ext cx="1352960" cy="47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12829" y="1666260"/>
            <a:ext cx="1828324" cy="731330"/>
          </a:xfrm>
          <a:prstGeom prst="roundRect">
            <a:avLst>
              <a:gd name="adj" fmla="val 75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85404" y="1638836"/>
            <a:ext cx="1828324" cy="731330"/>
          </a:xfrm>
          <a:prstGeom prst="roundRect">
            <a:avLst>
              <a:gd name="adj" fmla="val 7500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340254" y="1675402"/>
            <a:ext cx="1718624" cy="65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(MUI + React Router)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312829" y="3380314"/>
            <a:ext cx="1828324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285404" y="3352889"/>
            <a:ext cx="1828324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340254" y="3389456"/>
            <a:ext cx="1718624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api.ts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(REST client)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312829" y="4591579"/>
            <a:ext cx="1828324" cy="548497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285404" y="4564154"/>
            <a:ext cx="1828324" cy="548497"/>
          </a:xfrm>
          <a:prstGeom prst="roundRect">
            <a:avLst>
              <a:gd name="adj" fmla="val 10000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40254" y="4600720"/>
            <a:ext cx="1718624" cy="47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signalRService.ts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(SignalR client)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479393" y="3128920"/>
            <a:ext cx="1919740" cy="1005578"/>
          </a:xfrm>
          <a:prstGeom prst="roundRect">
            <a:avLst>
              <a:gd name="adj" fmla="val 5455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451968" y="3101495"/>
            <a:ext cx="1919740" cy="1005578"/>
          </a:xfrm>
          <a:prstGeom prst="roundRect">
            <a:avLst>
              <a:gd name="adj" fmla="val 5455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06817" y="3138061"/>
            <a:ext cx="1810041" cy="93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(Devices, Sensors,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SensorReadings,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Alerts, AlertRules,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Health)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563682" y="3037504"/>
            <a:ext cx="2148280" cy="1188410"/>
          </a:xfrm>
          <a:prstGeom prst="roundRect">
            <a:avLst>
              <a:gd name="adj" fmla="val 4615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36257" y="3010079"/>
            <a:ext cx="2148280" cy="1188410"/>
          </a:xfrm>
          <a:prstGeom prst="roundRect">
            <a:avLst>
              <a:gd name="adj" fmla="val 4615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591107" y="3046645"/>
            <a:ext cx="2038581" cy="111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DeviceService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SensorService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SensorReadingService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AlertService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AlertRuleService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913078" y="3380314"/>
            <a:ext cx="1188410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85653" y="3352889"/>
            <a:ext cx="1188410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940503" y="3389456"/>
            <a:ext cx="1078711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479393" y="4591579"/>
            <a:ext cx="1828324" cy="548497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451968" y="4564154"/>
            <a:ext cx="1828324" cy="548497"/>
          </a:xfrm>
          <a:prstGeom prst="roundRect">
            <a:avLst>
              <a:gd name="adj" fmla="val 10000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506818" y="4600720"/>
            <a:ext cx="1718624" cy="47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MonitoringHub</a:t>
            </a:r>
            <a:endParaRPr lang="en-US" sz="1300" dirty="0">
              <a:latin typeface="Candara" panose="020E0502030303020204" pitchFamily="34" charset="0"/>
            </a:endParaRP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(SignalR)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563682" y="4614433"/>
            <a:ext cx="2148280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536257" y="4587008"/>
            <a:ext cx="2148280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775954" y="4614433"/>
            <a:ext cx="1462659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8529" y="4587008"/>
            <a:ext cx="1462659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803378" y="4623574"/>
            <a:ext cx="1352960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ApplicationDbContext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479393" y="5802843"/>
            <a:ext cx="1554075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451968" y="5775418"/>
            <a:ext cx="1554075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506817" y="5811985"/>
            <a:ext cx="1444376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MqttService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348312" y="4614433"/>
            <a:ext cx="1554075" cy="502789"/>
          </a:xfrm>
          <a:prstGeom prst="roundRect">
            <a:avLst>
              <a:gd name="adj" fmla="val 10909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0320887" y="4587008"/>
            <a:ext cx="1554075" cy="502789"/>
          </a:xfrm>
          <a:prstGeom prst="roundRect">
            <a:avLst>
              <a:gd name="adj" fmla="val 10909"/>
            </a:avLst>
          </a:prstGeom>
          <a:solidFill>
            <a:srgbClr val="0D2117"/>
          </a:solidFill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300">
              <a:latin typeface="Candara" panose="020E0502030303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0375737" y="4623574"/>
            <a:ext cx="1444376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>
              <a:latin typeface="Candara" panose="020E0502030303020204" pitchFamily="34" charset="0"/>
            </a:endParaRP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C0FD3DCC-31CA-A452-10B7-396F1C1F1B53}"/>
              </a:ext>
            </a:extLst>
          </p:cNvPr>
          <p:cNvCxnSpPr>
            <a:cxnSpLocks/>
            <a:stCxn id="61" idx="3"/>
            <a:endCxn id="45" idx="2"/>
          </p:cNvCxnSpPr>
          <p:nvPr/>
        </p:nvCxnSpPr>
        <p:spPr>
          <a:xfrm flipV="1">
            <a:off x="6006043" y="4225914"/>
            <a:ext cx="1631779" cy="1800899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54"/>
          <p:cNvSpPr/>
          <p:nvPr/>
        </p:nvSpPr>
        <p:spPr>
          <a:xfrm>
            <a:off x="6490548" y="4660286"/>
            <a:ext cx="2038581" cy="42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SignalRNotificationService</a:t>
            </a:r>
            <a:endParaRPr lang="en-US" sz="13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080" y="110592"/>
            <a:ext cx="11244191" cy="411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Database Schema Map</a:t>
            </a: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080" y="549390"/>
            <a:ext cx="11244191" cy="22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11 tables  •  Devices = central hub  •  Key fields and relationships shown</a:t>
            </a: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51069" y="2079339"/>
            <a:ext cx="2422529" cy="998981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flipV="1">
            <a:off x="2651069" y="3534459"/>
            <a:ext cx="2422529" cy="99898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 flipV="1">
            <a:off x="7084754" y="1888637"/>
            <a:ext cx="2559653" cy="1151844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7084754" y="3100816"/>
            <a:ext cx="2559653" cy="281562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84754" y="3704163"/>
            <a:ext cx="2559653" cy="537527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84754" y="4025947"/>
            <a:ext cx="2559653" cy="1356617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4316367" y="4059772"/>
            <a:ext cx="1148797" cy="1060428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 flipV="1">
            <a:off x="5977475" y="4059772"/>
            <a:ext cx="66277" cy="1060428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10533" y="4059772"/>
            <a:ext cx="994151" cy="1060428"/>
          </a:xfrm>
          <a:prstGeom prst="line">
            <a:avLst/>
          </a:prstGeom>
          <a:noFill/>
          <a:ln w="12700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2651069" y="1461649"/>
            <a:ext cx="6993338" cy="177496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0069" y="2231448"/>
            <a:ext cx="4661395" cy="2888752"/>
          </a:xfrm>
          <a:prstGeom prst="line">
            <a:avLst/>
          </a:prstGeom>
          <a:noFill/>
          <a:ln w="12700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069" y="2139382"/>
            <a:ext cx="6993338" cy="3301424"/>
          </a:xfrm>
          <a:prstGeom prst="line">
            <a:avLst/>
          </a:prstGeom>
          <a:noFill/>
          <a:ln w="12700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45491" y="2231448"/>
            <a:ext cx="0" cy="877595"/>
          </a:xfrm>
          <a:prstGeom prst="line">
            <a:avLst/>
          </a:prstGeom>
          <a:noFill/>
          <a:ln w="12700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1618" y="5778396"/>
            <a:ext cx="502789" cy="45708"/>
          </a:xfrm>
          <a:prstGeom prst="line">
            <a:avLst/>
          </a:prstGeom>
          <a:noFill/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51069" y="4146521"/>
            <a:ext cx="2285405" cy="1069764"/>
          </a:xfrm>
          <a:prstGeom prst="line">
            <a:avLst/>
          </a:prstGeom>
          <a:noFill/>
          <a:ln w="12700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01023" y="2953636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73598" y="2926211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1905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73598" y="2999344"/>
            <a:ext cx="50279" cy="987295"/>
          </a:xfrm>
          <a:prstGeom prst="rect">
            <a:avLst/>
          </a:prstGeom>
          <a:solidFill>
            <a:srgbClr val="3ECF80"/>
          </a:solidFill>
          <a:ln w="1270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3598" y="2926211"/>
            <a:ext cx="50279" cy="164549"/>
          </a:xfrm>
          <a:prstGeom prst="roundRect">
            <a:avLst>
              <a:gd name="adj" fmla="val 72727"/>
            </a:avLst>
          </a:prstGeom>
          <a:solidFill>
            <a:srgbClr val="3ECF80"/>
          </a:solidFill>
          <a:ln w="1270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1965" y="2981061"/>
            <a:ext cx="438798" cy="182832"/>
          </a:xfrm>
          <a:prstGeom prst="roundRect">
            <a:avLst>
              <a:gd name="adj" fmla="val 20000"/>
            </a:avLst>
          </a:prstGeom>
          <a:solidFill>
            <a:srgbClr val="3ECF80"/>
          </a:solidFill>
          <a:ln w="1270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1965" y="2981061"/>
            <a:ext cx="438798" cy="18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kern="0" spc="300" dirty="0">
                <a:solidFill>
                  <a:srgbClr val="0D2117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800" dirty="0">
              <a:latin typeface="Candara" panose="020E05020303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9864" y="2944494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19864" y="3218743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IoT equipment registry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01580" y="3401575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9864" y="3438142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12396" y="3438142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17974" y="3438142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12396" y="3579837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DeviceName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17974" y="3579837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string(100)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12396" y="3721532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DeviceType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17974" y="3721532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12396" y="3863227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17974" y="3863227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67338" y="1125312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9913" y="1097887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9913" y="1171020"/>
            <a:ext cx="50279" cy="987295"/>
          </a:xfrm>
          <a:prstGeom prst="rect">
            <a:avLst/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9913" y="1097887"/>
            <a:ext cx="50279" cy="164549"/>
          </a:xfrm>
          <a:prstGeom prst="roundRect">
            <a:avLst>
              <a:gd name="adj" fmla="val 72727"/>
            </a:avLst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6178" y="1116171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86178" y="1390419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Inputs on each device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67895" y="1573251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86178" y="1609818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78711" y="1609818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084289" y="1609818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86178" y="1751513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78711" y="175151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084289" y="175151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78711" y="1893208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SensorName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084289" y="1893208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string(100)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78711" y="203490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SensorType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084289" y="203490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7338" y="3136468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39913" y="3109043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9913" y="3182176"/>
            <a:ext cx="50279" cy="987295"/>
          </a:xfrm>
          <a:prstGeom prst="rect">
            <a:avLst/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39913" y="3109043"/>
            <a:ext cx="50279" cy="164549"/>
          </a:xfrm>
          <a:prstGeom prst="roundRect">
            <a:avLst>
              <a:gd name="adj" fmla="val 72727"/>
            </a:avLst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86178" y="3127327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86178" y="3401575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Controllable outputs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67895" y="3584408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86178" y="3620974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078711" y="3620974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ActuatorId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084289" y="3620974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86178" y="3762669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078711" y="3762669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084289" y="3762669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86178" y="3904364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FK?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78711" y="3904364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FeedbackSensorId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084289" y="3904364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078711" y="4046059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084289" y="4046059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string(20)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67338" y="5147624"/>
            <a:ext cx="2011156" cy="1334676"/>
          </a:xfrm>
          <a:prstGeom prst="roundRect">
            <a:avLst>
              <a:gd name="adj" fmla="val 5479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39913" y="5120200"/>
            <a:ext cx="2011156" cy="1334676"/>
          </a:xfrm>
          <a:prstGeom prst="roundRect">
            <a:avLst>
              <a:gd name="adj" fmla="val 5479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39913" y="5193333"/>
            <a:ext cx="50279" cy="1188410"/>
          </a:xfrm>
          <a:prstGeom prst="rect">
            <a:avLst/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639913" y="5120200"/>
            <a:ext cx="50279" cy="164549"/>
          </a:xfrm>
          <a:prstGeom prst="roundRect">
            <a:avLst>
              <a:gd name="adj" fmla="val 72727"/>
            </a:avLst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86178" y="5138483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86178" y="5412731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App login and roles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67895" y="5595564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86178" y="563213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078711" y="563213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084289" y="563213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78711" y="577382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2084289" y="577382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string(100)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78711" y="591552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2084289" y="591552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string(20)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1078711" y="605721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2084289" y="605721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786178" y="6253760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⊘  standalone — no FK links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9671832" y="896771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644407" y="869347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644407" y="942480"/>
            <a:ext cx="50279" cy="987295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9644407" y="869347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9790673" y="887630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SensorReadings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9790673" y="1161879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Raw measurements over time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9772390" y="1344711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9790673" y="1381277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0083205" y="1381277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ReadingId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1088783" y="1381277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9790673" y="1522973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0083205" y="152297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11088783" y="152297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9790673" y="1664668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0083205" y="1664668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1088783" y="1664668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10083205" y="180636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11088783" y="180636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dec(18,4)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9671832" y="2450847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9644407" y="2423422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9644407" y="2496555"/>
            <a:ext cx="50279" cy="987295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9644407" y="2423422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9790673" y="2441705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DeviceStatusHistories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9790673" y="2715954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 status change log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9772390" y="2898786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9790673" y="2935353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10083205" y="293535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StatusHistoryId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11088783" y="293535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9790673" y="3077048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10083205" y="3077048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11088783" y="3077048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10083205" y="3218743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11088783" y="3218743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10083205" y="3360438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11088783" y="3360438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9671832" y="3913506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9644407" y="3886081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9644407" y="3959214"/>
            <a:ext cx="50279" cy="987295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9644407" y="3886081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9790673" y="3904364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OperationalMetrics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9790673" y="4178613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Calculated KPIs per device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9772390" y="4361445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9790673" y="4398012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10083205" y="4398012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MetricId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11088783" y="4398012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9790673" y="4539707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10083205" y="4539707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11088783" y="4539707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10083205" y="4681402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MetricType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11088783" y="4681402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10083205" y="4823097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MetricValue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11088783" y="4823097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dec(18,4)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9671832" y="5376165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9644407" y="5348740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9644407" y="5421873"/>
            <a:ext cx="50279" cy="987295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9644407" y="5348740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9790673" y="5367023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9790673" y="5641272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Fired alert records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9772390" y="5824104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9790673" y="5860671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10083205" y="5860671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1088783" y="5860671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51" name="Text 149"/>
          <p:cNvSpPr/>
          <p:nvPr/>
        </p:nvSpPr>
        <p:spPr>
          <a:xfrm>
            <a:off x="9790673" y="6002366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10083205" y="6002366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AlertRuleId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11088783" y="6002366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9790673" y="6144061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10083205" y="6144061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56" name="Text 154"/>
          <p:cNvSpPr/>
          <p:nvPr/>
        </p:nvSpPr>
        <p:spPr>
          <a:xfrm>
            <a:off x="11088783" y="6144061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9790673" y="6285756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FK?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10083205" y="6285756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11088783" y="6285756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2724202" y="5147624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2696777" y="5120199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2696777" y="5193332"/>
            <a:ext cx="50279" cy="987295"/>
          </a:xfrm>
          <a:prstGeom prst="rect">
            <a:avLst/>
          </a:prstGeom>
          <a:solidFill>
            <a:srgbClr val="1A3D52"/>
          </a:solidFill>
          <a:ln w="12700">
            <a:solidFill>
              <a:srgbClr val="1A3D5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2696777" y="5120200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A3D52"/>
          </a:solidFill>
          <a:ln w="12700">
            <a:solidFill>
              <a:srgbClr val="1A3D5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4" name="Text 162"/>
          <p:cNvSpPr/>
          <p:nvPr/>
        </p:nvSpPr>
        <p:spPr>
          <a:xfrm>
            <a:off x="2843043" y="5138483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DeviceConfigurations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2843043" y="5412731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Per-device settings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2824760" y="5595564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2843043" y="563213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68" name="Text 166"/>
          <p:cNvSpPr/>
          <p:nvPr/>
        </p:nvSpPr>
        <p:spPr>
          <a:xfrm>
            <a:off x="3135575" y="563213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ConfigurationId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4141153" y="563213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70" name="Text 168"/>
          <p:cNvSpPr/>
          <p:nvPr/>
        </p:nvSpPr>
        <p:spPr>
          <a:xfrm>
            <a:off x="2843043" y="5773825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3135575" y="577382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4141153" y="577382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3135575" y="591552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ConfigurationKey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74" name="Text 172"/>
          <p:cNvSpPr/>
          <p:nvPr/>
        </p:nvSpPr>
        <p:spPr>
          <a:xfrm>
            <a:off x="4141153" y="591552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string(100)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75" name="Text 173"/>
          <p:cNvSpPr/>
          <p:nvPr/>
        </p:nvSpPr>
        <p:spPr>
          <a:xfrm>
            <a:off x="3135575" y="605721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ConfigurationValue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4141153" y="605721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4963899" y="5147624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4936474" y="5120199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4936474" y="5193332"/>
            <a:ext cx="50279" cy="987295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80" name="Shape 178"/>
          <p:cNvSpPr/>
          <p:nvPr/>
        </p:nvSpPr>
        <p:spPr>
          <a:xfrm>
            <a:off x="4936474" y="5120200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5082739" y="5138483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DeviceCommands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2" name="Text 180"/>
          <p:cNvSpPr/>
          <p:nvPr/>
        </p:nvSpPr>
        <p:spPr>
          <a:xfrm>
            <a:off x="5082739" y="5412731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Commands sent to device / actuator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83" name="Shape 181"/>
          <p:cNvSpPr/>
          <p:nvPr/>
        </p:nvSpPr>
        <p:spPr>
          <a:xfrm>
            <a:off x="5064456" y="5595564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5082739" y="563213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85" name="Text 183"/>
          <p:cNvSpPr/>
          <p:nvPr/>
        </p:nvSpPr>
        <p:spPr>
          <a:xfrm>
            <a:off x="5375271" y="563213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CommandId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86" name="Text 184"/>
          <p:cNvSpPr/>
          <p:nvPr/>
        </p:nvSpPr>
        <p:spPr>
          <a:xfrm>
            <a:off x="6380849" y="563213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5082739" y="5773825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88" name="Text 186"/>
          <p:cNvSpPr/>
          <p:nvPr/>
        </p:nvSpPr>
        <p:spPr>
          <a:xfrm>
            <a:off x="5375271" y="577382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6380849" y="577382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5082739" y="591552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FK?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191" name="Text 189"/>
          <p:cNvSpPr/>
          <p:nvPr/>
        </p:nvSpPr>
        <p:spPr>
          <a:xfrm>
            <a:off x="5375271" y="591552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ActuatorId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92" name="Text 190"/>
          <p:cNvSpPr/>
          <p:nvPr/>
        </p:nvSpPr>
        <p:spPr>
          <a:xfrm>
            <a:off x="6380849" y="591552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5375271" y="605721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CommandType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6380849" y="605721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string(50)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7157887" y="5147624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7130462" y="5120199"/>
            <a:ext cx="2011156" cy="1133561"/>
          </a:xfrm>
          <a:prstGeom prst="roundRect">
            <a:avLst>
              <a:gd name="adj" fmla="val 6452"/>
            </a:avLst>
          </a:prstGeom>
          <a:solidFill>
            <a:srgbClr val="112B1D"/>
          </a:solidFill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7130462" y="5193332"/>
            <a:ext cx="50279" cy="987295"/>
          </a:xfrm>
          <a:prstGeom prst="rect">
            <a:avLst/>
          </a:prstGeom>
          <a:solidFill>
            <a:srgbClr val="1A3D52"/>
          </a:solidFill>
          <a:ln w="12700">
            <a:solidFill>
              <a:srgbClr val="1A3D5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98" name="Shape 196"/>
          <p:cNvSpPr/>
          <p:nvPr/>
        </p:nvSpPr>
        <p:spPr>
          <a:xfrm>
            <a:off x="7130462" y="5120200"/>
            <a:ext cx="50279" cy="164549"/>
          </a:xfrm>
          <a:prstGeom prst="roundRect">
            <a:avLst>
              <a:gd name="adj" fmla="val 72727"/>
            </a:avLst>
          </a:prstGeom>
          <a:solidFill>
            <a:srgbClr val="1A3D52"/>
          </a:solidFill>
          <a:ln w="12700">
            <a:solidFill>
              <a:srgbClr val="1A3D5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7276728" y="5138483"/>
            <a:ext cx="1810041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AlertRules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0" name="Text 198"/>
          <p:cNvSpPr/>
          <p:nvPr/>
        </p:nvSpPr>
        <p:spPr>
          <a:xfrm>
            <a:off x="7276728" y="5412731"/>
            <a:ext cx="1810041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 / threshold rules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01" name="Shape 199"/>
          <p:cNvSpPr/>
          <p:nvPr/>
        </p:nvSpPr>
        <p:spPr>
          <a:xfrm>
            <a:off x="7258445" y="5595564"/>
            <a:ext cx="1828324" cy="0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02" name="Text 200"/>
          <p:cNvSpPr/>
          <p:nvPr/>
        </p:nvSpPr>
        <p:spPr>
          <a:xfrm>
            <a:off x="7276728" y="563213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F6C90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7569260" y="563213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AlertRuleId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04" name="Text 202"/>
          <p:cNvSpPr/>
          <p:nvPr/>
        </p:nvSpPr>
        <p:spPr>
          <a:xfrm>
            <a:off x="8574838" y="563213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205" name="Text 203"/>
          <p:cNvSpPr/>
          <p:nvPr/>
        </p:nvSpPr>
        <p:spPr>
          <a:xfrm>
            <a:off x="7276728" y="5773825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FK?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206" name="Text 204"/>
          <p:cNvSpPr/>
          <p:nvPr/>
        </p:nvSpPr>
        <p:spPr>
          <a:xfrm>
            <a:off x="7569260" y="577382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8574838" y="577382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208" name="Text 206"/>
          <p:cNvSpPr/>
          <p:nvPr/>
        </p:nvSpPr>
        <p:spPr>
          <a:xfrm>
            <a:off x="7276728" y="5915520"/>
            <a:ext cx="274249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60B8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FK?</a:t>
            </a:r>
            <a:endParaRPr lang="en-US" sz="700" dirty="0">
              <a:latin typeface="Candara" panose="020E0502030303020204" pitchFamily="34" charset="0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7569260" y="5915520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SensorId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8574838" y="5915520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7569260" y="6057215"/>
            <a:ext cx="1005578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>
              <a:latin typeface="Candara" panose="020E0502030303020204" pitchFamily="34" charset="0"/>
            </a:endParaRPr>
          </a:p>
        </p:txBody>
      </p:sp>
      <p:sp>
        <p:nvSpPr>
          <p:cNvPr id="212" name="Text 210"/>
          <p:cNvSpPr/>
          <p:nvPr/>
        </p:nvSpPr>
        <p:spPr>
          <a:xfrm>
            <a:off x="8574838" y="6057215"/>
            <a:ext cx="475364" cy="14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D8C6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string(20)</a:t>
            </a:r>
            <a:endParaRPr lang="en-US" sz="750" dirty="0">
              <a:latin typeface="Candara" panose="020E0502030303020204" pitchFamily="34" charset="0"/>
            </a:endParaRPr>
          </a:p>
        </p:txBody>
      </p:sp>
      <p:sp>
        <p:nvSpPr>
          <p:cNvPr id="213" name="Text 211"/>
          <p:cNvSpPr/>
          <p:nvPr/>
        </p:nvSpPr>
        <p:spPr>
          <a:xfrm>
            <a:off x="4756524" y="2814306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2547629" y="216052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4694035" y="3331082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6" name="Text 214"/>
          <p:cNvSpPr/>
          <p:nvPr/>
        </p:nvSpPr>
        <p:spPr>
          <a:xfrm>
            <a:off x="2610118" y="365490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7" name="Text 215"/>
          <p:cNvSpPr/>
          <p:nvPr/>
        </p:nvSpPr>
        <p:spPr>
          <a:xfrm>
            <a:off x="7073321" y="2989914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8" name="Text 216"/>
          <p:cNvSpPr/>
          <p:nvPr/>
        </p:nvSpPr>
        <p:spPr>
          <a:xfrm>
            <a:off x="9235326" y="1756373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19" name="Text 217"/>
          <p:cNvSpPr/>
          <p:nvPr/>
        </p:nvSpPr>
        <p:spPr>
          <a:xfrm>
            <a:off x="7051054" y="339109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9257593" y="2909264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1" name="Text 219"/>
          <p:cNvSpPr/>
          <p:nvPr/>
        </p:nvSpPr>
        <p:spPr>
          <a:xfrm>
            <a:off x="7011109" y="376286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2" name="Text 220"/>
          <p:cNvSpPr/>
          <p:nvPr/>
        </p:nvSpPr>
        <p:spPr>
          <a:xfrm>
            <a:off x="9297538" y="4000152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3" name="Text 221"/>
          <p:cNvSpPr/>
          <p:nvPr/>
        </p:nvSpPr>
        <p:spPr>
          <a:xfrm>
            <a:off x="6964236" y="4116594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4" name="Text 222"/>
          <p:cNvSpPr/>
          <p:nvPr/>
        </p:nvSpPr>
        <p:spPr>
          <a:xfrm>
            <a:off x="9344412" y="5109086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5053388" y="399264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6" name="Text 224"/>
          <p:cNvSpPr/>
          <p:nvPr/>
        </p:nvSpPr>
        <p:spPr>
          <a:xfrm>
            <a:off x="4307629" y="500449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5704622" y="412517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8" name="Text 226"/>
          <p:cNvSpPr/>
          <p:nvPr/>
        </p:nvSpPr>
        <p:spPr>
          <a:xfrm>
            <a:off x="5896092" y="487196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29" name="Text 227"/>
          <p:cNvSpPr/>
          <p:nvPr/>
        </p:nvSpPr>
        <p:spPr>
          <a:xfrm>
            <a:off x="6426119" y="4169680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0" name="Text 228"/>
          <p:cNvSpPr/>
          <p:nvPr/>
        </p:nvSpPr>
        <p:spPr>
          <a:xfrm>
            <a:off x="7368583" y="4827459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2608323" y="1662357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2" name="Text 230"/>
          <p:cNvSpPr/>
          <p:nvPr/>
        </p:nvSpPr>
        <p:spPr>
          <a:xfrm>
            <a:off x="9266639" y="1255605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2427079" y="2327727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4" name="Text 232"/>
          <p:cNvSpPr/>
          <p:nvPr/>
        </p:nvSpPr>
        <p:spPr>
          <a:xfrm>
            <a:off x="6933939" y="484108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2538879" y="222568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6" name="Text 234"/>
          <p:cNvSpPr/>
          <p:nvPr/>
        </p:nvSpPr>
        <p:spPr>
          <a:xfrm>
            <a:off x="9336083" y="5171675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7" name="Text 235"/>
          <p:cNvSpPr/>
          <p:nvPr/>
        </p:nvSpPr>
        <p:spPr>
          <a:xfrm>
            <a:off x="1316393" y="2304581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8" name="Text 236"/>
          <p:cNvSpPr/>
          <p:nvPr/>
        </p:nvSpPr>
        <p:spPr>
          <a:xfrm>
            <a:off x="1554075" y="285307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39" name="Text 237"/>
          <p:cNvSpPr/>
          <p:nvPr/>
        </p:nvSpPr>
        <p:spPr>
          <a:xfrm>
            <a:off x="9084475" y="5820230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0" name="Text 238"/>
          <p:cNvSpPr/>
          <p:nvPr/>
        </p:nvSpPr>
        <p:spPr>
          <a:xfrm>
            <a:off x="9281036" y="5599438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1" name="Text 239"/>
          <p:cNvSpPr/>
          <p:nvPr/>
        </p:nvSpPr>
        <p:spPr>
          <a:xfrm>
            <a:off x="2539461" y="4232496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2" name="Text 240"/>
          <p:cNvSpPr/>
          <p:nvPr/>
        </p:nvSpPr>
        <p:spPr>
          <a:xfrm>
            <a:off x="4627567" y="4947476"/>
            <a:ext cx="420514" cy="182832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3" name="Shape 241"/>
          <p:cNvSpPr/>
          <p:nvPr/>
        </p:nvSpPr>
        <p:spPr>
          <a:xfrm>
            <a:off x="457080" y="6619425"/>
            <a:ext cx="50279" cy="164549"/>
          </a:xfrm>
          <a:prstGeom prst="rect">
            <a:avLst/>
          </a:prstGeom>
          <a:solidFill>
            <a:srgbClr val="3ECF80"/>
          </a:solidFill>
          <a:ln w="12700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44" name="Text 242"/>
          <p:cNvSpPr/>
          <p:nvPr/>
        </p:nvSpPr>
        <p:spPr>
          <a:xfrm>
            <a:off x="566780" y="6601142"/>
            <a:ext cx="1554075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Hub (Devices)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5" name="Shape 243"/>
          <p:cNvSpPr/>
          <p:nvPr/>
        </p:nvSpPr>
        <p:spPr>
          <a:xfrm>
            <a:off x="2056864" y="6619425"/>
            <a:ext cx="50279" cy="164549"/>
          </a:xfrm>
          <a:prstGeom prst="rect">
            <a:avLst/>
          </a:prstGeom>
          <a:solidFill>
            <a:srgbClr val="2A9962"/>
          </a:solidFill>
          <a:ln w="12700">
            <a:solidFill>
              <a:srgbClr val="2A996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46" name="Text 244"/>
          <p:cNvSpPr/>
          <p:nvPr/>
        </p:nvSpPr>
        <p:spPr>
          <a:xfrm>
            <a:off x="2166563" y="6601142"/>
            <a:ext cx="1554075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Primary entities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7" name="Shape 245"/>
          <p:cNvSpPr/>
          <p:nvPr/>
        </p:nvSpPr>
        <p:spPr>
          <a:xfrm>
            <a:off x="3793771" y="6619425"/>
            <a:ext cx="50279" cy="164549"/>
          </a:xfrm>
          <a:prstGeom prst="rect">
            <a:avLst/>
          </a:prstGeom>
          <a:solidFill>
            <a:srgbClr val="1B5C3A"/>
          </a:solidFill>
          <a:ln w="12700">
            <a:solidFill>
              <a:srgbClr val="1B5C3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48" name="Text 246"/>
          <p:cNvSpPr/>
          <p:nvPr/>
        </p:nvSpPr>
        <p:spPr>
          <a:xfrm>
            <a:off x="3903471" y="6601142"/>
            <a:ext cx="1554075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Event / log tables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49" name="Shape 247"/>
          <p:cNvSpPr/>
          <p:nvPr/>
        </p:nvSpPr>
        <p:spPr>
          <a:xfrm>
            <a:off x="5667803" y="6619425"/>
            <a:ext cx="50279" cy="164549"/>
          </a:xfrm>
          <a:prstGeom prst="rect">
            <a:avLst/>
          </a:prstGeom>
          <a:solidFill>
            <a:srgbClr val="1A3D52"/>
          </a:solidFill>
          <a:ln w="12700">
            <a:solidFill>
              <a:srgbClr val="1A3D52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50" name="Text 248"/>
          <p:cNvSpPr/>
          <p:nvPr/>
        </p:nvSpPr>
        <p:spPr>
          <a:xfrm>
            <a:off x="5777503" y="6601142"/>
            <a:ext cx="1554075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51" name="Shape 249"/>
          <p:cNvSpPr/>
          <p:nvPr/>
        </p:nvSpPr>
        <p:spPr>
          <a:xfrm>
            <a:off x="7359003" y="6665133"/>
            <a:ext cx="0" cy="91416"/>
          </a:xfrm>
          <a:prstGeom prst="line">
            <a:avLst/>
          </a:prstGeom>
          <a:noFill/>
          <a:ln w="9525">
            <a:solidFill>
              <a:srgbClr val="1E3D2A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52" name="Shape 250"/>
          <p:cNvSpPr/>
          <p:nvPr/>
        </p:nvSpPr>
        <p:spPr>
          <a:xfrm>
            <a:off x="7496127" y="6701700"/>
            <a:ext cx="319957" cy="0"/>
          </a:xfrm>
          <a:prstGeom prst="line">
            <a:avLst/>
          </a:prstGeom>
          <a:noFill/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53" name="Text 251"/>
          <p:cNvSpPr/>
          <p:nvPr/>
        </p:nvSpPr>
        <p:spPr>
          <a:xfrm>
            <a:off x="7724668" y="6601142"/>
            <a:ext cx="420514" cy="201116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54" name="Text 252"/>
          <p:cNvSpPr/>
          <p:nvPr/>
        </p:nvSpPr>
        <p:spPr>
          <a:xfrm>
            <a:off x="8172607" y="6601142"/>
            <a:ext cx="1096994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required (1)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55" name="Shape 253"/>
          <p:cNvSpPr/>
          <p:nvPr/>
        </p:nvSpPr>
        <p:spPr>
          <a:xfrm>
            <a:off x="8867370" y="6701700"/>
            <a:ext cx="319957" cy="0"/>
          </a:xfrm>
          <a:prstGeom prst="line">
            <a:avLst/>
          </a:prstGeom>
          <a:noFill/>
          <a:ln w="15875">
            <a:solidFill>
              <a:srgbClr val="2A6646"/>
            </a:solidFill>
            <a:prstDash val="dash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56" name="Text 254"/>
          <p:cNvSpPr/>
          <p:nvPr/>
        </p:nvSpPr>
        <p:spPr>
          <a:xfrm>
            <a:off x="9095910" y="6601142"/>
            <a:ext cx="420514" cy="201116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57" name="Text 255"/>
          <p:cNvSpPr/>
          <p:nvPr/>
        </p:nvSpPr>
        <p:spPr>
          <a:xfrm>
            <a:off x="9543850" y="6601142"/>
            <a:ext cx="1096994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optional (0..1)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58" name="Shape 256"/>
          <p:cNvSpPr/>
          <p:nvPr/>
        </p:nvSpPr>
        <p:spPr>
          <a:xfrm>
            <a:off x="10421445" y="6701700"/>
            <a:ext cx="319957" cy="0"/>
          </a:xfrm>
          <a:prstGeom prst="line">
            <a:avLst/>
          </a:prstGeom>
          <a:noFill/>
          <a:ln w="1587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799">
              <a:latin typeface="Candara" panose="020E0502030303020204" pitchFamily="34" charset="0"/>
            </a:endParaRPr>
          </a:p>
        </p:txBody>
      </p:sp>
      <p:sp>
        <p:nvSpPr>
          <p:cNvPr id="259" name="Text 257"/>
          <p:cNvSpPr/>
          <p:nvPr/>
        </p:nvSpPr>
        <p:spPr>
          <a:xfrm>
            <a:off x="10649986" y="6601142"/>
            <a:ext cx="420514" cy="201116"/>
          </a:xfrm>
          <a:prstGeom prst="rect">
            <a:avLst/>
          </a:prstGeom>
          <a:solidFill>
            <a:srgbClr val="0D2117"/>
          </a:solidFill>
          <a:ln w="6350">
            <a:solidFill>
              <a:srgbClr val="2A9962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900" dirty="0">
              <a:latin typeface="Candara" panose="020E0502030303020204" pitchFamily="34" charset="0"/>
            </a:endParaRPr>
          </a:p>
        </p:txBody>
      </p:sp>
      <p:sp>
        <p:nvSpPr>
          <p:cNvPr id="260" name="Text 258"/>
          <p:cNvSpPr/>
          <p:nvPr/>
        </p:nvSpPr>
        <p:spPr>
          <a:xfrm>
            <a:off x="11097925" y="6601142"/>
            <a:ext cx="1096994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many (0..*)</a:t>
            </a:r>
            <a:endParaRPr lang="en-US" sz="9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15" y="92309"/>
            <a:ext cx="6399133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Backend &amp; API Design</a:t>
            </a: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1115" y="531107"/>
            <a:ext cx="4753642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Layered architecture  ·  RESTful APIs  ·  real-time streaming</a:t>
            </a: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10722" y="531107"/>
            <a:ext cx="6810506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3ECF80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Base:  https://host/api/v1</a:t>
            </a: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15" y="823639"/>
            <a:ext cx="11792688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200">
              <a:latin typeface="Candara" panose="020E05020303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6650" y="1728659"/>
            <a:ext cx="0" cy="557639"/>
          </a:xfrm>
          <a:prstGeom prst="line">
            <a:avLst/>
          </a:prstGeom>
          <a:noFill/>
          <a:ln w="9525">
            <a:solidFill>
              <a:srgbClr val="3A6B52"/>
            </a:solidFill>
            <a:prstDash val="sysDot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89525" y="1728659"/>
            <a:ext cx="274249" cy="557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3A6B52"/>
                </a:solidFill>
                <a:latin typeface="Candara" panose="020E0502030303020204" pitchFamily="34" charset="0"/>
              </a:rPr>
              <a:t>↓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540" y="988188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15" y="960763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9956" y="1097887"/>
            <a:ext cx="274249" cy="274249"/>
          </a:xfrm>
          <a:prstGeom prst="ellipse">
            <a:avLst/>
          </a:prstGeom>
          <a:solidFill>
            <a:srgbClr val="0D2B1D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9956" y="1097887"/>
            <a:ext cx="27424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479" y="1052179"/>
            <a:ext cx="2102572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479" y="1362994"/>
            <a:ext cx="2102572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Controllers  ·  SignalR Hub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26650" y="3054194"/>
            <a:ext cx="0" cy="557639"/>
          </a:xfrm>
          <a:prstGeom prst="line">
            <a:avLst/>
          </a:prstGeom>
          <a:noFill/>
          <a:ln w="9525">
            <a:solidFill>
              <a:srgbClr val="3A6B52"/>
            </a:solidFill>
            <a:prstDash val="sysDot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89525" y="3054194"/>
            <a:ext cx="274249" cy="557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3A6B52"/>
                </a:solidFill>
                <a:latin typeface="Candara" panose="020E0502030303020204" pitchFamily="34" charset="0"/>
              </a:rPr>
              <a:t>↓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540" y="2313723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15" y="2286298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9956" y="2423422"/>
            <a:ext cx="274249" cy="274249"/>
          </a:xfrm>
          <a:prstGeom prst="ellipse">
            <a:avLst/>
          </a:prstGeom>
          <a:solidFill>
            <a:srgbClr val="0D2B1D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9956" y="2423422"/>
            <a:ext cx="27424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479" y="2377714"/>
            <a:ext cx="2102572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6479" y="2688529"/>
            <a:ext cx="2102572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Business Logic  ·  Validation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526650" y="4379728"/>
            <a:ext cx="0" cy="557639"/>
          </a:xfrm>
          <a:prstGeom prst="line">
            <a:avLst/>
          </a:prstGeom>
          <a:noFill/>
          <a:ln w="9525">
            <a:solidFill>
              <a:srgbClr val="3A6B52"/>
            </a:solidFill>
            <a:prstDash val="sysDot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89525" y="4379728"/>
            <a:ext cx="274249" cy="557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3A6B52"/>
                </a:solidFill>
                <a:latin typeface="Candara" panose="020E0502030303020204" pitchFamily="34" charset="0"/>
              </a:rPr>
              <a:t>↓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540" y="3639257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01115" y="3611832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9956" y="3748956"/>
            <a:ext cx="274249" cy="274249"/>
          </a:xfrm>
          <a:prstGeom prst="ellipse">
            <a:avLst/>
          </a:prstGeom>
          <a:solidFill>
            <a:srgbClr val="0D2B1D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9956" y="3748956"/>
            <a:ext cx="27424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6479" y="3703249"/>
            <a:ext cx="2102572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6479" y="4014064"/>
            <a:ext cx="2102572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EF Core  ·  Repository Pattern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540" y="4964792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01115" y="4937367"/>
            <a:ext cx="2651069" cy="767896"/>
          </a:xfrm>
          <a:prstGeom prst="roundRect">
            <a:avLst>
              <a:gd name="adj" fmla="val 8333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19956" y="5074491"/>
            <a:ext cx="274249" cy="274249"/>
          </a:xfrm>
          <a:prstGeom prst="ellipse">
            <a:avLst/>
          </a:prstGeom>
          <a:solidFill>
            <a:srgbClr val="0D2B1D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19956" y="5074491"/>
            <a:ext cx="27424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6479" y="5028783"/>
            <a:ext cx="2102572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479" y="5339598"/>
            <a:ext cx="2102572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SQL Server  ·  IoTMonitoringDB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04137" y="937910"/>
            <a:ext cx="4296561" cy="1153672"/>
          </a:xfrm>
          <a:prstGeom prst="roundRect">
            <a:avLst>
              <a:gd name="adj" fmla="val 5547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81283" y="915056"/>
            <a:ext cx="4296561" cy="1153672"/>
          </a:xfrm>
          <a:prstGeom prst="roundRect">
            <a:avLst>
              <a:gd name="adj" fmla="val 5547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181283" y="915055"/>
            <a:ext cx="4296561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181283" y="1097887"/>
            <a:ext cx="4296561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272699" y="915055"/>
            <a:ext cx="4150295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 APIs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36133" y="1152737"/>
            <a:ext cx="4186861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54416" y="118930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254416" y="118930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876046" y="117102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217849" y="1309973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254416" y="132825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54416" y="132825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76046" y="1309973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254416" y="1467210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254416" y="1467210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876046" y="1448926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3217849" y="1587878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254416" y="1606161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254416" y="1606161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876046" y="1587878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254416" y="174511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0A0A"/>
          </a:solidFill>
          <a:ln w="3810">
            <a:solidFill>
              <a:srgbClr val="E070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254416" y="174511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0707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876046" y="172683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217849" y="1865784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254416" y="188406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3254416" y="188406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876046" y="1865784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/devices/{id}/status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3204137" y="2192139"/>
            <a:ext cx="4296561" cy="1014720"/>
          </a:xfrm>
          <a:prstGeom prst="roundRect">
            <a:avLst>
              <a:gd name="adj" fmla="val 6306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181283" y="2169285"/>
            <a:ext cx="4296561" cy="1014720"/>
          </a:xfrm>
          <a:prstGeom prst="roundRect">
            <a:avLst>
              <a:gd name="adj" fmla="val 6306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181283" y="2169285"/>
            <a:ext cx="4296561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3181283" y="2352117"/>
            <a:ext cx="4296561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272699" y="2169285"/>
            <a:ext cx="4150295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 APIs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236133" y="2406967"/>
            <a:ext cx="4186861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3254416" y="244353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3254416" y="244353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3876046" y="242525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/sensors/devices/{deviceId}/sensors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3217849" y="2564204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3254416" y="258248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3254416" y="258248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3876046" y="2564204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3254416" y="2721439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3254416" y="2721439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876046" y="2703155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/sensors/devices/{deviceId}/sensors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3217849" y="2842108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254416" y="286039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3254416" y="286039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3876046" y="2842108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254416" y="2999345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0A0A"/>
          </a:solidFill>
          <a:ln w="3810">
            <a:solidFill>
              <a:srgbClr val="E070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3254416" y="2999345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0707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3876046" y="298106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3204137" y="3307417"/>
            <a:ext cx="4296561" cy="1153672"/>
          </a:xfrm>
          <a:prstGeom prst="roundRect">
            <a:avLst>
              <a:gd name="adj" fmla="val 5547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3181283" y="3284563"/>
            <a:ext cx="4296561" cy="1153672"/>
          </a:xfrm>
          <a:prstGeom prst="roundRect">
            <a:avLst>
              <a:gd name="adj" fmla="val 5547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3181283" y="3284563"/>
            <a:ext cx="4296561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181283" y="3467395"/>
            <a:ext cx="4296561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272699" y="3284563"/>
            <a:ext cx="4150295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 Readings  —  Core IoT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3236133" y="3522245"/>
            <a:ext cx="4186861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3254416" y="355881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254416" y="355881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3876046" y="3540528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3217849" y="3679481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254416" y="3697765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3254416" y="3697765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3876046" y="367948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/sensorreadings/batch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3254416" y="3836716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254416" y="3836716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3876046" y="3818433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3217849" y="3957386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3254416" y="3975669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3254416" y="3975669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3876046" y="3957386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3254416" y="411462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3254416" y="411462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3876046" y="4096339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/sensorreadings/devices/{deviceId}/readings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3217849" y="4235291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3254416" y="4253575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3254416" y="4253575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3876046" y="4235291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/sensorreadings/sensors/{sensorId}/readings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3204137" y="4561647"/>
            <a:ext cx="4296561" cy="1014720"/>
          </a:xfrm>
          <a:prstGeom prst="roundRect">
            <a:avLst>
              <a:gd name="adj" fmla="val 6306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3181283" y="4538793"/>
            <a:ext cx="4296561" cy="1014720"/>
          </a:xfrm>
          <a:prstGeom prst="roundRect">
            <a:avLst>
              <a:gd name="adj" fmla="val 6306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3181283" y="4538793"/>
            <a:ext cx="4296561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3181283" y="4721625"/>
            <a:ext cx="4296561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3272699" y="4538793"/>
            <a:ext cx="4150295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 APIs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3236133" y="4776475"/>
            <a:ext cx="4186861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3254416" y="481304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3254416" y="481304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3876046" y="4794759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3217849" y="4933710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3254416" y="495199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3254416" y="495199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3876046" y="4933710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/alerts/active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3254416" y="509094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3254416" y="509094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3876046" y="5072663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3217849" y="5211616"/>
            <a:ext cx="4223428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3254416" y="5229900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3254416" y="5229900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3876046" y="5211616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/alerts/{id}/acknowledge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3254416" y="536885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3254416" y="536885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3876046" y="5350569"/>
            <a:ext cx="3546948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/alerts/{id}/resolve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7610397" y="937910"/>
            <a:ext cx="4433685" cy="1153672"/>
          </a:xfrm>
          <a:prstGeom prst="roundRect">
            <a:avLst>
              <a:gd name="adj" fmla="val 5547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7587543" y="915056"/>
            <a:ext cx="4433685" cy="1153672"/>
          </a:xfrm>
          <a:prstGeom prst="roundRect">
            <a:avLst>
              <a:gd name="adj" fmla="val 5547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7587543" y="915055"/>
            <a:ext cx="4433685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7587543" y="1097887"/>
            <a:ext cx="4433685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7678959" y="915055"/>
            <a:ext cx="42874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7642393" y="1152737"/>
            <a:ext cx="4323986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7660676" y="118930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7660676" y="118930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8282306" y="1171021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7624110" y="1309973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7660676" y="132825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7660676" y="132825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8282306" y="1309973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7660676" y="1467210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7660676" y="1467210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6" name="Text 154"/>
          <p:cNvSpPr/>
          <p:nvPr/>
        </p:nvSpPr>
        <p:spPr>
          <a:xfrm>
            <a:off x="8282306" y="1448926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/alertrules/devices/{deviceId}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57" name="Shape 155"/>
          <p:cNvSpPr/>
          <p:nvPr/>
        </p:nvSpPr>
        <p:spPr>
          <a:xfrm>
            <a:off x="7624110" y="1587878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7660676" y="1606161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7660676" y="1606161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8282306" y="1587878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7660676" y="174511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62" name="Text 160"/>
          <p:cNvSpPr/>
          <p:nvPr/>
        </p:nvSpPr>
        <p:spPr>
          <a:xfrm>
            <a:off x="7660676" y="174511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8282306" y="1726831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7624110" y="1865784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65" name="Shape 163"/>
          <p:cNvSpPr/>
          <p:nvPr/>
        </p:nvSpPr>
        <p:spPr>
          <a:xfrm>
            <a:off x="7660676" y="188406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0A0A"/>
          </a:solidFill>
          <a:ln w="3810">
            <a:solidFill>
              <a:srgbClr val="E070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7660676" y="188406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0707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8282306" y="1865784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/alertrules/{id}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7610397" y="2192140"/>
            <a:ext cx="4433685" cy="1153672"/>
          </a:xfrm>
          <a:prstGeom prst="roundRect">
            <a:avLst>
              <a:gd name="adj" fmla="val 5547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7587543" y="2169286"/>
            <a:ext cx="4433685" cy="1153672"/>
          </a:xfrm>
          <a:prstGeom prst="roundRect">
            <a:avLst>
              <a:gd name="adj" fmla="val 5547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7587543" y="2169285"/>
            <a:ext cx="4433685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7587543" y="2352117"/>
            <a:ext cx="4433685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7678959" y="2169285"/>
            <a:ext cx="42874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Actuators &amp; Commands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73" name="Shape 171"/>
          <p:cNvSpPr/>
          <p:nvPr/>
        </p:nvSpPr>
        <p:spPr>
          <a:xfrm>
            <a:off x="7642393" y="2406967"/>
            <a:ext cx="4323986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7660676" y="2443534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5" name="Text 173"/>
          <p:cNvSpPr/>
          <p:nvPr/>
        </p:nvSpPr>
        <p:spPr>
          <a:xfrm>
            <a:off x="7660676" y="2443534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8282306" y="2425251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/actuators/devices/{deviceId}/actuators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7624110" y="2564204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7660676" y="258248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79" name="Text 177"/>
          <p:cNvSpPr/>
          <p:nvPr/>
        </p:nvSpPr>
        <p:spPr>
          <a:xfrm>
            <a:off x="7660676" y="258248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0" name="Text 178"/>
          <p:cNvSpPr/>
          <p:nvPr/>
        </p:nvSpPr>
        <p:spPr>
          <a:xfrm>
            <a:off x="8282306" y="2564204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/actuators/devices/{deviceId}/actuators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1" name="Shape 179"/>
          <p:cNvSpPr/>
          <p:nvPr/>
        </p:nvSpPr>
        <p:spPr>
          <a:xfrm>
            <a:off x="7660676" y="2721439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82" name="Text 180"/>
          <p:cNvSpPr/>
          <p:nvPr/>
        </p:nvSpPr>
        <p:spPr>
          <a:xfrm>
            <a:off x="7660676" y="2721439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PUT/DELETE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8282306" y="2703155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/actuators/devices/{deviceId}/actuators/{id}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4" name="Shape 182"/>
          <p:cNvSpPr/>
          <p:nvPr/>
        </p:nvSpPr>
        <p:spPr>
          <a:xfrm>
            <a:off x="7624110" y="2842108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7660676" y="286039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86" name="Text 184"/>
          <p:cNvSpPr/>
          <p:nvPr/>
        </p:nvSpPr>
        <p:spPr>
          <a:xfrm>
            <a:off x="7660676" y="286039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8282306" y="2842108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/devices/{deviceId}/commands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88" name="Shape 186"/>
          <p:cNvSpPr/>
          <p:nvPr/>
        </p:nvSpPr>
        <p:spPr>
          <a:xfrm>
            <a:off x="7660676" y="2999345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7660676" y="2999345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8282306" y="2981061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/devices/{deviceId}/commands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7624110" y="3120014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2" name="Shape 190"/>
          <p:cNvSpPr/>
          <p:nvPr/>
        </p:nvSpPr>
        <p:spPr>
          <a:xfrm>
            <a:off x="7660676" y="3138297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7660676" y="3138297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8282306" y="3120014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/commands/{commandId}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7610397" y="3446370"/>
            <a:ext cx="4433685" cy="875767"/>
          </a:xfrm>
          <a:prstGeom prst="roundRect">
            <a:avLst>
              <a:gd name="adj" fmla="val 7307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7587543" y="3423516"/>
            <a:ext cx="4433685" cy="875767"/>
          </a:xfrm>
          <a:prstGeom prst="roundRect">
            <a:avLst>
              <a:gd name="adj" fmla="val 7307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7587543" y="3423515"/>
            <a:ext cx="4433685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8" name="Shape 196"/>
          <p:cNvSpPr/>
          <p:nvPr/>
        </p:nvSpPr>
        <p:spPr>
          <a:xfrm>
            <a:off x="7587543" y="3606348"/>
            <a:ext cx="4433685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7678959" y="3423515"/>
            <a:ext cx="42874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Auth &amp; Health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0" name="Shape 198"/>
          <p:cNvSpPr/>
          <p:nvPr/>
        </p:nvSpPr>
        <p:spPr>
          <a:xfrm>
            <a:off x="7642393" y="3661198"/>
            <a:ext cx="4323986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1" name="Shape 199"/>
          <p:cNvSpPr/>
          <p:nvPr/>
        </p:nvSpPr>
        <p:spPr>
          <a:xfrm>
            <a:off x="7660676" y="3697765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91C26"/>
          </a:solidFill>
          <a:ln w="3810">
            <a:solidFill>
              <a:srgbClr val="7EC8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2" name="Text 200"/>
          <p:cNvSpPr/>
          <p:nvPr/>
        </p:nvSpPr>
        <p:spPr>
          <a:xfrm>
            <a:off x="7660676" y="3697765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8282306" y="3679481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4" name="Shape 202"/>
          <p:cNvSpPr/>
          <p:nvPr/>
        </p:nvSpPr>
        <p:spPr>
          <a:xfrm>
            <a:off x="7624110" y="3818433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5" name="Shape 203"/>
          <p:cNvSpPr/>
          <p:nvPr/>
        </p:nvSpPr>
        <p:spPr>
          <a:xfrm>
            <a:off x="7660676" y="3836716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6" name="Text 204"/>
          <p:cNvSpPr/>
          <p:nvPr/>
        </p:nvSpPr>
        <p:spPr>
          <a:xfrm>
            <a:off x="7660676" y="3836716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8282306" y="3818433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/auth/users  ·  /auth/change-password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08" name="Shape 206"/>
          <p:cNvSpPr/>
          <p:nvPr/>
        </p:nvSpPr>
        <p:spPr>
          <a:xfrm>
            <a:off x="7660676" y="3975669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0A0A"/>
          </a:solidFill>
          <a:ln w="3810">
            <a:solidFill>
              <a:srgbClr val="E0707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7660676" y="3975669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0707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8282306" y="3957386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/auth/users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11" name="Shape 209"/>
          <p:cNvSpPr/>
          <p:nvPr/>
        </p:nvSpPr>
        <p:spPr>
          <a:xfrm>
            <a:off x="7624110" y="4096339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7660676" y="411462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3" name="Text 211"/>
          <p:cNvSpPr/>
          <p:nvPr/>
        </p:nvSpPr>
        <p:spPr>
          <a:xfrm>
            <a:off x="7660676" y="411462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8282306" y="4096339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/health  ·  /health/mqtt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15" name="Shape 213"/>
          <p:cNvSpPr/>
          <p:nvPr/>
        </p:nvSpPr>
        <p:spPr>
          <a:xfrm>
            <a:off x="7610397" y="4422694"/>
            <a:ext cx="4433685" cy="597862"/>
          </a:xfrm>
          <a:prstGeom prst="roundRect">
            <a:avLst>
              <a:gd name="adj" fmla="val 10703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7587543" y="4399840"/>
            <a:ext cx="4433685" cy="597862"/>
          </a:xfrm>
          <a:prstGeom prst="roundRect">
            <a:avLst>
              <a:gd name="adj" fmla="val 10703"/>
            </a:avLst>
          </a:prstGeom>
          <a:solidFill>
            <a:srgbClr val="091A0F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7" name="Shape 215"/>
          <p:cNvSpPr/>
          <p:nvPr/>
        </p:nvSpPr>
        <p:spPr>
          <a:xfrm>
            <a:off x="7587543" y="4399840"/>
            <a:ext cx="4433685" cy="237682"/>
          </a:xfrm>
          <a:prstGeom prst="roundRect">
            <a:avLst>
              <a:gd name="adj" fmla="val 26923"/>
            </a:avLst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8" name="Shape 216"/>
          <p:cNvSpPr/>
          <p:nvPr/>
        </p:nvSpPr>
        <p:spPr>
          <a:xfrm>
            <a:off x="7587543" y="4582672"/>
            <a:ext cx="4433685" cy="54850"/>
          </a:xfrm>
          <a:prstGeom prst="rect">
            <a:avLst/>
          </a:prstGeom>
          <a:solidFill>
            <a:srgbClr val="0D2B1D"/>
          </a:solidFill>
          <a:ln w="12700">
            <a:solidFill>
              <a:srgbClr val="0D2B1D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19" name="Text 217"/>
          <p:cNvSpPr/>
          <p:nvPr/>
        </p:nvSpPr>
        <p:spPr>
          <a:xfrm>
            <a:off x="7678959" y="4399840"/>
            <a:ext cx="42874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 Configuration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0" name="Shape 218"/>
          <p:cNvSpPr/>
          <p:nvPr/>
        </p:nvSpPr>
        <p:spPr>
          <a:xfrm>
            <a:off x="7642393" y="4637522"/>
            <a:ext cx="4323986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21" name="Shape 219"/>
          <p:cNvSpPr/>
          <p:nvPr/>
        </p:nvSpPr>
        <p:spPr>
          <a:xfrm>
            <a:off x="7660676" y="4674089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0A2016"/>
          </a:solidFill>
          <a:ln w="3810">
            <a:solidFill>
              <a:srgbClr val="3ECF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22" name="Text 220"/>
          <p:cNvSpPr/>
          <p:nvPr/>
        </p:nvSpPr>
        <p:spPr>
          <a:xfrm>
            <a:off x="7660676" y="4674089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3" name="Text 221"/>
          <p:cNvSpPr/>
          <p:nvPr/>
        </p:nvSpPr>
        <p:spPr>
          <a:xfrm>
            <a:off x="8282306" y="4655806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/devices/{deviceId}/configurations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4" name="Shape 222"/>
          <p:cNvSpPr/>
          <p:nvPr/>
        </p:nvSpPr>
        <p:spPr>
          <a:xfrm>
            <a:off x="7624110" y="4794759"/>
            <a:ext cx="4360552" cy="138953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25" name="Shape 223"/>
          <p:cNvSpPr/>
          <p:nvPr/>
        </p:nvSpPr>
        <p:spPr>
          <a:xfrm>
            <a:off x="7660676" y="4813042"/>
            <a:ext cx="585064" cy="102386"/>
          </a:xfrm>
          <a:prstGeom prst="roundRect">
            <a:avLst>
              <a:gd name="adj" fmla="val 26786"/>
            </a:avLst>
          </a:prstGeom>
          <a:solidFill>
            <a:srgbClr val="201608"/>
          </a:solidFill>
          <a:ln w="3810">
            <a:solidFill>
              <a:srgbClr val="E8B87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100">
              <a:latin typeface="Candara" panose="020E0502030303020204" pitchFamily="34" charset="0"/>
            </a:endParaRPr>
          </a:p>
        </p:txBody>
      </p:sp>
      <p:sp>
        <p:nvSpPr>
          <p:cNvPr id="226" name="Text 224"/>
          <p:cNvSpPr/>
          <p:nvPr/>
        </p:nvSpPr>
        <p:spPr>
          <a:xfrm>
            <a:off x="7660676" y="4813042"/>
            <a:ext cx="585064" cy="102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8282306" y="4794759"/>
            <a:ext cx="3684072" cy="13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/devices/{deviceId}/configurations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228" name="Shape 226"/>
          <p:cNvSpPr/>
          <p:nvPr/>
        </p:nvSpPr>
        <p:spPr>
          <a:xfrm>
            <a:off x="201115" y="6518867"/>
            <a:ext cx="11792688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endParaRPr lang="en-US" sz="1200">
              <a:latin typeface="Candara" panose="020E0502030303020204" pitchFamily="34" charset="0"/>
            </a:endParaRPr>
          </a:p>
        </p:txBody>
      </p:sp>
      <p:sp>
        <p:nvSpPr>
          <p:cNvPr id="229" name="Text 227"/>
          <p:cNvSpPr/>
          <p:nvPr/>
        </p:nvSpPr>
        <p:spPr>
          <a:xfrm>
            <a:off x="201115" y="6564575"/>
            <a:ext cx="5027890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⚡  MQTT → Broker → API → SignalR → Frontend</a:t>
            </a:r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 (&lt;2s real-time updates)</a:t>
            </a: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230" name="Text 228"/>
          <p:cNvSpPr/>
          <p:nvPr/>
        </p:nvSpPr>
        <p:spPr>
          <a:xfrm>
            <a:off x="5302138" y="6564575"/>
            <a:ext cx="6719090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🔐  Most endpoints [Authorize]  ·  Admin / Operator on writes  ·  JWT Bearer  ·  SignalR: ?access_token</a:t>
            </a:r>
            <a:endParaRPr lang="en-US" sz="12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965" y="110593"/>
            <a:ext cx="11646422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Front end Design</a:t>
            </a:r>
            <a:r>
              <a:rPr lang="en-US" sz="28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| Components &amp; Navigation</a:t>
            </a:r>
            <a:endParaRPr lang="en-US" sz="28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5965" y="549390"/>
            <a:ext cx="11646422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App shell  ·  ProtectedRoute guard  ·  10 route-level pages  ·  JWT role-based routing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5965" y="823639"/>
            <a:ext cx="11646422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2659" y="2789087"/>
            <a:ext cx="102843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565502" y="1417844"/>
            <a:ext cx="0" cy="2742486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65502" y="1417844"/>
            <a:ext cx="102843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65502" y="4160330"/>
            <a:ext cx="102843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85296" y="4160330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22420" y="2103466"/>
            <a:ext cx="0" cy="4113728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22420" y="2103465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22420" y="2560546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22420" y="3017627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22420" y="3474708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22420" y="3931789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22420" y="4388870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22420" y="4845951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22420" y="5303032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22420" y="5760113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22420" y="6217194"/>
            <a:ext cx="137124" cy="0"/>
          </a:xfrm>
          <a:prstGeom prst="line">
            <a:avLst/>
          </a:prstGeom>
          <a:noFill/>
          <a:ln w="15875">
            <a:solidFill>
              <a:srgbClr val="2E7A4E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8518" y="2674816"/>
            <a:ext cx="1096994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664" y="2651962"/>
            <a:ext cx="1096994" cy="274249"/>
          </a:xfrm>
          <a:prstGeom prst="roundRect">
            <a:avLst>
              <a:gd name="adj" fmla="val 16667"/>
            </a:avLst>
          </a:prstGeom>
          <a:solidFill>
            <a:srgbClr val="0D3322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797" y="2651962"/>
            <a:ext cx="950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91199" y="1303573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668345" y="1280719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41478" y="1280719"/>
            <a:ext cx="1270685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LoginPage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91199" y="4018635"/>
            <a:ext cx="1416951" cy="329098"/>
          </a:xfrm>
          <a:prstGeom prst="roundRect">
            <a:avLst>
              <a:gd name="adj" fmla="val 13889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68345" y="3995781"/>
            <a:ext cx="1416951" cy="329098"/>
          </a:xfrm>
          <a:prstGeom prst="roundRect">
            <a:avLst>
              <a:gd name="adj" fmla="val 13889"/>
            </a:avLst>
          </a:prstGeom>
          <a:solidFill>
            <a:srgbClr val="0D1F3C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741478" y="3995781"/>
            <a:ext cx="127068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ProtectedRoute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382398" y="1989195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59544" y="1966341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1A2E1A"/>
          </a:solidFill>
          <a:ln w="9525">
            <a:solidFill>
              <a:srgbClr val="9B8FE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432678" y="1966341"/>
            <a:ext cx="758754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54865" y="2021191"/>
            <a:ext cx="566780" cy="164549"/>
          </a:xfrm>
          <a:prstGeom prst="roundRect">
            <a:avLst>
              <a:gd name="adj" fmla="val 16667"/>
            </a:avLst>
          </a:prstGeom>
          <a:solidFill>
            <a:srgbClr val="9B8FE0">
              <a:alpha val="13000"/>
            </a:srgbClr>
          </a:solidFill>
          <a:ln w="5080">
            <a:solidFill>
              <a:srgbClr val="9B8FE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54865" y="2021191"/>
            <a:ext cx="566780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200" b="1" dirty="0">
                <a:solidFill>
                  <a:srgbClr val="9B8FE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382398" y="2446276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59544" y="2423422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432678" y="2423422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382398" y="2903357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359544" y="2880503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432678" y="2880503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DevicesPage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04478" y="2898786"/>
            <a:ext cx="19700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i="1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→  DeviceForm  ·  ConfirmDialog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382398" y="3360438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359544" y="3337584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432678" y="3337584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DeviceDetailPage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904478" y="3355867"/>
            <a:ext cx="19700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i="1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→  DeviceTempChart  →  RealTimeChart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382398" y="3817519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359544" y="3794665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432678" y="3794665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SensorsPage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904478" y="3812948"/>
            <a:ext cx="19700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i="1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→  SensorForm  ·  ConfirmDialog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382398" y="4274600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359544" y="4251745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432678" y="4251745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ActuatorsPage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904478" y="4270029"/>
            <a:ext cx="19700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i="1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→  ActuatorForm  ·  ConfirmDialog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382398" y="4731680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359544" y="4708826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432678" y="4708826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AlertRulesPage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904478" y="4727110"/>
            <a:ext cx="1970019" cy="23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i="1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→  ConfirmDialog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382398" y="5188761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359544" y="5165907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2678" y="5165907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AlertsPage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382398" y="5645842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359544" y="5622988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D2117"/>
          </a:solidFill>
          <a:ln w="9525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432678" y="5622988"/>
            <a:ext cx="130725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CommandHistoryPage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382398" y="6102923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359544" y="6080069"/>
            <a:ext cx="1416951" cy="274249"/>
          </a:xfrm>
          <a:prstGeom prst="roundRect">
            <a:avLst>
              <a:gd name="adj" fmla="val 16667"/>
            </a:avLst>
          </a:prstGeom>
          <a:solidFill>
            <a:srgbClr val="2E1A00"/>
          </a:solidFill>
          <a:ln w="9525">
            <a:solidFill>
              <a:srgbClr val="E8B87A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432678" y="6080069"/>
            <a:ext cx="758754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UsersPage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154865" y="6134919"/>
            <a:ext cx="566780" cy="164549"/>
          </a:xfrm>
          <a:prstGeom prst="roundRect">
            <a:avLst>
              <a:gd name="adj" fmla="val 16667"/>
            </a:avLst>
          </a:prstGeom>
          <a:solidFill>
            <a:srgbClr val="E8B87A">
              <a:alpha val="13000"/>
            </a:srgbClr>
          </a:solidFill>
          <a:ln w="5080">
            <a:solidFill>
              <a:srgbClr val="E8B87A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154865" y="6134919"/>
            <a:ext cx="566780" cy="16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2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255965" y="6500584"/>
            <a:ext cx="146266" cy="146266"/>
          </a:xfrm>
          <a:prstGeom prst="roundRect">
            <a:avLst>
              <a:gd name="adj" fmla="val 18750"/>
            </a:avLst>
          </a:prstGeom>
          <a:solidFill>
            <a:srgbClr val="0D3322"/>
          </a:solidFill>
          <a:ln w="9525">
            <a:solidFill>
              <a:srgbClr val="3ECF8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38797" y="6482300"/>
            <a:ext cx="100557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App shell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462658" y="6500584"/>
            <a:ext cx="146266" cy="146266"/>
          </a:xfrm>
          <a:prstGeom prst="roundRect">
            <a:avLst>
              <a:gd name="adj" fmla="val 18750"/>
            </a:avLst>
          </a:prstGeom>
          <a:solidFill>
            <a:srgbClr val="0D1F3C"/>
          </a:solidFill>
          <a:ln w="9525">
            <a:solidFill>
              <a:srgbClr val="7EC8E3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645491" y="6482300"/>
            <a:ext cx="100557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669352" y="6500584"/>
            <a:ext cx="146266" cy="146266"/>
          </a:xfrm>
          <a:prstGeom prst="roundRect">
            <a:avLst>
              <a:gd name="adj" fmla="val 18750"/>
            </a:avLst>
          </a:prstGeom>
          <a:solidFill>
            <a:srgbClr val="1C3D28"/>
          </a:solidFill>
          <a:ln w="9525">
            <a:solidFill>
              <a:srgbClr val="3A6B52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852185" y="6482300"/>
            <a:ext cx="100557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Pages (routes)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876046" y="6500584"/>
            <a:ext cx="146266" cy="146266"/>
          </a:xfrm>
          <a:prstGeom prst="roundRect">
            <a:avLst>
              <a:gd name="adj" fmla="val 18750"/>
            </a:avLst>
          </a:prstGeom>
          <a:solidFill>
            <a:srgbClr val="1A2E1A"/>
          </a:solidFill>
          <a:ln w="9525">
            <a:solidFill>
              <a:srgbClr val="9B8FE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058878" y="6482300"/>
            <a:ext cx="100557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Shared layout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5082739" y="6500584"/>
            <a:ext cx="146266" cy="146266"/>
          </a:xfrm>
          <a:prstGeom prst="roundRect">
            <a:avLst>
              <a:gd name="adj" fmla="val 18750"/>
            </a:avLst>
          </a:prstGeom>
          <a:solidFill>
            <a:srgbClr val="2E1A00"/>
          </a:solidFill>
          <a:ln w="9525">
            <a:solidFill>
              <a:srgbClr val="E8B87A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265572" y="6482300"/>
            <a:ext cx="1005578" cy="20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130462" y="896771"/>
            <a:ext cx="4872483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Routes &amp; Navigation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130462" y="1189303"/>
            <a:ext cx="4872483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916588" y="1225870"/>
            <a:ext cx="1147009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b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8538272" y="1225870"/>
            <a:ext cx="1554075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b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0110630" y="1225870"/>
            <a:ext cx="1892315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b="1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130462" y="1481835"/>
            <a:ext cx="4872483" cy="0"/>
          </a:xfrm>
          <a:prstGeom prst="line">
            <a:avLst/>
          </a:prstGeom>
          <a:noFill/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7112179" y="1518402"/>
            <a:ext cx="4890766" cy="42051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916588" y="1518402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8253328" y="1518402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9470717" y="1591534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7EC8E3">
              <a:alpha val="13000"/>
            </a:srgbClr>
          </a:solidFill>
          <a:ln w="5080">
            <a:solidFill>
              <a:srgbClr val="7EC8E3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9470717" y="1591534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7EC8E3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0110630" y="1518402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JWT login · public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916588" y="1938916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8253328" y="1938916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9470717" y="2012049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9470717" y="2012049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0110630" y="1938916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Live overview · SignalR charts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112179" y="2359431"/>
            <a:ext cx="4890766" cy="42051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6916588" y="2359431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8253328" y="2359431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470717" y="2432563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9470717" y="2432563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10110630" y="2359431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 CRUD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6916588" y="2779945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/devices/:id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8253328" y="2779945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DeviceDetailPage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9470717" y="2853078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9470717" y="2853078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10110630" y="2779945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Live chart + sensors + commands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12179" y="3200460"/>
            <a:ext cx="4890766" cy="42051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6916588" y="3200460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/sensors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8253328" y="3200460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9470717" y="3273592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9470717" y="3273592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10110630" y="3200460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All sensor inputs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6916588" y="3620974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/actuators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8253328" y="3620974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ActuatorsPage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9470717" y="3694107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9470717" y="3694107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10110630" y="3620974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Controllable outputs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7112179" y="4041489"/>
            <a:ext cx="4890766" cy="42051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6916588" y="4041489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/alert-rules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8253328" y="4041489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AlertRulesPage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9470717" y="4114621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9470717" y="4114621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10110630" y="4041489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Threshold rule config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6916588" y="4462003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/alerts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8253328" y="4462003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AlertsPage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9470717" y="4535136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9470717" y="4535136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10110630" y="4462003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View · acknowledge · resolve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7112179" y="4882518"/>
            <a:ext cx="4890766" cy="42051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6916588" y="4882518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FFFFFF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/command-history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8253328" y="4882518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CommandHistoryPage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9470717" y="4955650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3ECF80">
              <a:alpha val="13000"/>
            </a:srgbClr>
          </a:solidFill>
          <a:ln w="5080">
            <a:solidFill>
              <a:srgbClr val="3ECF80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9470717" y="4955650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3ECF8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10110630" y="4882518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Pending → Sent → Completed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6916588" y="5303032"/>
            <a:ext cx="1147009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E8B87A"/>
                </a:solidFill>
                <a:latin typeface="Candara" panose="020E0502030303020204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8253328" y="5303032"/>
            <a:ext cx="1199106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7AB89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UserManagementPage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9470717" y="5376165"/>
            <a:ext cx="566780" cy="274249"/>
          </a:xfrm>
          <a:prstGeom prst="roundRect">
            <a:avLst>
              <a:gd name="adj" fmla="val 10000"/>
            </a:avLst>
          </a:prstGeom>
          <a:solidFill>
            <a:srgbClr val="E8B87A">
              <a:alpha val="13000"/>
            </a:srgbClr>
          </a:solidFill>
          <a:ln w="5080">
            <a:solidFill>
              <a:srgbClr val="E8B87A">
                <a:alpha val="60000"/>
              </a:srgbClr>
            </a:solidFill>
            <a:prstDash val="solid"/>
          </a:ln>
        </p:spPr>
        <p:txBody>
          <a:bodyPr/>
          <a:lstStyle/>
          <a:p>
            <a:pPr defTabSz="914126"/>
            <a:endParaRPr lang="en-US" sz="10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9470717" y="5376165"/>
            <a:ext cx="56678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/>
            <a:r>
              <a:rPr lang="en-US" sz="1000" b="1" dirty="0">
                <a:solidFill>
                  <a:srgbClr val="E8B87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10110630" y="5303032"/>
            <a:ext cx="1892315" cy="42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Admin: manage accounts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6916589" y="5814963"/>
            <a:ext cx="5086357" cy="685621"/>
          </a:xfrm>
          <a:prstGeom prst="roundRect">
            <a:avLst>
              <a:gd name="adj" fmla="val 9615"/>
            </a:avLst>
          </a:prstGeom>
          <a:solidFill>
            <a:srgbClr val="091A0F"/>
          </a:solidFill>
          <a:ln w="6350">
            <a:solidFill>
              <a:srgbClr val="1C3D28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6810862" y="5909824"/>
            <a:ext cx="45707" cy="475364"/>
          </a:xfrm>
          <a:prstGeom prst="roundRect">
            <a:avLst/>
          </a:prstGeom>
          <a:solidFill>
            <a:srgbClr val="3A6B52"/>
          </a:solidFill>
          <a:ln w="12700">
            <a:solidFill>
              <a:srgbClr val="3A6B52"/>
            </a:solidFill>
            <a:prstDash val="solid"/>
          </a:ln>
        </p:spPr>
        <p:txBody>
          <a:bodyPr/>
          <a:lstStyle/>
          <a:p>
            <a:pPr defTabSz="914126"/>
            <a:endParaRPr lang="en-US" sz="12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7024563" y="5955532"/>
            <a:ext cx="472621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ProtectedRoute redirects to /login if localStorage has no valid JWT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  <a:p>
            <a:pPr defTabSz="914126"/>
            <a:r>
              <a:rPr lang="en-US" sz="1200" dirty="0">
                <a:solidFill>
                  <a:srgbClr val="3A6B52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isAdmin() check gates /users — Navigation hides Users link for non-admin roles</a:t>
            </a:r>
            <a:endParaRPr lang="en-US" sz="1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244669"/>
            <a:ext cx="10969943" cy="633819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4266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Key Features</a:t>
            </a:r>
            <a:endParaRPr lang="en-US" sz="4266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441" y="878489"/>
            <a:ext cx="10969943" cy="316909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7DAE8E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Core capabilities mapped directly to system architecture and real-world needs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38439" y="1426985"/>
            <a:ext cx="511931" cy="511931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572" y="1487929"/>
            <a:ext cx="365665" cy="3656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1487036" y="1451363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Real-Time Streaming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8839" y="2012049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21371" y="206080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SignalR WebSocket pushes live sensor data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121371" y="243256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&lt;2s latency — no polling or refresh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121371" y="2804323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Supports multi-device concurrent streams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121371" y="3176082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Rolling real-time charts (50-point window)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399133" y="1280719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marL="342900" indent="-342900" defTabSz="1218895">
              <a:buFont typeface="Wingdings" panose="05000000000000000000" pitchFamily="2" charset="2"/>
              <a:buChar char="ü"/>
            </a:pPr>
            <a:endParaRPr lang="en-US" sz="1866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276728" y="1451363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CD4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Dashboard &amp; Visualization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618531" y="2012049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6911063" y="206080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Interactive charts (Chart.js / Recharts)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911063" y="243256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Line, Bar, Gauge visualizations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6911063" y="2804323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Historical analysis with date filters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6911063" y="3176082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Responsive UI for monitoring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609441" y="3803806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1487036" y="3974450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F59E0B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Alerting System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828839" y="4535136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1121371" y="4583891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Configurable threshold-based rules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 26"/>
          <p:cNvSpPr/>
          <p:nvPr/>
        </p:nvSpPr>
        <p:spPr>
          <a:xfrm>
            <a:off x="1121371" y="495565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Real-time alerts via SignalR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1121371" y="532741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Acknowledge / Resolve workflow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1121371" y="5699169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Persistent alert history tracking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7276728" y="3945253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A78BFA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Device Management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Shape 33"/>
          <p:cNvSpPr/>
          <p:nvPr/>
        </p:nvSpPr>
        <p:spPr>
          <a:xfrm>
            <a:off x="6618531" y="4535136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endParaRPr lang="en-US" sz="140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6911063" y="4583891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Register IoT devices (Arduino, ESP32, Pi)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 35"/>
          <p:cNvSpPr/>
          <p:nvPr/>
        </p:nvSpPr>
        <p:spPr>
          <a:xfrm>
            <a:off x="6911063" y="495565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Online/offline detection via heartbeat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Text 36"/>
          <p:cNvSpPr/>
          <p:nvPr/>
        </p:nvSpPr>
        <p:spPr>
          <a:xfrm>
            <a:off x="6911063" y="532741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Sensor config (type, unit, thresholds)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 37"/>
          <p:cNvSpPr/>
          <p:nvPr/>
        </p:nvSpPr>
        <p:spPr>
          <a:xfrm>
            <a:off x="6911063" y="5699169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defTabSz="1218895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Times New Roman" panose="02020603050405020304" pitchFamily="18" charset="0"/>
              </a:rPr>
              <a:t>Flexible key-value device configs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Shape 39"/>
          <p:cNvSpPr/>
          <p:nvPr/>
        </p:nvSpPr>
        <p:spPr>
          <a:xfrm>
            <a:off x="-1" y="6217194"/>
            <a:ext cx="12188825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866">
              <a:solidFill>
                <a:prstClr val="black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016A0446-715A-3706-B1F4-183BDCF75859}"/>
              </a:ext>
            </a:extLst>
          </p:cNvPr>
          <p:cNvSpPr/>
          <p:nvPr/>
        </p:nvSpPr>
        <p:spPr>
          <a:xfrm>
            <a:off x="975105" y="1469647"/>
            <a:ext cx="4372134" cy="22732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ndara" panose="020E050203030302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0D93A1D-416C-D279-9E45-747CAD5F99D4}"/>
              </a:ext>
            </a:extLst>
          </p:cNvPr>
          <p:cNvSpPr/>
          <p:nvPr/>
        </p:nvSpPr>
        <p:spPr>
          <a:xfrm>
            <a:off x="975105" y="3974450"/>
            <a:ext cx="4372134" cy="22732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ndara" panose="020E0502030303020204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0CFD138-194C-98C8-A3FF-24E0292F3E2A}"/>
              </a:ext>
            </a:extLst>
          </p:cNvPr>
          <p:cNvSpPr/>
          <p:nvPr/>
        </p:nvSpPr>
        <p:spPr>
          <a:xfrm>
            <a:off x="6155356" y="1451363"/>
            <a:ext cx="4372134" cy="22732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ndara" panose="020E050203030302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4C305D0-F8BD-AF2C-9D63-C687C6097A69}"/>
              </a:ext>
            </a:extLst>
          </p:cNvPr>
          <p:cNvSpPr/>
          <p:nvPr/>
        </p:nvSpPr>
        <p:spPr>
          <a:xfrm>
            <a:off x="6155356" y="4011015"/>
            <a:ext cx="4372134" cy="227321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EE6D688-413F-D3EC-9BB6-F13891A7AF73}"/>
              </a:ext>
            </a:extLst>
          </p:cNvPr>
          <p:cNvCxnSpPr>
            <a:stCxn id="39" idx="4"/>
            <a:endCxn id="65" idx="0"/>
          </p:cNvCxnSpPr>
          <p:nvPr/>
        </p:nvCxnSpPr>
        <p:spPr>
          <a:xfrm>
            <a:off x="1615737" y="3077752"/>
            <a:ext cx="0" cy="88968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0FF251F-225E-7E16-2A8C-24E7A4170577}"/>
              </a:ext>
            </a:extLst>
          </p:cNvPr>
          <p:cNvCxnSpPr>
            <a:stCxn id="50" idx="2"/>
            <a:endCxn id="73" idx="0"/>
          </p:cNvCxnSpPr>
          <p:nvPr/>
        </p:nvCxnSpPr>
        <p:spPr>
          <a:xfrm>
            <a:off x="5999162" y="3077752"/>
            <a:ext cx="18483" cy="889680"/>
          </a:xfrm>
          <a:prstGeom prst="straightConnector1">
            <a:avLst/>
          </a:prstGeom>
          <a:ln w="2222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8DB61D7-B2F2-3E70-E2AF-36065CBD59F7}"/>
              </a:ext>
            </a:extLst>
          </p:cNvPr>
          <p:cNvCxnSpPr>
            <a:cxnSpLocks/>
          </p:cNvCxnSpPr>
          <p:nvPr/>
        </p:nvCxnSpPr>
        <p:spPr>
          <a:xfrm>
            <a:off x="3774739" y="3077752"/>
            <a:ext cx="0" cy="889680"/>
          </a:xfrm>
          <a:prstGeom prst="straightConnector1">
            <a:avLst/>
          </a:prstGeom>
          <a:ln w="222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hape 43">
            <a:extLst>
              <a:ext uri="{FF2B5EF4-FFF2-40B4-BE49-F238E27FC236}">
                <a16:creationId xmlns:a16="http://schemas.microsoft.com/office/drawing/2014/main" id="{BB5450B1-2256-74F8-4040-12691BDEAA48}"/>
              </a:ext>
            </a:extLst>
          </p:cNvPr>
          <p:cNvSpPr/>
          <p:nvPr/>
        </p:nvSpPr>
        <p:spPr>
          <a:xfrm>
            <a:off x="10092346" y="2443933"/>
            <a:ext cx="633819" cy="633819"/>
          </a:xfrm>
          <a:prstGeom prst="ellipse">
            <a:avLst/>
          </a:prstGeom>
          <a:noFill/>
          <a:ln w="22225">
            <a:solidFill>
              <a:schemeClr val="accent2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09441" y="269047"/>
            <a:ext cx="10969943" cy="6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440" y="1018660"/>
            <a:ext cx="1096994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866" i="1" dirty="0">
                <a:solidFill>
                  <a:srgbClr val="7DAE8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Watch one sensor reading travel the full stack — from edge device to dashboard — in real time.</a:t>
            </a:r>
            <a:endParaRPr lang="en-US" sz="1866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609441" y="1485703"/>
            <a:ext cx="3656648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kern="0" spc="267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DEMO CHECKLIST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1298827" y="2443933"/>
            <a:ext cx="633819" cy="633819"/>
          </a:xfrm>
          <a:prstGeom prst="ellipse">
            <a:avLst/>
          </a:prstGeom>
          <a:solidFill>
            <a:srgbClr val="132B1A"/>
          </a:solidFill>
          <a:ln w="22225">
            <a:solidFill>
              <a:srgbClr val="00B05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1298827" y="2443933"/>
            <a:ext cx="633819" cy="633819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713763" y="3224017"/>
            <a:ext cx="1803946" cy="92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Register IoT device in dashboard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3466952" y="2443933"/>
            <a:ext cx="633819" cy="633819"/>
          </a:xfrm>
          <a:prstGeom prst="ellipse">
            <a:avLst/>
          </a:prstGeom>
          <a:noFill/>
          <a:ln w="22225">
            <a:solidFill>
              <a:srgbClr val="FFFF0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3466952" y="2443933"/>
            <a:ext cx="633819" cy="633819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2891011" y="3224018"/>
            <a:ext cx="1803946" cy="63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Connect Physical Device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5682252" y="2443933"/>
            <a:ext cx="633819" cy="633819"/>
          </a:xfrm>
          <a:prstGeom prst="ellipse">
            <a:avLst/>
          </a:prstGeom>
          <a:noFill/>
          <a:ln w="2222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5682252" y="2443933"/>
            <a:ext cx="633819" cy="633819"/>
          </a:xfrm>
          <a:prstGeom prst="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5097188" y="3224017"/>
            <a:ext cx="1803946" cy="92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Watch real-time chart update within 2 sec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7888429" y="2443933"/>
            <a:ext cx="633819" cy="633819"/>
          </a:xfrm>
          <a:prstGeom prst="ellipse">
            <a:avLst/>
          </a:prstGeom>
          <a:noFill/>
          <a:ln w="22225">
            <a:solidFill>
              <a:srgbClr val="FF000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5" name="Text 44"/>
          <p:cNvSpPr/>
          <p:nvPr/>
        </p:nvSpPr>
        <p:spPr>
          <a:xfrm>
            <a:off x="7888429" y="2443933"/>
            <a:ext cx="633819" cy="63381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56" name="Text 45"/>
          <p:cNvSpPr/>
          <p:nvPr/>
        </p:nvSpPr>
        <p:spPr>
          <a:xfrm>
            <a:off x="7303365" y="3224017"/>
            <a:ext cx="1803946" cy="92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Trigger threshold breach — alert in real time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0" name="Text 49"/>
          <p:cNvSpPr/>
          <p:nvPr/>
        </p:nvSpPr>
        <p:spPr>
          <a:xfrm>
            <a:off x="10094606" y="2443933"/>
            <a:ext cx="633819" cy="633819"/>
          </a:xfrm>
          <a:prstGeom prst="rect">
            <a:avLst/>
          </a:prstGeom>
          <a:noFill/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 50"/>
          <p:cNvSpPr/>
          <p:nvPr/>
        </p:nvSpPr>
        <p:spPr>
          <a:xfrm>
            <a:off x="9509543" y="3224017"/>
            <a:ext cx="1803946" cy="92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Query historical data via date-range filter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 51"/>
          <p:cNvSpPr/>
          <p:nvPr/>
        </p:nvSpPr>
        <p:spPr>
          <a:xfrm>
            <a:off x="10726166" y="6521914"/>
            <a:ext cx="109699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866" dirty="0">
                <a:solidFill>
                  <a:srgbClr val="4A6A5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866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E546CF77-D218-7D94-B044-E6208517320C}"/>
              </a:ext>
            </a:extLst>
          </p:cNvPr>
          <p:cNvSpPr/>
          <p:nvPr/>
        </p:nvSpPr>
        <p:spPr>
          <a:xfrm>
            <a:off x="1298827" y="3967432"/>
            <a:ext cx="633819" cy="633819"/>
          </a:xfrm>
          <a:prstGeom prst="ellipse">
            <a:avLst/>
          </a:prstGeom>
          <a:solidFill>
            <a:srgbClr val="132B1A"/>
          </a:solidFill>
          <a:ln w="22225">
            <a:solidFill>
              <a:srgbClr val="00B05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66CF1744-3B9B-1A51-381F-536576CCD60A}"/>
              </a:ext>
            </a:extLst>
          </p:cNvPr>
          <p:cNvSpPr/>
          <p:nvPr/>
        </p:nvSpPr>
        <p:spPr>
          <a:xfrm>
            <a:off x="1298827" y="3967432"/>
            <a:ext cx="633819" cy="633819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A7B4E098-C027-C5FC-743D-D7105A42FB44}"/>
              </a:ext>
            </a:extLst>
          </p:cNvPr>
          <p:cNvSpPr/>
          <p:nvPr/>
        </p:nvSpPr>
        <p:spPr>
          <a:xfrm>
            <a:off x="713763" y="4739298"/>
            <a:ext cx="1803946" cy="47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Connect Sensor/Actuator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9" name="Shape 28">
            <a:extLst>
              <a:ext uri="{FF2B5EF4-FFF2-40B4-BE49-F238E27FC236}">
                <a16:creationId xmlns:a16="http://schemas.microsoft.com/office/drawing/2014/main" id="{54039BA1-E097-30D8-FF11-6FDAD766CB58}"/>
              </a:ext>
            </a:extLst>
          </p:cNvPr>
          <p:cNvSpPr/>
          <p:nvPr/>
        </p:nvSpPr>
        <p:spPr>
          <a:xfrm>
            <a:off x="1298827" y="5431014"/>
            <a:ext cx="633819" cy="633819"/>
          </a:xfrm>
          <a:prstGeom prst="ellipse">
            <a:avLst/>
          </a:prstGeom>
          <a:solidFill>
            <a:srgbClr val="132B1A"/>
          </a:solidFill>
          <a:ln w="22225">
            <a:solidFill>
              <a:srgbClr val="00B05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9913B69F-89BF-E9F6-57FE-FC42561994F8}"/>
              </a:ext>
            </a:extLst>
          </p:cNvPr>
          <p:cNvSpPr/>
          <p:nvPr/>
        </p:nvSpPr>
        <p:spPr>
          <a:xfrm>
            <a:off x="1298827" y="5431014"/>
            <a:ext cx="633819" cy="633819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1c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6721CCD3-108F-2EB0-44BB-60B21A1B4F18}"/>
              </a:ext>
            </a:extLst>
          </p:cNvPr>
          <p:cNvSpPr/>
          <p:nvPr/>
        </p:nvSpPr>
        <p:spPr>
          <a:xfrm>
            <a:off x="713763" y="6170618"/>
            <a:ext cx="1803946" cy="47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6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Set Alerts rules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Shape 38">
            <a:extLst>
              <a:ext uri="{FF2B5EF4-FFF2-40B4-BE49-F238E27FC236}">
                <a16:creationId xmlns:a16="http://schemas.microsoft.com/office/drawing/2014/main" id="{D7898B7C-56CE-9AF9-701F-985CFC26E900}"/>
              </a:ext>
            </a:extLst>
          </p:cNvPr>
          <p:cNvSpPr/>
          <p:nvPr/>
        </p:nvSpPr>
        <p:spPr>
          <a:xfrm>
            <a:off x="5700735" y="3967432"/>
            <a:ext cx="633819" cy="633819"/>
          </a:xfrm>
          <a:prstGeom prst="ellipse">
            <a:avLst/>
          </a:prstGeom>
          <a:noFill/>
          <a:ln w="2222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77D0CE1F-A5D9-9A89-00C7-94ABB664CF4D}"/>
              </a:ext>
            </a:extLst>
          </p:cNvPr>
          <p:cNvSpPr/>
          <p:nvPr/>
        </p:nvSpPr>
        <p:spPr>
          <a:xfrm>
            <a:off x="5700735" y="3967432"/>
            <a:ext cx="633819" cy="633819"/>
          </a:xfrm>
          <a:prstGeom prst="rect">
            <a:avLst/>
          </a:prstGeom>
          <a:noFill/>
          <a:ln w="22225"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06B7A6F7-994D-4714-8FA0-0EFA5B95A389}"/>
              </a:ext>
            </a:extLst>
          </p:cNvPr>
          <p:cNvSpPr/>
          <p:nvPr/>
        </p:nvSpPr>
        <p:spPr>
          <a:xfrm>
            <a:off x="5192438" y="4739298"/>
            <a:ext cx="1803946" cy="92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Send command to on/off device Arduino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9C8FE087-1A5C-39C0-7ADF-5D42DE5E8958}"/>
              </a:ext>
            </a:extLst>
          </p:cNvPr>
          <p:cNvSpPr/>
          <p:nvPr/>
        </p:nvSpPr>
        <p:spPr>
          <a:xfrm>
            <a:off x="3466952" y="3967432"/>
            <a:ext cx="633819" cy="633819"/>
          </a:xfrm>
          <a:prstGeom prst="ellipse">
            <a:avLst/>
          </a:prstGeom>
          <a:noFill/>
          <a:ln w="22225">
            <a:solidFill>
              <a:srgbClr val="FFFF0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E8E803E6-D871-2EA3-ED15-75D6E0B229C4}"/>
              </a:ext>
            </a:extLst>
          </p:cNvPr>
          <p:cNvSpPr/>
          <p:nvPr/>
        </p:nvSpPr>
        <p:spPr>
          <a:xfrm>
            <a:off x="3466952" y="3967432"/>
            <a:ext cx="633819" cy="633819"/>
          </a:xfrm>
          <a:prstGeom prst="rect">
            <a:avLst/>
          </a:prstGeom>
          <a:noFill/>
          <a:ln w="22225">
            <a:solidFill>
              <a:srgbClr val="FFFF00"/>
            </a:solidFill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b="1" dirty="0">
                <a:solidFill>
                  <a:srgbClr val="00B05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4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D63AEC6E-7F2C-4411-2E57-26D4AC07853C}"/>
              </a:ext>
            </a:extLst>
          </p:cNvPr>
          <p:cNvSpPr/>
          <p:nvPr/>
        </p:nvSpPr>
        <p:spPr>
          <a:xfrm>
            <a:off x="2872767" y="4735225"/>
            <a:ext cx="1803946" cy="63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Config/run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E7D844D-6857-A9BF-CE5D-6AA641DDCCB3}"/>
              </a:ext>
            </a:extLst>
          </p:cNvPr>
          <p:cNvCxnSpPr>
            <a:stCxn id="65" idx="2"/>
            <a:endCxn id="69" idx="0"/>
          </p:cNvCxnSpPr>
          <p:nvPr/>
        </p:nvCxnSpPr>
        <p:spPr>
          <a:xfrm>
            <a:off x="1615737" y="4601251"/>
            <a:ext cx="0" cy="829763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F1D9C1C-2274-F2F1-F9DA-1D468AA0C950}"/>
              </a:ext>
            </a:extLst>
          </p:cNvPr>
          <p:cNvCxnSpPr>
            <a:stCxn id="39" idx="6"/>
            <a:endCxn id="45" idx="1"/>
          </p:cNvCxnSpPr>
          <p:nvPr/>
        </p:nvCxnSpPr>
        <p:spPr>
          <a:xfrm>
            <a:off x="1932646" y="2760843"/>
            <a:ext cx="1534306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4AC4972-0193-036F-3EB7-B31D71623AF7}"/>
              </a:ext>
            </a:extLst>
          </p:cNvPr>
          <p:cNvCxnSpPr>
            <a:stCxn id="44" idx="6"/>
            <a:endCxn id="49" idx="2"/>
          </p:cNvCxnSpPr>
          <p:nvPr/>
        </p:nvCxnSpPr>
        <p:spPr>
          <a:xfrm>
            <a:off x="4100771" y="2760843"/>
            <a:ext cx="1581481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1EA299A-FB5F-8681-C8AD-F43B3994431B}"/>
              </a:ext>
            </a:extLst>
          </p:cNvPr>
          <p:cNvCxnSpPr>
            <a:stCxn id="50" idx="3"/>
            <a:endCxn id="54" idx="2"/>
          </p:cNvCxnSpPr>
          <p:nvPr/>
        </p:nvCxnSpPr>
        <p:spPr>
          <a:xfrm>
            <a:off x="6316071" y="2760843"/>
            <a:ext cx="1572358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3706B73-8160-9698-4209-A131ADAFAC32}"/>
              </a:ext>
            </a:extLst>
          </p:cNvPr>
          <p:cNvCxnSpPr>
            <a:stCxn id="55" idx="3"/>
            <a:endCxn id="63" idx="2"/>
          </p:cNvCxnSpPr>
          <p:nvPr/>
        </p:nvCxnSpPr>
        <p:spPr>
          <a:xfrm>
            <a:off x="8522248" y="2760843"/>
            <a:ext cx="1570098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244669"/>
            <a:ext cx="10969943" cy="633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Testing &amp; Code Quality</a:t>
            </a:r>
            <a:endParaRPr lang="en-US" sz="3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441" y="878489"/>
            <a:ext cx="10969943" cy="316909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i="1" dirty="0">
                <a:solidFill>
                  <a:srgbClr val="7DAE8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Quality is built in — not bolted on. Applied throughout development, not added at the end.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317286"/>
            <a:ext cx="5545915" cy="2376821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1" y="1317286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8839" y="1439174"/>
            <a:ext cx="511931" cy="511931"/>
          </a:xfrm>
          <a:prstGeom prst="ellipse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72" y="1500118"/>
            <a:ext cx="365665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1487036" y="1463552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8839" y="2024238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" y="2158315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1121371" y="210956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FluentValidation on all DTOs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" y="2530074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13" name="Text 8"/>
          <p:cNvSpPr/>
          <p:nvPr/>
        </p:nvSpPr>
        <p:spPr>
          <a:xfrm>
            <a:off x="1121371" y="2481319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SQL injection prevention via EF Core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" y="2901834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15" name="Text 9"/>
          <p:cNvSpPr/>
          <p:nvPr/>
        </p:nvSpPr>
        <p:spPr>
          <a:xfrm>
            <a:off x="1121371" y="2853078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XSS prevention — React escapes output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" y="3273593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17" name="Text 10"/>
          <p:cNvSpPr/>
          <p:nvPr/>
        </p:nvSpPr>
        <p:spPr>
          <a:xfrm>
            <a:off x="1121371" y="3224837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C# nullable types — null-safety at compile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6399133" y="1317286"/>
            <a:ext cx="5545915" cy="2376821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399133" y="1317286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618531" y="1439174"/>
            <a:ext cx="511931" cy="511931"/>
          </a:xfrm>
          <a:prstGeom prst="ellipse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664" y="1500118"/>
            <a:ext cx="365665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22" name="Text 14"/>
          <p:cNvSpPr/>
          <p:nvPr/>
        </p:nvSpPr>
        <p:spPr>
          <a:xfrm>
            <a:off x="7276728" y="1463552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F59E0B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618531" y="2024238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532" y="2158315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25" name="Text 16"/>
          <p:cNvSpPr/>
          <p:nvPr/>
        </p:nvSpPr>
        <p:spPr>
          <a:xfrm>
            <a:off x="6911063" y="2109560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Global Exception Handler — JSON responses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532" y="2530074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27" name="Text 17"/>
          <p:cNvSpPr/>
          <p:nvPr/>
        </p:nvSpPr>
        <p:spPr>
          <a:xfrm>
            <a:off x="6911063" y="2481319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React ErrorBoundary for component failures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532" y="2901834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29" name="Text 18"/>
          <p:cNvSpPr/>
          <p:nvPr/>
        </p:nvSpPr>
        <p:spPr>
          <a:xfrm>
            <a:off x="6911063" y="2853078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API: server vs network vs unexpected errors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532" y="3273593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31" name="Text 19"/>
          <p:cNvSpPr/>
          <p:nvPr/>
        </p:nvSpPr>
        <p:spPr>
          <a:xfrm>
            <a:off x="6911063" y="3224837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Device offline via LastSeenAt heartbeat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609441" y="3840373"/>
            <a:ext cx="5545915" cy="2376821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609441" y="3840373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828839" y="3962261"/>
            <a:ext cx="511931" cy="511931"/>
          </a:xfrm>
          <a:prstGeom prst="ellipse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72" y="4023205"/>
            <a:ext cx="365665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36" name="Text 23"/>
          <p:cNvSpPr/>
          <p:nvPr/>
        </p:nvSpPr>
        <p:spPr>
          <a:xfrm>
            <a:off x="1487036" y="3986639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00BCD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Database Quality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828839" y="4547325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40" y="4681402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39" name="Text 25"/>
          <p:cNvSpPr/>
          <p:nvPr/>
        </p:nvSpPr>
        <p:spPr>
          <a:xfrm>
            <a:off x="1121371" y="4632647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EF Core Migrations — schema versioned in Git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40" y="5053161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41" name="Text 26"/>
          <p:cNvSpPr/>
          <p:nvPr/>
        </p:nvSpPr>
        <p:spPr>
          <a:xfrm>
            <a:off x="1121371" y="5004406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Foreign keys with CASCADE DELETE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40" y="5424920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43" name="Text 27"/>
          <p:cNvSpPr/>
          <p:nvPr/>
        </p:nvSpPr>
        <p:spPr>
          <a:xfrm>
            <a:off x="1121371" y="5376165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Composite indexes (Timestamp + DeviceId)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40" y="5796679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45" name="Text 28"/>
          <p:cNvSpPr/>
          <p:nvPr/>
        </p:nvSpPr>
        <p:spPr>
          <a:xfrm>
            <a:off x="1121371" y="574792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DECIMAL(18,4) — no floating-point errors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6" name="Shape 29"/>
          <p:cNvSpPr/>
          <p:nvPr/>
        </p:nvSpPr>
        <p:spPr>
          <a:xfrm>
            <a:off x="6399133" y="3840373"/>
            <a:ext cx="5545915" cy="2376821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6399133" y="3840373"/>
            <a:ext cx="5545915" cy="54850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8" name="Shape 31"/>
          <p:cNvSpPr/>
          <p:nvPr/>
        </p:nvSpPr>
        <p:spPr>
          <a:xfrm>
            <a:off x="6618531" y="3962261"/>
            <a:ext cx="511931" cy="511931"/>
          </a:xfrm>
          <a:prstGeom prst="ellipse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1664" y="4023205"/>
            <a:ext cx="365665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50" name="Text 32"/>
          <p:cNvSpPr/>
          <p:nvPr/>
        </p:nvSpPr>
        <p:spPr>
          <a:xfrm>
            <a:off x="7276728" y="3986639"/>
            <a:ext cx="4509865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A78BF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1" name="Shape 33"/>
          <p:cNvSpPr/>
          <p:nvPr/>
        </p:nvSpPr>
        <p:spPr>
          <a:xfrm>
            <a:off x="6618531" y="4547325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532" y="4681402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53" name="Text 34"/>
          <p:cNvSpPr/>
          <p:nvPr/>
        </p:nvSpPr>
        <p:spPr>
          <a:xfrm>
            <a:off x="6911063" y="4632647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Repository Pattern — data access abstracted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532" y="5053161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55" name="Text 35"/>
          <p:cNvSpPr/>
          <p:nvPr/>
        </p:nvSpPr>
        <p:spPr>
          <a:xfrm>
            <a:off x="6911063" y="5004406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Dependency Injection (Scoped services)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532" y="5424920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57" name="Text 36"/>
          <p:cNvSpPr/>
          <p:nvPr/>
        </p:nvSpPr>
        <p:spPr>
          <a:xfrm>
            <a:off x="6911063" y="5376165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TypeScript — type-safe API &amp; component props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532" y="5796679"/>
            <a:ext cx="182832" cy="182832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59" name="Text 37"/>
          <p:cNvSpPr/>
          <p:nvPr/>
        </p:nvSpPr>
        <p:spPr>
          <a:xfrm>
            <a:off x="6911063" y="5747924"/>
            <a:ext cx="4863341" cy="341287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Clean structure: API / Core / Infra / Services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0" name="Shape 38"/>
          <p:cNvSpPr/>
          <p:nvPr/>
        </p:nvSpPr>
        <p:spPr>
          <a:xfrm>
            <a:off x="-1" y="6217194"/>
            <a:ext cx="12188825" cy="639913"/>
          </a:xfrm>
          <a:prstGeom prst="rect">
            <a:avLst/>
          </a:prstGeom>
          <a:solidFill>
            <a:srgbClr val="0A1F10"/>
          </a:solidFill>
          <a:ln w="12700">
            <a:solidFill>
              <a:srgbClr val="0A1F10"/>
            </a:solidFill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 40"/>
          <p:cNvSpPr/>
          <p:nvPr/>
        </p:nvSpPr>
        <p:spPr>
          <a:xfrm>
            <a:off x="609441" y="6253760"/>
            <a:ext cx="10969943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Every layer validated — </a:t>
            </a:r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Input → Business Logic → Database → Frontend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 41"/>
          <p:cNvSpPr/>
          <p:nvPr/>
        </p:nvSpPr>
        <p:spPr>
          <a:xfrm>
            <a:off x="10726166" y="6558481"/>
            <a:ext cx="1096994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400" dirty="0">
                <a:solidFill>
                  <a:srgbClr val="4A6A5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42180"/>
            <a:ext cx="10969943" cy="731330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441" y="1073509"/>
            <a:ext cx="10969943" cy="36566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600" i="1" dirty="0">
                <a:solidFill>
                  <a:srgbClr val="7DAE8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Four real engineering decisions — showing the depth of thinking behind the design.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585440"/>
            <a:ext cx="5399649" cy="2303688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1" y="1585440"/>
            <a:ext cx="5545915" cy="60944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99649" y="1707329"/>
            <a:ext cx="609441" cy="39004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600" b="1" dirty="0">
                <a:solidFill>
                  <a:srgbClr val="3DDB61">
                    <a:alpha val="40000"/>
                  </a:srgbClr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39" y="1756084"/>
            <a:ext cx="438798" cy="438798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1389525" y="1731706"/>
            <a:ext cx="4546432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Real-Time Data Synchronization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8839" y="2268014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8839" y="2353336"/>
            <a:ext cx="5107118" cy="792274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FF8A65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600" dirty="0">
                <a:solidFill>
                  <a:srgbClr val="A8C4B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Keeping multiple browser clients in sync with live sensor data without polling or page refreshes.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8839" y="3218743"/>
            <a:ext cx="5107118" cy="91416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6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SignalR WebSocket hub with device-group subscriptions. Server pushes to groups on data receipt.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99133" y="1585440"/>
            <a:ext cx="5424027" cy="2303688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99133" y="1585440"/>
            <a:ext cx="5545915" cy="60944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189341" y="1707329"/>
            <a:ext cx="609441" cy="39004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600" b="1" dirty="0">
                <a:solidFill>
                  <a:srgbClr val="00BCD4">
                    <a:alpha val="40000"/>
                  </a:srgbClr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31" y="1756084"/>
            <a:ext cx="438798" cy="438798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16" name="Text 12"/>
          <p:cNvSpPr/>
          <p:nvPr/>
        </p:nvSpPr>
        <p:spPr>
          <a:xfrm>
            <a:off x="7179217" y="1731706"/>
            <a:ext cx="4546432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High-Volume Time-Series Storage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618531" y="2268014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618531" y="2353336"/>
            <a:ext cx="5107118" cy="792274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FF8A65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600" dirty="0">
                <a:solidFill>
                  <a:srgbClr val="A8C4B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SensorReadings grows to thousands of rows per device per day. Queries must stay fast.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618531" y="3218743"/>
            <a:ext cx="5107118" cy="91416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00BCD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6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BIGINT key, composite indexes on (Timestamp, DeviceId), 30-day detail + aggregated archive policy. Consider to work on MongoDB instead of MSSQL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09441" y="4037135"/>
            <a:ext cx="5545915" cy="2657164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09441" y="4037135"/>
            <a:ext cx="5545915" cy="60944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399649" y="4159023"/>
            <a:ext cx="609441" cy="39004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600" b="1" dirty="0">
                <a:solidFill>
                  <a:srgbClr val="F59E0B">
                    <a:alpha val="40000"/>
                  </a:srgbClr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39" y="4207778"/>
            <a:ext cx="438798" cy="438798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24" name="Text 19"/>
          <p:cNvSpPr/>
          <p:nvPr/>
        </p:nvSpPr>
        <p:spPr>
          <a:xfrm>
            <a:off x="1389525" y="4183401"/>
            <a:ext cx="4546432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Cross-Layer Data Flow Design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28839" y="4719709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28839" y="4805031"/>
            <a:ext cx="5107118" cy="792274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FF8A65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600" dirty="0">
                <a:solidFill>
                  <a:srgbClr val="A8C4B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One sensor reading must flow cleanly: edge device → API → DB → SignalR → React chart.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28839" y="5670437"/>
            <a:ext cx="5107118" cy="91416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F59E0B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6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Layered architecture (Controller → Service → Repository → DB). SignalR notifies after DB write. DTOs decouple layers.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399133" y="4005792"/>
            <a:ext cx="5545915" cy="2657164"/>
          </a:xfrm>
          <a:prstGeom prst="rect">
            <a:avLst/>
          </a:prstGeom>
          <a:solidFill>
            <a:srgbClr val="0D2318"/>
          </a:solidFill>
          <a:ln w="9525">
            <a:noFill/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99133" y="4005792"/>
            <a:ext cx="5545915" cy="60944"/>
          </a:xfrm>
          <a:prstGeom prst="rect">
            <a:avLst/>
          </a:prstGeom>
          <a:solidFill>
            <a:srgbClr val="0D2318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1189341" y="4127681"/>
            <a:ext cx="609441" cy="39004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600" b="1" dirty="0">
                <a:solidFill>
                  <a:srgbClr val="A78BFA">
                    <a:alpha val="40000"/>
                  </a:srgbClr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531" y="4176436"/>
            <a:ext cx="438798" cy="438798"/>
          </a:xfrm>
          <a:prstGeom prst="rect">
            <a:avLst/>
          </a:prstGeom>
          <a:solidFill>
            <a:srgbClr val="0D2318"/>
          </a:solidFill>
          <a:ln>
            <a:noFill/>
          </a:ln>
        </p:spPr>
      </p:pic>
      <p:sp>
        <p:nvSpPr>
          <p:cNvPr id="32" name="Text 26"/>
          <p:cNvSpPr/>
          <p:nvPr/>
        </p:nvSpPr>
        <p:spPr>
          <a:xfrm>
            <a:off x="7179217" y="4152058"/>
            <a:ext cx="4546432" cy="463175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Edge Device Compatibility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618531" y="4688367"/>
            <a:ext cx="5107118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lstStyle/>
          <a:p>
            <a:pPr defTabSz="1218895"/>
            <a:endParaRPr lang="en-US" sz="16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618531" y="4773688"/>
            <a:ext cx="5107118" cy="792274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FF8A65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600" dirty="0">
                <a:solidFill>
                  <a:srgbClr val="A8C4B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Supporting Arduino, ESP32, and Raspberry Pi — all with different hardware and communication capabilities.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618531" y="5639095"/>
            <a:ext cx="5107118" cy="914162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t"/>
          <a:lstStyle/>
          <a:p>
            <a:pPr defTabSz="1218895"/>
            <a:r>
              <a:rPr lang="en-US" sz="1600" b="1" dirty="0">
                <a:solidFill>
                  <a:srgbClr val="A78BFA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6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Flexible JSON payload format. HTTP POST endpoint for all devices. EdgeDeviceId as universal identifier.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10726166" y="6004760"/>
            <a:ext cx="1096994" cy="268154"/>
          </a:xfrm>
          <a:prstGeom prst="rect">
            <a:avLst/>
          </a:prstGeom>
          <a:solidFill>
            <a:srgbClr val="0D231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600" dirty="0">
                <a:solidFill>
                  <a:srgbClr val="4A6A5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6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269047"/>
            <a:ext cx="10969943" cy="67038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3200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r>
              <a:rPr lang="en-US" sz="3999" b="1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&amp; Future Work</a:t>
            </a:r>
            <a:endParaRPr lang="en-US" sz="3999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73510"/>
            <a:ext cx="5545915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866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073510"/>
            <a:ext cx="73133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866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273" y="1073510"/>
            <a:ext cx="5241195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866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What's Been Achieved</a:t>
            </a:r>
            <a:endParaRPr lang="en-US" sz="1866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0385" y="1707328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9" y="1743895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8" name="Text 5"/>
          <p:cNvSpPr/>
          <p:nvPr/>
        </p:nvSpPr>
        <p:spPr>
          <a:xfrm>
            <a:off x="1182316" y="1658573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System architecture designed &amp; documented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0385" y="2316770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29" y="2353336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11" name="Text 7"/>
          <p:cNvSpPr/>
          <p:nvPr/>
        </p:nvSpPr>
        <p:spPr>
          <a:xfrm>
            <a:off x="1182316" y="2268015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11-table SQL Server schema, 3NF normalized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70385" y="2926211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329" y="2962777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1182316" y="2877456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ASP.NET Core backend, Repository pattern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70385" y="3535652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29" y="3572218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17" name="Text 11"/>
          <p:cNvSpPr/>
          <p:nvPr/>
        </p:nvSpPr>
        <p:spPr>
          <a:xfrm>
            <a:off x="1182316" y="3486897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SignalR real-time hub designed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70385" y="4145093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29" y="4181660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20" name="Text 13"/>
          <p:cNvSpPr/>
          <p:nvPr/>
        </p:nvSpPr>
        <p:spPr>
          <a:xfrm>
            <a:off x="1182316" y="4096338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React SPA component hierarchy designed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670385" y="4754535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9" y="4791101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23" name="Text 15"/>
          <p:cNvSpPr/>
          <p:nvPr/>
        </p:nvSpPr>
        <p:spPr>
          <a:xfrm>
            <a:off x="1182316" y="4705780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All design docs completed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70385" y="5363976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329" y="5400542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26" name="Text 17"/>
          <p:cNvSpPr/>
          <p:nvPr/>
        </p:nvSpPr>
        <p:spPr>
          <a:xfrm>
            <a:off x="1182316" y="5315221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Git + GitHub + 3-2-1 backup strategy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6435699" y="1073510"/>
            <a:ext cx="5143684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866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6435699" y="1073510"/>
            <a:ext cx="73133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866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6618531" y="1073510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866" b="1" dirty="0">
                <a:solidFill>
                  <a:srgbClr val="00BCD4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66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6496643" y="1707328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7587" y="1743895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32" name="Text 22"/>
          <p:cNvSpPr/>
          <p:nvPr/>
        </p:nvSpPr>
        <p:spPr>
          <a:xfrm>
            <a:off x="7008574" y="1658573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Complete backend API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6496643" y="2194881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7587" y="2231448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35" name="Text 24"/>
          <p:cNvSpPr/>
          <p:nvPr/>
        </p:nvSpPr>
        <p:spPr>
          <a:xfrm>
            <a:off x="7008574" y="2146126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Build React frontend + SignalR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6496643" y="2682434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7587" y="2719001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38" name="Text 26"/>
          <p:cNvSpPr/>
          <p:nvPr/>
        </p:nvSpPr>
        <p:spPr>
          <a:xfrm>
            <a:off x="7008574" y="2633679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Integrate ESP32 devices &amp; sensors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39" name="Shape 27"/>
          <p:cNvSpPr/>
          <p:nvPr/>
        </p:nvSpPr>
        <p:spPr>
          <a:xfrm>
            <a:off x="6496643" y="3169987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587" y="3206554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41" name="Text 28"/>
          <p:cNvSpPr/>
          <p:nvPr/>
        </p:nvSpPr>
        <p:spPr>
          <a:xfrm>
            <a:off x="7008574" y="3121232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End-to-end live demo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6435699" y="3657541"/>
            <a:ext cx="5143684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3" name="Shape 30"/>
          <p:cNvSpPr/>
          <p:nvPr/>
        </p:nvSpPr>
        <p:spPr>
          <a:xfrm>
            <a:off x="6435699" y="3657541"/>
            <a:ext cx="73133" cy="463175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6618531" y="3657541"/>
            <a:ext cx="4875530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b="1" dirty="0">
                <a:solidFill>
                  <a:srgbClr val="F59E0B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5" name="Shape 32"/>
          <p:cNvSpPr/>
          <p:nvPr/>
        </p:nvSpPr>
        <p:spPr>
          <a:xfrm>
            <a:off x="6496643" y="4266982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7587" y="4303548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47" name="Text 33"/>
          <p:cNvSpPr/>
          <p:nvPr/>
        </p:nvSpPr>
        <p:spPr>
          <a:xfrm>
            <a:off x="7008574" y="4218227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Mobile app (iOS / Android)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48" name="Shape 34"/>
          <p:cNvSpPr/>
          <p:nvPr/>
        </p:nvSpPr>
        <p:spPr>
          <a:xfrm>
            <a:off x="6496643" y="4730157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7587" y="4766723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50" name="Text 35"/>
          <p:cNvSpPr/>
          <p:nvPr/>
        </p:nvSpPr>
        <p:spPr>
          <a:xfrm>
            <a:off x="7008574" y="4681402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ML predictive maintenance &amp; anomaly detection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1" name="Shape 36"/>
          <p:cNvSpPr/>
          <p:nvPr/>
        </p:nvSpPr>
        <p:spPr>
          <a:xfrm>
            <a:off x="6496643" y="5193332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7587" y="5229899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53" name="Text 37"/>
          <p:cNvSpPr/>
          <p:nvPr/>
        </p:nvSpPr>
        <p:spPr>
          <a:xfrm>
            <a:off x="7008574" y="5144577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Consider MongoDB instead of MS SQL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4" name="Shape 38"/>
          <p:cNvSpPr/>
          <p:nvPr/>
        </p:nvSpPr>
        <p:spPr>
          <a:xfrm>
            <a:off x="6496643" y="5656508"/>
            <a:ext cx="365665" cy="365665"/>
          </a:xfrm>
          <a:prstGeom prst="ellipse">
            <a:avLst/>
          </a:prstGeom>
          <a:solidFill>
            <a:srgbClr val="0A1F10"/>
          </a:solidFill>
          <a:ln w="6350">
            <a:noFill/>
            <a:prstDash val="solid"/>
          </a:ln>
        </p:spPr>
        <p:txBody>
          <a:bodyPr/>
          <a:lstStyle/>
          <a:p>
            <a:pPr defTabSz="1218895"/>
            <a:endParaRPr lang="en-US" sz="140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7587" y="5693074"/>
            <a:ext cx="243777" cy="243777"/>
          </a:xfrm>
          <a:prstGeom prst="rect">
            <a:avLst/>
          </a:prstGeom>
          <a:solidFill>
            <a:srgbClr val="0A1F10"/>
          </a:solidFill>
          <a:ln>
            <a:noFill/>
          </a:ln>
        </p:spPr>
      </p:pic>
      <p:sp>
        <p:nvSpPr>
          <p:cNvPr id="56" name="Text 39"/>
          <p:cNvSpPr/>
          <p:nvPr/>
        </p:nvSpPr>
        <p:spPr>
          <a:xfrm>
            <a:off x="7008574" y="5607753"/>
            <a:ext cx="4448921" cy="463175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C8DDD0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Multi-tenant facility support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7" name="Shape 40"/>
          <p:cNvSpPr/>
          <p:nvPr/>
        </p:nvSpPr>
        <p:spPr>
          <a:xfrm>
            <a:off x="-1" y="6192816"/>
            <a:ext cx="12188825" cy="664291"/>
          </a:xfrm>
          <a:prstGeom prst="rect">
            <a:avLst/>
          </a:prstGeom>
          <a:solidFill>
            <a:srgbClr val="0A1F10"/>
          </a:solidFill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8" name="Shape 41"/>
          <p:cNvSpPr/>
          <p:nvPr/>
        </p:nvSpPr>
        <p:spPr>
          <a:xfrm>
            <a:off x="-1" y="6192816"/>
            <a:ext cx="12188825" cy="0"/>
          </a:xfrm>
          <a:prstGeom prst="lin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59" name="Text 42"/>
          <p:cNvSpPr/>
          <p:nvPr/>
        </p:nvSpPr>
        <p:spPr>
          <a:xfrm>
            <a:off x="609441" y="6217194"/>
            <a:ext cx="10969943" cy="341287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Full stack — </a:t>
            </a:r>
            <a:r>
              <a:rPr lang="en-US" sz="1400" b="1" dirty="0">
                <a:solidFill>
                  <a:srgbClr val="3DDB6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physical sensor to cloud dashboard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  <p:sp>
        <p:nvSpPr>
          <p:cNvPr id="60" name="Text 43"/>
          <p:cNvSpPr/>
          <p:nvPr/>
        </p:nvSpPr>
        <p:spPr>
          <a:xfrm>
            <a:off x="609441" y="6558481"/>
            <a:ext cx="10969943" cy="268154"/>
          </a:xfrm>
          <a:prstGeom prst="rect">
            <a:avLst/>
          </a:prstGeom>
          <a:solidFill>
            <a:srgbClr val="0A1F1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400" i="1" dirty="0">
                <a:solidFill>
                  <a:srgbClr val="7DAE8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Practical evidence of BAS Application Development program competency.</a:t>
            </a:r>
            <a:endParaRPr lang="en-US" sz="1400" dirty="0">
              <a:solidFill>
                <a:prstClr val="black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2043</Words>
  <Application>Microsoft Office PowerPoint</Application>
  <PresentationFormat>Custom</PresentationFormat>
  <Paragraphs>623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Candara</vt:lpstr>
      <vt:lpstr>Wingdings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Quoc Bao Tran</cp:lastModifiedBy>
  <cp:revision>170</cp:revision>
  <dcterms:created xsi:type="dcterms:W3CDTF">2013-01-27T09:14:16Z</dcterms:created>
  <dcterms:modified xsi:type="dcterms:W3CDTF">2026-05-17T16:48:52Z</dcterms:modified>
  <cp:category/>
</cp:coreProperties>
</file>