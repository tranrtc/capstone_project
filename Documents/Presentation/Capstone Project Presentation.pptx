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theme/theme3.xml" ContentType="application/vnd.openxmlformats-officedocument.theme+xml"/>
  <Override PartName="/ppt/slideLayouts/slideLayout36.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 id="2147483672" r:id="rId3"/>
    <p:sldMasterId id="2147483684" r:id="rId4"/>
  </p:sldMasterIdLst>
  <p:notesMasterIdLst>
    <p:notesMasterId r:id="rId19"/>
  </p:notesMasterIdLst>
  <p:sldIdLst>
    <p:sldId id="256" r:id="rId5"/>
    <p:sldId id="289" r:id="rId6"/>
    <p:sldId id="287" r:id="rId7"/>
    <p:sldId id="286" r:id="rId8"/>
    <p:sldId id="288" r:id="rId9"/>
    <p:sldId id="297" r:id="rId10"/>
    <p:sldId id="296" r:id="rId11"/>
    <p:sldId id="298" r:id="rId12"/>
    <p:sldId id="299" r:id="rId13"/>
    <p:sldId id="284" r:id="rId14"/>
    <p:sldId id="301" r:id="rId15"/>
    <p:sldId id="281" r:id="rId16"/>
    <p:sldId id="302" r:id="rId17"/>
    <p:sldId id="300" r:id="rId18"/>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8691" autoAdjust="0"/>
    <p:restoredTop sz="96247" autoAdjust="0"/>
  </p:normalViewPr>
  <p:slideViewPr>
    <p:cSldViewPr snapToGrid="0" snapToObjects="1">
      <p:cViewPr varScale="1">
        <p:scale>
          <a:sx n="65" d="100"/>
          <a:sy n="65" d="100"/>
        </p:scale>
        <p:origin x="48" y="63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slideMaster" Target="slideMasters/slideMaster3.xml"/><Relationship Id="rId21" Type="http://schemas.openxmlformats.org/officeDocument/2006/relationships/viewProps" Target="view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 Type="http://schemas.openxmlformats.org/officeDocument/2006/relationships/slideMaster" Target="slideMasters/slideMaster2.xml"/><Relationship Id="rId16" Type="http://schemas.openxmlformats.org/officeDocument/2006/relationships/slide" Target="slides/slide12.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1EDE3E3-4DC4-4033-AB14-8C688262196C}" type="datetimeFigureOut">
              <a:rPr lang="en-US" smtClean="0"/>
              <a:t>5/23/2026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F1C98F2-B9F0-4148-8C0F-A19261494B1A}" type="slidenum">
              <a:rPr lang="en-US" smtClean="0"/>
              <a:t>‹#›</a:t>
            </a:fld>
            <a:endParaRPr lang="en-US"/>
          </a:p>
        </p:txBody>
      </p:sp>
    </p:spTree>
    <p:extLst>
      <p:ext uri="{BB962C8B-B14F-4D97-AF65-F5344CB8AC3E}">
        <p14:creationId xmlns:p14="http://schemas.microsoft.com/office/powerpoint/2010/main" val="40103284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Good evening, My name is </a:t>
            </a:r>
            <a:r>
              <a:rPr lang="en-US" sz="1200" b="1" i="0" kern="1200" dirty="0">
                <a:solidFill>
                  <a:schemeClr val="tx1"/>
                </a:solidFill>
                <a:effectLst/>
                <a:latin typeface="+mn-lt"/>
                <a:ea typeface="+mn-ea"/>
                <a:cs typeface="+mn-cs"/>
              </a:rPr>
              <a:t>Quoc Bao Tran</a:t>
            </a:r>
            <a:r>
              <a:rPr lang="en-US" sz="1200" b="0" i="0" kern="1200" dirty="0">
                <a:solidFill>
                  <a:schemeClr val="tx1"/>
                </a:solidFill>
                <a:effectLst/>
                <a:latin typeface="+mn-lt"/>
                <a:ea typeface="+mn-ea"/>
                <a:cs typeface="+mn-cs"/>
              </a:rPr>
              <a:t>, and this is my capstone project for the </a:t>
            </a:r>
            <a:r>
              <a:rPr lang="en-US" sz="1200" b="1" i="0" kern="1200" dirty="0">
                <a:solidFill>
                  <a:schemeClr val="tx1"/>
                </a:solidFill>
                <a:effectLst/>
                <a:latin typeface="+mn-lt"/>
                <a:ea typeface="+mn-ea"/>
                <a:cs typeface="+mn-cs"/>
              </a:rPr>
              <a:t>BAS Application Development</a:t>
            </a:r>
            <a:r>
              <a:rPr lang="en-US" sz="1200" b="0" i="0" kern="1200" dirty="0">
                <a:solidFill>
                  <a:schemeClr val="tx1"/>
                </a:solidFill>
                <a:effectLst/>
                <a:latin typeface="+mn-lt"/>
                <a:ea typeface="+mn-ea"/>
                <a:cs typeface="+mn-cs"/>
              </a:rPr>
              <a:t> program, under instructor </a:t>
            </a:r>
            <a:r>
              <a:rPr lang="en-US" sz="1200" b="1" i="0" kern="1200" dirty="0">
                <a:solidFill>
                  <a:schemeClr val="tx1"/>
                </a:solidFill>
                <a:effectLst/>
                <a:latin typeface="+mn-lt"/>
                <a:ea typeface="+mn-ea"/>
                <a:cs typeface="+mn-cs"/>
              </a:rPr>
              <a:t>Naser Chowdhury</a:t>
            </a:r>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The project is a </a:t>
            </a:r>
            <a:r>
              <a:rPr lang="en-US" sz="1200" b="1" i="0" kern="1200" dirty="0">
                <a:solidFill>
                  <a:schemeClr val="tx1"/>
                </a:solidFill>
                <a:effectLst/>
                <a:latin typeface="+mn-lt"/>
                <a:ea typeface="+mn-ea"/>
                <a:cs typeface="+mn-cs"/>
              </a:rPr>
              <a:t>Web-Based IoT Device Real-Time Monitoring System</a:t>
            </a:r>
            <a:r>
              <a:rPr lang="en-US" sz="1200" b="0" i="0" kern="1200" dirty="0">
                <a:solidFill>
                  <a:schemeClr val="tx1"/>
                </a:solidFill>
                <a:effectLst/>
                <a:latin typeface="+mn-lt"/>
                <a:ea typeface="+mn-ea"/>
                <a:cs typeface="+mn-cs"/>
              </a:rPr>
              <a:t>: a web application that monitors sensors in real time, stores historical data, raises alerts, and controls actuators remotely. It is aimed at sites that need equipment monitoring without the cost and lock-in of traditional SCADA</a:t>
            </a:r>
          </a:p>
          <a:p>
            <a:endParaRPr lang="en-US" dirty="0"/>
          </a:p>
        </p:txBody>
      </p:sp>
      <p:sp>
        <p:nvSpPr>
          <p:cNvPr id="4" name="Slide Number Placeholder 3"/>
          <p:cNvSpPr>
            <a:spLocks noGrp="1"/>
          </p:cNvSpPr>
          <p:nvPr>
            <p:ph type="sldNum" sz="quarter" idx="5"/>
          </p:nvPr>
        </p:nvSpPr>
        <p:spPr/>
        <p:txBody>
          <a:bodyPr/>
          <a:lstStyle/>
          <a:p>
            <a:fld id="{DF1C98F2-B9F0-4148-8C0F-A19261494B1A}" type="slidenum">
              <a:rPr lang="en-US" smtClean="0"/>
              <a:t>1</a:t>
            </a:fld>
            <a:endParaRPr lang="en-US"/>
          </a:p>
        </p:txBody>
      </p:sp>
    </p:spTree>
    <p:extLst>
      <p:ext uri="{BB962C8B-B14F-4D97-AF65-F5344CB8AC3E}">
        <p14:creationId xmlns:p14="http://schemas.microsoft.com/office/powerpoint/2010/main" val="90608123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Here is how the presentation is organized.</a:t>
            </a:r>
          </a:p>
          <a:p>
            <a:r>
              <a:rPr lang="en-US" sz="1200" b="0" i="0" kern="1200" dirty="0">
                <a:solidFill>
                  <a:schemeClr val="tx1"/>
                </a:solidFill>
                <a:effectLst/>
                <a:latin typeface="+mn-lt"/>
                <a:ea typeface="+mn-ea"/>
                <a:cs typeface="+mn-cs"/>
              </a:rPr>
              <a:t>I will begin with the </a:t>
            </a:r>
            <a:r>
              <a:rPr lang="en-US" sz="1200" b="1" i="0" kern="1200" dirty="0">
                <a:solidFill>
                  <a:schemeClr val="tx1"/>
                </a:solidFill>
                <a:effectLst/>
                <a:latin typeface="+mn-lt"/>
                <a:ea typeface="+mn-ea"/>
                <a:cs typeface="+mn-cs"/>
              </a:rPr>
              <a:t>problem</a:t>
            </a:r>
            <a:r>
              <a:rPr lang="en-US" sz="1200" b="0" i="0" kern="1200" dirty="0">
                <a:solidFill>
                  <a:schemeClr val="tx1"/>
                </a:solidFill>
                <a:effectLst/>
                <a:latin typeface="+mn-lt"/>
                <a:ea typeface="+mn-ea"/>
                <a:cs typeface="+mn-cs"/>
              </a:rPr>
              <a:t> and </a:t>
            </a:r>
            <a:r>
              <a:rPr lang="en-US" sz="1200" b="1" i="0" kern="1200" dirty="0">
                <a:solidFill>
                  <a:schemeClr val="tx1"/>
                </a:solidFill>
                <a:effectLst/>
                <a:latin typeface="+mn-lt"/>
                <a:ea typeface="+mn-ea"/>
                <a:cs typeface="+mn-cs"/>
              </a:rPr>
              <a:t>project goals</a:t>
            </a:r>
            <a:r>
              <a:rPr lang="en-US" sz="1200" b="0" i="0" kern="1200" dirty="0">
                <a:solidFill>
                  <a:schemeClr val="tx1"/>
                </a:solidFill>
                <a:effectLst/>
                <a:latin typeface="+mn-lt"/>
                <a:ea typeface="+mn-ea"/>
                <a:cs typeface="+mn-cs"/>
              </a:rPr>
              <a:t>, then cover the </a:t>
            </a:r>
            <a:r>
              <a:rPr lang="en-US" sz="1200" b="1" i="0" kern="1200" dirty="0">
                <a:solidFill>
                  <a:schemeClr val="tx1"/>
                </a:solidFill>
                <a:effectLst/>
                <a:latin typeface="+mn-lt"/>
                <a:ea typeface="+mn-ea"/>
                <a:cs typeface="+mn-cs"/>
              </a:rPr>
              <a:t>technology stack</a:t>
            </a:r>
            <a:r>
              <a:rPr lang="en-US" sz="1200" b="0" i="0" kern="1200" dirty="0">
                <a:solidFill>
                  <a:schemeClr val="tx1"/>
                </a:solidFill>
                <a:effectLst/>
                <a:latin typeface="+mn-lt"/>
                <a:ea typeface="+mn-ea"/>
                <a:cs typeface="+mn-cs"/>
              </a:rPr>
              <a:t> and </a:t>
            </a:r>
            <a:r>
              <a:rPr lang="en-US" sz="1200" b="1" i="0" kern="1200" dirty="0">
                <a:solidFill>
                  <a:schemeClr val="tx1"/>
                </a:solidFill>
                <a:effectLst/>
                <a:latin typeface="+mn-lt"/>
                <a:ea typeface="+mn-ea"/>
                <a:cs typeface="+mn-cs"/>
              </a:rPr>
              <a:t>system architecture</a:t>
            </a:r>
            <a:r>
              <a:rPr lang="en-US" sz="1200" b="0" i="0" kern="1200" dirty="0">
                <a:solidFill>
                  <a:schemeClr val="tx1"/>
                </a:solidFill>
                <a:effectLst/>
                <a:latin typeface="+mn-lt"/>
                <a:ea typeface="+mn-ea"/>
                <a:cs typeface="+mn-cs"/>
              </a:rPr>
              <a:t>. From there we move into </a:t>
            </a:r>
            <a:r>
              <a:rPr lang="en-US" sz="1200" b="1" i="0" kern="1200" dirty="0">
                <a:solidFill>
                  <a:schemeClr val="tx1"/>
                </a:solidFill>
                <a:effectLst/>
                <a:latin typeface="+mn-lt"/>
                <a:ea typeface="+mn-ea"/>
                <a:cs typeface="+mn-cs"/>
              </a:rPr>
              <a:t>database design</a:t>
            </a:r>
            <a:r>
              <a:rPr lang="en-US" sz="1200" b="0" i="0" kern="1200" dirty="0">
                <a:solidFill>
                  <a:schemeClr val="tx1"/>
                </a:solidFill>
                <a:effectLst/>
                <a:latin typeface="+mn-lt"/>
                <a:ea typeface="+mn-ea"/>
                <a:cs typeface="+mn-cs"/>
              </a:rPr>
              <a:t>, the </a:t>
            </a:r>
            <a:r>
              <a:rPr lang="en-US" sz="1200" b="1" i="0" kern="1200" dirty="0">
                <a:solidFill>
                  <a:schemeClr val="tx1"/>
                </a:solidFill>
                <a:effectLst/>
                <a:latin typeface="+mn-lt"/>
                <a:ea typeface="+mn-ea"/>
                <a:cs typeface="+mn-cs"/>
              </a:rPr>
              <a:t>backend API</a:t>
            </a:r>
            <a:r>
              <a:rPr lang="en-US" sz="1200" b="0" i="0" kern="1200" dirty="0">
                <a:solidFill>
                  <a:schemeClr val="tx1"/>
                </a:solidFill>
                <a:effectLst/>
                <a:latin typeface="+mn-lt"/>
                <a:ea typeface="+mn-ea"/>
                <a:cs typeface="+mn-cs"/>
              </a:rPr>
              <a:t>, and </a:t>
            </a:r>
            <a:r>
              <a:rPr lang="en-US" sz="1200" b="1" i="0" kern="1200" dirty="0">
                <a:solidFill>
                  <a:schemeClr val="tx1"/>
                </a:solidFill>
                <a:effectLst/>
                <a:latin typeface="+mn-lt"/>
                <a:ea typeface="+mn-ea"/>
                <a:cs typeface="+mn-cs"/>
              </a:rPr>
              <a:t>frontend design</a:t>
            </a:r>
            <a:r>
              <a:rPr lang="en-US" sz="1200" b="0" i="0" kern="1200" dirty="0">
                <a:solidFill>
                  <a:schemeClr val="tx1"/>
                </a:solidFill>
                <a:effectLst/>
                <a:latin typeface="+mn-lt"/>
                <a:ea typeface="+mn-ea"/>
                <a:cs typeface="+mn-cs"/>
              </a:rPr>
              <a:t>. After that I will summarize </a:t>
            </a:r>
            <a:r>
              <a:rPr lang="en-US" sz="1200" b="1" i="0" kern="1200" dirty="0">
                <a:solidFill>
                  <a:schemeClr val="tx1"/>
                </a:solidFill>
                <a:effectLst/>
                <a:latin typeface="+mn-lt"/>
                <a:ea typeface="+mn-ea"/>
                <a:cs typeface="+mn-cs"/>
              </a:rPr>
              <a:t>key features</a:t>
            </a:r>
            <a:r>
              <a:rPr lang="en-US" sz="1200" b="0" i="0" kern="1200" dirty="0">
                <a:solidFill>
                  <a:schemeClr val="tx1"/>
                </a:solidFill>
                <a:effectLst/>
                <a:latin typeface="+mn-lt"/>
                <a:ea typeface="+mn-ea"/>
                <a:cs typeface="+mn-cs"/>
              </a:rPr>
              <a:t>, show a </a:t>
            </a:r>
            <a:r>
              <a:rPr lang="en-US" sz="1200" b="1" i="0" kern="1200" dirty="0">
                <a:solidFill>
                  <a:schemeClr val="tx1"/>
                </a:solidFill>
                <a:effectLst/>
                <a:latin typeface="+mn-lt"/>
                <a:ea typeface="+mn-ea"/>
                <a:cs typeface="+mn-cs"/>
              </a:rPr>
              <a:t>live demo</a:t>
            </a:r>
            <a:r>
              <a:rPr lang="en-US" sz="1200" b="0" i="0" kern="1200" dirty="0">
                <a:solidFill>
                  <a:schemeClr val="tx1"/>
                </a:solidFill>
                <a:effectLst/>
                <a:latin typeface="+mn-lt"/>
                <a:ea typeface="+mn-ea"/>
                <a:cs typeface="+mn-cs"/>
              </a:rPr>
              <a:t>, discuss </a:t>
            </a:r>
            <a:r>
              <a:rPr lang="en-US" sz="1200" b="1" i="0" kern="1200" dirty="0">
                <a:solidFill>
                  <a:schemeClr val="tx1"/>
                </a:solidFill>
                <a:effectLst/>
                <a:latin typeface="+mn-lt"/>
                <a:ea typeface="+mn-ea"/>
                <a:cs typeface="+mn-cs"/>
              </a:rPr>
              <a:t>challenges and solutions</a:t>
            </a:r>
            <a:r>
              <a:rPr lang="en-US" sz="1200" b="0" i="0" kern="1200" dirty="0">
                <a:solidFill>
                  <a:schemeClr val="tx1"/>
                </a:solidFill>
                <a:effectLst/>
                <a:latin typeface="+mn-lt"/>
                <a:ea typeface="+mn-ea"/>
                <a:cs typeface="+mn-cs"/>
              </a:rPr>
              <a:t>, and close with </a:t>
            </a:r>
            <a:r>
              <a:rPr lang="en-US" sz="1200" b="1" i="0" kern="1200" dirty="0">
                <a:solidFill>
                  <a:schemeClr val="tx1"/>
                </a:solidFill>
                <a:effectLst/>
                <a:latin typeface="+mn-lt"/>
                <a:ea typeface="+mn-ea"/>
                <a:cs typeface="+mn-cs"/>
              </a:rPr>
              <a:t>conclusion and future work</a:t>
            </a:r>
            <a:r>
              <a:rPr lang="en-US" sz="1200" b="0" i="0" kern="1200" dirty="0">
                <a:solidFill>
                  <a:schemeClr val="tx1"/>
                </a:solidFill>
                <a:effectLst/>
                <a:latin typeface="+mn-lt"/>
                <a:ea typeface="+mn-ea"/>
                <a:cs typeface="+mn-cs"/>
              </a:rPr>
              <a:t>.</a:t>
            </a:r>
          </a:p>
          <a:p>
            <a:endParaRPr lang="en-US" dirty="0"/>
          </a:p>
        </p:txBody>
      </p:sp>
      <p:sp>
        <p:nvSpPr>
          <p:cNvPr id="4" name="Slide Number Placeholder 3"/>
          <p:cNvSpPr>
            <a:spLocks noGrp="1"/>
          </p:cNvSpPr>
          <p:nvPr>
            <p:ph type="sldNum" sz="quarter" idx="5"/>
          </p:nvPr>
        </p:nvSpPr>
        <p:spPr/>
        <p:txBody>
          <a:bodyPr/>
          <a:lstStyle/>
          <a:p>
            <a:fld id="{DF1C98F2-B9F0-4148-8C0F-A19261494B1A}" type="slidenum">
              <a:rPr lang="en-US" smtClean="0"/>
              <a:t>2</a:t>
            </a:fld>
            <a:endParaRPr lang="en-US"/>
          </a:p>
        </p:txBody>
      </p:sp>
    </p:spTree>
    <p:extLst>
      <p:ext uri="{BB962C8B-B14F-4D97-AF65-F5344CB8AC3E}">
        <p14:creationId xmlns:p14="http://schemas.microsoft.com/office/powerpoint/2010/main" val="369166669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Industrial and commercial facilities need </a:t>
            </a:r>
            <a:r>
              <a:rPr lang="en-US" sz="1200" b="1" i="0" kern="1200" dirty="0">
                <a:solidFill>
                  <a:schemeClr val="tx1"/>
                </a:solidFill>
                <a:effectLst/>
                <a:latin typeface="+mn-lt"/>
                <a:ea typeface="+mn-ea"/>
                <a:cs typeface="+mn-cs"/>
              </a:rPr>
              <a:t>continuous monitoring</a:t>
            </a:r>
            <a:r>
              <a:rPr lang="en-US" sz="1200" b="0" i="0" kern="1200" dirty="0">
                <a:solidFill>
                  <a:schemeClr val="tx1"/>
                </a:solidFill>
                <a:effectLst/>
                <a:latin typeface="+mn-lt"/>
                <a:ea typeface="+mn-ea"/>
                <a:cs typeface="+mn-cs"/>
              </a:rPr>
              <a:t> of equipment—temperature, pressure, level, speed, status, and faults—often across more than one location.</a:t>
            </a:r>
          </a:p>
          <a:p>
            <a:r>
              <a:rPr lang="en-US" sz="1200" b="0" i="0" kern="1200" dirty="0">
                <a:solidFill>
                  <a:schemeClr val="tx1"/>
                </a:solidFill>
                <a:effectLst/>
                <a:latin typeface="+mn-lt"/>
                <a:ea typeface="+mn-ea"/>
                <a:cs typeface="+mn-cs"/>
              </a:rPr>
              <a:t>Traditional systems solve that, but they are usually </a:t>
            </a:r>
            <a:r>
              <a:rPr lang="en-US" sz="1200" b="1" i="0" kern="1200" dirty="0">
                <a:solidFill>
                  <a:schemeClr val="tx1"/>
                </a:solidFill>
                <a:effectLst/>
                <a:latin typeface="+mn-lt"/>
                <a:ea typeface="+mn-ea"/>
                <a:cs typeface="+mn-cs"/>
              </a:rPr>
              <a:t>expensive</a:t>
            </a:r>
            <a:r>
              <a:rPr lang="en-US" sz="1200" b="0" i="0" kern="1200" dirty="0">
                <a:solidFill>
                  <a:schemeClr val="tx1"/>
                </a:solidFill>
                <a:effectLst/>
                <a:latin typeface="+mn-lt"/>
                <a:ea typeface="+mn-ea"/>
                <a:cs typeface="+mn-cs"/>
              </a:rPr>
              <a:t> and </a:t>
            </a:r>
            <a:r>
              <a:rPr lang="en-US" sz="1200" b="1" i="0" kern="1200" dirty="0">
                <a:solidFill>
                  <a:schemeClr val="tx1"/>
                </a:solidFill>
                <a:effectLst/>
                <a:latin typeface="+mn-lt"/>
                <a:ea typeface="+mn-ea"/>
                <a:cs typeface="+mn-cs"/>
              </a:rPr>
              <a:t>lock organizations into proprietary hardware and software</a:t>
            </a:r>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This approach is a </a:t>
            </a:r>
            <a:r>
              <a:rPr lang="en-US" sz="1200" b="1" i="0" kern="1200" dirty="0">
                <a:solidFill>
                  <a:schemeClr val="tx1"/>
                </a:solidFill>
                <a:effectLst/>
                <a:latin typeface="+mn-lt"/>
                <a:ea typeface="+mn-ea"/>
                <a:cs typeface="+mn-cs"/>
              </a:rPr>
              <a:t>web-based dashboard</a:t>
            </a:r>
            <a:r>
              <a:rPr lang="en-US" sz="1200" b="0" i="0" kern="1200" dirty="0">
                <a:solidFill>
                  <a:schemeClr val="tx1"/>
                </a:solidFill>
                <a:effectLst/>
                <a:latin typeface="+mn-lt"/>
                <a:ea typeface="+mn-ea"/>
                <a:cs typeface="+mn-cs"/>
              </a:rPr>
              <a:t> that runs in </a:t>
            </a:r>
            <a:r>
              <a:rPr lang="en-US" sz="1200" b="1" i="0" kern="1200" dirty="0">
                <a:solidFill>
                  <a:schemeClr val="tx1"/>
                </a:solidFill>
                <a:effectLst/>
                <a:latin typeface="+mn-lt"/>
                <a:ea typeface="+mn-ea"/>
                <a:cs typeface="+mn-cs"/>
              </a:rPr>
              <a:t>any browser</a:t>
            </a:r>
            <a:r>
              <a:rPr lang="en-US" sz="1200" b="0" i="0" kern="1200" dirty="0">
                <a:solidFill>
                  <a:schemeClr val="tx1"/>
                </a:solidFill>
                <a:effectLst/>
                <a:latin typeface="+mn-lt"/>
                <a:ea typeface="+mn-ea"/>
                <a:cs typeface="+mn-cs"/>
              </a:rPr>
              <a:t>, built with a standard stack—ASP.NET Core, React, SQL Server, MQTT, and </a:t>
            </a:r>
            <a:r>
              <a:rPr lang="en-US" sz="1200" b="0" i="0" kern="1200" dirty="0" err="1">
                <a:solidFill>
                  <a:schemeClr val="tx1"/>
                </a:solidFill>
                <a:effectLst/>
                <a:latin typeface="+mn-lt"/>
                <a:ea typeface="+mn-ea"/>
                <a:cs typeface="+mn-cs"/>
              </a:rPr>
              <a:t>SignalR</a:t>
            </a:r>
            <a:r>
              <a:rPr lang="en-US" sz="1200" b="0" i="0" kern="1200" dirty="0">
                <a:solidFill>
                  <a:schemeClr val="tx1"/>
                </a:solidFill>
                <a:effectLst/>
                <a:latin typeface="+mn-lt"/>
                <a:ea typeface="+mn-ea"/>
                <a:cs typeface="+mn-cs"/>
              </a:rPr>
              <a:t>—and common IoT hardware such as Arduino, ESP32, and Raspberry Pi.</a:t>
            </a:r>
          </a:p>
          <a:p>
            <a:r>
              <a:rPr lang="en-US" sz="1200" b="0" i="0" kern="1200" dirty="0">
                <a:solidFill>
                  <a:schemeClr val="tx1"/>
                </a:solidFill>
                <a:effectLst/>
                <a:latin typeface="+mn-lt"/>
                <a:ea typeface="+mn-ea"/>
                <a:cs typeface="+mn-cs"/>
              </a:rPr>
              <a:t>The result is </a:t>
            </a:r>
            <a:r>
              <a:rPr lang="en-US" sz="1200" b="1" i="0" kern="1200" dirty="0">
                <a:solidFill>
                  <a:schemeClr val="tx1"/>
                </a:solidFill>
                <a:effectLst/>
                <a:latin typeface="+mn-lt"/>
                <a:ea typeface="+mn-ea"/>
                <a:cs typeface="+mn-cs"/>
              </a:rPr>
              <a:t>real-time visibility</a:t>
            </a:r>
            <a:r>
              <a:rPr lang="en-US" sz="1200" b="0" i="0" kern="1200" dirty="0">
                <a:solidFill>
                  <a:schemeClr val="tx1"/>
                </a:solidFill>
                <a:effectLst/>
                <a:latin typeface="+mn-lt"/>
                <a:ea typeface="+mn-ea"/>
                <a:cs typeface="+mn-cs"/>
              </a:rPr>
              <a:t>, </a:t>
            </a:r>
            <a:r>
              <a:rPr lang="en-US" sz="1200" b="1" i="0" kern="1200" dirty="0">
                <a:solidFill>
                  <a:schemeClr val="tx1"/>
                </a:solidFill>
                <a:effectLst/>
                <a:latin typeface="+mn-lt"/>
                <a:ea typeface="+mn-ea"/>
                <a:cs typeface="+mn-cs"/>
              </a:rPr>
              <a:t>historical storage in SQL Server</a:t>
            </a:r>
            <a:r>
              <a:rPr lang="en-US" sz="1200" b="0" i="0" kern="1200" dirty="0">
                <a:solidFill>
                  <a:schemeClr val="tx1"/>
                </a:solidFill>
                <a:effectLst/>
                <a:latin typeface="+mn-lt"/>
                <a:ea typeface="+mn-ea"/>
                <a:cs typeface="+mn-cs"/>
              </a:rPr>
              <a:t>, and a </a:t>
            </a:r>
            <a:r>
              <a:rPr lang="en-US" sz="1200" b="1" i="0" kern="1200" dirty="0">
                <a:solidFill>
                  <a:schemeClr val="tx1"/>
                </a:solidFill>
                <a:effectLst/>
                <a:latin typeface="+mn-lt"/>
                <a:ea typeface="+mn-ea"/>
                <a:cs typeface="+mn-cs"/>
              </a:rPr>
              <a:t>practical, cost-effective</a:t>
            </a:r>
            <a:r>
              <a:rPr lang="en-US" sz="1200" b="0" i="0" kern="1200" dirty="0">
                <a:solidFill>
                  <a:schemeClr val="tx1"/>
                </a:solidFill>
                <a:effectLst/>
                <a:latin typeface="+mn-lt"/>
                <a:ea typeface="+mn-ea"/>
                <a:cs typeface="+mn-cs"/>
              </a:rPr>
              <a:t> alternative to full SCADA for capstone-scale deployment.</a:t>
            </a:r>
          </a:p>
          <a:p>
            <a:endParaRPr lang="en-US" dirty="0"/>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59C74A3D-EE77-4EA1-8E36-75207C739CFD}"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019452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These six capabilities define what the system does.</a:t>
            </a:r>
          </a:p>
          <a:p>
            <a:r>
              <a:rPr lang="en-US" sz="1200" b="0" i="0" kern="1200" dirty="0">
                <a:solidFill>
                  <a:schemeClr val="tx1"/>
                </a:solidFill>
                <a:effectLst/>
                <a:latin typeface="+mn-lt"/>
                <a:ea typeface="+mn-ea"/>
                <a:cs typeface="+mn-cs"/>
              </a:rPr>
              <a:t>First, </a:t>
            </a:r>
            <a:r>
              <a:rPr lang="en-US" sz="1200" b="1" i="0" kern="1200" dirty="0">
                <a:solidFill>
                  <a:schemeClr val="tx1"/>
                </a:solidFill>
                <a:effectLst/>
                <a:latin typeface="+mn-lt"/>
                <a:ea typeface="+mn-ea"/>
                <a:cs typeface="+mn-cs"/>
              </a:rPr>
              <a:t>device and sensor setup</a:t>
            </a:r>
            <a:r>
              <a:rPr lang="en-US" sz="1200" b="0" i="0" kern="1200" dirty="0">
                <a:solidFill>
                  <a:schemeClr val="tx1"/>
                </a:solidFill>
                <a:effectLst/>
                <a:latin typeface="+mn-lt"/>
                <a:ea typeface="+mn-ea"/>
                <a:cs typeface="+mn-cs"/>
              </a:rPr>
              <a:t>: register IoT devices and configure sensors and actuators in the application.</a:t>
            </a:r>
          </a:p>
          <a:p>
            <a:r>
              <a:rPr lang="en-US" sz="1200" b="1" i="0" kern="1200" dirty="0">
                <a:solidFill>
                  <a:schemeClr val="tx1"/>
                </a:solidFill>
                <a:effectLst/>
                <a:latin typeface="+mn-lt"/>
                <a:ea typeface="+mn-ea"/>
                <a:cs typeface="+mn-cs"/>
              </a:rPr>
              <a:t>Real-time monitoring</a:t>
            </a:r>
            <a:r>
              <a:rPr lang="en-US" sz="1200" b="0" i="0" kern="1200" dirty="0">
                <a:solidFill>
                  <a:schemeClr val="tx1"/>
                </a:solidFill>
                <a:effectLst/>
                <a:latin typeface="+mn-lt"/>
                <a:ea typeface="+mn-ea"/>
                <a:cs typeface="+mn-cs"/>
              </a:rPr>
              <a:t> delivers live readings and </a:t>
            </a:r>
            <a:r>
              <a:rPr lang="en-US" sz="1200" b="1" i="0" kern="1200" dirty="0">
                <a:solidFill>
                  <a:schemeClr val="tx1"/>
                </a:solidFill>
                <a:effectLst/>
                <a:latin typeface="+mn-lt"/>
                <a:ea typeface="+mn-ea"/>
                <a:cs typeface="+mn-cs"/>
              </a:rPr>
              <a:t>online/offline</a:t>
            </a:r>
            <a:r>
              <a:rPr lang="en-US" sz="1200" b="0" i="0" kern="1200" dirty="0">
                <a:solidFill>
                  <a:schemeClr val="tx1"/>
                </a:solidFill>
                <a:effectLst/>
                <a:latin typeface="+mn-lt"/>
                <a:ea typeface="+mn-ea"/>
                <a:cs typeface="+mn-cs"/>
              </a:rPr>
              <a:t> status based on device activity.</a:t>
            </a:r>
          </a:p>
          <a:p>
            <a:r>
              <a:rPr lang="en-US" sz="1200" b="1" i="0" kern="1200" dirty="0">
                <a:solidFill>
                  <a:schemeClr val="tx1"/>
                </a:solidFill>
                <a:effectLst/>
                <a:latin typeface="+mn-lt"/>
                <a:ea typeface="+mn-ea"/>
                <a:cs typeface="+mn-cs"/>
              </a:rPr>
              <a:t>Dashboards and charts</a:t>
            </a:r>
            <a:r>
              <a:rPr lang="en-US" sz="1200" b="0" i="0" kern="1200" dirty="0">
                <a:solidFill>
                  <a:schemeClr val="tx1"/>
                </a:solidFill>
                <a:effectLst/>
                <a:latin typeface="+mn-lt"/>
                <a:ea typeface="+mn-ea"/>
                <a:cs typeface="+mn-cs"/>
              </a:rPr>
              <a:t> show line trends, analog gauges, and discrete on/off indicators.</a:t>
            </a:r>
          </a:p>
          <a:p>
            <a:r>
              <a:rPr lang="en-US" sz="1200" b="1" i="0" kern="1200" dirty="0">
                <a:solidFill>
                  <a:schemeClr val="tx1"/>
                </a:solidFill>
                <a:effectLst/>
                <a:latin typeface="+mn-lt"/>
                <a:ea typeface="+mn-ea"/>
                <a:cs typeface="+mn-cs"/>
              </a:rPr>
              <a:t>Live and history windows</a:t>
            </a:r>
            <a:r>
              <a:rPr lang="en-US" sz="1200" b="0" i="0" kern="1200" dirty="0">
                <a:solidFill>
                  <a:schemeClr val="tx1"/>
                </a:solidFill>
                <a:effectLst/>
                <a:latin typeface="+mn-lt"/>
                <a:ea typeface="+mn-ea"/>
                <a:cs typeface="+mn-cs"/>
              </a:rPr>
              <a:t> support rolling live charts and history at ten minutes, one hour, twenty-four hours, or a custom range.</a:t>
            </a:r>
          </a:p>
          <a:p>
            <a:r>
              <a:rPr lang="en-US" sz="1200" b="1" i="0" kern="1200" dirty="0">
                <a:solidFill>
                  <a:schemeClr val="tx1"/>
                </a:solidFill>
                <a:effectLst/>
                <a:latin typeface="+mn-lt"/>
                <a:ea typeface="+mn-ea"/>
                <a:cs typeface="+mn-cs"/>
              </a:rPr>
              <a:t>Threshold alerting</a:t>
            </a:r>
            <a:r>
              <a:rPr lang="en-US" sz="1200" b="0" i="0" kern="1200" dirty="0">
                <a:solidFill>
                  <a:schemeClr val="tx1"/>
                </a:solidFill>
                <a:effectLst/>
                <a:latin typeface="+mn-lt"/>
                <a:ea typeface="+mn-ea"/>
                <a:cs typeface="+mn-cs"/>
              </a:rPr>
              <a:t> provides rule-based notifications when limits are exceeded.</a:t>
            </a:r>
          </a:p>
          <a:p>
            <a:r>
              <a:rPr lang="en-US" sz="1200" b="0" i="0" kern="1200" dirty="0">
                <a:solidFill>
                  <a:schemeClr val="tx1"/>
                </a:solidFill>
                <a:effectLst/>
                <a:latin typeface="+mn-lt"/>
                <a:ea typeface="+mn-ea"/>
                <a:cs typeface="+mn-cs"/>
              </a:rPr>
              <a:t>Finally, </a:t>
            </a:r>
            <a:r>
              <a:rPr lang="en-US" sz="1200" b="1" i="0" kern="1200" dirty="0">
                <a:solidFill>
                  <a:schemeClr val="tx1"/>
                </a:solidFill>
                <a:effectLst/>
                <a:latin typeface="+mn-lt"/>
                <a:ea typeface="+mn-ea"/>
                <a:cs typeface="+mn-cs"/>
              </a:rPr>
              <a:t>actuator commands</a:t>
            </a:r>
            <a:r>
              <a:rPr lang="en-US" sz="1200" b="0" i="0" kern="1200" dirty="0">
                <a:solidFill>
                  <a:schemeClr val="tx1"/>
                </a:solidFill>
                <a:effectLst/>
                <a:latin typeface="+mn-lt"/>
                <a:ea typeface="+mn-ea"/>
                <a:cs typeface="+mn-cs"/>
              </a:rPr>
              <a:t> allow remote control—for example an LED—with </a:t>
            </a:r>
            <a:r>
              <a:rPr lang="en-US" sz="1200" b="1" i="0" kern="1200" dirty="0">
                <a:solidFill>
                  <a:schemeClr val="tx1"/>
                </a:solidFill>
                <a:effectLst/>
                <a:latin typeface="+mn-lt"/>
                <a:ea typeface="+mn-ea"/>
                <a:cs typeface="+mn-cs"/>
              </a:rPr>
              <a:t>command history</a:t>
            </a:r>
            <a:r>
              <a:rPr lang="en-US" sz="1200" b="0" i="0" kern="1200" dirty="0">
                <a:solidFill>
                  <a:schemeClr val="tx1"/>
                </a:solidFill>
                <a:effectLst/>
                <a:latin typeface="+mn-lt"/>
                <a:ea typeface="+mn-ea"/>
                <a:cs typeface="+mn-cs"/>
              </a:rPr>
              <a:t> for traceability.</a:t>
            </a:r>
          </a:p>
          <a:p>
            <a:r>
              <a:rPr lang="en-US" sz="1200" b="0" i="0" kern="1200" dirty="0">
                <a:solidFill>
                  <a:schemeClr val="tx1"/>
                </a:solidFill>
                <a:effectLst/>
                <a:latin typeface="+mn-lt"/>
                <a:ea typeface="+mn-ea"/>
                <a:cs typeface="+mn-cs"/>
              </a:rPr>
              <a:t>Together, the system supports </a:t>
            </a:r>
            <a:r>
              <a:rPr lang="en-US" sz="1200" b="1" i="0" kern="1200" dirty="0">
                <a:solidFill>
                  <a:schemeClr val="tx1"/>
                </a:solidFill>
                <a:effectLst/>
                <a:latin typeface="+mn-lt"/>
                <a:ea typeface="+mn-ea"/>
                <a:cs typeface="+mn-cs"/>
              </a:rPr>
              <a:t>configure, observe, and respond</a:t>
            </a:r>
            <a:r>
              <a:rPr lang="en-US" sz="1200" b="0" i="0" kern="1200" dirty="0">
                <a:solidFill>
                  <a:schemeClr val="tx1"/>
                </a:solidFill>
                <a:effectLst/>
                <a:latin typeface="+mn-lt"/>
                <a:ea typeface="+mn-ea"/>
                <a:cs typeface="+mn-cs"/>
              </a:rPr>
              <a:t> from one web application.</a:t>
            </a:r>
          </a:p>
          <a:p>
            <a:endParaRPr lang="en-US" dirty="0"/>
          </a:p>
        </p:txBody>
      </p:sp>
      <p:sp>
        <p:nvSpPr>
          <p:cNvPr id="4" name="Slide Number Placeholder 3"/>
          <p:cNvSpPr>
            <a:spLocks noGrp="1"/>
          </p:cNvSpPr>
          <p:nvPr>
            <p:ph type="sldNum" sz="quarter" idx="5"/>
          </p:nvPr>
        </p:nvSpPr>
        <p:spPr/>
        <p:txBody>
          <a:bodyPr/>
          <a:lstStyle/>
          <a:p>
            <a:fld id="{DF1C98F2-B9F0-4148-8C0F-A19261494B1A}" type="slidenum">
              <a:rPr lang="en-US" smtClean="0"/>
              <a:t>4</a:t>
            </a:fld>
            <a:endParaRPr lang="en-US"/>
          </a:p>
        </p:txBody>
      </p:sp>
    </p:spTree>
    <p:extLst>
      <p:ext uri="{BB962C8B-B14F-4D97-AF65-F5344CB8AC3E}">
        <p14:creationId xmlns:p14="http://schemas.microsoft.com/office/powerpoint/2010/main" val="40545877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This slide shows how those capabilities are built.</a:t>
            </a:r>
          </a:p>
          <a:p>
            <a:r>
              <a:rPr lang="en-US" sz="1200" b="0" i="0" kern="1200" dirty="0">
                <a:solidFill>
                  <a:schemeClr val="tx1"/>
                </a:solidFill>
                <a:effectLst/>
                <a:latin typeface="+mn-lt"/>
                <a:ea typeface="+mn-ea"/>
                <a:cs typeface="+mn-cs"/>
              </a:rPr>
              <a:t>Data flows from the </a:t>
            </a:r>
            <a:r>
              <a:rPr lang="en-US" sz="1200" b="1" i="0" kern="1200" dirty="0">
                <a:solidFill>
                  <a:schemeClr val="tx1"/>
                </a:solidFill>
                <a:effectLst/>
                <a:latin typeface="+mn-lt"/>
                <a:ea typeface="+mn-ea"/>
                <a:cs typeface="+mn-cs"/>
              </a:rPr>
              <a:t>device through MQTT to the API, into SQL Server, and to the React UI via </a:t>
            </a:r>
            <a:r>
              <a:rPr lang="en-US" sz="1200" b="1" i="0" kern="1200" dirty="0" err="1">
                <a:solidFill>
                  <a:schemeClr val="tx1"/>
                </a:solidFill>
                <a:effectLst/>
                <a:latin typeface="+mn-lt"/>
                <a:ea typeface="+mn-ea"/>
                <a:cs typeface="+mn-cs"/>
              </a:rPr>
              <a:t>SignalR</a:t>
            </a:r>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The </a:t>
            </a:r>
            <a:r>
              <a:rPr lang="en-US" sz="1200" b="1" i="0" kern="1200" dirty="0">
                <a:solidFill>
                  <a:schemeClr val="tx1"/>
                </a:solidFill>
                <a:effectLst/>
                <a:latin typeface="+mn-lt"/>
                <a:ea typeface="+mn-ea"/>
                <a:cs typeface="+mn-cs"/>
              </a:rPr>
              <a:t>backend</a:t>
            </a:r>
            <a:r>
              <a:rPr lang="en-US" sz="1200" b="0" i="0" kern="1200" dirty="0">
                <a:solidFill>
                  <a:schemeClr val="tx1"/>
                </a:solidFill>
                <a:effectLst/>
                <a:latin typeface="+mn-lt"/>
                <a:ea typeface="+mn-ea"/>
                <a:cs typeface="+mn-cs"/>
              </a:rPr>
              <a:t> is </a:t>
            </a:r>
            <a:r>
              <a:rPr lang="en-US" sz="1200" b="1" i="0" kern="1200" dirty="0">
                <a:solidFill>
                  <a:schemeClr val="tx1"/>
                </a:solidFill>
                <a:effectLst/>
                <a:latin typeface="+mn-lt"/>
                <a:ea typeface="+mn-ea"/>
                <a:cs typeface="+mn-cs"/>
              </a:rPr>
              <a:t>C# and ASP.NET Core 8</a:t>
            </a:r>
            <a:r>
              <a:rPr lang="en-US" sz="1200" b="0" i="0" kern="1200" dirty="0">
                <a:solidFill>
                  <a:schemeClr val="tx1"/>
                </a:solidFill>
                <a:effectLst/>
                <a:latin typeface="+mn-lt"/>
                <a:ea typeface="+mn-ea"/>
                <a:cs typeface="+mn-cs"/>
              </a:rPr>
              <a:t>, providing REST APIs, MQTT ingest, and JWT authentication.</a:t>
            </a:r>
          </a:p>
          <a:p>
            <a:r>
              <a:rPr lang="en-US" sz="1200" b="1" i="0" kern="1200" dirty="0">
                <a:solidFill>
                  <a:schemeClr val="tx1"/>
                </a:solidFill>
                <a:effectLst/>
                <a:latin typeface="+mn-lt"/>
                <a:ea typeface="+mn-ea"/>
                <a:cs typeface="+mn-cs"/>
              </a:rPr>
              <a:t>IoT messaging</a:t>
            </a:r>
            <a:r>
              <a:rPr lang="en-US" sz="1200" b="0" i="0" kern="1200" dirty="0">
                <a:solidFill>
                  <a:schemeClr val="tx1"/>
                </a:solidFill>
                <a:effectLst/>
                <a:latin typeface="+mn-lt"/>
                <a:ea typeface="+mn-ea"/>
                <a:cs typeface="+mn-cs"/>
              </a:rPr>
              <a:t> uses </a:t>
            </a:r>
            <a:r>
              <a:rPr lang="en-US" sz="1200" b="1" i="0" kern="1200" dirty="0">
                <a:solidFill>
                  <a:schemeClr val="tx1"/>
                </a:solidFill>
                <a:effectLst/>
                <a:latin typeface="+mn-lt"/>
                <a:ea typeface="+mn-ea"/>
                <a:cs typeface="+mn-cs"/>
              </a:rPr>
              <a:t>MQTT</a:t>
            </a:r>
            <a:r>
              <a:rPr lang="en-US" sz="1200" b="0" i="0" kern="1200" dirty="0">
                <a:solidFill>
                  <a:schemeClr val="tx1"/>
                </a:solidFill>
                <a:effectLst/>
                <a:latin typeface="+mn-lt"/>
                <a:ea typeface="+mn-ea"/>
                <a:cs typeface="+mn-cs"/>
              </a:rPr>
              <a:t> with a </a:t>
            </a:r>
            <a:r>
              <a:rPr lang="en-US" sz="1200" b="1" i="0" kern="1200" dirty="0" err="1">
                <a:solidFill>
                  <a:schemeClr val="tx1"/>
                </a:solidFill>
                <a:effectLst/>
                <a:latin typeface="+mn-lt"/>
                <a:ea typeface="+mn-ea"/>
                <a:cs typeface="+mn-cs"/>
              </a:rPr>
              <a:t>Mosquitto</a:t>
            </a:r>
            <a:r>
              <a:rPr lang="en-US" sz="1200" b="0" i="0" kern="1200" dirty="0">
                <a:solidFill>
                  <a:schemeClr val="tx1"/>
                </a:solidFill>
                <a:effectLst/>
                <a:latin typeface="+mn-lt"/>
                <a:ea typeface="+mn-ea"/>
                <a:cs typeface="+mn-cs"/>
              </a:rPr>
              <a:t> broker; commands to actuators use the same path in reverse.</a:t>
            </a:r>
          </a:p>
          <a:p>
            <a:r>
              <a:rPr lang="en-US" sz="1200" b="1" i="0" kern="1200" dirty="0" err="1">
                <a:solidFill>
                  <a:schemeClr val="tx1"/>
                </a:solidFill>
                <a:effectLst/>
                <a:latin typeface="+mn-lt"/>
                <a:ea typeface="+mn-ea"/>
                <a:cs typeface="+mn-cs"/>
              </a:rPr>
              <a:t>SignalR</a:t>
            </a:r>
            <a:r>
              <a:rPr lang="en-US" sz="1200" b="0" i="0" kern="1200" dirty="0">
                <a:solidFill>
                  <a:schemeClr val="tx1"/>
                </a:solidFill>
                <a:effectLst/>
                <a:latin typeface="+mn-lt"/>
                <a:ea typeface="+mn-ea"/>
                <a:cs typeface="+mn-cs"/>
              </a:rPr>
              <a:t> handles server-to-client live updates for readings and alerts.</a:t>
            </a:r>
          </a:p>
          <a:p>
            <a:r>
              <a:rPr lang="en-US" sz="1200" b="0" i="0" kern="1200" dirty="0">
                <a:solidFill>
                  <a:schemeClr val="tx1"/>
                </a:solidFill>
                <a:effectLst/>
                <a:latin typeface="+mn-lt"/>
                <a:ea typeface="+mn-ea"/>
                <a:cs typeface="+mn-cs"/>
              </a:rPr>
              <a:t>The </a:t>
            </a:r>
            <a:r>
              <a:rPr lang="en-US" sz="1200" b="1" i="0" kern="1200" dirty="0">
                <a:solidFill>
                  <a:schemeClr val="tx1"/>
                </a:solidFill>
                <a:effectLst/>
                <a:latin typeface="+mn-lt"/>
                <a:ea typeface="+mn-ea"/>
                <a:cs typeface="+mn-cs"/>
              </a:rPr>
              <a:t>frontend</a:t>
            </a:r>
            <a:r>
              <a:rPr lang="en-US" sz="1200" b="0" i="0" kern="1200" dirty="0">
                <a:solidFill>
                  <a:schemeClr val="tx1"/>
                </a:solidFill>
                <a:effectLst/>
                <a:latin typeface="+mn-lt"/>
                <a:ea typeface="+mn-ea"/>
                <a:cs typeface="+mn-cs"/>
              </a:rPr>
              <a:t> is </a:t>
            </a:r>
            <a:r>
              <a:rPr lang="en-US" sz="1200" b="1" i="0" kern="1200" dirty="0">
                <a:solidFill>
                  <a:schemeClr val="tx1"/>
                </a:solidFill>
                <a:effectLst/>
                <a:latin typeface="+mn-lt"/>
                <a:ea typeface="+mn-ea"/>
                <a:cs typeface="+mn-cs"/>
              </a:rPr>
              <a:t>React with TypeScript</a:t>
            </a:r>
            <a:r>
              <a:rPr lang="en-US" sz="1200" b="0" i="0" kern="1200" dirty="0">
                <a:solidFill>
                  <a:schemeClr val="tx1"/>
                </a:solidFill>
                <a:effectLst/>
                <a:latin typeface="+mn-lt"/>
                <a:ea typeface="+mn-ea"/>
                <a:cs typeface="+mn-cs"/>
              </a:rPr>
              <a:t> and Material-UI.</a:t>
            </a:r>
          </a:p>
          <a:p>
            <a:r>
              <a:rPr lang="en-US" sz="1200" b="1" i="0" kern="1200" dirty="0">
                <a:solidFill>
                  <a:schemeClr val="tx1"/>
                </a:solidFill>
                <a:effectLst/>
                <a:latin typeface="+mn-lt"/>
                <a:ea typeface="+mn-ea"/>
                <a:cs typeface="+mn-cs"/>
              </a:rPr>
              <a:t>SQL Server with Entity Framework Core</a:t>
            </a:r>
            <a:r>
              <a:rPr lang="en-US" sz="1200" b="0" i="0" kern="1200" dirty="0">
                <a:solidFill>
                  <a:schemeClr val="tx1"/>
                </a:solidFill>
                <a:effectLst/>
                <a:latin typeface="+mn-lt"/>
                <a:ea typeface="+mn-ea"/>
                <a:cs typeface="+mn-cs"/>
              </a:rPr>
              <a:t> stores configuration, readings, alerts, and commands.</a:t>
            </a:r>
          </a:p>
          <a:p>
            <a:r>
              <a:rPr lang="en-US" sz="1200" b="0" i="0" kern="1200" dirty="0">
                <a:solidFill>
                  <a:schemeClr val="tx1"/>
                </a:solidFill>
                <a:effectLst/>
                <a:latin typeface="+mn-lt"/>
                <a:ea typeface="+mn-ea"/>
                <a:cs typeface="+mn-cs"/>
              </a:rPr>
              <a:t>For delivery we use </a:t>
            </a:r>
            <a:r>
              <a:rPr lang="en-US" sz="1200" b="1" i="0" kern="1200" dirty="0">
                <a:solidFill>
                  <a:schemeClr val="tx1"/>
                </a:solidFill>
                <a:effectLst/>
                <a:latin typeface="+mn-lt"/>
                <a:ea typeface="+mn-ea"/>
                <a:cs typeface="+mn-cs"/>
              </a:rPr>
              <a:t>Git, GitHub, and Azure</a:t>
            </a:r>
            <a:r>
              <a:rPr lang="en-US" sz="1200" b="0" i="0" kern="1200" dirty="0">
                <a:solidFill>
                  <a:schemeClr val="tx1"/>
                </a:solidFill>
                <a:effectLst/>
                <a:latin typeface="+mn-lt"/>
                <a:ea typeface="+mn-ea"/>
                <a:cs typeface="+mn-cs"/>
              </a:rPr>
              <a:t>—the API on Azure Web App and the SPA on Static Web Apps.</a:t>
            </a:r>
          </a:p>
          <a:p>
            <a:endParaRPr lang="en-US" dirty="0"/>
          </a:p>
        </p:txBody>
      </p:sp>
      <p:sp>
        <p:nvSpPr>
          <p:cNvPr id="4" name="Slide Number Placeholder 3"/>
          <p:cNvSpPr>
            <a:spLocks noGrp="1"/>
          </p:cNvSpPr>
          <p:nvPr>
            <p:ph type="sldNum" sz="quarter" idx="5"/>
          </p:nvPr>
        </p:nvSpPr>
        <p:spPr/>
        <p:txBody>
          <a:bodyPr/>
          <a:lstStyle/>
          <a:p>
            <a:fld id="{DF1C98F2-B9F0-4148-8C0F-A19261494B1A}" type="slidenum">
              <a:rPr lang="en-US" smtClean="0"/>
              <a:t>5</a:t>
            </a:fld>
            <a:endParaRPr lang="en-US"/>
          </a:p>
        </p:txBody>
      </p:sp>
    </p:spTree>
    <p:extLst>
      <p:ext uri="{BB962C8B-B14F-4D97-AF65-F5344CB8AC3E}">
        <p14:creationId xmlns:p14="http://schemas.microsoft.com/office/powerpoint/2010/main" val="29752769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The architecture separates concerns so each layer has a clear role.</a:t>
            </a:r>
          </a:p>
          <a:p>
            <a:r>
              <a:rPr lang="en-US" sz="1200" b="1" i="0" kern="1200" dirty="0">
                <a:solidFill>
                  <a:schemeClr val="tx1"/>
                </a:solidFill>
                <a:effectLst/>
                <a:latin typeface="+mn-lt"/>
                <a:ea typeface="+mn-ea"/>
                <a:cs typeface="+mn-cs"/>
              </a:rPr>
              <a:t>IoT devices</a:t>
            </a:r>
            <a:r>
              <a:rPr lang="en-US" sz="1200" b="0" i="0" kern="1200" dirty="0">
                <a:solidFill>
                  <a:schemeClr val="tx1"/>
                </a:solidFill>
                <a:effectLst/>
                <a:latin typeface="+mn-lt"/>
                <a:ea typeface="+mn-ea"/>
                <a:cs typeface="+mn-cs"/>
              </a:rPr>
              <a:t> publish to an </a:t>
            </a:r>
            <a:r>
              <a:rPr lang="en-US" sz="1200" b="1" i="0" kern="1200" dirty="0">
                <a:solidFill>
                  <a:schemeClr val="tx1"/>
                </a:solidFill>
                <a:effectLst/>
                <a:latin typeface="+mn-lt"/>
                <a:ea typeface="+mn-ea"/>
                <a:cs typeface="+mn-cs"/>
              </a:rPr>
              <a:t>MQTT broker</a:t>
            </a:r>
            <a:r>
              <a:rPr lang="en-US" sz="1200" b="0" i="0" kern="1200" dirty="0">
                <a:solidFill>
                  <a:schemeClr val="tx1"/>
                </a:solidFill>
                <a:effectLst/>
                <a:latin typeface="+mn-lt"/>
                <a:ea typeface="+mn-ea"/>
                <a:cs typeface="+mn-cs"/>
              </a:rPr>
              <a:t>. The backend </a:t>
            </a:r>
            <a:r>
              <a:rPr lang="en-US" sz="1200" b="1" i="0" kern="1200" dirty="0" err="1">
                <a:solidFill>
                  <a:schemeClr val="tx1"/>
                </a:solidFill>
                <a:effectLst/>
                <a:latin typeface="+mn-lt"/>
                <a:ea typeface="+mn-ea"/>
                <a:cs typeface="+mn-cs"/>
              </a:rPr>
              <a:t>MqttService</a:t>
            </a:r>
            <a:r>
              <a:rPr lang="en-US" sz="1200" b="0" i="0" kern="1200" dirty="0">
                <a:solidFill>
                  <a:schemeClr val="tx1"/>
                </a:solidFill>
                <a:effectLst/>
                <a:latin typeface="+mn-lt"/>
                <a:ea typeface="+mn-ea"/>
                <a:cs typeface="+mn-cs"/>
              </a:rPr>
              <a:t> subscribes, parses JSON, and passes data to application services.</a:t>
            </a:r>
          </a:p>
          <a:p>
            <a:r>
              <a:rPr lang="en-US" sz="1200" b="0" i="0" kern="1200" dirty="0">
                <a:solidFill>
                  <a:schemeClr val="tx1"/>
                </a:solidFill>
                <a:effectLst/>
                <a:latin typeface="+mn-lt"/>
                <a:ea typeface="+mn-ea"/>
                <a:cs typeface="+mn-cs"/>
              </a:rPr>
              <a:t>In the </a:t>
            </a:r>
            <a:r>
              <a:rPr lang="en-US" sz="1200" b="1" i="0" kern="1200" dirty="0">
                <a:solidFill>
                  <a:schemeClr val="tx1"/>
                </a:solidFill>
                <a:effectLst/>
                <a:latin typeface="+mn-lt"/>
                <a:ea typeface="+mn-ea"/>
                <a:cs typeface="+mn-cs"/>
              </a:rPr>
              <a:t>backend</a:t>
            </a:r>
            <a:r>
              <a:rPr lang="en-US" sz="1200" b="0" i="0" kern="1200" dirty="0">
                <a:solidFill>
                  <a:schemeClr val="tx1"/>
                </a:solidFill>
                <a:effectLst/>
                <a:latin typeface="+mn-lt"/>
                <a:ea typeface="+mn-ea"/>
                <a:cs typeface="+mn-cs"/>
              </a:rPr>
              <a:t>, REST </a:t>
            </a:r>
            <a:r>
              <a:rPr lang="en-US" sz="1200" b="1" i="0" kern="1200" dirty="0">
                <a:solidFill>
                  <a:schemeClr val="tx1"/>
                </a:solidFill>
                <a:effectLst/>
                <a:latin typeface="+mn-lt"/>
                <a:ea typeface="+mn-ea"/>
                <a:cs typeface="+mn-cs"/>
              </a:rPr>
              <a:t>controllers</a:t>
            </a:r>
            <a:r>
              <a:rPr lang="en-US" sz="1200" b="0" i="0" kern="1200" dirty="0">
                <a:solidFill>
                  <a:schemeClr val="tx1"/>
                </a:solidFill>
                <a:effectLst/>
                <a:latin typeface="+mn-lt"/>
                <a:ea typeface="+mn-ea"/>
                <a:cs typeface="+mn-cs"/>
              </a:rPr>
              <a:t> call </a:t>
            </a:r>
            <a:r>
              <a:rPr lang="en-US" sz="1200" b="1" i="0" kern="1200" dirty="0">
                <a:solidFill>
                  <a:schemeClr val="tx1"/>
                </a:solidFill>
                <a:effectLst/>
                <a:latin typeface="+mn-lt"/>
                <a:ea typeface="+mn-ea"/>
                <a:cs typeface="+mn-cs"/>
              </a:rPr>
              <a:t>services</a:t>
            </a:r>
            <a:r>
              <a:rPr lang="en-US" sz="1200" b="0" i="0" kern="1200" dirty="0">
                <a:solidFill>
                  <a:schemeClr val="tx1"/>
                </a:solidFill>
                <a:effectLst/>
                <a:latin typeface="+mn-lt"/>
                <a:ea typeface="+mn-ea"/>
                <a:cs typeface="+mn-cs"/>
              </a:rPr>
              <a:t> and </a:t>
            </a:r>
            <a:r>
              <a:rPr lang="en-US" sz="1200" b="1" i="0" kern="1200" dirty="0">
                <a:solidFill>
                  <a:schemeClr val="tx1"/>
                </a:solidFill>
                <a:effectLst/>
                <a:latin typeface="+mn-lt"/>
                <a:ea typeface="+mn-ea"/>
                <a:cs typeface="+mn-cs"/>
              </a:rPr>
              <a:t>repositories</a:t>
            </a:r>
            <a:r>
              <a:rPr lang="en-US" sz="1200" b="0" i="0" kern="1200" dirty="0">
                <a:solidFill>
                  <a:schemeClr val="tx1"/>
                </a:solidFill>
                <a:effectLst/>
                <a:latin typeface="+mn-lt"/>
                <a:ea typeface="+mn-ea"/>
                <a:cs typeface="+mn-cs"/>
              </a:rPr>
              <a:t>. The </a:t>
            </a:r>
            <a:r>
              <a:rPr lang="en-US" sz="1200" b="1" i="0" kern="1200" dirty="0" err="1">
                <a:solidFill>
                  <a:schemeClr val="tx1"/>
                </a:solidFill>
                <a:effectLst/>
                <a:latin typeface="+mn-lt"/>
                <a:ea typeface="+mn-ea"/>
                <a:cs typeface="+mn-cs"/>
              </a:rPr>
              <a:t>MonitoringHub</a:t>
            </a:r>
            <a:r>
              <a:rPr lang="en-US" sz="1200" b="0" i="0" kern="1200" dirty="0">
                <a:solidFill>
                  <a:schemeClr val="tx1"/>
                </a:solidFill>
                <a:effectLst/>
                <a:latin typeface="+mn-lt"/>
                <a:ea typeface="+mn-ea"/>
                <a:cs typeface="+mn-cs"/>
              </a:rPr>
              <a:t> and </a:t>
            </a:r>
            <a:r>
              <a:rPr lang="en-US" sz="1200" b="1" i="0" kern="1200" dirty="0" err="1">
                <a:solidFill>
                  <a:schemeClr val="tx1"/>
                </a:solidFill>
                <a:effectLst/>
                <a:latin typeface="+mn-lt"/>
                <a:ea typeface="+mn-ea"/>
                <a:cs typeface="+mn-cs"/>
              </a:rPr>
              <a:t>SignalR</a:t>
            </a:r>
            <a:r>
              <a:rPr lang="en-US" sz="1200" b="1" i="0" kern="1200" dirty="0">
                <a:solidFill>
                  <a:schemeClr val="tx1"/>
                </a:solidFill>
                <a:effectLst/>
                <a:latin typeface="+mn-lt"/>
                <a:ea typeface="+mn-ea"/>
                <a:cs typeface="+mn-cs"/>
              </a:rPr>
              <a:t> notification service</a:t>
            </a:r>
            <a:r>
              <a:rPr lang="en-US" sz="1200" b="0" i="0" kern="1200" dirty="0">
                <a:solidFill>
                  <a:schemeClr val="tx1"/>
                </a:solidFill>
                <a:effectLst/>
                <a:latin typeface="+mn-lt"/>
                <a:ea typeface="+mn-ea"/>
                <a:cs typeface="+mn-cs"/>
              </a:rPr>
              <a:t> push events to clients </a:t>
            </a:r>
            <a:r>
              <a:rPr lang="en-US" sz="1200" b="1" i="0" kern="1200" dirty="0">
                <a:solidFill>
                  <a:schemeClr val="tx1"/>
                </a:solidFill>
                <a:effectLst/>
                <a:latin typeface="+mn-lt"/>
                <a:ea typeface="+mn-ea"/>
                <a:cs typeface="+mn-cs"/>
              </a:rPr>
              <a:t>after</a:t>
            </a:r>
            <a:r>
              <a:rPr lang="en-US" sz="1200" b="0" i="0" kern="1200" dirty="0">
                <a:solidFill>
                  <a:schemeClr val="tx1"/>
                </a:solidFill>
                <a:effectLst/>
                <a:latin typeface="+mn-lt"/>
                <a:ea typeface="+mn-ea"/>
                <a:cs typeface="+mn-cs"/>
              </a:rPr>
              <a:t> data is persisted.</a:t>
            </a:r>
          </a:p>
          <a:p>
            <a:r>
              <a:rPr lang="en-US" sz="1200" b="0" i="0" kern="1200" dirty="0">
                <a:solidFill>
                  <a:schemeClr val="tx1"/>
                </a:solidFill>
                <a:effectLst/>
                <a:latin typeface="+mn-lt"/>
                <a:ea typeface="+mn-ea"/>
                <a:cs typeface="+mn-cs"/>
              </a:rPr>
              <a:t>On the </a:t>
            </a:r>
            <a:r>
              <a:rPr lang="en-US" sz="1200" b="1" i="0" kern="1200" dirty="0">
                <a:solidFill>
                  <a:schemeClr val="tx1"/>
                </a:solidFill>
                <a:effectLst/>
                <a:latin typeface="+mn-lt"/>
                <a:ea typeface="+mn-ea"/>
                <a:cs typeface="+mn-cs"/>
              </a:rPr>
              <a:t>frontend</a:t>
            </a:r>
            <a:r>
              <a:rPr lang="en-US" sz="1200" b="0" i="0" kern="1200" dirty="0">
                <a:solidFill>
                  <a:schemeClr val="tx1"/>
                </a:solidFill>
                <a:effectLst/>
                <a:latin typeface="+mn-lt"/>
                <a:ea typeface="+mn-ea"/>
                <a:cs typeface="+mn-cs"/>
              </a:rPr>
              <a:t>, the React SPA uses a REST client for configuration and history, and a </a:t>
            </a:r>
            <a:r>
              <a:rPr lang="en-US" sz="1200" b="0" i="0" kern="1200" dirty="0" err="1">
                <a:solidFill>
                  <a:schemeClr val="tx1"/>
                </a:solidFill>
                <a:effectLst/>
                <a:latin typeface="+mn-lt"/>
                <a:ea typeface="+mn-ea"/>
                <a:cs typeface="+mn-cs"/>
              </a:rPr>
              <a:t>SignalR</a:t>
            </a:r>
            <a:r>
              <a:rPr lang="en-US" sz="1200" b="0" i="0" kern="1200" dirty="0">
                <a:solidFill>
                  <a:schemeClr val="tx1"/>
                </a:solidFill>
                <a:effectLst/>
                <a:latin typeface="+mn-lt"/>
                <a:ea typeface="+mn-ea"/>
                <a:cs typeface="+mn-cs"/>
              </a:rPr>
              <a:t> client for live updates.</a:t>
            </a:r>
          </a:p>
          <a:p>
            <a:r>
              <a:rPr lang="en-US" sz="1200" b="0" i="0" kern="1200" dirty="0">
                <a:solidFill>
                  <a:schemeClr val="tx1"/>
                </a:solidFill>
                <a:effectLst/>
                <a:latin typeface="+mn-lt"/>
                <a:ea typeface="+mn-ea"/>
                <a:cs typeface="+mn-cs"/>
              </a:rPr>
              <a:t>All durable data is stored in </a:t>
            </a:r>
            <a:r>
              <a:rPr lang="en-US" sz="1200" b="1" i="0" kern="1200" dirty="0">
                <a:solidFill>
                  <a:schemeClr val="tx1"/>
                </a:solidFill>
                <a:effectLst/>
                <a:latin typeface="+mn-lt"/>
                <a:ea typeface="+mn-ea"/>
                <a:cs typeface="+mn-cs"/>
              </a:rPr>
              <a:t>SQL Server</a:t>
            </a:r>
            <a:r>
              <a:rPr lang="en-US" sz="1200" b="0" i="0" kern="1200" dirty="0">
                <a:solidFill>
                  <a:schemeClr val="tx1"/>
                </a:solidFill>
                <a:effectLst/>
                <a:latin typeface="+mn-lt"/>
                <a:ea typeface="+mn-ea"/>
                <a:cs typeface="+mn-cs"/>
              </a:rPr>
              <a:t> through </a:t>
            </a:r>
            <a:r>
              <a:rPr lang="en-US" sz="1200" b="1" i="0" kern="1200" dirty="0" err="1">
                <a:solidFill>
                  <a:schemeClr val="tx1"/>
                </a:solidFill>
                <a:effectLst/>
                <a:latin typeface="+mn-lt"/>
                <a:ea typeface="+mn-ea"/>
                <a:cs typeface="+mn-cs"/>
              </a:rPr>
              <a:t>ApplicationDbContext</a:t>
            </a:r>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The operator only needs a </a:t>
            </a:r>
            <a:r>
              <a:rPr lang="en-US" sz="1200" b="1" i="0" kern="1200" dirty="0">
                <a:solidFill>
                  <a:schemeClr val="tx1"/>
                </a:solidFill>
                <a:effectLst/>
                <a:latin typeface="+mn-lt"/>
                <a:ea typeface="+mn-ea"/>
                <a:cs typeface="+mn-cs"/>
              </a:rPr>
              <a:t>web browser</a:t>
            </a:r>
            <a:r>
              <a:rPr lang="en-US" sz="1200" b="0" i="0" kern="1200" dirty="0">
                <a:solidFill>
                  <a:schemeClr val="tx1"/>
                </a:solidFill>
                <a:effectLst/>
                <a:latin typeface="+mn-lt"/>
                <a:ea typeface="+mn-ea"/>
                <a:cs typeface="+mn-cs"/>
              </a:rPr>
              <a:t>—no dedicated SCADA client.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The database has </a:t>
            </a:r>
            <a:r>
              <a:rPr lang="en-US" sz="1200" b="1" i="0" kern="1200" dirty="0">
                <a:solidFill>
                  <a:schemeClr val="tx1"/>
                </a:solidFill>
                <a:effectLst/>
                <a:latin typeface="+mn-lt"/>
                <a:ea typeface="+mn-ea"/>
                <a:cs typeface="+mn-cs"/>
              </a:rPr>
              <a:t>eleven normalized tables</a:t>
            </a:r>
            <a:r>
              <a:rPr lang="en-US" sz="1200" b="0" i="0" kern="1200" dirty="0">
                <a:solidFill>
                  <a:schemeClr val="tx1"/>
                </a:solidFill>
                <a:effectLst/>
                <a:latin typeface="+mn-lt"/>
                <a:ea typeface="+mn-ea"/>
                <a:cs typeface="+mn-cs"/>
              </a:rPr>
              <a:t>. </a:t>
            </a:r>
            <a:r>
              <a:rPr lang="en-US" sz="1200" b="1" i="0" kern="1200" dirty="0">
                <a:solidFill>
                  <a:schemeClr val="tx1"/>
                </a:solidFill>
                <a:effectLst/>
                <a:latin typeface="+mn-lt"/>
                <a:ea typeface="+mn-ea"/>
                <a:cs typeface="+mn-cs"/>
              </a:rPr>
              <a:t>Devices</a:t>
            </a:r>
            <a:r>
              <a:rPr lang="en-US" sz="1200" b="0" i="0" kern="1200" dirty="0">
                <a:solidFill>
                  <a:schemeClr val="tx1"/>
                </a:solidFill>
                <a:effectLst/>
                <a:latin typeface="+mn-lt"/>
                <a:ea typeface="+mn-ea"/>
                <a:cs typeface="+mn-cs"/>
              </a:rPr>
              <a:t> is the central hub.</a:t>
            </a:r>
          </a:p>
          <a:p>
            <a:r>
              <a:rPr lang="en-US" sz="1200" b="0" i="0" kern="1200" dirty="0">
                <a:solidFill>
                  <a:schemeClr val="tx1"/>
                </a:solidFill>
                <a:effectLst/>
                <a:latin typeface="+mn-lt"/>
                <a:ea typeface="+mn-ea"/>
                <a:cs typeface="+mn-cs"/>
              </a:rPr>
              <a:t>Each device has </a:t>
            </a:r>
            <a:r>
              <a:rPr lang="en-US" sz="1200" b="1" i="0" kern="1200" dirty="0">
                <a:solidFill>
                  <a:schemeClr val="tx1"/>
                </a:solidFill>
                <a:effectLst/>
                <a:latin typeface="+mn-lt"/>
                <a:ea typeface="+mn-ea"/>
                <a:cs typeface="+mn-cs"/>
              </a:rPr>
              <a:t>sensors</a:t>
            </a:r>
            <a:r>
              <a:rPr lang="en-US" sz="1200" b="0" i="0" kern="1200" dirty="0">
                <a:solidFill>
                  <a:schemeClr val="tx1"/>
                </a:solidFill>
                <a:effectLst/>
                <a:latin typeface="+mn-lt"/>
                <a:ea typeface="+mn-ea"/>
                <a:cs typeface="+mn-cs"/>
              </a:rPr>
              <a:t> for inputs and </a:t>
            </a:r>
            <a:r>
              <a:rPr lang="en-US" sz="1200" b="1" i="0" kern="1200" dirty="0">
                <a:solidFill>
                  <a:schemeClr val="tx1"/>
                </a:solidFill>
                <a:effectLst/>
                <a:latin typeface="+mn-lt"/>
                <a:ea typeface="+mn-ea"/>
                <a:cs typeface="+mn-cs"/>
              </a:rPr>
              <a:t>actuators</a:t>
            </a:r>
            <a:r>
              <a:rPr lang="en-US" sz="1200" b="0" i="0" kern="1200" dirty="0">
                <a:solidFill>
                  <a:schemeClr val="tx1"/>
                </a:solidFill>
                <a:effectLst/>
                <a:latin typeface="+mn-lt"/>
                <a:ea typeface="+mn-ea"/>
                <a:cs typeface="+mn-cs"/>
              </a:rPr>
              <a:t> for outputs. </a:t>
            </a:r>
            <a:r>
              <a:rPr lang="en-US" sz="1200" b="1" i="0" kern="1200" dirty="0" err="1">
                <a:solidFill>
                  <a:schemeClr val="tx1"/>
                </a:solidFill>
                <a:effectLst/>
                <a:latin typeface="+mn-lt"/>
                <a:ea typeface="+mn-ea"/>
                <a:cs typeface="+mn-cs"/>
              </a:rPr>
              <a:t>SensorReadings</a:t>
            </a:r>
            <a:r>
              <a:rPr lang="en-US" sz="1200" b="0" i="0" kern="1200" dirty="0">
                <a:solidFill>
                  <a:schemeClr val="tx1"/>
                </a:solidFill>
                <a:effectLst/>
                <a:latin typeface="+mn-lt"/>
                <a:ea typeface="+mn-ea"/>
                <a:cs typeface="+mn-cs"/>
              </a:rPr>
              <a:t> holds time-series data with a </a:t>
            </a:r>
            <a:r>
              <a:rPr lang="en-US" sz="1200" b="1" i="0" kern="1200" dirty="0">
                <a:solidFill>
                  <a:schemeClr val="tx1"/>
                </a:solidFill>
                <a:effectLst/>
                <a:latin typeface="+mn-lt"/>
                <a:ea typeface="+mn-ea"/>
                <a:cs typeface="+mn-cs"/>
              </a:rPr>
              <a:t>BIGINT</a:t>
            </a:r>
            <a:r>
              <a:rPr lang="en-US" sz="1200" b="0" i="0" kern="1200" dirty="0">
                <a:solidFill>
                  <a:schemeClr val="tx1"/>
                </a:solidFill>
                <a:effectLst/>
                <a:latin typeface="+mn-lt"/>
                <a:ea typeface="+mn-ea"/>
                <a:cs typeface="+mn-cs"/>
              </a:rPr>
              <a:t> primary key. </a:t>
            </a:r>
            <a:r>
              <a:rPr lang="en-US" sz="1200" b="1" i="0" kern="1200" dirty="0" err="1">
                <a:solidFill>
                  <a:schemeClr val="tx1"/>
                </a:solidFill>
                <a:effectLst/>
                <a:latin typeface="+mn-lt"/>
                <a:ea typeface="+mn-ea"/>
                <a:cs typeface="+mn-cs"/>
              </a:rPr>
              <a:t>AlertRules</a:t>
            </a:r>
            <a:r>
              <a:rPr lang="en-US" sz="1200" b="0" i="0" kern="1200" dirty="0">
                <a:solidFill>
                  <a:schemeClr val="tx1"/>
                </a:solidFill>
                <a:effectLst/>
                <a:latin typeface="+mn-lt"/>
                <a:ea typeface="+mn-ea"/>
                <a:cs typeface="+mn-cs"/>
              </a:rPr>
              <a:t> and </a:t>
            </a:r>
            <a:r>
              <a:rPr lang="en-US" sz="1200" b="1" i="0" kern="1200" dirty="0">
                <a:solidFill>
                  <a:schemeClr val="tx1"/>
                </a:solidFill>
                <a:effectLst/>
                <a:latin typeface="+mn-lt"/>
                <a:ea typeface="+mn-ea"/>
                <a:cs typeface="+mn-cs"/>
              </a:rPr>
              <a:t>Alerts</a:t>
            </a:r>
            <a:r>
              <a:rPr lang="en-US" sz="1200" b="0" i="0" kern="1200" dirty="0">
                <a:solidFill>
                  <a:schemeClr val="tx1"/>
                </a:solidFill>
                <a:effectLst/>
                <a:latin typeface="+mn-lt"/>
                <a:ea typeface="+mn-ea"/>
                <a:cs typeface="+mn-cs"/>
              </a:rPr>
              <a:t> support alerting. </a:t>
            </a:r>
            <a:r>
              <a:rPr lang="en-US" sz="1200" b="1" i="0" kern="1200" dirty="0" err="1">
                <a:solidFill>
                  <a:schemeClr val="tx1"/>
                </a:solidFill>
                <a:effectLst/>
                <a:latin typeface="+mn-lt"/>
                <a:ea typeface="+mn-ea"/>
                <a:cs typeface="+mn-cs"/>
              </a:rPr>
              <a:t>DeviceCommands</a:t>
            </a:r>
            <a:r>
              <a:rPr lang="en-US" sz="1200" b="0" i="0" kern="1200" dirty="0">
                <a:solidFill>
                  <a:schemeClr val="tx1"/>
                </a:solidFill>
                <a:effectLst/>
                <a:latin typeface="+mn-lt"/>
                <a:ea typeface="+mn-ea"/>
                <a:cs typeface="+mn-cs"/>
              </a:rPr>
              <a:t> records command history. </a:t>
            </a:r>
            <a:r>
              <a:rPr lang="en-US" sz="1200" b="1" i="0" kern="1200" dirty="0">
                <a:solidFill>
                  <a:schemeClr val="tx1"/>
                </a:solidFill>
                <a:effectLst/>
                <a:latin typeface="+mn-lt"/>
                <a:ea typeface="+mn-ea"/>
                <a:cs typeface="+mn-cs"/>
              </a:rPr>
              <a:t>Users</a:t>
            </a:r>
            <a:r>
              <a:rPr lang="en-US" sz="1200" b="0" i="0" kern="1200" dirty="0">
                <a:solidFill>
                  <a:schemeClr val="tx1"/>
                </a:solidFill>
                <a:effectLst/>
                <a:latin typeface="+mn-lt"/>
                <a:ea typeface="+mn-ea"/>
                <a:cs typeface="+mn-cs"/>
              </a:rPr>
              <a:t> supports JWT and role-based access.</a:t>
            </a:r>
          </a:p>
          <a:p>
            <a:r>
              <a:rPr lang="en-US" sz="1200" b="0" i="0" kern="1200" dirty="0">
                <a:solidFill>
                  <a:schemeClr val="tx1"/>
                </a:solidFill>
                <a:effectLst/>
                <a:latin typeface="+mn-lt"/>
                <a:ea typeface="+mn-ea"/>
                <a:cs typeface="+mn-cs"/>
              </a:rPr>
              <a:t>One schema supports </a:t>
            </a:r>
            <a:r>
              <a:rPr lang="en-US" sz="1200" b="1" i="0" kern="1200" dirty="0">
                <a:solidFill>
                  <a:schemeClr val="tx1"/>
                </a:solidFill>
                <a:effectLst/>
                <a:latin typeface="+mn-lt"/>
                <a:ea typeface="+mn-ea"/>
                <a:cs typeface="+mn-cs"/>
              </a:rPr>
              <a:t>monitoring, alerting, and control</a:t>
            </a:r>
            <a:r>
              <a:rPr lang="en-US" sz="1200" b="0" i="0" kern="1200" dirty="0">
                <a:solidFill>
                  <a:schemeClr val="tx1"/>
                </a:solidFill>
                <a:effectLst/>
                <a:latin typeface="+mn-lt"/>
                <a:ea typeface="+mn-ea"/>
                <a:cs typeface="+mn-cs"/>
              </a:rPr>
              <a:t> for multiple devices.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The backend follows </a:t>
            </a:r>
            <a:r>
              <a:rPr lang="en-US" sz="1200" b="1" i="0" kern="1200" dirty="0">
                <a:solidFill>
                  <a:schemeClr val="tx1"/>
                </a:solidFill>
                <a:effectLst/>
                <a:latin typeface="+mn-lt"/>
                <a:ea typeface="+mn-ea"/>
                <a:cs typeface="+mn-cs"/>
              </a:rPr>
              <a:t>layered architecture</a:t>
            </a:r>
            <a:r>
              <a:rPr lang="en-US" sz="1200" b="0" i="0" kern="1200" dirty="0">
                <a:solidFill>
                  <a:schemeClr val="tx1"/>
                </a:solidFill>
                <a:effectLst/>
                <a:latin typeface="+mn-lt"/>
                <a:ea typeface="+mn-ea"/>
                <a:cs typeface="+mn-cs"/>
              </a:rPr>
              <a:t> under </a:t>
            </a:r>
            <a:r>
              <a:rPr lang="en-US" sz="1200" b="1" i="0" kern="1200" dirty="0">
                <a:solidFill>
                  <a:schemeClr val="tx1"/>
                </a:solidFill>
                <a:effectLst/>
                <a:latin typeface="+mn-lt"/>
                <a:ea typeface="+mn-ea"/>
                <a:cs typeface="+mn-cs"/>
              </a:rPr>
              <a:t>/</a:t>
            </a:r>
            <a:r>
              <a:rPr lang="en-US" sz="1200" b="1" i="0" kern="1200" dirty="0" err="1">
                <a:solidFill>
                  <a:schemeClr val="tx1"/>
                </a:solidFill>
                <a:effectLst/>
                <a:latin typeface="+mn-lt"/>
                <a:ea typeface="+mn-ea"/>
                <a:cs typeface="+mn-cs"/>
              </a:rPr>
              <a:t>api</a:t>
            </a:r>
            <a:r>
              <a:rPr lang="en-US" sz="1200" b="1" i="0" kern="1200" dirty="0">
                <a:solidFill>
                  <a:schemeClr val="tx1"/>
                </a:solidFill>
                <a:effectLst/>
                <a:latin typeface="+mn-lt"/>
                <a:ea typeface="+mn-ea"/>
                <a:cs typeface="+mn-cs"/>
              </a:rPr>
              <a:t>/v1</a:t>
            </a:r>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Three API groups matter most for the demo: </a:t>
            </a:r>
            <a:r>
              <a:rPr lang="en-US" sz="1200" b="1" i="0" kern="1200" dirty="0">
                <a:solidFill>
                  <a:schemeClr val="tx1"/>
                </a:solidFill>
                <a:effectLst/>
                <a:latin typeface="+mn-lt"/>
                <a:ea typeface="+mn-ea"/>
                <a:cs typeface="+mn-cs"/>
              </a:rPr>
              <a:t>sensor readings</a:t>
            </a:r>
            <a:r>
              <a:rPr lang="en-US" sz="1200" b="0" i="0" kern="1200" dirty="0">
                <a:solidFill>
                  <a:schemeClr val="tx1"/>
                </a:solidFill>
                <a:effectLst/>
                <a:latin typeface="+mn-lt"/>
                <a:ea typeface="+mn-ea"/>
                <a:cs typeface="+mn-cs"/>
              </a:rPr>
              <a:t> for ingest and historical queries; </a:t>
            </a:r>
            <a:r>
              <a:rPr lang="en-US" sz="1200" b="1" i="0" kern="1200" dirty="0">
                <a:solidFill>
                  <a:schemeClr val="tx1"/>
                </a:solidFill>
                <a:effectLst/>
                <a:latin typeface="+mn-lt"/>
                <a:ea typeface="+mn-ea"/>
                <a:cs typeface="+mn-cs"/>
              </a:rPr>
              <a:t>alerts and alert rules</a:t>
            </a:r>
            <a:r>
              <a:rPr lang="en-US" sz="1200" b="0" i="0" kern="1200" dirty="0">
                <a:solidFill>
                  <a:schemeClr val="tx1"/>
                </a:solidFill>
                <a:effectLst/>
                <a:latin typeface="+mn-lt"/>
                <a:ea typeface="+mn-ea"/>
                <a:cs typeface="+mn-cs"/>
              </a:rPr>
              <a:t> including acknowledge and resolve; and </a:t>
            </a:r>
            <a:r>
              <a:rPr lang="en-US" sz="1200" b="1" i="0" kern="1200" dirty="0">
                <a:solidFill>
                  <a:schemeClr val="tx1"/>
                </a:solidFill>
                <a:effectLst/>
                <a:latin typeface="+mn-lt"/>
                <a:ea typeface="+mn-ea"/>
                <a:cs typeface="+mn-cs"/>
              </a:rPr>
              <a:t>actuators and commands</a:t>
            </a:r>
            <a:r>
              <a:rPr lang="en-US" sz="1200" b="0" i="0" kern="1200" dirty="0">
                <a:solidFill>
                  <a:schemeClr val="tx1"/>
                </a:solidFill>
                <a:effectLst/>
                <a:latin typeface="+mn-lt"/>
                <a:ea typeface="+mn-ea"/>
                <a:cs typeface="+mn-cs"/>
              </a:rPr>
              <a:t> sent to the device over MQTT.</a:t>
            </a:r>
          </a:p>
          <a:p>
            <a:r>
              <a:rPr lang="en-US" sz="1200" b="0" i="0" kern="1200" dirty="0">
                <a:solidFill>
                  <a:schemeClr val="tx1"/>
                </a:solidFill>
                <a:effectLst/>
                <a:latin typeface="+mn-lt"/>
                <a:ea typeface="+mn-ea"/>
                <a:cs typeface="+mn-cs"/>
              </a:rPr>
              <a:t>Most endpoints require </a:t>
            </a:r>
            <a:r>
              <a:rPr lang="en-US" sz="1200" b="1" i="0" kern="1200" dirty="0">
                <a:solidFill>
                  <a:schemeClr val="tx1"/>
                </a:solidFill>
                <a:effectLst/>
                <a:latin typeface="+mn-lt"/>
                <a:ea typeface="+mn-ea"/>
                <a:cs typeface="+mn-cs"/>
              </a:rPr>
              <a:t>JWT</a:t>
            </a:r>
            <a:r>
              <a:rPr lang="en-US" sz="1200" b="0" i="0" kern="1200" dirty="0">
                <a:solidFill>
                  <a:schemeClr val="tx1"/>
                </a:solidFill>
                <a:effectLst/>
                <a:latin typeface="+mn-lt"/>
                <a:ea typeface="+mn-ea"/>
                <a:cs typeface="+mn-cs"/>
              </a:rPr>
              <a:t>. </a:t>
            </a:r>
            <a:r>
              <a:rPr lang="en-US" sz="1200" b="1" i="0" kern="1200" dirty="0">
                <a:solidFill>
                  <a:schemeClr val="tx1"/>
                </a:solidFill>
                <a:effectLst/>
                <a:latin typeface="+mn-lt"/>
                <a:ea typeface="+mn-ea"/>
                <a:cs typeface="+mn-cs"/>
              </a:rPr>
              <a:t>Admin</a:t>
            </a:r>
            <a:r>
              <a:rPr lang="en-US" sz="1200" b="0" i="0" kern="1200" dirty="0">
                <a:solidFill>
                  <a:schemeClr val="tx1"/>
                </a:solidFill>
                <a:effectLst/>
                <a:latin typeface="+mn-lt"/>
                <a:ea typeface="+mn-ea"/>
                <a:cs typeface="+mn-cs"/>
              </a:rPr>
              <a:t> and </a:t>
            </a:r>
            <a:r>
              <a:rPr lang="en-US" sz="1200" b="1" i="0" kern="1200" dirty="0">
                <a:solidFill>
                  <a:schemeClr val="tx1"/>
                </a:solidFill>
                <a:effectLst/>
                <a:latin typeface="+mn-lt"/>
                <a:ea typeface="+mn-ea"/>
                <a:cs typeface="+mn-cs"/>
              </a:rPr>
              <a:t>Operator</a:t>
            </a:r>
            <a:r>
              <a:rPr lang="en-US" sz="1200" b="0" i="0" kern="1200" dirty="0">
                <a:solidFill>
                  <a:schemeClr val="tx1"/>
                </a:solidFill>
                <a:effectLst/>
                <a:latin typeface="+mn-lt"/>
                <a:ea typeface="+mn-ea"/>
                <a:cs typeface="+mn-cs"/>
              </a:rPr>
              <a:t> can write; </a:t>
            </a:r>
            <a:r>
              <a:rPr lang="en-US" sz="1200" b="1" i="0" kern="1200" dirty="0">
                <a:solidFill>
                  <a:schemeClr val="tx1"/>
                </a:solidFill>
                <a:effectLst/>
                <a:latin typeface="+mn-lt"/>
                <a:ea typeface="+mn-ea"/>
                <a:cs typeface="+mn-cs"/>
              </a:rPr>
              <a:t>Viewer</a:t>
            </a:r>
            <a:r>
              <a:rPr lang="en-US" sz="1200" b="0" i="0" kern="1200" dirty="0">
                <a:solidFill>
                  <a:schemeClr val="tx1"/>
                </a:solidFill>
                <a:effectLst/>
                <a:latin typeface="+mn-lt"/>
                <a:ea typeface="+mn-ea"/>
                <a:cs typeface="+mn-cs"/>
              </a:rPr>
              <a:t> is read-only. </a:t>
            </a:r>
            <a:r>
              <a:rPr lang="en-US" sz="1200" b="0" i="0" kern="1200" dirty="0" err="1">
                <a:solidFill>
                  <a:schemeClr val="tx1"/>
                </a:solidFill>
                <a:effectLst/>
                <a:latin typeface="+mn-lt"/>
                <a:ea typeface="+mn-ea"/>
                <a:cs typeface="+mn-cs"/>
              </a:rPr>
              <a:t>SignalR</a:t>
            </a:r>
            <a:r>
              <a:rPr lang="en-US" sz="1200" b="0" i="0" kern="1200" dirty="0">
                <a:solidFill>
                  <a:schemeClr val="tx1"/>
                </a:solidFill>
                <a:effectLst/>
                <a:latin typeface="+mn-lt"/>
                <a:ea typeface="+mn-ea"/>
                <a:cs typeface="+mn-cs"/>
              </a:rPr>
              <a:t> uses the same token.</a:t>
            </a:r>
          </a:p>
          <a:p>
            <a:r>
              <a:rPr lang="en-US" sz="1200" b="0" i="0" kern="1200" dirty="0">
                <a:solidFill>
                  <a:schemeClr val="tx1"/>
                </a:solidFill>
                <a:effectLst/>
                <a:latin typeface="+mn-lt"/>
                <a:ea typeface="+mn-ea"/>
                <a:cs typeface="+mn-cs"/>
              </a:rPr>
              <a:t>For live data, the path is </a:t>
            </a:r>
            <a:r>
              <a:rPr lang="en-US" sz="1200" b="1" i="0" kern="1200" dirty="0">
                <a:solidFill>
                  <a:schemeClr val="tx1"/>
                </a:solidFill>
                <a:effectLst/>
                <a:latin typeface="+mn-lt"/>
                <a:ea typeface="+mn-ea"/>
                <a:cs typeface="+mn-cs"/>
              </a:rPr>
              <a:t>MQTT through the broker to the API, then </a:t>
            </a:r>
            <a:r>
              <a:rPr lang="en-US" sz="1200" b="1" i="0" kern="1200" dirty="0" err="1">
                <a:solidFill>
                  <a:schemeClr val="tx1"/>
                </a:solidFill>
                <a:effectLst/>
                <a:latin typeface="+mn-lt"/>
                <a:ea typeface="+mn-ea"/>
                <a:cs typeface="+mn-cs"/>
              </a:rPr>
              <a:t>SignalR</a:t>
            </a:r>
            <a:r>
              <a:rPr lang="en-US" sz="1200" b="1" i="0" kern="1200" dirty="0">
                <a:solidFill>
                  <a:schemeClr val="tx1"/>
                </a:solidFill>
                <a:effectLst/>
                <a:latin typeface="+mn-lt"/>
                <a:ea typeface="+mn-ea"/>
                <a:cs typeface="+mn-cs"/>
              </a:rPr>
              <a:t> to the frontend</a:t>
            </a:r>
            <a:r>
              <a:rPr lang="en-US" sz="1200" b="0" i="0" kern="1200" dirty="0">
                <a:solidFill>
                  <a:schemeClr val="tx1"/>
                </a:solidFill>
                <a:effectLst/>
                <a:latin typeface="+mn-lt"/>
                <a:ea typeface="+mn-ea"/>
                <a:cs typeface="+mn-cs"/>
              </a:rPr>
              <a:t>, with updates typically within about </a:t>
            </a:r>
            <a:r>
              <a:rPr lang="en-US" sz="1200" b="1" i="0" kern="1200" dirty="0">
                <a:solidFill>
                  <a:schemeClr val="tx1"/>
                </a:solidFill>
                <a:effectLst/>
                <a:latin typeface="+mn-lt"/>
                <a:ea typeface="+mn-ea"/>
                <a:cs typeface="+mn-cs"/>
              </a:rPr>
              <a:t>one to two seconds</a:t>
            </a:r>
            <a:r>
              <a:rPr lang="en-US" sz="1200" b="0" i="0" kern="1200" dirty="0">
                <a:solidFill>
                  <a:schemeClr val="tx1"/>
                </a:solidFill>
                <a:effectLst/>
                <a:latin typeface="+mn-lt"/>
                <a:ea typeface="+mn-ea"/>
                <a:cs typeface="+mn-cs"/>
              </a:rPr>
              <a: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The frontend is a </a:t>
            </a:r>
            <a:r>
              <a:rPr lang="en-US" sz="1200" b="1" i="0" kern="1200" dirty="0">
                <a:solidFill>
                  <a:schemeClr val="tx1"/>
                </a:solidFill>
                <a:effectLst/>
                <a:latin typeface="+mn-lt"/>
                <a:ea typeface="+mn-ea"/>
                <a:cs typeface="+mn-cs"/>
              </a:rPr>
              <a:t>React single-page application</a:t>
            </a:r>
            <a:r>
              <a:rPr lang="en-US" sz="1200" b="0" i="0" kern="1200" dirty="0">
                <a:solidFill>
                  <a:schemeClr val="tx1"/>
                </a:solidFill>
                <a:effectLst/>
                <a:latin typeface="+mn-lt"/>
                <a:ea typeface="+mn-ea"/>
                <a:cs typeface="+mn-cs"/>
              </a:rPr>
              <a:t> with protected routes after login.</a:t>
            </a:r>
          </a:p>
          <a:p>
            <a:r>
              <a:rPr lang="en-US" sz="1200" b="0" i="0" kern="1200" dirty="0">
                <a:solidFill>
                  <a:schemeClr val="tx1"/>
                </a:solidFill>
                <a:effectLst/>
                <a:latin typeface="+mn-lt"/>
                <a:ea typeface="+mn-ea"/>
                <a:cs typeface="+mn-cs"/>
              </a:rPr>
              <a:t>The </a:t>
            </a:r>
            <a:r>
              <a:rPr lang="en-US" sz="1200" b="1" i="0" kern="1200" dirty="0">
                <a:solidFill>
                  <a:schemeClr val="tx1"/>
                </a:solidFill>
                <a:effectLst/>
                <a:latin typeface="+mn-lt"/>
                <a:ea typeface="+mn-ea"/>
                <a:cs typeface="+mn-cs"/>
              </a:rPr>
              <a:t>dashboard</a:t>
            </a:r>
            <a:r>
              <a:rPr lang="en-US" sz="1200" b="0" i="0" kern="1200" dirty="0">
                <a:solidFill>
                  <a:schemeClr val="tx1"/>
                </a:solidFill>
                <a:effectLst/>
                <a:latin typeface="+mn-lt"/>
                <a:ea typeface="+mn-ea"/>
                <a:cs typeface="+mn-cs"/>
              </a:rPr>
              <a:t> gives an overview with live </a:t>
            </a:r>
            <a:r>
              <a:rPr lang="en-US" sz="1200" b="0" i="0" kern="1200" dirty="0" err="1">
                <a:solidFill>
                  <a:schemeClr val="tx1"/>
                </a:solidFill>
                <a:effectLst/>
                <a:latin typeface="+mn-lt"/>
                <a:ea typeface="+mn-ea"/>
                <a:cs typeface="+mn-cs"/>
              </a:rPr>
              <a:t>SignalR</a:t>
            </a:r>
            <a:r>
              <a:rPr lang="en-US" sz="1200" b="0" i="0" kern="1200" dirty="0">
                <a:solidFill>
                  <a:schemeClr val="tx1"/>
                </a:solidFill>
                <a:effectLst/>
                <a:latin typeface="+mn-lt"/>
                <a:ea typeface="+mn-ea"/>
                <a:cs typeface="+mn-cs"/>
              </a:rPr>
              <a:t> updates. </a:t>
            </a:r>
            <a:r>
              <a:rPr lang="en-US" sz="1200" b="1" i="0" kern="1200" dirty="0">
                <a:solidFill>
                  <a:schemeClr val="tx1"/>
                </a:solidFill>
                <a:effectLst/>
                <a:latin typeface="+mn-lt"/>
                <a:ea typeface="+mn-ea"/>
                <a:cs typeface="+mn-cs"/>
              </a:rPr>
              <a:t>Devices</a:t>
            </a:r>
            <a:r>
              <a:rPr lang="en-US" sz="1200" b="0" i="0" kern="1200" dirty="0">
                <a:solidFill>
                  <a:schemeClr val="tx1"/>
                </a:solidFill>
                <a:effectLst/>
                <a:latin typeface="+mn-lt"/>
                <a:ea typeface="+mn-ea"/>
                <a:cs typeface="+mn-cs"/>
              </a:rPr>
              <a:t> and </a:t>
            </a:r>
            <a:r>
              <a:rPr lang="en-US" sz="1200" b="1" i="0" kern="1200" dirty="0">
                <a:solidFill>
                  <a:schemeClr val="tx1"/>
                </a:solidFill>
                <a:effectLst/>
                <a:latin typeface="+mn-lt"/>
                <a:ea typeface="+mn-ea"/>
                <a:cs typeface="+mn-cs"/>
              </a:rPr>
              <a:t>device detail</a:t>
            </a:r>
            <a:r>
              <a:rPr lang="en-US" sz="1200" b="0" i="0" kern="1200" dirty="0">
                <a:solidFill>
                  <a:schemeClr val="tx1"/>
                </a:solidFill>
                <a:effectLst/>
                <a:latin typeface="+mn-lt"/>
                <a:ea typeface="+mn-ea"/>
                <a:cs typeface="+mn-cs"/>
              </a:rPr>
              <a:t> support charts and commands. </a:t>
            </a:r>
            <a:r>
              <a:rPr lang="en-US" sz="1200" b="1" i="0" kern="1200" dirty="0">
                <a:solidFill>
                  <a:schemeClr val="tx1"/>
                </a:solidFill>
                <a:effectLst/>
                <a:latin typeface="+mn-lt"/>
                <a:ea typeface="+mn-ea"/>
                <a:cs typeface="+mn-cs"/>
              </a:rPr>
              <a:t>Sensors</a:t>
            </a:r>
            <a:r>
              <a:rPr lang="en-US" sz="1200" b="0" i="0" kern="1200" dirty="0">
                <a:solidFill>
                  <a:schemeClr val="tx1"/>
                </a:solidFill>
                <a:effectLst/>
                <a:latin typeface="+mn-lt"/>
                <a:ea typeface="+mn-ea"/>
                <a:cs typeface="+mn-cs"/>
              </a:rPr>
              <a:t> and </a:t>
            </a:r>
            <a:r>
              <a:rPr lang="en-US" sz="1200" b="1" i="0" kern="1200" dirty="0">
                <a:solidFill>
                  <a:schemeClr val="tx1"/>
                </a:solidFill>
                <a:effectLst/>
                <a:latin typeface="+mn-lt"/>
                <a:ea typeface="+mn-ea"/>
                <a:cs typeface="+mn-cs"/>
              </a:rPr>
              <a:t>actuators</a:t>
            </a:r>
            <a:r>
              <a:rPr lang="en-US" sz="1200" b="0" i="0" kern="1200" dirty="0">
                <a:solidFill>
                  <a:schemeClr val="tx1"/>
                </a:solidFill>
                <a:effectLst/>
                <a:latin typeface="+mn-lt"/>
                <a:ea typeface="+mn-ea"/>
                <a:cs typeface="+mn-cs"/>
              </a:rPr>
              <a:t> manage inputs and outputs. </a:t>
            </a:r>
            <a:r>
              <a:rPr lang="en-US" sz="1200" b="1" i="0" kern="1200" dirty="0">
                <a:solidFill>
                  <a:schemeClr val="tx1"/>
                </a:solidFill>
                <a:effectLst/>
                <a:latin typeface="+mn-lt"/>
                <a:ea typeface="+mn-ea"/>
                <a:cs typeface="+mn-cs"/>
              </a:rPr>
              <a:t>Alert rules</a:t>
            </a:r>
            <a:r>
              <a:rPr lang="en-US" sz="1200" b="0" i="0" kern="1200" dirty="0">
                <a:solidFill>
                  <a:schemeClr val="tx1"/>
                </a:solidFill>
                <a:effectLst/>
                <a:latin typeface="+mn-lt"/>
                <a:ea typeface="+mn-ea"/>
                <a:cs typeface="+mn-cs"/>
              </a:rPr>
              <a:t> and </a:t>
            </a:r>
            <a:r>
              <a:rPr lang="en-US" sz="1200" b="1" i="0" kern="1200" dirty="0">
                <a:solidFill>
                  <a:schemeClr val="tx1"/>
                </a:solidFill>
                <a:effectLst/>
                <a:latin typeface="+mn-lt"/>
                <a:ea typeface="+mn-ea"/>
                <a:cs typeface="+mn-cs"/>
              </a:rPr>
              <a:t>alerts</a:t>
            </a:r>
            <a:r>
              <a:rPr lang="en-US" sz="1200" b="0" i="0" kern="1200" dirty="0">
                <a:solidFill>
                  <a:schemeClr val="tx1"/>
                </a:solidFill>
                <a:effectLst/>
                <a:latin typeface="+mn-lt"/>
                <a:ea typeface="+mn-ea"/>
                <a:cs typeface="+mn-cs"/>
              </a:rPr>
              <a:t> handle configuration and response. </a:t>
            </a:r>
            <a:r>
              <a:rPr lang="en-US" sz="1200" b="1" i="0" kern="1200" dirty="0">
                <a:solidFill>
                  <a:schemeClr val="tx1"/>
                </a:solidFill>
                <a:effectLst/>
                <a:latin typeface="+mn-lt"/>
                <a:ea typeface="+mn-ea"/>
                <a:cs typeface="+mn-cs"/>
              </a:rPr>
              <a:t>Command history</a:t>
            </a:r>
            <a:r>
              <a:rPr lang="en-US" sz="1200" b="0" i="0" kern="1200" dirty="0">
                <a:solidFill>
                  <a:schemeClr val="tx1"/>
                </a:solidFill>
                <a:effectLst/>
                <a:latin typeface="+mn-lt"/>
                <a:ea typeface="+mn-ea"/>
                <a:cs typeface="+mn-cs"/>
              </a:rPr>
              <a:t> shows status from </a:t>
            </a:r>
            <a:r>
              <a:rPr lang="en-US" sz="1200" b="1" i="0" kern="1200" dirty="0">
                <a:solidFill>
                  <a:schemeClr val="tx1"/>
                </a:solidFill>
                <a:effectLst/>
                <a:latin typeface="+mn-lt"/>
                <a:ea typeface="+mn-ea"/>
                <a:cs typeface="+mn-cs"/>
              </a:rPr>
              <a:t>Pending through Sent to </a:t>
            </a:r>
            <a:r>
              <a:rPr lang="en-US" sz="1200" b="1" i="0" kern="1200" dirty="0" err="1">
                <a:solidFill>
                  <a:schemeClr val="tx1"/>
                </a:solidFill>
                <a:effectLst/>
                <a:latin typeface="+mn-lt"/>
                <a:ea typeface="+mn-ea"/>
                <a:cs typeface="+mn-cs"/>
              </a:rPr>
              <a:t>Acked</a:t>
            </a:r>
            <a:r>
              <a:rPr lang="en-US" sz="1200" b="0" i="0" kern="1200" dirty="0">
                <a:solidFill>
                  <a:schemeClr val="tx1"/>
                </a:solidFill>
                <a:effectLst/>
                <a:latin typeface="+mn-lt"/>
                <a:ea typeface="+mn-ea"/>
                <a:cs typeface="+mn-cs"/>
              </a:rPr>
              <a:t>. </a:t>
            </a:r>
            <a:r>
              <a:rPr lang="en-US" sz="1200" b="1" i="0" kern="1200" dirty="0">
                <a:solidFill>
                  <a:schemeClr val="tx1"/>
                </a:solidFill>
                <a:effectLst/>
                <a:latin typeface="+mn-lt"/>
                <a:ea typeface="+mn-ea"/>
                <a:cs typeface="+mn-cs"/>
              </a:rPr>
              <a:t>Users</a:t>
            </a:r>
            <a:r>
              <a:rPr lang="en-US" sz="1200" b="0" i="0" kern="1200" dirty="0">
                <a:solidFill>
                  <a:schemeClr val="tx1"/>
                </a:solidFill>
                <a:effectLst/>
                <a:latin typeface="+mn-lt"/>
                <a:ea typeface="+mn-ea"/>
                <a:cs typeface="+mn-cs"/>
              </a:rPr>
              <a:t> is restricted to administrators.</a:t>
            </a:r>
          </a:p>
          <a:p>
            <a:r>
              <a:rPr lang="en-US" sz="1200" b="1" i="0" kern="1200" dirty="0" err="1">
                <a:solidFill>
                  <a:schemeClr val="tx1"/>
                </a:solidFill>
                <a:effectLst/>
                <a:latin typeface="+mn-lt"/>
                <a:ea typeface="+mn-ea"/>
                <a:cs typeface="+mn-cs"/>
              </a:rPr>
              <a:t>ProtectedRoute</a:t>
            </a:r>
            <a:r>
              <a:rPr lang="en-US" sz="1200" b="0" i="0" kern="1200" dirty="0">
                <a:solidFill>
                  <a:schemeClr val="tx1"/>
                </a:solidFill>
                <a:effectLst/>
                <a:latin typeface="+mn-lt"/>
                <a:ea typeface="+mn-ea"/>
                <a:cs typeface="+mn-cs"/>
              </a:rPr>
              <a:t> enforces authentication, and role checks gate admin functions.</a:t>
            </a:r>
          </a:p>
          <a:p>
            <a:r>
              <a:rPr lang="en-US" sz="1200" b="0" i="0" kern="1200" dirty="0">
                <a:solidFill>
                  <a:schemeClr val="tx1"/>
                </a:solidFill>
                <a:effectLst/>
                <a:latin typeface="+mn-lt"/>
                <a:ea typeface="+mn-ea"/>
                <a:cs typeface="+mn-cs"/>
              </a:rPr>
              <a:t>The UI keeps </a:t>
            </a:r>
            <a:r>
              <a:rPr lang="en-US" sz="1200" b="1" i="0" kern="1200" dirty="0">
                <a:solidFill>
                  <a:schemeClr val="tx1"/>
                </a:solidFill>
                <a:effectLst/>
                <a:latin typeface="+mn-lt"/>
                <a:ea typeface="+mn-ea"/>
                <a:cs typeface="+mn-cs"/>
              </a:rPr>
              <a:t>monitoring, configuration, and control</a:t>
            </a:r>
            <a:r>
              <a:rPr lang="en-US" sz="1200" b="0" i="0" kern="1200" dirty="0">
                <a:solidFill>
                  <a:schemeClr val="tx1"/>
                </a:solidFill>
                <a:effectLst/>
                <a:latin typeface="+mn-lt"/>
                <a:ea typeface="+mn-ea"/>
                <a:cs typeface="+mn-cs"/>
              </a:rPr>
              <a:t> in one consistent experience.</a:t>
            </a:r>
          </a:p>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In summary, four areas show what was implemented.</a:t>
            </a:r>
          </a:p>
          <a:p>
            <a:r>
              <a:rPr lang="en-US" sz="1200" b="1" i="0" kern="1200" dirty="0">
                <a:solidFill>
                  <a:schemeClr val="tx1"/>
                </a:solidFill>
                <a:effectLst/>
                <a:latin typeface="+mn-lt"/>
                <a:ea typeface="+mn-ea"/>
                <a:cs typeface="+mn-cs"/>
              </a:rPr>
              <a:t>Real-time streaming</a:t>
            </a:r>
            <a:r>
              <a:rPr lang="en-US" sz="1200" b="0" i="0" kern="1200" dirty="0">
                <a:solidFill>
                  <a:schemeClr val="tx1"/>
                </a:solidFill>
                <a:effectLst/>
                <a:latin typeface="+mn-lt"/>
                <a:ea typeface="+mn-ea"/>
                <a:cs typeface="+mn-cs"/>
              </a:rPr>
              <a:t> uses </a:t>
            </a:r>
            <a:r>
              <a:rPr lang="en-US" sz="1200" b="0" i="0" kern="1200" dirty="0" err="1">
                <a:solidFill>
                  <a:schemeClr val="tx1"/>
                </a:solidFill>
                <a:effectLst/>
                <a:latin typeface="+mn-lt"/>
                <a:ea typeface="+mn-ea"/>
                <a:cs typeface="+mn-cs"/>
              </a:rPr>
              <a:t>SignalR</a:t>
            </a:r>
            <a:r>
              <a:rPr lang="en-US" sz="1200" b="0" i="0" kern="1200" dirty="0">
                <a:solidFill>
                  <a:schemeClr val="tx1"/>
                </a:solidFill>
                <a:effectLst/>
                <a:latin typeface="+mn-lt"/>
                <a:ea typeface="+mn-ea"/>
                <a:cs typeface="+mn-cs"/>
              </a:rPr>
              <a:t> with roughly </a:t>
            </a:r>
            <a:r>
              <a:rPr lang="en-US" sz="1200" b="1" i="0" kern="1200" dirty="0">
                <a:solidFill>
                  <a:schemeClr val="tx1"/>
                </a:solidFill>
                <a:effectLst/>
                <a:latin typeface="+mn-lt"/>
                <a:ea typeface="+mn-ea"/>
                <a:cs typeface="+mn-cs"/>
              </a:rPr>
              <a:t>one- to two-second</a:t>
            </a:r>
            <a:r>
              <a:rPr lang="en-US" sz="1200" b="0" i="0" kern="1200" dirty="0">
                <a:solidFill>
                  <a:schemeClr val="tx1"/>
                </a:solidFill>
                <a:effectLst/>
                <a:latin typeface="+mn-lt"/>
                <a:ea typeface="+mn-ea"/>
                <a:cs typeface="+mn-cs"/>
              </a:rPr>
              <a:t> updates, multi-device subscriptions, and rolling live charts from </a:t>
            </a:r>
            <a:r>
              <a:rPr lang="en-US" sz="1200" b="1" i="0" kern="1200" dirty="0">
                <a:solidFill>
                  <a:schemeClr val="tx1"/>
                </a:solidFill>
                <a:effectLst/>
                <a:latin typeface="+mn-lt"/>
                <a:ea typeface="+mn-ea"/>
                <a:cs typeface="+mn-cs"/>
              </a:rPr>
              <a:t>two seconds to thirty minutes</a:t>
            </a:r>
            <a:r>
              <a:rPr lang="en-US" sz="1200" b="0" i="0" kern="1200" dirty="0">
                <a:solidFill>
                  <a:schemeClr val="tx1"/>
                </a:solidFill>
                <a:effectLst/>
                <a:latin typeface="+mn-lt"/>
                <a:ea typeface="+mn-ea"/>
                <a:cs typeface="+mn-cs"/>
              </a:rPr>
              <a:t>.</a:t>
            </a:r>
          </a:p>
          <a:p>
            <a:r>
              <a:rPr lang="en-US" sz="1200" b="1" i="0" kern="1200" dirty="0">
                <a:solidFill>
                  <a:schemeClr val="tx1"/>
                </a:solidFill>
                <a:effectLst/>
                <a:latin typeface="+mn-lt"/>
                <a:ea typeface="+mn-ea"/>
                <a:cs typeface="+mn-cs"/>
              </a:rPr>
              <a:t>Visualization</a:t>
            </a:r>
            <a:r>
              <a:rPr lang="en-US" sz="1200" b="0" i="0" kern="1200" dirty="0">
                <a:solidFill>
                  <a:schemeClr val="tx1"/>
                </a:solidFill>
                <a:effectLst/>
                <a:latin typeface="+mn-lt"/>
                <a:ea typeface="+mn-ea"/>
                <a:cs typeface="+mn-cs"/>
              </a:rPr>
              <a:t> includes Recharts line trends, analog gauges, discrete indicators, and flexible history ranges.</a:t>
            </a:r>
          </a:p>
          <a:p>
            <a:r>
              <a:rPr lang="en-US" sz="1200" b="1" i="0" kern="1200" dirty="0">
                <a:solidFill>
                  <a:schemeClr val="tx1"/>
                </a:solidFill>
                <a:effectLst/>
                <a:latin typeface="+mn-lt"/>
                <a:ea typeface="+mn-ea"/>
                <a:cs typeface="+mn-cs"/>
              </a:rPr>
              <a:t>Alerting</a:t>
            </a:r>
            <a:r>
              <a:rPr lang="en-US" sz="1200" b="0" i="0" kern="1200" dirty="0">
                <a:solidFill>
                  <a:schemeClr val="tx1"/>
                </a:solidFill>
                <a:effectLst/>
                <a:latin typeface="+mn-lt"/>
                <a:ea typeface="+mn-ea"/>
                <a:cs typeface="+mn-cs"/>
              </a:rPr>
              <a:t> supports threshold, range, and change rules, with live notifications and acknowledge-and-resolve workflow.</a:t>
            </a:r>
          </a:p>
          <a:p>
            <a:r>
              <a:rPr lang="en-US" sz="1200" b="1" i="0" kern="1200" dirty="0">
                <a:solidFill>
                  <a:schemeClr val="tx1"/>
                </a:solidFill>
                <a:effectLst/>
                <a:latin typeface="+mn-lt"/>
                <a:ea typeface="+mn-ea"/>
                <a:cs typeface="+mn-cs"/>
              </a:rPr>
              <a:t>Setup and control</a:t>
            </a:r>
            <a:r>
              <a:rPr lang="en-US" sz="1200" b="0" i="0" kern="1200" dirty="0">
                <a:solidFill>
                  <a:schemeClr val="tx1"/>
                </a:solidFill>
                <a:effectLst/>
                <a:latin typeface="+mn-lt"/>
                <a:ea typeface="+mn-ea"/>
                <a:cs typeface="+mn-cs"/>
              </a:rPr>
              <a:t> covers devices, sensors, and actuators, online/offline from last activity, and </a:t>
            </a:r>
            <a:r>
              <a:rPr lang="en-US" sz="1200" b="1" i="0" kern="1200" dirty="0">
                <a:solidFill>
                  <a:schemeClr val="tx1"/>
                </a:solidFill>
                <a:effectLst/>
                <a:latin typeface="+mn-lt"/>
                <a:ea typeface="+mn-ea"/>
                <a:cs typeface="+mn-cs"/>
              </a:rPr>
              <a:t>MQTT commands</a:t>
            </a:r>
            <a:r>
              <a:rPr lang="en-US" sz="1200" b="0" i="0" kern="1200" dirty="0">
                <a:solidFill>
                  <a:schemeClr val="tx1"/>
                </a:solidFill>
                <a:effectLst/>
                <a:latin typeface="+mn-lt"/>
                <a:ea typeface="+mn-ea"/>
                <a:cs typeface="+mn-cs"/>
              </a:rPr>
              <a:t> with history.</a:t>
            </a:r>
          </a:p>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344A80-399B-01D8-B9E5-8EDE126438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65DEE9-7FFB-A78F-0322-0952286720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7987AD-CD64-C12D-E630-A409E1E748CD}"/>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I will walk through the demo checklist. The device is already registered and connected over MQTT.</a:t>
            </a:r>
          </a:p>
          <a:p>
            <a:r>
              <a:rPr lang="en-US" sz="1200" b="1" i="0" kern="1200" dirty="0">
                <a:solidFill>
                  <a:schemeClr val="tx1"/>
                </a:solidFill>
                <a:effectLst/>
                <a:latin typeface="+mn-lt"/>
                <a:ea typeface="+mn-ea"/>
                <a:cs typeface="+mn-cs"/>
              </a:rPr>
              <a:t>Step one:</a:t>
            </a:r>
            <a:r>
              <a:rPr lang="en-US" sz="1200" b="0" i="0" kern="1200" dirty="0">
                <a:solidFill>
                  <a:schemeClr val="tx1"/>
                </a:solidFill>
                <a:effectLst/>
                <a:latin typeface="+mn-lt"/>
                <a:ea typeface="+mn-ea"/>
                <a:cs typeface="+mn-cs"/>
              </a:rPr>
              <a:t> the application is configured with sensors, actuators, and an alert rule.</a:t>
            </a:r>
          </a:p>
          <a:p>
            <a:r>
              <a:rPr lang="en-US" sz="1200" b="1" i="0" kern="1200" dirty="0">
                <a:solidFill>
                  <a:schemeClr val="tx1"/>
                </a:solidFill>
                <a:effectLst/>
                <a:latin typeface="+mn-lt"/>
                <a:ea typeface="+mn-ea"/>
                <a:cs typeface="+mn-cs"/>
              </a:rPr>
              <a:t>Step two:</a:t>
            </a:r>
            <a:r>
              <a:rPr lang="en-US" sz="1200" b="0" i="0" kern="1200" dirty="0">
                <a:solidFill>
                  <a:schemeClr val="tx1"/>
                </a:solidFill>
                <a:effectLst/>
                <a:latin typeface="+mn-lt"/>
                <a:ea typeface="+mn-ea"/>
                <a:cs typeface="+mn-cs"/>
              </a:rPr>
              <a:t> the </a:t>
            </a:r>
            <a:r>
              <a:rPr lang="en-US" sz="1200" b="1" i="0" kern="1200" dirty="0">
                <a:solidFill>
                  <a:schemeClr val="tx1"/>
                </a:solidFill>
                <a:effectLst/>
                <a:latin typeface="+mn-lt"/>
                <a:ea typeface="+mn-ea"/>
                <a:cs typeface="+mn-cs"/>
              </a:rPr>
              <a:t>Arduino</a:t>
            </a:r>
            <a:r>
              <a:rPr lang="en-US" sz="1200" b="0" i="0" kern="1200" dirty="0">
                <a:solidFill>
                  <a:schemeClr val="tx1"/>
                </a:solidFill>
                <a:effectLst/>
                <a:latin typeface="+mn-lt"/>
                <a:ea typeface="+mn-ea"/>
                <a:cs typeface="+mn-cs"/>
              </a:rPr>
              <a:t> publishes readings to the local MQTT broker about once per second.</a:t>
            </a:r>
          </a:p>
          <a:p>
            <a:r>
              <a:rPr lang="en-US" sz="1200" b="1" i="0" kern="1200" dirty="0">
                <a:solidFill>
                  <a:schemeClr val="tx1"/>
                </a:solidFill>
                <a:effectLst/>
                <a:latin typeface="+mn-lt"/>
                <a:ea typeface="+mn-ea"/>
                <a:cs typeface="+mn-cs"/>
              </a:rPr>
              <a:t>Step three:</a:t>
            </a:r>
            <a:r>
              <a:rPr lang="en-US" sz="1200" b="0" i="0" kern="1200" dirty="0">
                <a:solidFill>
                  <a:schemeClr val="tx1"/>
                </a:solidFill>
                <a:effectLst/>
                <a:latin typeface="+mn-lt"/>
                <a:ea typeface="+mn-ea"/>
                <a:cs typeface="+mn-cs"/>
              </a:rPr>
              <a:t> on </a:t>
            </a:r>
            <a:r>
              <a:rPr lang="en-US" sz="1200" b="1" i="0" kern="1200" dirty="0">
                <a:solidFill>
                  <a:schemeClr val="tx1"/>
                </a:solidFill>
                <a:effectLst/>
                <a:latin typeface="+mn-lt"/>
                <a:ea typeface="+mn-ea"/>
                <a:cs typeface="+mn-cs"/>
              </a:rPr>
              <a:t>device detail</a:t>
            </a:r>
            <a:r>
              <a:rPr lang="en-US" sz="1200" b="0" i="0" kern="1200" dirty="0">
                <a:solidFill>
                  <a:schemeClr val="tx1"/>
                </a:solidFill>
                <a:effectLst/>
                <a:latin typeface="+mn-lt"/>
                <a:ea typeface="+mn-ea"/>
                <a:cs typeface="+mn-cs"/>
              </a:rPr>
              <a:t>, </a:t>
            </a:r>
            <a:r>
              <a:rPr lang="en-US" sz="1200" b="1" i="0" kern="1200" dirty="0">
                <a:solidFill>
                  <a:schemeClr val="tx1"/>
                </a:solidFill>
                <a:effectLst/>
                <a:latin typeface="+mn-lt"/>
                <a:ea typeface="+mn-ea"/>
                <a:cs typeface="+mn-cs"/>
              </a:rPr>
              <a:t>Live readings</a:t>
            </a:r>
            <a:r>
              <a:rPr lang="en-US" sz="1200" b="0" i="0" kern="1200" dirty="0">
                <a:solidFill>
                  <a:schemeClr val="tx1"/>
                </a:solidFill>
                <a:effectLst/>
                <a:latin typeface="+mn-lt"/>
                <a:ea typeface="+mn-ea"/>
                <a:cs typeface="+mn-cs"/>
              </a:rPr>
              <a:t> shows the chart updating </a:t>
            </a:r>
            <a:r>
              <a:rPr lang="en-US" sz="1200" b="1" i="0" kern="1200" dirty="0">
                <a:solidFill>
                  <a:schemeClr val="tx1"/>
                </a:solidFill>
                <a:effectLst/>
                <a:latin typeface="+mn-lt"/>
                <a:ea typeface="+mn-ea"/>
                <a:cs typeface="+mn-cs"/>
              </a:rPr>
              <a:t>without a page refresh</a:t>
            </a:r>
            <a:r>
              <a:rPr lang="en-US" sz="1200" b="0" i="0" kern="1200" dirty="0">
                <a:solidFill>
                  <a:schemeClr val="tx1"/>
                </a:solidFill>
                <a:effectLst/>
                <a:latin typeface="+mn-lt"/>
                <a:ea typeface="+mn-ea"/>
                <a:cs typeface="+mn-cs"/>
              </a:rPr>
              <a:t>—that is </a:t>
            </a:r>
            <a:r>
              <a:rPr lang="en-US" sz="1200" b="0" i="0" kern="1200" dirty="0" err="1">
                <a:solidFill>
                  <a:schemeClr val="tx1"/>
                </a:solidFill>
                <a:effectLst/>
                <a:latin typeface="+mn-lt"/>
                <a:ea typeface="+mn-ea"/>
                <a:cs typeface="+mn-cs"/>
              </a:rPr>
              <a:t>SignalR</a:t>
            </a:r>
            <a:r>
              <a:rPr lang="en-US" sz="1200" b="0" i="0" kern="1200" dirty="0">
                <a:solidFill>
                  <a:schemeClr val="tx1"/>
                </a:solidFill>
                <a:effectLst/>
                <a:latin typeface="+mn-lt"/>
                <a:ea typeface="+mn-ea"/>
                <a:cs typeface="+mn-cs"/>
              </a:rPr>
              <a:t>.</a:t>
            </a:r>
          </a:p>
          <a:p>
            <a:r>
              <a:rPr lang="en-US" sz="1200" b="1" i="0" kern="1200" dirty="0">
                <a:solidFill>
                  <a:schemeClr val="tx1"/>
                </a:solidFill>
                <a:effectLst/>
                <a:latin typeface="+mn-lt"/>
                <a:ea typeface="+mn-ea"/>
                <a:cs typeface="+mn-cs"/>
              </a:rPr>
              <a:t>Step four:</a:t>
            </a:r>
            <a:r>
              <a:rPr lang="en-US" sz="1200" b="0" i="0" kern="1200" dirty="0">
                <a:solidFill>
                  <a:schemeClr val="tx1"/>
                </a:solidFill>
                <a:effectLst/>
                <a:latin typeface="+mn-lt"/>
                <a:ea typeface="+mn-ea"/>
                <a:cs typeface="+mn-cs"/>
              </a:rPr>
              <a:t> I send an </a:t>
            </a:r>
            <a:r>
              <a:rPr lang="en-US" sz="1200" b="1" i="0" kern="1200" dirty="0">
                <a:solidFill>
                  <a:schemeClr val="tx1"/>
                </a:solidFill>
                <a:effectLst/>
                <a:latin typeface="+mn-lt"/>
                <a:ea typeface="+mn-ea"/>
                <a:cs typeface="+mn-cs"/>
              </a:rPr>
              <a:t>actuator command</a:t>
            </a:r>
            <a:r>
              <a:rPr lang="en-US" sz="1200" b="0" i="0" kern="1200" dirty="0">
                <a:solidFill>
                  <a:schemeClr val="tx1"/>
                </a:solidFill>
                <a:effectLst/>
                <a:latin typeface="+mn-lt"/>
                <a:ea typeface="+mn-ea"/>
                <a:cs typeface="+mn-cs"/>
              </a:rPr>
              <a:t> to turn the LED on or off. </a:t>
            </a:r>
            <a:r>
              <a:rPr lang="en-US" sz="1200" b="1" i="0" kern="1200" dirty="0">
                <a:solidFill>
                  <a:schemeClr val="tx1"/>
                </a:solidFill>
                <a:effectLst/>
                <a:latin typeface="+mn-lt"/>
                <a:ea typeface="+mn-ea"/>
                <a:cs typeface="+mn-cs"/>
              </a:rPr>
              <a:t>Command history</a:t>
            </a:r>
            <a:r>
              <a:rPr lang="en-US" sz="1200" b="0" i="0" kern="1200" dirty="0">
                <a:solidFill>
                  <a:schemeClr val="tx1"/>
                </a:solidFill>
                <a:effectLst/>
                <a:latin typeface="+mn-lt"/>
                <a:ea typeface="+mn-ea"/>
                <a:cs typeface="+mn-cs"/>
              </a:rPr>
              <a:t> shows </a:t>
            </a:r>
            <a:r>
              <a:rPr lang="en-US" sz="1200" b="1" i="0" kern="1200" dirty="0">
                <a:solidFill>
                  <a:schemeClr val="tx1"/>
                </a:solidFill>
                <a:effectLst/>
                <a:latin typeface="+mn-lt"/>
                <a:ea typeface="+mn-ea"/>
                <a:cs typeface="+mn-cs"/>
              </a:rPr>
              <a:t>Sent</a:t>
            </a:r>
            <a:r>
              <a:rPr lang="en-US" sz="1200" b="0" i="0" kern="1200" dirty="0">
                <a:solidFill>
                  <a:schemeClr val="tx1"/>
                </a:solidFill>
                <a:effectLst/>
                <a:latin typeface="+mn-lt"/>
                <a:ea typeface="+mn-ea"/>
                <a:cs typeface="+mn-cs"/>
              </a:rPr>
              <a:t>, then </a:t>
            </a:r>
            <a:r>
              <a:rPr lang="en-US" sz="1200" b="1" i="0" kern="1200" dirty="0" err="1">
                <a:solidFill>
                  <a:schemeClr val="tx1"/>
                </a:solidFill>
                <a:effectLst/>
                <a:latin typeface="+mn-lt"/>
                <a:ea typeface="+mn-ea"/>
                <a:cs typeface="+mn-cs"/>
              </a:rPr>
              <a:t>Acked</a:t>
            </a:r>
            <a:r>
              <a:rPr lang="en-US" sz="1200" b="0" i="0" kern="1200" dirty="0">
                <a:solidFill>
                  <a:schemeClr val="tx1"/>
                </a:solidFill>
                <a:effectLst/>
                <a:latin typeface="+mn-lt"/>
                <a:ea typeface="+mn-ea"/>
                <a:cs typeface="+mn-cs"/>
              </a:rPr>
              <a:t> when the firmware confirms.</a:t>
            </a:r>
          </a:p>
          <a:p>
            <a:r>
              <a:rPr lang="en-US" sz="1200" b="1" i="0" kern="1200" dirty="0">
                <a:solidFill>
                  <a:schemeClr val="tx1"/>
                </a:solidFill>
                <a:effectLst/>
                <a:latin typeface="+mn-lt"/>
                <a:ea typeface="+mn-ea"/>
                <a:cs typeface="+mn-cs"/>
              </a:rPr>
              <a:t>Step five:</a:t>
            </a:r>
            <a:r>
              <a:rPr lang="en-US" sz="1200" b="0" i="0" kern="1200" dirty="0">
                <a:solidFill>
                  <a:schemeClr val="tx1"/>
                </a:solidFill>
                <a:effectLst/>
                <a:latin typeface="+mn-lt"/>
                <a:ea typeface="+mn-ea"/>
                <a:cs typeface="+mn-cs"/>
              </a:rPr>
              <a:t> when a reading crosses the rule, an </a:t>
            </a:r>
            <a:r>
              <a:rPr lang="en-US" sz="1200" b="1" i="0" kern="1200" dirty="0">
                <a:solidFill>
                  <a:schemeClr val="tx1"/>
                </a:solidFill>
                <a:effectLst/>
                <a:latin typeface="+mn-lt"/>
                <a:ea typeface="+mn-ea"/>
                <a:cs typeface="+mn-cs"/>
              </a:rPr>
              <a:t>alert</a:t>
            </a:r>
            <a:r>
              <a:rPr lang="en-US" sz="1200" b="0" i="0" kern="1200" dirty="0">
                <a:solidFill>
                  <a:schemeClr val="tx1"/>
                </a:solidFill>
                <a:effectLst/>
                <a:latin typeface="+mn-lt"/>
                <a:ea typeface="+mn-ea"/>
                <a:cs typeface="+mn-cs"/>
              </a:rPr>
              <a:t> appears in the alerts view.</a:t>
            </a:r>
          </a:p>
          <a:p>
            <a:r>
              <a:rPr lang="en-US" sz="1200" b="1" i="0" kern="1200" dirty="0">
                <a:solidFill>
                  <a:schemeClr val="tx1"/>
                </a:solidFill>
                <a:effectLst/>
                <a:latin typeface="+mn-lt"/>
                <a:ea typeface="+mn-ea"/>
                <a:cs typeface="+mn-cs"/>
              </a:rPr>
              <a:t>Step six:</a:t>
            </a:r>
            <a:r>
              <a:rPr lang="en-US" sz="1200" b="0" i="0" kern="1200" dirty="0">
                <a:solidFill>
                  <a:schemeClr val="tx1"/>
                </a:solidFill>
                <a:effectLst/>
                <a:latin typeface="+mn-lt"/>
                <a:ea typeface="+mn-ea"/>
                <a:cs typeface="+mn-cs"/>
              </a:rPr>
              <a:t> switching to a </a:t>
            </a:r>
            <a:r>
              <a:rPr lang="en-US" sz="1200" b="1" i="0" kern="1200" dirty="0">
                <a:solidFill>
                  <a:schemeClr val="tx1"/>
                </a:solidFill>
                <a:effectLst/>
                <a:latin typeface="+mn-lt"/>
                <a:ea typeface="+mn-ea"/>
                <a:cs typeface="+mn-cs"/>
              </a:rPr>
              <a:t>history range</a:t>
            </a:r>
            <a:r>
              <a:rPr lang="en-US" sz="1200" b="0" i="0" kern="1200" dirty="0">
                <a:solidFill>
                  <a:schemeClr val="tx1"/>
                </a:solidFill>
                <a:effectLst/>
                <a:latin typeface="+mn-lt"/>
                <a:ea typeface="+mn-ea"/>
                <a:cs typeface="+mn-cs"/>
              </a:rPr>
              <a:t>, such as ten minutes, shows stored readings from the database.</a:t>
            </a:r>
          </a:p>
          <a:p>
            <a:r>
              <a:rPr lang="en-US" sz="1200" b="0" i="0" kern="1200" dirty="0">
                <a:solidFill>
                  <a:schemeClr val="tx1"/>
                </a:solidFill>
                <a:effectLst/>
                <a:latin typeface="+mn-lt"/>
                <a:ea typeface="+mn-ea"/>
                <a:cs typeface="+mn-cs"/>
              </a:rPr>
              <a:t>That completes the path from </a:t>
            </a:r>
            <a:r>
              <a:rPr lang="en-US" sz="1200" b="1" i="0" kern="1200" dirty="0">
                <a:solidFill>
                  <a:schemeClr val="tx1"/>
                </a:solidFill>
                <a:effectLst/>
                <a:latin typeface="+mn-lt"/>
                <a:ea typeface="+mn-ea"/>
                <a:cs typeface="+mn-cs"/>
              </a:rPr>
              <a:t>physical device to live dashboard</a:t>
            </a:r>
            <a:r>
              <a:rPr lang="en-US" sz="1200" b="0" i="0" kern="1200" dirty="0">
                <a:solidFill>
                  <a:schemeClr val="tx1"/>
                </a:solidFill>
                <a:effectLst/>
                <a:latin typeface="+mn-lt"/>
                <a:ea typeface="+mn-ea"/>
                <a:cs typeface="+mn-cs"/>
              </a:rPr>
              <a:t>, including </a:t>
            </a:r>
            <a:r>
              <a:rPr lang="en-US" sz="1200" b="1" i="0" kern="1200" dirty="0">
                <a:solidFill>
                  <a:schemeClr val="tx1"/>
                </a:solidFill>
                <a:effectLst/>
                <a:latin typeface="+mn-lt"/>
                <a:ea typeface="+mn-ea"/>
                <a:cs typeface="+mn-cs"/>
              </a:rPr>
              <a:t>remote control</a:t>
            </a:r>
            <a:r>
              <a:rPr lang="en-US" sz="1200" b="0" i="0" kern="1200" dirty="0">
                <a:solidFill>
                  <a:schemeClr val="tx1"/>
                </a:solidFill>
                <a:effectLst/>
                <a:latin typeface="+mn-lt"/>
                <a:ea typeface="+mn-ea"/>
                <a:cs typeface="+mn-cs"/>
              </a:rPr>
              <a:t>.</a:t>
            </a:r>
          </a:p>
          <a:p>
            <a:endParaRPr lang="en-US" dirty="0"/>
          </a:p>
        </p:txBody>
      </p:sp>
      <p:sp>
        <p:nvSpPr>
          <p:cNvPr id="4" name="Slide Number Placeholder 3">
            <a:extLst>
              <a:ext uri="{FF2B5EF4-FFF2-40B4-BE49-F238E27FC236}">
                <a16:creationId xmlns:a16="http://schemas.microsoft.com/office/drawing/2014/main" id="{ED94EE0E-FEA5-A27F-3ADB-94C212932BA1}"/>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3310365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Four engineering decisions shaped the design.</a:t>
            </a:r>
          </a:p>
          <a:p>
            <a:r>
              <a:rPr lang="en-US" sz="1200" b="1" i="0" kern="1200" dirty="0">
                <a:solidFill>
                  <a:schemeClr val="tx1"/>
                </a:solidFill>
                <a:effectLst/>
                <a:latin typeface="+mn-lt"/>
                <a:ea typeface="+mn-ea"/>
                <a:cs typeface="+mn-cs"/>
              </a:rPr>
              <a:t>Real-time synchronization:</a:t>
            </a:r>
            <a:r>
              <a:rPr lang="en-US" sz="1200" b="0" i="0" kern="1200" dirty="0">
                <a:solidFill>
                  <a:schemeClr val="tx1"/>
                </a:solidFill>
                <a:effectLst/>
                <a:latin typeface="+mn-lt"/>
                <a:ea typeface="+mn-ea"/>
                <a:cs typeface="+mn-cs"/>
              </a:rPr>
              <a:t> multiple browsers must stay in sync </a:t>
            </a:r>
            <a:r>
              <a:rPr lang="en-US" sz="1200" b="1" i="0" kern="1200" dirty="0">
                <a:solidFill>
                  <a:schemeClr val="tx1"/>
                </a:solidFill>
                <a:effectLst/>
                <a:latin typeface="+mn-lt"/>
                <a:ea typeface="+mn-ea"/>
                <a:cs typeface="+mn-cs"/>
              </a:rPr>
              <a:t>without polling</a:t>
            </a:r>
            <a:r>
              <a:rPr lang="en-US" sz="1200" b="0" i="0" kern="1200" dirty="0">
                <a:solidFill>
                  <a:schemeClr val="tx1"/>
                </a:solidFill>
                <a:effectLst/>
                <a:latin typeface="+mn-lt"/>
                <a:ea typeface="+mn-ea"/>
                <a:cs typeface="+mn-cs"/>
              </a:rPr>
              <a:t>. We use </a:t>
            </a:r>
            <a:r>
              <a:rPr lang="en-US" sz="1200" b="1" i="0" kern="1200" dirty="0" err="1">
                <a:solidFill>
                  <a:schemeClr val="tx1"/>
                </a:solidFill>
                <a:effectLst/>
                <a:latin typeface="+mn-lt"/>
                <a:ea typeface="+mn-ea"/>
                <a:cs typeface="+mn-cs"/>
              </a:rPr>
              <a:t>SignalR</a:t>
            </a:r>
            <a:r>
              <a:rPr lang="en-US" sz="1200" b="1" i="0" kern="1200" dirty="0">
                <a:solidFill>
                  <a:schemeClr val="tx1"/>
                </a:solidFill>
                <a:effectLst/>
                <a:latin typeface="+mn-lt"/>
                <a:ea typeface="+mn-ea"/>
                <a:cs typeface="+mn-cs"/>
              </a:rPr>
              <a:t> groups</a:t>
            </a:r>
            <a:r>
              <a:rPr lang="en-US" sz="1200" b="0" i="0" kern="1200" dirty="0">
                <a:solidFill>
                  <a:schemeClr val="tx1"/>
                </a:solidFill>
                <a:effectLst/>
                <a:latin typeface="+mn-lt"/>
                <a:ea typeface="+mn-ea"/>
                <a:cs typeface="+mn-cs"/>
              </a:rPr>
              <a:t> and push </a:t>
            </a:r>
            <a:r>
              <a:rPr lang="en-US" sz="1200" b="1" i="0" kern="1200" dirty="0">
                <a:solidFill>
                  <a:schemeClr val="tx1"/>
                </a:solidFill>
                <a:effectLst/>
                <a:latin typeface="+mn-lt"/>
                <a:ea typeface="+mn-ea"/>
                <a:cs typeface="+mn-cs"/>
              </a:rPr>
              <a:t>after each reading is saved</a:t>
            </a:r>
            <a:r>
              <a:rPr lang="en-US" sz="1200" b="0" i="0" kern="1200" dirty="0">
                <a:solidFill>
                  <a:schemeClr val="tx1"/>
                </a:solidFill>
                <a:effectLst/>
                <a:latin typeface="+mn-lt"/>
                <a:ea typeface="+mn-ea"/>
                <a:cs typeface="+mn-cs"/>
              </a:rPr>
              <a:t>.</a:t>
            </a:r>
          </a:p>
          <a:p>
            <a:r>
              <a:rPr lang="en-US" sz="1200" b="1" i="0" kern="1200" dirty="0">
                <a:solidFill>
                  <a:schemeClr val="tx1"/>
                </a:solidFill>
                <a:effectLst/>
                <a:latin typeface="+mn-lt"/>
                <a:ea typeface="+mn-ea"/>
                <a:cs typeface="+mn-cs"/>
              </a:rPr>
              <a:t>Time-series storage:</a:t>
            </a:r>
            <a:r>
              <a:rPr lang="en-US" sz="1200" b="0" i="0" kern="1200" dirty="0">
                <a:solidFill>
                  <a:schemeClr val="tx1"/>
                </a:solidFill>
                <a:effectLst/>
                <a:latin typeface="+mn-lt"/>
                <a:ea typeface="+mn-ea"/>
                <a:cs typeface="+mn-cs"/>
              </a:rPr>
              <a:t> readings grow quickly. We use a </a:t>
            </a:r>
            <a:r>
              <a:rPr lang="en-US" sz="1200" b="1" i="0" kern="1200" dirty="0">
                <a:solidFill>
                  <a:schemeClr val="tx1"/>
                </a:solidFill>
                <a:effectLst/>
                <a:latin typeface="+mn-lt"/>
                <a:ea typeface="+mn-ea"/>
                <a:cs typeface="+mn-cs"/>
              </a:rPr>
              <a:t>BIGINT</a:t>
            </a:r>
            <a:r>
              <a:rPr lang="en-US" sz="1200" b="0" i="0" kern="1200" dirty="0">
                <a:solidFill>
                  <a:schemeClr val="tx1"/>
                </a:solidFill>
                <a:effectLst/>
                <a:latin typeface="+mn-lt"/>
                <a:ea typeface="+mn-ea"/>
                <a:cs typeface="+mn-cs"/>
              </a:rPr>
              <a:t> key, </a:t>
            </a:r>
            <a:r>
              <a:rPr lang="en-US" sz="1200" b="1" i="0" kern="1200" dirty="0">
                <a:solidFill>
                  <a:schemeClr val="tx1"/>
                </a:solidFill>
                <a:effectLst/>
                <a:latin typeface="+mn-lt"/>
                <a:ea typeface="+mn-ea"/>
                <a:cs typeface="+mn-cs"/>
              </a:rPr>
              <a:t>composite indexes</a:t>
            </a:r>
            <a:r>
              <a:rPr lang="en-US" sz="1200" b="0" i="0" kern="1200" dirty="0">
                <a:solidFill>
                  <a:schemeClr val="tx1"/>
                </a:solidFill>
                <a:effectLst/>
                <a:latin typeface="+mn-lt"/>
                <a:ea typeface="+mn-ea"/>
                <a:cs typeface="+mn-cs"/>
              </a:rPr>
              <a:t>, and </a:t>
            </a:r>
            <a:r>
              <a:rPr lang="en-US" sz="1200" b="1" i="0" kern="1200" dirty="0">
                <a:solidFill>
                  <a:schemeClr val="tx1"/>
                </a:solidFill>
                <a:effectLst/>
                <a:latin typeface="+mn-lt"/>
                <a:ea typeface="+mn-ea"/>
                <a:cs typeface="+mn-cs"/>
              </a:rPr>
              <a:t>paged date-range queries</a:t>
            </a:r>
            <a:r>
              <a:rPr lang="en-US" sz="1200" b="0" i="0" kern="1200" dirty="0">
                <a:solidFill>
                  <a:schemeClr val="tx1"/>
                </a:solidFill>
                <a:effectLst/>
                <a:latin typeface="+mn-lt"/>
                <a:ea typeface="+mn-ea"/>
                <a:cs typeface="+mn-cs"/>
              </a:rPr>
              <a:t>. Archiving is planned for larger scale.</a:t>
            </a:r>
          </a:p>
          <a:p>
            <a:r>
              <a:rPr lang="en-US" sz="1200" b="1" i="0" kern="1200" dirty="0">
                <a:solidFill>
                  <a:schemeClr val="tx1"/>
                </a:solidFill>
                <a:effectLst/>
                <a:latin typeface="+mn-lt"/>
                <a:ea typeface="+mn-ea"/>
                <a:cs typeface="+mn-cs"/>
              </a:rPr>
              <a:t>Cross-layer data flow:</a:t>
            </a:r>
            <a:r>
              <a:rPr lang="en-US" sz="1200" b="0" i="0" kern="1200" dirty="0">
                <a:solidFill>
                  <a:schemeClr val="tx1"/>
                </a:solidFill>
                <a:effectLst/>
                <a:latin typeface="+mn-lt"/>
                <a:ea typeface="+mn-ea"/>
                <a:cs typeface="+mn-cs"/>
              </a:rPr>
              <a:t> each reading follows </a:t>
            </a:r>
            <a:r>
              <a:rPr lang="en-US" sz="1200" b="1" i="0" kern="1200" dirty="0">
                <a:solidFill>
                  <a:schemeClr val="tx1"/>
                </a:solidFill>
                <a:effectLst/>
                <a:latin typeface="+mn-lt"/>
                <a:ea typeface="+mn-ea"/>
                <a:cs typeface="+mn-cs"/>
              </a:rPr>
              <a:t>MQTT → API → database → </a:t>
            </a:r>
            <a:r>
              <a:rPr lang="en-US" sz="1200" b="1" i="0" kern="1200" dirty="0" err="1">
                <a:solidFill>
                  <a:schemeClr val="tx1"/>
                </a:solidFill>
                <a:effectLst/>
                <a:latin typeface="+mn-lt"/>
                <a:ea typeface="+mn-ea"/>
                <a:cs typeface="+mn-cs"/>
              </a:rPr>
              <a:t>SignalR</a:t>
            </a:r>
            <a:r>
              <a:rPr lang="en-US" sz="1200" b="1" i="0" kern="1200" dirty="0">
                <a:solidFill>
                  <a:schemeClr val="tx1"/>
                </a:solidFill>
                <a:effectLst/>
                <a:latin typeface="+mn-lt"/>
                <a:ea typeface="+mn-ea"/>
                <a:cs typeface="+mn-cs"/>
              </a:rPr>
              <a:t> → React</a:t>
            </a:r>
            <a:r>
              <a:rPr lang="en-US" sz="1200" b="0" i="0" kern="1200" dirty="0">
                <a:solidFill>
                  <a:schemeClr val="tx1"/>
                </a:solidFill>
                <a:effectLst/>
                <a:latin typeface="+mn-lt"/>
                <a:ea typeface="+mn-ea"/>
                <a:cs typeface="+mn-cs"/>
              </a:rPr>
              <a:t>, with layered services and DTOs to keep that path reliable.</a:t>
            </a:r>
          </a:p>
          <a:p>
            <a:r>
              <a:rPr lang="en-US" sz="1200" b="1" i="0" kern="1200" dirty="0">
                <a:solidFill>
                  <a:schemeClr val="tx1"/>
                </a:solidFill>
                <a:effectLst/>
                <a:latin typeface="+mn-lt"/>
                <a:ea typeface="+mn-ea"/>
                <a:cs typeface="+mn-cs"/>
              </a:rPr>
              <a:t>Edge compatibility:</a:t>
            </a:r>
            <a:r>
              <a:rPr lang="en-US" sz="1200" b="0" i="0" kern="1200" dirty="0">
                <a:solidFill>
                  <a:schemeClr val="tx1"/>
                </a:solidFill>
                <a:effectLst/>
                <a:latin typeface="+mn-lt"/>
                <a:ea typeface="+mn-ea"/>
                <a:cs typeface="+mn-cs"/>
              </a:rPr>
              <a:t> </a:t>
            </a:r>
            <a:r>
              <a:rPr lang="en-US" sz="1200" b="1" i="0" kern="1200" dirty="0">
                <a:solidFill>
                  <a:schemeClr val="tx1"/>
                </a:solidFill>
                <a:effectLst/>
                <a:latin typeface="+mn-lt"/>
                <a:ea typeface="+mn-ea"/>
                <a:cs typeface="+mn-cs"/>
              </a:rPr>
              <a:t>Arduino, ESP32, and Raspberry Pi</a:t>
            </a:r>
            <a:r>
              <a:rPr lang="en-US" sz="1200" b="0" i="0" kern="1200" dirty="0">
                <a:solidFill>
                  <a:schemeClr val="tx1"/>
                </a:solidFill>
                <a:effectLst/>
                <a:latin typeface="+mn-lt"/>
                <a:ea typeface="+mn-ea"/>
                <a:cs typeface="+mn-cs"/>
              </a:rPr>
              <a:t> can share the same backend—</a:t>
            </a:r>
            <a:r>
              <a:rPr lang="en-US" sz="1200" b="1" i="0" kern="1200" dirty="0">
                <a:solidFill>
                  <a:schemeClr val="tx1"/>
                </a:solidFill>
                <a:effectLst/>
                <a:latin typeface="+mn-lt"/>
                <a:ea typeface="+mn-ea"/>
                <a:cs typeface="+mn-cs"/>
              </a:rPr>
              <a:t>MQTT and JSON</a:t>
            </a:r>
            <a:r>
              <a:rPr lang="en-US" sz="1200" b="0" i="0" kern="1200" dirty="0">
                <a:solidFill>
                  <a:schemeClr val="tx1"/>
                </a:solidFill>
                <a:effectLst/>
                <a:latin typeface="+mn-lt"/>
                <a:ea typeface="+mn-ea"/>
                <a:cs typeface="+mn-cs"/>
              </a:rPr>
              <a:t> for devices, </a:t>
            </a:r>
            <a:r>
              <a:rPr lang="en-US" sz="1200" b="1" i="0" kern="1200" dirty="0">
                <a:solidFill>
                  <a:schemeClr val="tx1"/>
                </a:solidFill>
                <a:effectLst/>
                <a:latin typeface="+mn-lt"/>
                <a:ea typeface="+mn-ea"/>
                <a:cs typeface="+mn-cs"/>
              </a:rPr>
              <a:t>REST</a:t>
            </a:r>
            <a:r>
              <a:rPr lang="en-US" sz="1200" b="0" i="0" kern="1200" dirty="0">
                <a:solidFill>
                  <a:schemeClr val="tx1"/>
                </a:solidFill>
                <a:effectLst/>
                <a:latin typeface="+mn-lt"/>
                <a:ea typeface="+mn-ea"/>
                <a:cs typeface="+mn-cs"/>
              </a:rPr>
              <a:t> for tests and simulators, and a </a:t>
            </a:r>
            <a:r>
              <a:rPr lang="en-US" sz="1200" b="1" i="0" kern="1200" dirty="0">
                <a:solidFill>
                  <a:schemeClr val="tx1"/>
                </a:solidFill>
                <a:effectLst/>
                <a:latin typeface="+mn-lt"/>
                <a:ea typeface="+mn-ea"/>
                <a:cs typeface="+mn-cs"/>
              </a:rPr>
              <a:t>shared device, sensor, and actuator model</a:t>
            </a:r>
            <a:r>
              <a:rPr lang="en-US" sz="1200" b="0" i="0" kern="1200" dirty="0">
                <a:solidFill>
                  <a:schemeClr val="tx1"/>
                </a:solidFill>
                <a:effectLst/>
                <a:latin typeface="+mn-lt"/>
                <a:ea typeface="+mn-ea"/>
                <a:cs typeface="+mn-cs"/>
              </a:rPr>
              <a:t> in the database.</a:t>
            </a:r>
          </a:p>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We delivered an end-to-end system: </a:t>
            </a:r>
            <a:r>
              <a:rPr lang="en-US" sz="1200" b="1" i="0" kern="1200" dirty="0">
                <a:solidFill>
                  <a:schemeClr val="tx1"/>
                </a:solidFill>
                <a:effectLst/>
                <a:latin typeface="+mn-lt"/>
                <a:ea typeface="+mn-ea"/>
                <a:cs typeface="+mn-cs"/>
              </a:rPr>
              <a:t>MQTT, API, SQL Server, </a:t>
            </a:r>
            <a:r>
              <a:rPr lang="en-US" sz="1200" b="1" i="0" kern="1200" dirty="0" err="1">
                <a:solidFill>
                  <a:schemeClr val="tx1"/>
                </a:solidFill>
                <a:effectLst/>
                <a:latin typeface="+mn-lt"/>
                <a:ea typeface="+mn-ea"/>
                <a:cs typeface="+mn-cs"/>
              </a:rPr>
              <a:t>SignalR</a:t>
            </a:r>
            <a:r>
              <a:rPr lang="en-US" sz="1200" b="1" i="0" kern="1200" dirty="0">
                <a:solidFill>
                  <a:schemeClr val="tx1"/>
                </a:solidFill>
                <a:effectLst/>
                <a:latin typeface="+mn-lt"/>
                <a:ea typeface="+mn-ea"/>
                <a:cs typeface="+mn-cs"/>
              </a:rPr>
              <a:t>, and React</a:t>
            </a:r>
            <a:r>
              <a:rPr lang="en-US" sz="1200" b="0" i="0" kern="1200" dirty="0">
                <a:solidFill>
                  <a:schemeClr val="tx1"/>
                </a:solidFill>
                <a:effectLst/>
                <a:latin typeface="+mn-lt"/>
                <a:ea typeface="+mn-ea"/>
                <a:cs typeface="+mn-cs"/>
              </a:rPr>
              <a:t>; an eleven-table schema; JWT roles; a full UI including actuators and command history; </a:t>
            </a:r>
            <a:r>
              <a:rPr lang="en-US" sz="1200" b="1" i="0" kern="1200" dirty="0">
                <a:solidFill>
                  <a:schemeClr val="tx1"/>
                </a:solidFill>
                <a:effectLst/>
                <a:latin typeface="+mn-lt"/>
                <a:ea typeface="+mn-ea"/>
                <a:cs typeface="+mn-cs"/>
              </a:rPr>
              <a:t>Arduino firmware</a:t>
            </a:r>
            <a:r>
              <a:rPr lang="en-US" sz="1200" b="0" i="0" kern="1200" dirty="0">
                <a:solidFill>
                  <a:schemeClr val="tx1"/>
                </a:solidFill>
                <a:effectLst/>
                <a:latin typeface="+mn-lt"/>
                <a:ea typeface="+mn-ea"/>
                <a:cs typeface="+mn-cs"/>
              </a:rPr>
              <a:t> with a live demo; and </a:t>
            </a:r>
            <a:r>
              <a:rPr lang="en-US" sz="1200" b="1" i="0" kern="1200" dirty="0">
                <a:solidFill>
                  <a:schemeClr val="tx1"/>
                </a:solidFill>
                <a:effectLst/>
                <a:latin typeface="+mn-lt"/>
                <a:ea typeface="+mn-ea"/>
                <a:cs typeface="+mn-cs"/>
              </a:rPr>
              <a:t>GitHub and Azure</a:t>
            </a:r>
            <a:r>
              <a:rPr lang="en-US" sz="1200" b="0" i="0" kern="1200" dirty="0">
                <a:solidFill>
                  <a:schemeClr val="tx1"/>
                </a:solidFill>
                <a:effectLst/>
                <a:latin typeface="+mn-lt"/>
                <a:ea typeface="+mn-ea"/>
                <a:cs typeface="+mn-cs"/>
              </a:rPr>
              <a:t> deployment.</a:t>
            </a:r>
          </a:p>
          <a:p>
            <a:r>
              <a:rPr lang="en-US" sz="1200" b="0" i="0" kern="1200" dirty="0">
                <a:solidFill>
                  <a:schemeClr val="tx1"/>
                </a:solidFill>
                <a:effectLst/>
                <a:latin typeface="+mn-lt"/>
                <a:ea typeface="+mn-ea"/>
                <a:cs typeface="+mn-cs"/>
              </a:rPr>
              <a:t>Future work includes </a:t>
            </a:r>
            <a:r>
              <a:rPr lang="en-US" sz="1200" b="1" i="0" kern="1200" dirty="0">
                <a:solidFill>
                  <a:schemeClr val="tx1"/>
                </a:solidFill>
                <a:effectLst/>
                <a:latin typeface="+mn-lt"/>
                <a:ea typeface="+mn-ea"/>
                <a:cs typeface="+mn-cs"/>
              </a:rPr>
              <a:t>data retention and archiving</a:t>
            </a:r>
            <a:r>
              <a:rPr lang="en-US" sz="1200" b="0" i="0" kern="1200" dirty="0">
                <a:solidFill>
                  <a:schemeClr val="tx1"/>
                </a:solidFill>
                <a:effectLst/>
                <a:latin typeface="+mn-lt"/>
                <a:ea typeface="+mn-ea"/>
                <a:cs typeface="+mn-cs"/>
              </a:rPr>
              <a:t>, </a:t>
            </a:r>
            <a:r>
              <a:rPr lang="en-US" sz="1200" b="1" i="0" kern="1200" dirty="0">
                <a:solidFill>
                  <a:schemeClr val="tx1"/>
                </a:solidFill>
                <a:effectLst/>
                <a:latin typeface="+mn-lt"/>
                <a:ea typeface="+mn-ea"/>
                <a:cs typeface="+mn-cs"/>
              </a:rPr>
              <a:t>multi-tenant</a:t>
            </a:r>
            <a:r>
              <a:rPr lang="en-US" sz="1200" b="0" i="0" kern="1200" dirty="0">
                <a:solidFill>
                  <a:schemeClr val="tx1"/>
                </a:solidFill>
                <a:effectLst/>
                <a:latin typeface="+mn-lt"/>
                <a:ea typeface="+mn-ea"/>
                <a:cs typeface="+mn-cs"/>
              </a:rPr>
              <a:t> support, a </a:t>
            </a:r>
            <a:r>
              <a:rPr lang="en-US" sz="1200" b="1" i="0" kern="1200" dirty="0">
                <a:solidFill>
                  <a:schemeClr val="tx1"/>
                </a:solidFill>
                <a:effectLst/>
                <a:latin typeface="+mn-lt"/>
                <a:ea typeface="+mn-ea"/>
                <a:cs typeface="+mn-cs"/>
              </a:rPr>
              <a:t>mobile app</a:t>
            </a:r>
            <a:r>
              <a:rPr lang="en-US" sz="1200" b="0" i="0" kern="1200" dirty="0">
                <a:solidFill>
                  <a:schemeClr val="tx1"/>
                </a:solidFill>
                <a:effectLst/>
                <a:latin typeface="+mn-lt"/>
                <a:ea typeface="+mn-ea"/>
                <a:cs typeface="+mn-cs"/>
              </a:rPr>
              <a:t>, </a:t>
            </a:r>
            <a:r>
              <a:rPr lang="en-US" sz="1200" b="1" i="0" kern="1200" dirty="0">
                <a:solidFill>
                  <a:schemeClr val="tx1"/>
                </a:solidFill>
                <a:effectLst/>
                <a:latin typeface="+mn-lt"/>
                <a:ea typeface="+mn-ea"/>
                <a:cs typeface="+mn-cs"/>
              </a:rPr>
              <a:t>machine learning</a:t>
            </a:r>
            <a:r>
              <a:rPr lang="en-US" sz="1200" b="0" i="0" kern="1200" dirty="0">
                <a:solidFill>
                  <a:schemeClr val="tx1"/>
                </a:solidFill>
                <a:effectLst/>
                <a:latin typeface="+mn-lt"/>
                <a:ea typeface="+mn-ea"/>
                <a:cs typeface="+mn-cs"/>
              </a:rPr>
              <a:t> for anomalies, broader </a:t>
            </a:r>
            <a:r>
              <a:rPr lang="en-US" sz="1200" b="1" i="0" kern="1200" dirty="0">
                <a:solidFill>
                  <a:schemeClr val="tx1"/>
                </a:solidFill>
                <a:effectLst/>
                <a:latin typeface="+mn-lt"/>
                <a:ea typeface="+mn-ea"/>
                <a:cs typeface="+mn-cs"/>
              </a:rPr>
              <a:t>edge integrations</a:t>
            </a:r>
            <a:r>
              <a:rPr lang="en-US" sz="1200" b="0" i="0" kern="1200" dirty="0">
                <a:solidFill>
                  <a:schemeClr val="tx1"/>
                </a:solidFill>
                <a:effectLst/>
                <a:latin typeface="+mn-lt"/>
                <a:ea typeface="+mn-ea"/>
                <a:cs typeface="+mn-cs"/>
              </a:rPr>
              <a:t>, and production </a:t>
            </a:r>
            <a:r>
              <a:rPr lang="en-US" sz="1200" b="1" i="0" kern="1200" dirty="0">
                <a:solidFill>
                  <a:schemeClr val="tx1"/>
                </a:solidFill>
                <a:effectLst/>
                <a:latin typeface="+mn-lt"/>
                <a:ea typeface="+mn-ea"/>
                <a:cs typeface="+mn-cs"/>
              </a:rPr>
              <a:t>hardening</a:t>
            </a:r>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This project demonstrates a </a:t>
            </a:r>
            <a:r>
              <a:rPr lang="en-US" sz="1200" b="1" i="0" kern="1200" dirty="0">
                <a:solidFill>
                  <a:schemeClr val="tx1"/>
                </a:solidFill>
                <a:effectLst/>
                <a:latin typeface="+mn-lt"/>
                <a:ea typeface="+mn-ea"/>
                <a:cs typeface="+mn-cs"/>
              </a:rPr>
              <a:t>full stack from physical sensor to cloud dashboard</a:t>
            </a:r>
            <a:r>
              <a:rPr lang="en-US" sz="1200" b="0" i="0" kern="1200" dirty="0">
                <a:solidFill>
                  <a:schemeClr val="tx1"/>
                </a:solidFill>
                <a:effectLst/>
                <a:latin typeface="+mn-lt"/>
                <a:ea typeface="+mn-ea"/>
                <a:cs typeface="+mn-cs"/>
              </a:rPr>
              <a:t> and applies the BAS Application Development program in a practical IoT solution.</a:t>
            </a:r>
          </a:p>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AA8A8D-B0FA-D755-7559-F27DEF7D28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2F4428-5CA6-130A-28C2-9AEB8F88D9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524DCF-05B6-5955-DB21-709E16FB827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685C824-3AE3-29E1-A1F2-27B17651C42D}"/>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237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162" y="2130426"/>
            <a:ext cx="10360501" cy="1470025"/>
          </a:xfrm>
        </p:spPr>
        <p:txBody>
          <a:bodyPr/>
          <a:lstStyle/>
          <a:p>
            <a:r>
              <a:rPr lang="en-US"/>
              <a:t>Click to edit Master title style</a:t>
            </a:r>
          </a:p>
        </p:txBody>
      </p:sp>
      <p:sp>
        <p:nvSpPr>
          <p:cNvPr id="3" name="Subtitle 2"/>
          <p:cNvSpPr>
            <a:spLocks noGrp="1"/>
          </p:cNvSpPr>
          <p:nvPr>
            <p:ph type="subTitle" idx="1"/>
          </p:nvPr>
        </p:nvSpPr>
        <p:spPr>
          <a:xfrm>
            <a:off x="1828324" y="3886200"/>
            <a:ext cx="8532178"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83559461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04366912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2833" y="4406901"/>
            <a:ext cx="10360501"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2833" y="2906713"/>
            <a:ext cx="10360501"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10345170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441" y="1600201"/>
            <a:ext cx="5383398"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5986" y="1600201"/>
            <a:ext cx="5383398"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55982956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441" y="1535113"/>
            <a:ext cx="5385514"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441" y="2174875"/>
            <a:ext cx="5385514"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1754" y="1535113"/>
            <a:ext cx="5387630"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1754" y="2174875"/>
            <a:ext cx="538763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4877726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02742800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54389305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442" y="273050"/>
            <a:ext cx="4010039"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5492" y="273051"/>
            <a:ext cx="6813892"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442" y="1435101"/>
            <a:ext cx="4010039"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5200149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095" y="4800600"/>
            <a:ext cx="7313295"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095" y="612775"/>
            <a:ext cx="7313295"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095" y="5367338"/>
            <a:ext cx="7313295"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68497838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441149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6898" y="274639"/>
            <a:ext cx="2742486"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441" y="274639"/>
            <a:ext cx="802431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77298238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019371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71351" y="1775355"/>
            <a:ext cx="6475313" cy="1225021"/>
          </a:xfrm>
        </p:spPr>
        <p:txBody>
          <a:bodyPr/>
          <a:lstStyle/>
          <a:p>
            <a:r>
              <a:rPr lang="en-US"/>
              <a:t>Click to edit Master title style</a:t>
            </a:r>
          </a:p>
        </p:txBody>
      </p:sp>
      <p:sp>
        <p:nvSpPr>
          <p:cNvPr id="3" name="Subtitle 2"/>
          <p:cNvSpPr>
            <a:spLocks noGrp="1"/>
          </p:cNvSpPr>
          <p:nvPr>
            <p:ph type="subTitle" idx="1"/>
          </p:nvPr>
        </p:nvSpPr>
        <p:spPr>
          <a:xfrm>
            <a:off x="1142702" y="3238500"/>
            <a:ext cx="5332611" cy="1460500"/>
          </a:xfrm>
        </p:spPr>
        <p:txBody>
          <a:bodyPr/>
          <a:lstStyle>
            <a:lvl1pPr marL="0" indent="0" algn="ctr">
              <a:buNone/>
              <a:defRPr>
                <a:solidFill>
                  <a:schemeClr val="tx1">
                    <a:tint val="75000"/>
                  </a:schemeClr>
                </a:solidFill>
              </a:defRPr>
            </a:lvl1pPr>
            <a:lvl2pPr marL="380893" indent="0" algn="ctr">
              <a:buNone/>
              <a:defRPr>
                <a:solidFill>
                  <a:schemeClr val="tx1">
                    <a:tint val="75000"/>
                  </a:schemeClr>
                </a:solidFill>
              </a:defRPr>
            </a:lvl2pPr>
            <a:lvl3pPr marL="761787" indent="0" algn="ctr">
              <a:buNone/>
              <a:defRPr>
                <a:solidFill>
                  <a:schemeClr val="tx1">
                    <a:tint val="75000"/>
                  </a:schemeClr>
                </a:solidFill>
              </a:defRPr>
            </a:lvl3pPr>
            <a:lvl4pPr marL="1142680" indent="0" algn="ctr">
              <a:buNone/>
              <a:defRPr>
                <a:solidFill>
                  <a:schemeClr val="tx1">
                    <a:tint val="75000"/>
                  </a:schemeClr>
                </a:solidFill>
              </a:defRPr>
            </a:lvl4pPr>
            <a:lvl5pPr marL="1523573" indent="0" algn="ctr">
              <a:buNone/>
              <a:defRPr>
                <a:solidFill>
                  <a:schemeClr val="tx1">
                    <a:tint val="75000"/>
                  </a:schemeClr>
                </a:solidFill>
              </a:defRPr>
            </a:lvl5pPr>
            <a:lvl6pPr marL="1904467" indent="0" algn="ctr">
              <a:buNone/>
              <a:defRPr>
                <a:solidFill>
                  <a:schemeClr val="tx1">
                    <a:tint val="75000"/>
                  </a:schemeClr>
                </a:solidFill>
              </a:defRPr>
            </a:lvl6pPr>
            <a:lvl7pPr marL="2285360" indent="0" algn="ctr">
              <a:buNone/>
              <a:defRPr>
                <a:solidFill>
                  <a:schemeClr val="tx1">
                    <a:tint val="75000"/>
                  </a:schemeClr>
                </a:solidFill>
              </a:defRPr>
            </a:lvl7pPr>
            <a:lvl8pPr marL="2666253" indent="0" algn="ctr">
              <a:buNone/>
              <a:defRPr>
                <a:solidFill>
                  <a:schemeClr val="tx1">
                    <a:tint val="75000"/>
                  </a:schemeClr>
                </a:solidFill>
              </a:defRPr>
            </a:lvl8pPr>
            <a:lvl9pPr marL="3047147"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0107253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30503271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01771" y="3672417"/>
            <a:ext cx="6475313" cy="1135063"/>
          </a:xfrm>
        </p:spPr>
        <p:txBody>
          <a:bodyPr anchor="t"/>
          <a:lstStyle>
            <a:lvl1pPr algn="l">
              <a:defRPr sz="3332" b="1" cap="all"/>
            </a:lvl1pPr>
          </a:lstStyle>
          <a:p>
            <a:r>
              <a:rPr lang="en-US"/>
              <a:t>Click to edit Master title style</a:t>
            </a:r>
          </a:p>
        </p:txBody>
      </p:sp>
      <p:sp>
        <p:nvSpPr>
          <p:cNvPr id="3" name="Text Placeholder 2"/>
          <p:cNvSpPr>
            <a:spLocks noGrp="1"/>
          </p:cNvSpPr>
          <p:nvPr>
            <p:ph type="body" idx="1"/>
          </p:nvPr>
        </p:nvSpPr>
        <p:spPr>
          <a:xfrm>
            <a:off x="601771" y="2422261"/>
            <a:ext cx="6475313" cy="1250156"/>
          </a:xfrm>
        </p:spPr>
        <p:txBody>
          <a:bodyPr anchor="b"/>
          <a:lstStyle>
            <a:lvl1pPr marL="0" indent="0">
              <a:buNone/>
              <a:defRPr sz="1666">
                <a:solidFill>
                  <a:schemeClr val="tx1">
                    <a:tint val="75000"/>
                  </a:schemeClr>
                </a:solidFill>
              </a:defRPr>
            </a:lvl1pPr>
            <a:lvl2pPr marL="380893" indent="0">
              <a:buNone/>
              <a:defRPr sz="1500">
                <a:solidFill>
                  <a:schemeClr val="tx1">
                    <a:tint val="75000"/>
                  </a:schemeClr>
                </a:solidFill>
              </a:defRPr>
            </a:lvl2pPr>
            <a:lvl3pPr marL="761787" indent="0">
              <a:buNone/>
              <a:defRPr sz="1333">
                <a:solidFill>
                  <a:schemeClr val="tx1">
                    <a:tint val="75000"/>
                  </a:schemeClr>
                </a:solidFill>
              </a:defRPr>
            </a:lvl3pPr>
            <a:lvl4pPr marL="1142680" indent="0">
              <a:buNone/>
              <a:defRPr sz="1166">
                <a:solidFill>
                  <a:schemeClr val="tx1">
                    <a:tint val="75000"/>
                  </a:schemeClr>
                </a:solidFill>
              </a:defRPr>
            </a:lvl4pPr>
            <a:lvl5pPr marL="1523573" indent="0">
              <a:buNone/>
              <a:defRPr sz="1166">
                <a:solidFill>
                  <a:schemeClr val="tx1">
                    <a:tint val="75000"/>
                  </a:schemeClr>
                </a:solidFill>
              </a:defRPr>
            </a:lvl5pPr>
            <a:lvl6pPr marL="1904467" indent="0">
              <a:buNone/>
              <a:defRPr sz="1166">
                <a:solidFill>
                  <a:schemeClr val="tx1">
                    <a:tint val="75000"/>
                  </a:schemeClr>
                </a:solidFill>
              </a:defRPr>
            </a:lvl6pPr>
            <a:lvl7pPr marL="2285360" indent="0">
              <a:buNone/>
              <a:defRPr sz="1166">
                <a:solidFill>
                  <a:schemeClr val="tx1">
                    <a:tint val="75000"/>
                  </a:schemeClr>
                </a:solidFill>
              </a:defRPr>
            </a:lvl7pPr>
            <a:lvl8pPr marL="2666253" indent="0">
              <a:buNone/>
              <a:defRPr sz="1166">
                <a:solidFill>
                  <a:schemeClr val="tx1">
                    <a:tint val="75000"/>
                  </a:schemeClr>
                </a:solidFill>
              </a:defRPr>
            </a:lvl8pPr>
            <a:lvl9pPr marL="3047147" indent="0">
              <a:buNone/>
              <a:defRPr sz="1166">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90736872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380901" y="1333500"/>
            <a:ext cx="3364624" cy="3771636"/>
          </a:xfrm>
        </p:spPr>
        <p:txBody>
          <a:bodyPr/>
          <a:lstStyle>
            <a:lvl1pPr>
              <a:defRPr sz="2333"/>
            </a:lvl1pPr>
            <a:lvl2pPr>
              <a:defRPr sz="1999"/>
            </a:lvl2pPr>
            <a:lvl3pPr>
              <a:defRPr sz="1666"/>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3872491" y="1333500"/>
            <a:ext cx="3364624" cy="3771636"/>
          </a:xfrm>
        </p:spPr>
        <p:txBody>
          <a:bodyPr/>
          <a:lstStyle>
            <a:lvl1pPr>
              <a:defRPr sz="2333"/>
            </a:lvl1pPr>
            <a:lvl2pPr>
              <a:defRPr sz="1999"/>
            </a:lvl2pPr>
            <a:lvl3pPr>
              <a:defRPr sz="1666"/>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1010842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380901" y="1279261"/>
            <a:ext cx="3365947" cy="533135"/>
          </a:xfrm>
        </p:spPr>
        <p:txBody>
          <a:bodyPr anchor="b"/>
          <a:lstStyle>
            <a:lvl1pPr marL="0" indent="0">
              <a:buNone/>
              <a:defRPr sz="1999" b="1"/>
            </a:lvl1pPr>
            <a:lvl2pPr marL="380893" indent="0">
              <a:buNone/>
              <a:defRPr sz="1666" b="1"/>
            </a:lvl2pPr>
            <a:lvl3pPr marL="761787" indent="0">
              <a:buNone/>
              <a:defRPr sz="1500" b="1"/>
            </a:lvl3pPr>
            <a:lvl4pPr marL="1142680" indent="0">
              <a:buNone/>
              <a:defRPr sz="1333" b="1"/>
            </a:lvl4pPr>
            <a:lvl5pPr marL="1523573" indent="0">
              <a:buNone/>
              <a:defRPr sz="1333" b="1"/>
            </a:lvl5pPr>
            <a:lvl6pPr marL="1904467" indent="0">
              <a:buNone/>
              <a:defRPr sz="1333" b="1"/>
            </a:lvl6pPr>
            <a:lvl7pPr marL="2285360" indent="0">
              <a:buNone/>
              <a:defRPr sz="1333" b="1"/>
            </a:lvl7pPr>
            <a:lvl8pPr marL="2666253" indent="0">
              <a:buNone/>
              <a:defRPr sz="1333" b="1"/>
            </a:lvl8pPr>
            <a:lvl9pPr marL="3047147" indent="0">
              <a:buNone/>
              <a:defRPr sz="1333" b="1"/>
            </a:lvl9pPr>
          </a:lstStyle>
          <a:p>
            <a:pPr lvl="0"/>
            <a:r>
              <a:rPr lang="en-US"/>
              <a:t>Click to edit Master text styles</a:t>
            </a:r>
          </a:p>
        </p:txBody>
      </p:sp>
      <p:sp>
        <p:nvSpPr>
          <p:cNvPr id="4" name="Content Placeholder 3"/>
          <p:cNvSpPr>
            <a:spLocks noGrp="1"/>
          </p:cNvSpPr>
          <p:nvPr>
            <p:ph sz="half" idx="2"/>
          </p:nvPr>
        </p:nvSpPr>
        <p:spPr>
          <a:xfrm>
            <a:off x="380901" y="1812396"/>
            <a:ext cx="3365947" cy="3292740"/>
          </a:xfrm>
        </p:spPr>
        <p:txBody>
          <a:bodyPr/>
          <a:lstStyle>
            <a:lvl1pPr>
              <a:defRPr sz="1999"/>
            </a:lvl1pPr>
            <a:lvl2pPr>
              <a:defRPr sz="1666"/>
            </a:lvl2pPr>
            <a:lvl3pPr>
              <a:defRPr sz="1500"/>
            </a:lvl3pPr>
            <a:lvl4pPr>
              <a:defRPr sz="1333"/>
            </a:lvl4pPr>
            <a:lvl5pPr>
              <a:defRPr sz="1333"/>
            </a:lvl5pPr>
            <a:lvl6pPr>
              <a:defRPr sz="1333"/>
            </a:lvl6pPr>
            <a:lvl7pPr>
              <a:defRPr sz="1333"/>
            </a:lvl7pPr>
            <a:lvl8pPr>
              <a:defRPr sz="1333"/>
            </a:lvl8pPr>
            <a:lvl9pPr>
              <a:defRPr sz="133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3869846" y="1279261"/>
            <a:ext cx="3367269" cy="533135"/>
          </a:xfrm>
        </p:spPr>
        <p:txBody>
          <a:bodyPr anchor="b"/>
          <a:lstStyle>
            <a:lvl1pPr marL="0" indent="0">
              <a:buNone/>
              <a:defRPr sz="1999" b="1"/>
            </a:lvl1pPr>
            <a:lvl2pPr marL="380893" indent="0">
              <a:buNone/>
              <a:defRPr sz="1666" b="1"/>
            </a:lvl2pPr>
            <a:lvl3pPr marL="761787" indent="0">
              <a:buNone/>
              <a:defRPr sz="1500" b="1"/>
            </a:lvl3pPr>
            <a:lvl4pPr marL="1142680" indent="0">
              <a:buNone/>
              <a:defRPr sz="1333" b="1"/>
            </a:lvl4pPr>
            <a:lvl5pPr marL="1523573" indent="0">
              <a:buNone/>
              <a:defRPr sz="1333" b="1"/>
            </a:lvl5pPr>
            <a:lvl6pPr marL="1904467" indent="0">
              <a:buNone/>
              <a:defRPr sz="1333" b="1"/>
            </a:lvl6pPr>
            <a:lvl7pPr marL="2285360" indent="0">
              <a:buNone/>
              <a:defRPr sz="1333" b="1"/>
            </a:lvl7pPr>
            <a:lvl8pPr marL="2666253" indent="0">
              <a:buNone/>
              <a:defRPr sz="1333" b="1"/>
            </a:lvl8pPr>
            <a:lvl9pPr marL="3047147" indent="0">
              <a:buNone/>
              <a:defRPr sz="1333" b="1"/>
            </a:lvl9pPr>
          </a:lstStyle>
          <a:p>
            <a:pPr lvl="0"/>
            <a:r>
              <a:rPr lang="en-US"/>
              <a:t>Click to edit Master text styles</a:t>
            </a:r>
          </a:p>
        </p:txBody>
      </p:sp>
      <p:sp>
        <p:nvSpPr>
          <p:cNvPr id="6" name="Content Placeholder 5"/>
          <p:cNvSpPr>
            <a:spLocks noGrp="1"/>
          </p:cNvSpPr>
          <p:nvPr>
            <p:ph sz="quarter" idx="4"/>
          </p:nvPr>
        </p:nvSpPr>
        <p:spPr>
          <a:xfrm>
            <a:off x="3869846" y="1812396"/>
            <a:ext cx="3367269" cy="3292740"/>
          </a:xfrm>
        </p:spPr>
        <p:txBody>
          <a:bodyPr/>
          <a:lstStyle>
            <a:lvl1pPr>
              <a:defRPr sz="1999"/>
            </a:lvl1pPr>
            <a:lvl2pPr>
              <a:defRPr sz="1666"/>
            </a:lvl2pPr>
            <a:lvl3pPr>
              <a:defRPr sz="1500"/>
            </a:lvl3pPr>
            <a:lvl4pPr>
              <a:defRPr sz="1333"/>
            </a:lvl4pPr>
            <a:lvl5pPr>
              <a:defRPr sz="1333"/>
            </a:lvl5pPr>
            <a:lvl6pPr>
              <a:defRPr sz="1333"/>
            </a:lvl6pPr>
            <a:lvl7pPr>
              <a:defRPr sz="1333"/>
            </a:lvl7pPr>
            <a:lvl8pPr>
              <a:defRPr sz="1333"/>
            </a:lvl8pPr>
            <a:lvl9pPr>
              <a:defRPr sz="133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16704888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7944224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22115294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80901" y="227542"/>
            <a:ext cx="2506275" cy="968375"/>
          </a:xfrm>
        </p:spPr>
        <p:txBody>
          <a:bodyPr anchor="b"/>
          <a:lstStyle>
            <a:lvl1pPr algn="l">
              <a:defRPr sz="1666" b="1"/>
            </a:lvl1pPr>
          </a:lstStyle>
          <a:p>
            <a:r>
              <a:rPr lang="en-US"/>
              <a:t>Click to edit Master title style</a:t>
            </a:r>
          </a:p>
        </p:txBody>
      </p:sp>
      <p:sp>
        <p:nvSpPr>
          <p:cNvPr id="3" name="Content Placeholder 2"/>
          <p:cNvSpPr>
            <a:spLocks noGrp="1"/>
          </p:cNvSpPr>
          <p:nvPr>
            <p:ph idx="1"/>
          </p:nvPr>
        </p:nvSpPr>
        <p:spPr>
          <a:xfrm>
            <a:off x="2978433" y="227542"/>
            <a:ext cx="4258682" cy="4877594"/>
          </a:xfrm>
        </p:spPr>
        <p:txBody>
          <a:bodyPr/>
          <a:lstStyle>
            <a:lvl1pPr>
              <a:defRPr sz="2666"/>
            </a:lvl1pPr>
            <a:lvl2pPr>
              <a:defRPr sz="2333"/>
            </a:lvl2pPr>
            <a:lvl3pPr>
              <a:defRPr sz="1999"/>
            </a:lvl3pPr>
            <a:lvl4pPr>
              <a:defRPr sz="1666"/>
            </a:lvl4pPr>
            <a:lvl5pPr>
              <a:defRPr sz="1666"/>
            </a:lvl5pPr>
            <a:lvl6pPr>
              <a:defRPr sz="1666"/>
            </a:lvl6pPr>
            <a:lvl7pPr>
              <a:defRPr sz="1666"/>
            </a:lvl7pPr>
            <a:lvl8pPr>
              <a:defRPr sz="1666"/>
            </a:lvl8pPr>
            <a:lvl9pPr>
              <a:defRPr sz="1666"/>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380901" y="1195917"/>
            <a:ext cx="2506275" cy="3909219"/>
          </a:xfrm>
        </p:spPr>
        <p:txBody>
          <a:bodyPr/>
          <a:lstStyle>
            <a:lvl1pPr marL="0" indent="0">
              <a:buNone/>
              <a:defRPr sz="1166"/>
            </a:lvl1pPr>
            <a:lvl2pPr marL="380893" indent="0">
              <a:buNone/>
              <a:defRPr sz="1000"/>
            </a:lvl2pPr>
            <a:lvl3pPr marL="761787" indent="0">
              <a:buNone/>
              <a:defRPr sz="833"/>
            </a:lvl3pPr>
            <a:lvl4pPr marL="1142680" indent="0">
              <a:buNone/>
              <a:defRPr sz="750"/>
            </a:lvl4pPr>
            <a:lvl5pPr marL="1523573" indent="0">
              <a:buNone/>
              <a:defRPr sz="750"/>
            </a:lvl5pPr>
            <a:lvl6pPr marL="1904467" indent="0">
              <a:buNone/>
              <a:defRPr sz="750"/>
            </a:lvl6pPr>
            <a:lvl7pPr marL="2285360" indent="0">
              <a:buNone/>
              <a:defRPr sz="750"/>
            </a:lvl7pPr>
            <a:lvl8pPr marL="2666253" indent="0">
              <a:buNone/>
              <a:defRPr sz="750"/>
            </a:lvl8pPr>
            <a:lvl9pPr marL="3047147"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58985292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93185" y="4000500"/>
            <a:ext cx="4570809" cy="472282"/>
          </a:xfrm>
        </p:spPr>
        <p:txBody>
          <a:bodyPr anchor="b"/>
          <a:lstStyle>
            <a:lvl1pPr algn="l">
              <a:defRPr sz="1666" b="1"/>
            </a:lvl1pPr>
          </a:lstStyle>
          <a:p>
            <a:r>
              <a:rPr lang="en-US"/>
              <a:t>Click to edit Master title style</a:t>
            </a:r>
          </a:p>
        </p:txBody>
      </p:sp>
      <p:sp>
        <p:nvSpPr>
          <p:cNvPr id="3" name="Picture Placeholder 2"/>
          <p:cNvSpPr>
            <a:spLocks noGrp="1"/>
          </p:cNvSpPr>
          <p:nvPr>
            <p:ph type="pic" idx="1"/>
          </p:nvPr>
        </p:nvSpPr>
        <p:spPr>
          <a:xfrm>
            <a:off x="1493185" y="510646"/>
            <a:ext cx="4570809" cy="3429000"/>
          </a:xfrm>
        </p:spPr>
        <p:txBody>
          <a:bodyPr/>
          <a:lstStyle>
            <a:lvl1pPr marL="0" indent="0">
              <a:buNone/>
              <a:defRPr sz="2666"/>
            </a:lvl1pPr>
            <a:lvl2pPr marL="380893" indent="0">
              <a:buNone/>
              <a:defRPr sz="2333"/>
            </a:lvl2pPr>
            <a:lvl3pPr marL="761787" indent="0">
              <a:buNone/>
              <a:defRPr sz="1999"/>
            </a:lvl3pPr>
            <a:lvl4pPr marL="1142680" indent="0">
              <a:buNone/>
              <a:defRPr sz="1666"/>
            </a:lvl4pPr>
            <a:lvl5pPr marL="1523573" indent="0">
              <a:buNone/>
              <a:defRPr sz="1666"/>
            </a:lvl5pPr>
            <a:lvl6pPr marL="1904467" indent="0">
              <a:buNone/>
              <a:defRPr sz="1666"/>
            </a:lvl6pPr>
            <a:lvl7pPr marL="2285360" indent="0">
              <a:buNone/>
              <a:defRPr sz="1666"/>
            </a:lvl7pPr>
            <a:lvl8pPr marL="2666253" indent="0">
              <a:buNone/>
              <a:defRPr sz="1666"/>
            </a:lvl8pPr>
            <a:lvl9pPr marL="3047147" indent="0">
              <a:buNone/>
              <a:defRPr sz="1666"/>
            </a:lvl9pPr>
          </a:lstStyle>
          <a:p>
            <a:endParaRPr lang="en-US"/>
          </a:p>
        </p:txBody>
      </p:sp>
      <p:sp>
        <p:nvSpPr>
          <p:cNvPr id="4" name="Text Placeholder 3"/>
          <p:cNvSpPr>
            <a:spLocks noGrp="1"/>
          </p:cNvSpPr>
          <p:nvPr>
            <p:ph type="body" sz="half" idx="2"/>
          </p:nvPr>
        </p:nvSpPr>
        <p:spPr>
          <a:xfrm>
            <a:off x="1493185" y="4472782"/>
            <a:ext cx="4570809" cy="670718"/>
          </a:xfrm>
        </p:spPr>
        <p:txBody>
          <a:bodyPr/>
          <a:lstStyle>
            <a:lvl1pPr marL="0" indent="0">
              <a:buNone/>
              <a:defRPr sz="1166"/>
            </a:lvl1pPr>
            <a:lvl2pPr marL="380893" indent="0">
              <a:buNone/>
              <a:defRPr sz="1000"/>
            </a:lvl2pPr>
            <a:lvl3pPr marL="761787" indent="0">
              <a:buNone/>
              <a:defRPr sz="833"/>
            </a:lvl3pPr>
            <a:lvl4pPr marL="1142680" indent="0">
              <a:buNone/>
              <a:defRPr sz="750"/>
            </a:lvl4pPr>
            <a:lvl5pPr marL="1523573" indent="0">
              <a:buNone/>
              <a:defRPr sz="750"/>
            </a:lvl5pPr>
            <a:lvl6pPr marL="1904467" indent="0">
              <a:buNone/>
              <a:defRPr sz="750"/>
            </a:lvl6pPr>
            <a:lvl7pPr marL="2285360" indent="0">
              <a:buNone/>
              <a:defRPr sz="750"/>
            </a:lvl7pPr>
            <a:lvl8pPr marL="2666253" indent="0">
              <a:buNone/>
              <a:defRPr sz="750"/>
            </a:lvl8pPr>
            <a:lvl9pPr marL="3047147"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30790729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43477197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523061" y="228865"/>
            <a:ext cx="1714054" cy="4876271"/>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380901" y="228865"/>
            <a:ext cx="5015194" cy="4876271"/>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711185396"/>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36703925"/>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273324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1.xml"/><Relationship Id="rId13" Type="http://schemas.openxmlformats.org/officeDocument/2006/relationships/theme" Target="../theme/theme3.xml"/><Relationship Id="rId3" Type="http://schemas.openxmlformats.org/officeDocument/2006/relationships/slideLayout" Target="../slideLayouts/slideLayout26.xml"/><Relationship Id="rId7" Type="http://schemas.openxmlformats.org/officeDocument/2006/relationships/slideLayout" Target="../slideLayouts/slideLayout30.xml"/><Relationship Id="rId12" Type="http://schemas.openxmlformats.org/officeDocument/2006/relationships/slideLayout" Target="../slideLayouts/slideLayout35.xml"/><Relationship Id="rId2" Type="http://schemas.openxmlformats.org/officeDocument/2006/relationships/slideLayout" Target="../slideLayouts/slideLayout25.xml"/><Relationship Id="rId1" Type="http://schemas.openxmlformats.org/officeDocument/2006/relationships/slideLayout" Target="../slideLayouts/slideLayout24.xml"/><Relationship Id="rId6" Type="http://schemas.openxmlformats.org/officeDocument/2006/relationships/slideLayout" Target="../slideLayouts/slideLayout29.xml"/><Relationship Id="rId11" Type="http://schemas.openxmlformats.org/officeDocument/2006/relationships/slideLayout" Target="../slideLayouts/slideLayout34.xml"/><Relationship Id="rId5" Type="http://schemas.openxmlformats.org/officeDocument/2006/relationships/slideLayout" Target="../slideLayouts/slideLayout28.xml"/><Relationship Id="rId10" Type="http://schemas.openxmlformats.org/officeDocument/2006/relationships/slideLayout" Target="../slideLayouts/slideLayout33.xml"/><Relationship Id="rId4" Type="http://schemas.openxmlformats.org/officeDocument/2006/relationships/slideLayout" Target="../slideLayouts/slideLayout27.xml"/><Relationship Id="rId9" Type="http://schemas.openxmlformats.org/officeDocument/2006/relationships/slideLayout" Target="../slideLayouts/slideLayout32.xml"/></Relationships>
</file>

<file path=ppt/slideMasters/_rels/slideMaster4.xml.rels><?xml version="1.0" encoding="UTF-8" standalone="yes"?>
<Relationships xmlns="http://schemas.openxmlformats.org/package/2006/relationships"><Relationship Id="rId2" Type="http://schemas.openxmlformats.org/officeDocument/2006/relationships/theme" Target="../theme/theme4.xml"/><Relationship Id="rId1" Type="http://schemas.openxmlformats.org/officeDocument/2006/relationships/slideLayout" Target="../slideLayouts/slideLayout3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5/23/2026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441" y="274638"/>
            <a:ext cx="10969943"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441" y="1600201"/>
            <a:ext cx="10969943"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441" y="6356351"/>
            <a:ext cx="2844059"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5/23/2026</a:t>
            </a:fld>
            <a:endParaRPr lang="en-US"/>
          </a:p>
        </p:txBody>
      </p:sp>
      <p:sp>
        <p:nvSpPr>
          <p:cNvPr id="5" name="Footer Placeholder 4"/>
          <p:cNvSpPr>
            <a:spLocks noGrp="1"/>
          </p:cNvSpPr>
          <p:nvPr>
            <p:ph type="ftr" sz="quarter" idx="3"/>
          </p:nvPr>
        </p:nvSpPr>
        <p:spPr>
          <a:xfrm>
            <a:off x="4164515" y="6356351"/>
            <a:ext cx="3859795"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5325" y="6356351"/>
            <a:ext cx="2844059"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155571216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86" r:id="rId1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80901" y="228865"/>
            <a:ext cx="6856214" cy="9525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380901" y="1333500"/>
            <a:ext cx="6856214" cy="377163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380901" y="5296959"/>
            <a:ext cx="1777537" cy="304271"/>
          </a:xfrm>
          <a:prstGeom prst="rect">
            <a:avLst/>
          </a:prstGeom>
        </p:spPr>
        <p:txBody>
          <a:bodyPr vert="horz" lIns="91440" tIns="45720" rIns="91440" bIns="45720" rtlCol="0" anchor="ctr"/>
          <a:lstStyle>
            <a:lvl1pPr algn="l">
              <a:defRPr sz="1000">
                <a:solidFill>
                  <a:schemeClr val="tx1">
                    <a:tint val="75000"/>
                  </a:schemeClr>
                </a:solidFill>
              </a:defRPr>
            </a:lvl1pPr>
          </a:lstStyle>
          <a:p>
            <a:fld id="{5BCAD085-E8A6-8845-BD4E-CB4CCA059FC4}" type="datetimeFigureOut">
              <a:rPr lang="en-US" smtClean="0"/>
              <a:t>5/23/2026</a:t>
            </a:fld>
            <a:endParaRPr lang="en-US"/>
          </a:p>
        </p:txBody>
      </p:sp>
      <p:sp>
        <p:nvSpPr>
          <p:cNvPr id="5" name="Footer Placeholder 4"/>
          <p:cNvSpPr>
            <a:spLocks noGrp="1"/>
          </p:cNvSpPr>
          <p:nvPr>
            <p:ph type="ftr" sz="quarter" idx="3"/>
          </p:nvPr>
        </p:nvSpPr>
        <p:spPr>
          <a:xfrm>
            <a:off x="2602822" y="5296959"/>
            <a:ext cx="2412372" cy="304271"/>
          </a:xfrm>
          <a:prstGeom prst="rect">
            <a:avLst/>
          </a:prstGeom>
        </p:spPr>
        <p:txBody>
          <a:bodyPr vert="horz" lIns="91440" tIns="45720" rIns="91440" bIns="45720" rtlCol="0" anchor="ctr"/>
          <a:lstStyle>
            <a:lvl1pPr algn="ctr">
              <a:defRPr sz="10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5459578" y="5296959"/>
            <a:ext cx="1777537" cy="304271"/>
          </a:xfrm>
          <a:prstGeom prst="rect">
            <a:avLst/>
          </a:prstGeom>
        </p:spPr>
        <p:txBody>
          <a:bodyPr vert="horz" lIns="91440" tIns="45720" rIns="91440" bIns="45720" rtlCol="0" anchor="ctr"/>
          <a:lstStyle>
            <a:lvl1pPr algn="r">
              <a:defRPr sz="10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3247860376"/>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7" r:id="rId12"/>
  </p:sldLayoutIdLst>
  <p:txStyles>
    <p:titleStyle>
      <a:lvl1pPr algn="ctr" defTabSz="380893" rtl="0" eaLnBrk="1" latinLnBrk="0" hangingPunct="1">
        <a:spcBef>
          <a:spcPct val="0"/>
        </a:spcBef>
        <a:buNone/>
        <a:defRPr sz="3666" kern="1200">
          <a:solidFill>
            <a:schemeClr val="tx1"/>
          </a:solidFill>
          <a:latin typeface="+mj-lt"/>
          <a:ea typeface="+mj-ea"/>
          <a:cs typeface="+mj-cs"/>
        </a:defRPr>
      </a:lvl1pPr>
    </p:titleStyle>
    <p:bodyStyle>
      <a:lvl1pPr marL="285670" indent="-285670" algn="l" defTabSz="380893" rtl="0" eaLnBrk="1" latinLnBrk="0" hangingPunct="1">
        <a:spcBef>
          <a:spcPct val="20000"/>
        </a:spcBef>
        <a:buFont typeface="Arial"/>
        <a:buChar char="•"/>
        <a:defRPr sz="2666" kern="1200">
          <a:solidFill>
            <a:schemeClr val="tx1"/>
          </a:solidFill>
          <a:latin typeface="+mn-lt"/>
          <a:ea typeface="+mn-ea"/>
          <a:cs typeface="+mn-cs"/>
        </a:defRPr>
      </a:lvl1pPr>
      <a:lvl2pPr marL="618952" indent="-238058" algn="l" defTabSz="380893" rtl="0" eaLnBrk="1" latinLnBrk="0" hangingPunct="1">
        <a:spcBef>
          <a:spcPct val="20000"/>
        </a:spcBef>
        <a:buFont typeface="Arial"/>
        <a:buChar char="–"/>
        <a:defRPr sz="2333" kern="1200">
          <a:solidFill>
            <a:schemeClr val="tx1"/>
          </a:solidFill>
          <a:latin typeface="+mn-lt"/>
          <a:ea typeface="+mn-ea"/>
          <a:cs typeface="+mn-cs"/>
        </a:defRPr>
      </a:lvl2pPr>
      <a:lvl3pPr marL="952233" indent="-190447" algn="l" defTabSz="380893" rtl="0" eaLnBrk="1" latinLnBrk="0" hangingPunct="1">
        <a:spcBef>
          <a:spcPct val="20000"/>
        </a:spcBef>
        <a:buFont typeface="Arial"/>
        <a:buChar char="•"/>
        <a:defRPr sz="1999" kern="1200">
          <a:solidFill>
            <a:schemeClr val="tx1"/>
          </a:solidFill>
          <a:latin typeface="+mn-lt"/>
          <a:ea typeface="+mn-ea"/>
          <a:cs typeface="+mn-cs"/>
        </a:defRPr>
      </a:lvl3pPr>
      <a:lvl4pPr marL="1333127" indent="-190447" algn="l" defTabSz="380893" rtl="0" eaLnBrk="1" latinLnBrk="0" hangingPunct="1">
        <a:spcBef>
          <a:spcPct val="20000"/>
        </a:spcBef>
        <a:buFont typeface="Arial"/>
        <a:buChar char="–"/>
        <a:defRPr sz="1666" kern="1200">
          <a:solidFill>
            <a:schemeClr val="tx1"/>
          </a:solidFill>
          <a:latin typeface="+mn-lt"/>
          <a:ea typeface="+mn-ea"/>
          <a:cs typeface="+mn-cs"/>
        </a:defRPr>
      </a:lvl4pPr>
      <a:lvl5pPr marL="1714020" indent="-190447" algn="l" defTabSz="380893" rtl="0" eaLnBrk="1" latinLnBrk="0" hangingPunct="1">
        <a:spcBef>
          <a:spcPct val="20000"/>
        </a:spcBef>
        <a:buFont typeface="Arial"/>
        <a:buChar char="»"/>
        <a:defRPr sz="1666" kern="1200">
          <a:solidFill>
            <a:schemeClr val="tx1"/>
          </a:solidFill>
          <a:latin typeface="+mn-lt"/>
          <a:ea typeface="+mn-ea"/>
          <a:cs typeface="+mn-cs"/>
        </a:defRPr>
      </a:lvl5pPr>
      <a:lvl6pPr marL="2094913" indent="-190447" algn="l" defTabSz="380893" rtl="0" eaLnBrk="1" latinLnBrk="0" hangingPunct="1">
        <a:spcBef>
          <a:spcPct val="20000"/>
        </a:spcBef>
        <a:buFont typeface="Arial"/>
        <a:buChar char="•"/>
        <a:defRPr sz="1666" kern="1200">
          <a:solidFill>
            <a:schemeClr val="tx1"/>
          </a:solidFill>
          <a:latin typeface="+mn-lt"/>
          <a:ea typeface="+mn-ea"/>
          <a:cs typeface="+mn-cs"/>
        </a:defRPr>
      </a:lvl6pPr>
      <a:lvl7pPr marL="2475807" indent="-190447" algn="l" defTabSz="380893" rtl="0" eaLnBrk="1" latinLnBrk="0" hangingPunct="1">
        <a:spcBef>
          <a:spcPct val="20000"/>
        </a:spcBef>
        <a:buFont typeface="Arial"/>
        <a:buChar char="•"/>
        <a:defRPr sz="1666" kern="1200">
          <a:solidFill>
            <a:schemeClr val="tx1"/>
          </a:solidFill>
          <a:latin typeface="+mn-lt"/>
          <a:ea typeface="+mn-ea"/>
          <a:cs typeface="+mn-cs"/>
        </a:defRPr>
      </a:lvl7pPr>
      <a:lvl8pPr marL="2856700" indent="-190447" algn="l" defTabSz="380893" rtl="0" eaLnBrk="1" latinLnBrk="0" hangingPunct="1">
        <a:spcBef>
          <a:spcPct val="20000"/>
        </a:spcBef>
        <a:buFont typeface="Arial"/>
        <a:buChar char="•"/>
        <a:defRPr sz="1666" kern="1200">
          <a:solidFill>
            <a:schemeClr val="tx1"/>
          </a:solidFill>
          <a:latin typeface="+mn-lt"/>
          <a:ea typeface="+mn-ea"/>
          <a:cs typeface="+mn-cs"/>
        </a:defRPr>
      </a:lvl8pPr>
      <a:lvl9pPr marL="3237593" indent="-190447" algn="l" defTabSz="380893" rtl="0" eaLnBrk="1" latinLnBrk="0" hangingPunct="1">
        <a:spcBef>
          <a:spcPct val="20000"/>
        </a:spcBef>
        <a:buFont typeface="Arial"/>
        <a:buChar char="•"/>
        <a:defRPr sz="1666" kern="1200">
          <a:solidFill>
            <a:schemeClr val="tx1"/>
          </a:solidFill>
          <a:latin typeface="+mn-lt"/>
          <a:ea typeface="+mn-ea"/>
          <a:cs typeface="+mn-cs"/>
        </a:defRPr>
      </a:lvl9pPr>
    </p:bodyStyle>
    <p:otherStyle>
      <a:defPPr>
        <a:defRPr lang="en-US"/>
      </a:defPPr>
      <a:lvl1pPr marL="0" algn="l" defTabSz="380893" rtl="0" eaLnBrk="1" latinLnBrk="0" hangingPunct="1">
        <a:defRPr sz="1500" kern="1200">
          <a:solidFill>
            <a:schemeClr val="tx1"/>
          </a:solidFill>
          <a:latin typeface="+mn-lt"/>
          <a:ea typeface="+mn-ea"/>
          <a:cs typeface="+mn-cs"/>
        </a:defRPr>
      </a:lvl1pPr>
      <a:lvl2pPr marL="380893" algn="l" defTabSz="380893" rtl="0" eaLnBrk="1" latinLnBrk="0" hangingPunct="1">
        <a:defRPr sz="1500" kern="1200">
          <a:solidFill>
            <a:schemeClr val="tx1"/>
          </a:solidFill>
          <a:latin typeface="+mn-lt"/>
          <a:ea typeface="+mn-ea"/>
          <a:cs typeface="+mn-cs"/>
        </a:defRPr>
      </a:lvl2pPr>
      <a:lvl3pPr marL="761787" algn="l" defTabSz="380893" rtl="0" eaLnBrk="1" latinLnBrk="0" hangingPunct="1">
        <a:defRPr sz="1500" kern="1200">
          <a:solidFill>
            <a:schemeClr val="tx1"/>
          </a:solidFill>
          <a:latin typeface="+mn-lt"/>
          <a:ea typeface="+mn-ea"/>
          <a:cs typeface="+mn-cs"/>
        </a:defRPr>
      </a:lvl3pPr>
      <a:lvl4pPr marL="1142680" algn="l" defTabSz="380893" rtl="0" eaLnBrk="1" latinLnBrk="0" hangingPunct="1">
        <a:defRPr sz="1500" kern="1200">
          <a:solidFill>
            <a:schemeClr val="tx1"/>
          </a:solidFill>
          <a:latin typeface="+mn-lt"/>
          <a:ea typeface="+mn-ea"/>
          <a:cs typeface="+mn-cs"/>
        </a:defRPr>
      </a:lvl4pPr>
      <a:lvl5pPr marL="1523573" algn="l" defTabSz="380893" rtl="0" eaLnBrk="1" latinLnBrk="0" hangingPunct="1">
        <a:defRPr sz="1500" kern="1200">
          <a:solidFill>
            <a:schemeClr val="tx1"/>
          </a:solidFill>
          <a:latin typeface="+mn-lt"/>
          <a:ea typeface="+mn-ea"/>
          <a:cs typeface="+mn-cs"/>
        </a:defRPr>
      </a:lvl5pPr>
      <a:lvl6pPr marL="1904467" algn="l" defTabSz="380893" rtl="0" eaLnBrk="1" latinLnBrk="0" hangingPunct="1">
        <a:defRPr sz="1500" kern="1200">
          <a:solidFill>
            <a:schemeClr val="tx1"/>
          </a:solidFill>
          <a:latin typeface="+mn-lt"/>
          <a:ea typeface="+mn-ea"/>
          <a:cs typeface="+mn-cs"/>
        </a:defRPr>
      </a:lvl6pPr>
      <a:lvl7pPr marL="2285360" algn="l" defTabSz="380893" rtl="0" eaLnBrk="1" latinLnBrk="0" hangingPunct="1">
        <a:defRPr sz="1500" kern="1200">
          <a:solidFill>
            <a:schemeClr val="tx1"/>
          </a:solidFill>
          <a:latin typeface="+mn-lt"/>
          <a:ea typeface="+mn-ea"/>
          <a:cs typeface="+mn-cs"/>
        </a:defRPr>
      </a:lvl7pPr>
      <a:lvl8pPr marL="2666253" algn="l" defTabSz="380893" rtl="0" eaLnBrk="1" latinLnBrk="0" hangingPunct="1">
        <a:defRPr sz="1500" kern="1200">
          <a:solidFill>
            <a:schemeClr val="tx1"/>
          </a:solidFill>
          <a:latin typeface="+mn-lt"/>
          <a:ea typeface="+mn-ea"/>
          <a:cs typeface="+mn-cs"/>
        </a:defRPr>
      </a:lvl8pPr>
      <a:lvl9pPr marL="3047147" algn="l" defTabSz="380893" rtl="0" eaLnBrk="1" latinLnBrk="0" hangingPunct="1">
        <a:defRPr sz="15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66622721"/>
      </p:ext>
    </p:extLst>
  </p:cSld>
  <p:clrMap bg1="lt1" tx1="dk1" bg2="lt2" tx2="dk2" accent1="accent1" accent2="accent2" accent3="accent3" accent4="accent4" accent5="accent5" accent6="accent6" hlink="hlink" folHlink="folHlink"/>
  <p:sldLayoutIdLst>
    <p:sldLayoutId id="2147483685" r:id="rId1"/>
  </p:sldLayoutIdLst>
  <p:hf sldNum="0" hdr="0" ftr="0" dt="0"/>
  <p:txStyles>
    <p:titleStyle>
      <a:lvl1pPr algn="ctr" defTabSz="1218895" rtl="0" eaLnBrk="1" latinLnBrk="0" hangingPunct="1">
        <a:spcBef>
          <a:spcPct val="0"/>
        </a:spcBef>
        <a:buNone/>
        <a:defRPr sz="5865" kern="1200">
          <a:solidFill>
            <a:schemeClr val="tx1"/>
          </a:solidFill>
          <a:latin typeface="+mj-lt"/>
          <a:ea typeface="+mj-ea"/>
          <a:cs typeface="+mj-cs"/>
        </a:defRPr>
      </a:lvl1pPr>
    </p:titleStyle>
    <p:bodyStyle>
      <a:lvl1pPr marL="457086" indent="-457086" algn="l" defTabSz="1218895" rtl="0" eaLnBrk="1" latinLnBrk="0" hangingPunct="1">
        <a:spcBef>
          <a:spcPct val="20000"/>
        </a:spcBef>
        <a:buFont typeface="Arial" pitchFamily="34" charset="0"/>
        <a:buChar char="•"/>
        <a:defRPr sz="4266" kern="1200">
          <a:solidFill>
            <a:schemeClr val="tx1"/>
          </a:solidFill>
          <a:latin typeface="+mn-lt"/>
          <a:ea typeface="+mn-ea"/>
          <a:cs typeface="+mn-cs"/>
        </a:defRPr>
      </a:lvl1pPr>
      <a:lvl2pPr marL="990352" indent="-380905" algn="l" defTabSz="1218895" rtl="0" eaLnBrk="1" latinLnBrk="0" hangingPunct="1">
        <a:spcBef>
          <a:spcPct val="20000"/>
        </a:spcBef>
        <a:buFont typeface="Arial" pitchFamily="34" charset="0"/>
        <a:buChar char="–"/>
        <a:defRPr sz="3732" kern="1200">
          <a:solidFill>
            <a:schemeClr val="tx1"/>
          </a:solidFill>
          <a:latin typeface="+mn-lt"/>
          <a:ea typeface="+mn-ea"/>
          <a:cs typeface="+mn-cs"/>
        </a:defRPr>
      </a:lvl2pPr>
      <a:lvl3pPr marL="1523619" indent="-304724" algn="l" defTabSz="1218895" rtl="0" eaLnBrk="1" latinLnBrk="0" hangingPunct="1">
        <a:spcBef>
          <a:spcPct val="20000"/>
        </a:spcBef>
        <a:buFont typeface="Arial" pitchFamily="34" charset="0"/>
        <a:buChar char="•"/>
        <a:defRPr sz="3199" kern="1200">
          <a:solidFill>
            <a:schemeClr val="tx1"/>
          </a:solidFill>
          <a:latin typeface="+mn-lt"/>
          <a:ea typeface="+mn-ea"/>
          <a:cs typeface="+mn-cs"/>
        </a:defRPr>
      </a:lvl3pPr>
      <a:lvl4pPr marL="2133067" indent="-304724"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4pPr>
      <a:lvl5pPr marL="2742514" indent="-304724"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5pPr>
      <a:lvl6pPr marL="3351962" indent="-304724"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6pPr>
      <a:lvl7pPr marL="3961409" indent="-304724"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7pPr>
      <a:lvl8pPr marL="4570857" indent="-304724"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8pPr>
      <a:lvl9pPr marL="5180305" indent="-304724"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9pPr>
    </p:bodyStyle>
    <p:otherStyle>
      <a:defPPr>
        <a:defRPr lang="en-US"/>
      </a:defPPr>
      <a:lvl1pPr marL="0" algn="l" defTabSz="1218895" rtl="0" eaLnBrk="1" latinLnBrk="0" hangingPunct="1">
        <a:defRPr sz="2399" kern="1200">
          <a:solidFill>
            <a:schemeClr val="tx1"/>
          </a:solidFill>
          <a:latin typeface="+mn-lt"/>
          <a:ea typeface="+mn-ea"/>
          <a:cs typeface="+mn-cs"/>
        </a:defRPr>
      </a:lvl1pPr>
      <a:lvl2pPr marL="609448" algn="l" defTabSz="1218895" rtl="0" eaLnBrk="1" latinLnBrk="0" hangingPunct="1">
        <a:defRPr sz="2399" kern="1200">
          <a:solidFill>
            <a:schemeClr val="tx1"/>
          </a:solidFill>
          <a:latin typeface="+mn-lt"/>
          <a:ea typeface="+mn-ea"/>
          <a:cs typeface="+mn-cs"/>
        </a:defRPr>
      </a:lvl2pPr>
      <a:lvl3pPr marL="1218895" algn="l" defTabSz="1218895" rtl="0" eaLnBrk="1" latinLnBrk="0" hangingPunct="1">
        <a:defRPr sz="2399" kern="1200">
          <a:solidFill>
            <a:schemeClr val="tx1"/>
          </a:solidFill>
          <a:latin typeface="+mn-lt"/>
          <a:ea typeface="+mn-ea"/>
          <a:cs typeface="+mn-cs"/>
        </a:defRPr>
      </a:lvl3pPr>
      <a:lvl4pPr marL="1828343" algn="l" defTabSz="1218895" rtl="0" eaLnBrk="1" latinLnBrk="0" hangingPunct="1">
        <a:defRPr sz="2399" kern="1200">
          <a:solidFill>
            <a:schemeClr val="tx1"/>
          </a:solidFill>
          <a:latin typeface="+mn-lt"/>
          <a:ea typeface="+mn-ea"/>
          <a:cs typeface="+mn-cs"/>
        </a:defRPr>
      </a:lvl4pPr>
      <a:lvl5pPr marL="2437790" algn="l" defTabSz="1218895" rtl="0" eaLnBrk="1" latinLnBrk="0" hangingPunct="1">
        <a:defRPr sz="2399" kern="1200">
          <a:solidFill>
            <a:schemeClr val="tx1"/>
          </a:solidFill>
          <a:latin typeface="+mn-lt"/>
          <a:ea typeface="+mn-ea"/>
          <a:cs typeface="+mn-cs"/>
        </a:defRPr>
      </a:lvl5pPr>
      <a:lvl6pPr marL="3047238" algn="l" defTabSz="1218895" rtl="0" eaLnBrk="1" latinLnBrk="0" hangingPunct="1">
        <a:defRPr sz="2399" kern="1200">
          <a:solidFill>
            <a:schemeClr val="tx1"/>
          </a:solidFill>
          <a:latin typeface="+mn-lt"/>
          <a:ea typeface="+mn-ea"/>
          <a:cs typeface="+mn-cs"/>
        </a:defRPr>
      </a:lvl6pPr>
      <a:lvl7pPr marL="3656686" algn="l" defTabSz="1218895" rtl="0" eaLnBrk="1" latinLnBrk="0" hangingPunct="1">
        <a:defRPr sz="2399" kern="1200">
          <a:solidFill>
            <a:schemeClr val="tx1"/>
          </a:solidFill>
          <a:latin typeface="+mn-lt"/>
          <a:ea typeface="+mn-ea"/>
          <a:cs typeface="+mn-cs"/>
        </a:defRPr>
      </a:lvl7pPr>
      <a:lvl8pPr marL="4266133" algn="l" defTabSz="1218895" rtl="0" eaLnBrk="1" latinLnBrk="0" hangingPunct="1">
        <a:defRPr sz="2399" kern="1200">
          <a:solidFill>
            <a:schemeClr val="tx1"/>
          </a:solidFill>
          <a:latin typeface="+mn-lt"/>
          <a:ea typeface="+mn-ea"/>
          <a:cs typeface="+mn-cs"/>
        </a:defRPr>
      </a:lvl8pPr>
      <a:lvl9pPr marL="4875581" algn="l" defTabSz="1218895" rtl="0" eaLnBrk="1" latinLnBrk="0" hangingPunct="1">
        <a:defRPr sz="2399"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1.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6.xml"/></Relationships>
</file>

<file path=ppt/slides/_rels/slide1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2.xml"/><Relationship Id="rId1" Type="http://schemas.openxmlformats.org/officeDocument/2006/relationships/slideLayout" Target="../slideLayouts/slideLayout36.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1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3.xml"/><Relationship Id="rId1" Type="http://schemas.openxmlformats.org/officeDocument/2006/relationships/slideLayout" Target="../slideLayouts/slideLayout36.xml"/><Relationship Id="rId4" Type="http://schemas.openxmlformats.org/officeDocument/2006/relationships/image" Target="../media/image26.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41E1A"/>
        </a:solidFill>
        <a:effectLst/>
      </p:bgPr>
    </p:bg>
    <p:spTree>
      <p:nvGrpSpPr>
        <p:cNvPr id="1" name=""/>
        <p:cNvGrpSpPr/>
        <p:nvPr/>
      </p:nvGrpSpPr>
      <p:grpSpPr>
        <a:xfrm>
          <a:off x="0" y="0"/>
          <a:ext cx="0" cy="0"/>
          <a:chOff x="0" y="0"/>
          <a:chExt cx="0" cy="0"/>
        </a:xfrm>
      </p:grpSpPr>
      <p:sp>
        <p:nvSpPr>
          <p:cNvPr id="4" name="Rectangle 3"/>
          <p:cNvSpPr/>
          <p:nvPr/>
        </p:nvSpPr>
        <p:spPr>
          <a:xfrm>
            <a:off x="4754880" y="50292"/>
            <a:ext cx="45719" cy="6807708"/>
          </a:xfrm>
          <a:prstGeom prst="rect">
            <a:avLst/>
          </a:prstGeom>
          <a:solidFill>
            <a:srgbClr val="00C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Candara" panose="020E0502030303020204" pitchFamily="34" charset="0"/>
            </a:endParaRPr>
          </a:p>
        </p:txBody>
      </p:sp>
      <p:sp>
        <p:nvSpPr>
          <p:cNvPr id="5" name="TextBox 4"/>
          <p:cNvSpPr txBox="1"/>
          <p:nvPr/>
        </p:nvSpPr>
        <p:spPr>
          <a:xfrm>
            <a:off x="512941" y="2234881"/>
            <a:ext cx="2281556" cy="1569660"/>
          </a:xfrm>
          <a:prstGeom prst="rect">
            <a:avLst/>
          </a:prstGeom>
          <a:noFill/>
        </p:spPr>
        <p:txBody>
          <a:bodyPr wrap="square">
            <a:spAutoFit/>
          </a:bodyPr>
          <a:lstStyle/>
          <a:p>
            <a:pPr algn="ctr"/>
            <a:r>
              <a:rPr sz="9600" b="1" dirty="0">
                <a:solidFill>
                  <a:srgbClr val="00C896"/>
                </a:solidFill>
                <a:latin typeface="Candara" panose="020E0502030303020204" pitchFamily="34" charset="0"/>
              </a:rPr>
              <a:t>IoT</a:t>
            </a:r>
          </a:p>
        </p:txBody>
      </p:sp>
      <p:sp>
        <p:nvSpPr>
          <p:cNvPr id="12" name="TextBox 11"/>
          <p:cNvSpPr txBox="1"/>
          <p:nvPr/>
        </p:nvSpPr>
        <p:spPr>
          <a:xfrm>
            <a:off x="2685119" y="2119443"/>
            <a:ext cx="1282446" cy="307777"/>
          </a:xfrm>
          <a:prstGeom prst="rect">
            <a:avLst/>
          </a:prstGeom>
          <a:noFill/>
        </p:spPr>
        <p:txBody>
          <a:bodyPr wrap="square">
            <a:spAutoFit/>
          </a:bodyPr>
          <a:lstStyle/>
          <a:p>
            <a:r>
              <a:rPr sz="1400" b="0" i="0" dirty="0">
                <a:solidFill>
                  <a:srgbClr val="9EC4AE"/>
                </a:solidFill>
                <a:latin typeface="Candara" panose="020E0502030303020204" pitchFamily="34" charset="0"/>
                <a:ea typeface="Cambria Math" panose="02040503050406030204" pitchFamily="18" charset="0"/>
              </a:rPr>
              <a:t>Backend</a:t>
            </a:r>
          </a:p>
        </p:txBody>
      </p:sp>
      <p:sp>
        <p:nvSpPr>
          <p:cNvPr id="15" name="TextBox 14"/>
          <p:cNvSpPr txBox="1"/>
          <p:nvPr/>
        </p:nvSpPr>
        <p:spPr>
          <a:xfrm>
            <a:off x="2685119" y="1453537"/>
            <a:ext cx="1030756" cy="307777"/>
          </a:xfrm>
          <a:prstGeom prst="rect">
            <a:avLst/>
          </a:prstGeom>
          <a:noFill/>
        </p:spPr>
        <p:txBody>
          <a:bodyPr wrap="square">
            <a:spAutoFit/>
          </a:bodyPr>
          <a:lstStyle/>
          <a:p>
            <a:r>
              <a:rPr sz="1400" b="1" i="0" dirty="0">
                <a:solidFill>
                  <a:srgbClr val="009A72"/>
                </a:solidFill>
                <a:latin typeface="Candara" panose="020E0502030303020204" pitchFamily="34" charset="0"/>
                <a:ea typeface="Cambria Math" panose="02040503050406030204" pitchFamily="18" charset="0"/>
              </a:rPr>
              <a:t>React</a:t>
            </a:r>
            <a:r>
              <a:rPr lang="en-US" sz="1400" b="1" i="0" dirty="0">
                <a:solidFill>
                  <a:srgbClr val="009A72"/>
                </a:solidFill>
                <a:latin typeface="Candara" panose="020E0502030303020204" pitchFamily="34" charset="0"/>
                <a:ea typeface="Cambria Math" panose="02040503050406030204" pitchFamily="18" charset="0"/>
              </a:rPr>
              <a:t> </a:t>
            </a:r>
            <a:r>
              <a:rPr lang="en-US" sz="1400" dirty="0">
                <a:solidFill>
                  <a:srgbClr val="9EC4AE"/>
                </a:solidFill>
                <a:latin typeface="Candara" panose="020E0502030303020204" pitchFamily="34" charset="0"/>
                <a:ea typeface="Cambria Math" panose="02040503050406030204" pitchFamily="18" charset="0"/>
              </a:rPr>
              <a:t>SPA</a:t>
            </a:r>
            <a:endParaRPr sz="1400" b="1" i="0" dirty="0">
              <a:solidFill>
                <a:srgbClr val="009A72"/>
              </a:solidFill>
              <a:latin typeface="Candara" panose="020E0502030303020204" pitchFamily="34" charset="0"/>
              <a:ea typeface="Cambria Math" panose="02040503050406030204" pitchFamily="18" charset="0"/>
            </a:endParaRPr>
          </a:p>
        </p:txBody>
      </p:sp>
      <p:sp>
        <p:nvSpPr>
          <p:cNvPr id="16" name="TextBox 15"/>
          <p:cNvSpPr txBox="1"/>
          <p:nvPr/>
        </p:nvSpPr>
        <p:spPr>
          <a:xfrm>
            <a:off x="2685119" y="1151432"/>
            <a:ext cx="1282446" cy="307777"/>
          </a:xfrm>
          <a:prstGeom prst="rect">
            <a:avLst/>
          </a:prstGeom>
          <a:noFill/>
        </p:spPr>
        <p:txBody>
          <a:bodyPr wrap="square">
            <a:spAutoFit/>
          </a:bodyPr>
          <a:lstStyle/>
          <a:p>
            <a:r>
              <a:rPr sz="1400" b="0" i="0" dirty="0">
                <a:solidFill>
                  <a:srgbClr val="9EC4AE"/>
                </a:solidFill>
                <a:latin typeface="Candara" panose="020E0502030303020204" pitchFamily="34" charset="0"/>
                <a:ea typeface="Cambria Math" panose="02040503050406030204" pitchFamily="18" charset="0"/>
              </a:rPr>
              <a:t>Frontend</a:t>
            </a:r>
          </a:p>
        </p:txBody>
      </p:sp>
      <p:sp>
        <p:nvSpPr>
          <p:cNvPr id="19" name="TextBox 18"/>
          <p:cNvSpPr txBox="1"/>
          <p:nvPr/>
        </p:nvSpPr>
        <p:spPr>
          <a:xfrm>
            <a:off x="2685119" y="4313770"/>
            <a:ext cx="1943028" cy="523220"/>
          </a:xfrm>
          <a:prstGeom prst="rect">
            <a:avLst/>
          </a:prstGeom>
          <a:noFill/>
        </p:spPr>
        <p:txBody>
          <a:bodyPr wrap="square">
            <a:spAutoFit/>
          </a:bodyPr>
          <a:lstStyle/>
          <a:p>
            <a:r>
              <a:rPr sz="1400" b="1" i="0" dirty="0" err="1">
                <a:solidFill>
                  <a:srgbClr val="00B8D4"/>
                </a:solidFill>
                <a:latin typeface="Candara" panose="020E0502030303020204" pitchFamily="34" charset="0"/>
                <a:ea typeface="Cambria Math" panose="02040503050406030204" pitchFamily="18" charset="0"/>
              </a:rPr>
              <a:t>SignalR</a:t>
            </a:r>
            <a:r>
              <a:rPr lang="en-US" sz="1400" b="1" dirty="0">
                <a:solidFill>
                  <a:srgbClr val="00B8D4"/>
                </a:solidFill>
                <a:latin typeface="Candara" panose="020E0502030303020204" pitchFamily="34" charset="0"/>
                <a:ea typeface="Cambria Math" panose="02040503050406030204" pitchFamily="18" charset="0"/>
              </a:rPr>
              <a:t> | Web Service</a:t>
            </a:r>
            <a:r>
              <a:rPr lang="en-US" sz="1400" b="1" i="0" dirty="0">
                <a:solidFill>
                  <a:srgbClr val="00B8D4"/>
                </a:solidFill>
                <a:latin typeface="Candara" panose="020E0502030303020204" pitchFamily="34" charset="0"/>
                <a:ea typeface="Cambria Math" panose="02040503050406030204" pitchFamily="18" charset="0"/>
              </a:rPr>
              <a:t> </a:t>
            </a:r>
            <a:r>
              <a:rPr lang="en-US" sz="1400" dirty="0">
                <a:solidFill>
                  <a:srgbClr val="9EC4AE"/>
                </a:solidFill>
                <a:latin typeface="Candara" panose="020E0502030303020204" pitchFamily="34" charset="0"/>
                <a:ea typeface="Cambria Math" panose="02040503050406030204" pitchFamily="18" charset="0"/>
              </a:rPr>
              <a:t>Hub</a:t>
            </a:r>
            <a:endParaRPr sz="1400" b="1" i="0" dirty="0">
              <a:solidFill>
                <a:srgbClr val="00B8D4"/>
              </a:solidFill>
              <a:latin typeface="Candara" panose="020E0502030303020204" pitchFamily="34" charset="0"/>
              <a:ea typeface="Cambria Math" panose="02040503050406030204" pitchFamily="18" charset="0"/>
            </a:endParaRPr>
          </a:p>
        </p:txBody>
      </p:sp>
      <p:sp>
        <p:nvSpPr>
          <p:cNvPr id="20" name="TextBox 19"/>
          <p:cNvSpPr txBox="1"/>
          <p:nvPr/>
        </p:nvSpPr>
        <p:spPr>
          <a:xfrm>
            <a:off x="2685119" y="4015828"/>
            <a:ext cx="1385909" cy="307777"/>
          </a:xfrm>
          <a:prstGeom prst="rect">
            <a:avLst/>
          </a:prstGeom>
          <a:noFill/>
        </p:spPr>
        <p:txBody>
          <a:bodyPr wrap="square">
            <a:spAutoFit/>
          </a:bodyPr>
          <a:lstStyle/>
          <a:p>
            <a:r>
              <a:rPr sz="1400" b="0" i="0" dirty="0">
                <a:solidFill>
                  <a:srgbClr val="9EC4AE"/>
                </a:solidFill>
                <a:latin typeface="Candara" panose="020E0502030303020204" pitchFamily="34" charset="0"/>
                <a:ea typeface="Cambria Math" panose="02040503050406030204" pitchFamily="18" charset="0"/>
              </a:rPr>
              <a:t>Real-Time</a:t>
            </a:r>
          </a:p>
        </p:txBody>
      </p:sp>
      <p:sp>
        <p:nvSpPr>
          <p:cNvPr id="23" name="TextBox 22"/>
          <p:cNvSpPr txBox="1"/>
          <p:nvPr/>
        </p:nvSpPr>
        <p:spPr>
          <a:xfrm>
            <a:off x="2685119" y="3487132"/>
            <a:ext cx="1227295" cy="307777"/>
          </a:xfrm>
          <a:prstGeom prst="rect">
            <a:avLst/>
          </a:prstGeom>
          <a:noFill/>
        </p:spPr>
        <p:txBody>
          <a:bodyPr wrap="square">
            <a:spAutoFit/>
          </a:bodyPr>
          <a:lstStyle/>
          <a:p>
            <a:r>
              <a:rPr sz="1400" b="1" i="0" dirty="0">
                <a:solidFill>
                  <a:srgbClr val="F0A500"/>
                </a:solidFill>
                <a:latin typeface="Candara" panose="020E0502030303020204" pitchFamily="34" charset="0"/>
                <a:ea typeface="Cambria Math" panose="02040503050406030204" pitchFamily="18" charset="0"/>
              </a:rPr>
              <a:t>SQL Server</a:t>
            </a:r>
          </a:p>
        </p:txBody>
      </p:sp>
      <p:sp>
        <p:nvSpPr>
          <p:cNvPr id="24" name="TextBox 23"/>
          <p:cNvSpPr txBox="1"/>
          <p:nvPr/>
        </p:nvSpPr>
        <p:spPr>
          <a:xfrm>
            <a:off x="2685119" y="3188398"/>
            <a:ext cx="1057760" cy="307777"/>
          </a:xfrm>
          <a:prstGeom prst="rect">
            <a:avLst/>
          </a:prstGeom>
          <a:noFill/>
        </p:spPr>
        <p:txBody>
          <a:bodyPr wrap="square">
            <a:spAutoFit/>
          </a:bodyPr>
          <a:lstStyle/>
          <a:p>
            <a:r>
              <a:rPr sz="1400" b="0" i="0" dirty="0">
                <a:solidFill>
                  <a:srgbClr val="9EC4AE"/>
                </a:solidFill>
                <a:latin typeface="Candara" panose="020E0502030303020204" pitchFamily="34" charset="0"/>
                <a:ea typeface="Cambria Math" panose="02040503050406030204" pitchFamily="18" charset="0"/>
              </a:rPr>
              <a:t>Database</a:t>
            </a:r>
          </a:p>
        </p:txBody>
      </p:sp>
      <p:sp>
        <p:nvSpPr>
          <p:cNvPr id="27" name="TextBox 26"/>
          <p:cNvSpPr txBox="1"/>
          <p:nvPr/>
        </p:nvSpPr>
        <p:spPr>
          <a:xfrm>
            <a:off x="4846320" y="1657779"/>
            <a:ext cx="7040880" cy="1077218"/>
          </a:xfrm>
          <a:prstGeom prst="rect">
            <a:avLst/>
          </a:prstGeom>
          <a:noFill/>
        </p:spPr>
        <p:txBody>
          <a:bodyPr wrap="square">
            <a:spAutoFit/>
          </a:bodyPr>
          <a:lstStyle/>
          <a:p>
            <a:pPr algn="r"/>
            <a:r>
              <a:rPr sz="3200" b="1" dirty="0">
                <a:solidFill>
                  <a:srgbClr val="E8F5EE"/>
                </a:solidFill>
                <a:latin typeface="Candara" panose="020E0502030303020204" pitchFamily="34" charset="0"/>
              </a:rPr>
              <a:t>Web-Based IoT Device</a:t>
            </a:r>
          </a:p>
          <a:p>
            <a:pPr algn="r"/>
            <a:r>
              <a:rPr sz="3200" b="1" dirty="0">
                <a:solidFill>
                  <a:srgbClr val="00C896"/>
                </a:solidFill>
                <a:latin typeface="Candara" panose="020E0502030303020204" pitchFamily="34" charset="0"/>
              </a:rPr>
              <a:t>Real-Time Monitoring</a:t>
            </a:r>
            <a:r>
              <a:rPr lang="en-US" sz="3200" b="1" dirty="0">
                <a:solidFill>
                  <a:srgbClr val="00C896"/>
                </a:solidFill>
                <a:latin typeface="Candara" panose="020E0502030303020204" pitchFamily="34" charset="0"/>
              </a:rPr>
              <a:t> </a:t>
            </a:r>
            <a:r>
              <a:rPr sz="3200" b="1" dirty="0">
                <a:solidFill>
                  <a:srgbClr val="00C896"/>
                </a:solidFill>
                <a:latin typeface="Candara" panose="020E0502030303020204" pitchFamily="34" charset="0"/>
              </a:rPr>
              <a:t>System</a:t>
            </a:r>
          </a:p>
        </p:txBody>
      </p:sp>
      <p:sp>
        <p:nvSpPr>
          <p:cNvPr id="32" name="TextBox 31"/>
          <p:cNvSpPr txBox="1"/>
          <p:nvPr/>
        </p:nvSpPr>
        <p:spPr>
          <a:xfrm>
            <a:off x="6675120" y="3583216"/>
            <a:ext cx="5120640" cy="1231106"/>
          </a:xfrm>
          <a:prstGeom prst="rect">
            <a:avLst/>
          </a:prstGeom>
          <a:noFill/>
          <a:ln>
            <a:noFill/>
          </a:ln>
        </p:spPr>
        <p:txBody>
          <a:bodyPr wrap="square">
            <a:spAutoFit/>
          </a:bodyPr>
          <a:lstStyle/>
          <a:p>
            <a:pPr algn="r"/>
            <a:r>
              <a:rPr lang="en-US" b="1" dirty="0">
                <a:solidFill>
                  <a:srgbClr val="00C896"/>
                </a:solidFill>
                <a:latin typeface="Candara" panose="020E0502030303020204" pitchFamily="34" charset="0"/>
              </a:rPr>
              <a:t>CAPSTONE PROJECT</a:t>
            </a:r>
          </a:p>
          <a:p>
            <a:pPr algn="r"/>
            <a:endParaRPr lang="en-US" sz="1400" b="0" i="0" dirty="0">
              <a:solidFill>
                <a:srgbClr val="FFC000"/>
              </a:solidFill>
              <a:latin typeface="Candara" panose="020E0502030303020204" pitchFamily="34" charset="0"/>
            </a:endParaRPr>
          </a:p>
          <a:p>
            <a:pPr algn="r"/>
            <a:r>
              <a:rPr sz="1400" b="0" i="0" dirty="0">
                <a:solidFill>
                  <a:srgbClr val="FFC000"/>
                </a:solidFill>
                <a:latin typeface="Candara" panose="020E0502030303020204" pitchFamily="34" charset="0"/>
              </a:rPr>
              <a:t>BAS — Application Development</a:t>
            </a:r>
            <a:endParaRPr lang="en-US" sz="1400" b="0" i="0" dirty="0">
              <a:solidFill>
                <a:srgbClr val="FFC000"/>
              </a:solidFill>
              <a:latin typeface="Candara" panose="020E0502030303020204" pitchFamily="34" charset="0"/>
            </a:endParaRPr>
          </a:p>
          <a:p>
            <a:pPr algn="r"/>
            <a:r>
              <a:rPr lang="en-US" sz="1400" b="0" i="0" dirty="0">
                <a:solidFill>
                  <a:srgbClr val="E8F5EE"/>
                </a:solidFill>
                <a:latin typeface="Candara" panose="020E0502030303020204" pitchFamily="34" charset="0"/>
              </a:rPr>
              <a:t>Instructor | </a:t>
            </a:r>
            <a:r>
              <a:rPr lang="en-US" sz="1400" b="0" i="1" dirty="0">
                <a:solidFill>
                  <a:srgbClr val="E8F5EE"/>
                </a:solidFill>
                <a:latin typeface="Candara" panose="020E0502030303020204" pitchFamily="34" charset="0"/>
              </a:rPr>
              <a:t> </a:t>
            </a:r>
            <a:r>
              <a:rPr lang="en-US" sz="1400" b="0" dirty="0">
                <a:solidFill>
                  <a:srgbClr val="E8F5EE"/>
                </a:solidFill>
                <a:latin typeface="Candara" panose="020E0502030303020204" pitchFamily="34" charset="0"/>
              </a:rPr>
              <a:t>Naser Chowdhury </a:t>
            </a:r>
            <a:endParaRPr lang="en-US" sz="1400" dirty="0">
              <a:solidFill>
                <a:srgbClr val="E8F5EE"/>
              </a:solidFill>
              <a:latin typeface="Candara" panose="020E0502030303020204" pitchFamily="34" charset="0"/>
            </a:endParaRPr>
          </a:p>
          <a:p>
            <a:pPr algn="r"/>
            <a:r>
              <a:rPr lang="en-US" sz="1400" dirty="0">
                <a:solidFill>
                  <a:srgbClr val="E8F5EE"/>
                </a:solidFill>
                <a:latin typeface="Candara" panose="020E0502030303020204" pitchFamily="34" charset="0"/>
              </a:rPr>
              <a:t>Student | Quoc Bao Tran </a:t>
            </a:r>
          </a:p>
        </p:txBody>
      </p:sp>
      <p:sp>
        <p:nvSpPr>
          <p:cNvPr id="45" name="Rectangle 44"/>
          <p:cNvSpPr/>
          <p:nvPr/>
        </p:nvSpPr>
        <p:spPr>
          <a:xfrm flipV="1">
            <a:off x="0" y="6857999"/>
            <a:ext cx="12188952" cy="45719"/>
          </a:xfrm>
          <a:prstGeom prst="rect">
            <a:avLst/>
          </a:prstGeom>
          <a:solidFill>
            <a:srgbClr val="0E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Candara" panose="020E0502030303020204" pitchFamily="34" charset="0"/>
            </a:endParaRPr>
          </a:p>
        </p:txBody>
      </p:sp>
      <p:sp>
        <p:nvSpPr>
          <p:cNvPr id="47" name="TextBox 46">
            <a:extLst>
              <a:ext uri="{FF2B5EF4-FFF2-40B4-BE49-F238E27FC236}">
                <a16:creationId xmlns:a16="http://schemas.microsoft.com/office/drawing/2014/main" id="{E71D83F4-9365-79B9-0BBD-C1AA74F11C60}"/>
              </a:ext>
            </a:extLst>
          </p:cNvPr>
          <p:cNvSpPr txBox="1"/>
          <p:nvPr/>
        </p:nvSpPr>
        <p:spPr>
          <a:xfrm>
            <a:off x="2685119" y="2415632"/>
            <a:ext cx="1524342" cy="523220"/>
          </a:xfrm>
          <a:prstGeom prst="rect">
            <a:avLst/>
          </a:prstGeom>
          <a:noFill/>
        </p:spPr>
        <p:txBody>
          <a:bodyPr wrap="square">
            <a:spAutoFit/>
          </a:bodyPr>
          <a:lstStyle/>
          <a:p>
            <a:r>
              <a:rPr lang="en-US" sz="1400" b="1" dirty="0">
                <a:solidFill>
                  <a:srgbClr val="009A72"/>
                </a:solidFill>
                <a:latin typeface="Candara" panose="020E0502030303020204" pitchFamily="34" charset="0"/>
                <a:ea typeface="Cambria Math" panose="02040503050406030204" pitchFamily="18" charset="0"/>
              </a:rPr>
              <a:t>C#, ASP.NET Core, </a:t>
            </a:r>
            <a:r>
              <a:rPr lang="en-US" sz="1400" b="1" dirty="0" err="1">
                <a:solidFill>
                  <a:srgbClr val="009A72"/>
                </a:solidFill>
                <a:latin typeface="Candara" panose="020E0502030303020204" pitchFamily="34" charset="0"/>
                <a:ea typeface="Cambria Math" panose="02040503050406030204" pitchFamily="18" charset="0"/>
              </a:rPr>
              <a:t>RESt</a:t>
            </a:r>
            <a:r>
              <a:rPr lang="en-US" sz="1400" b="1" dirty="0">
                <a:solidFill>
                  <a:srgbClr val="009A72"/>
                </a:solidFill>
                <a:latin typeface="Candara" panose="020E0502030303020204" pitchFamily="34" charset="0"/>
                <a:ea typeface="Cambria Math" panose="02040503050406030204" pitchFamily="18" charset="0"/>
              </a:rPr>
              <a:t> </a:t>
            </a:r>
            <a:r>
              <a:rPr lang="en-US" sz="1400" dirty="0">
                <a:solidFill>
                  <a:srgbClr val="9EC4AE"/>
                </a:solidFill>
                <a:latin typeface="Candara" panose="020E0502030303020204" pitchFamily="34" charset="0"/>
                <a:ea typeface="Cambria Math" panose="02040503050406030204" pitchFamily="18" charset="0"/>
              </a:rPr>
              <a:t>API</a:t>
            </a:r>
            <a:endParaRPr sz="1400" b="1" i="0" dirty="0">
              <a:solidFill>
                <a:srgbClr val="009A72"/>
              </a:solidFill>
              <a:latin typeface="Candara" panose="020E0502030303020204" pitchFamily="34" charset="0"/>
              <a:ea typeface="Cambria Math" panose="02040503050406030204" pitchFamily="18" charset="0"/>
            </a:endParaRPr>
          </a:p>
        </p:txBody>
      </p:sp>
      <p:sp>
        <p:nvSpPr>
          <p:cNvPr id="7" name="TextBox 6">
            <a:extLst>
              <a:ext uri="{FF2B5EF4-FFF2-40B4-BE49-F238E27FC236}">
                <a16:creationId xmlns:a16="http://schemas.microsoft.com/office/drawing/2014/main" id="{3E70D05B-0666-C083-EA65-9FF9DCECD86B}"/>
              </a:ext>
            </a:extLst>
          </p:cNvPr>
          <p:cNvSpPr txBox="1"/>
          <p:nvPr/>
        </p:nvSpPr>
        <p:spPr>
          <a:xfrm>
            <a:off x="2634833" y="4855136"/>
            <a:ext cx="1528909" cy="523220"/>
          </a:xfrm>
          <a:prstGeom prst="rect">
            <a:avLst/>
          </a:prstGeom>
          <a:noFill/>
        </p:spPr>
        <p:txBody>
          <a:bodyPr wrap="square">
            <a:spAutoFit/>
          </a:bodyPr>
          <a:lstStyle/>
          <a:p>
            <a:r>
              <a:rPr lang="en-US" sz="1400" b="1" dirty="0">
                <a:solidFill>
                  <a:srgbClr val="00B050"/>
                </a:solidFill>
                <a:latin typeface="Candara" panose="020E0502030303020204" pitchFamily="34" charset="0"/>
                <a:ea typeface="Cambria Math" panose="02040503050406030204" pitchFamily="18" charset="0"/>
              </a:rPr>
              <a:t>IoT messaging</a:t>
            </a:r>
          </a:p>
          <a:p>
            <a:r>
              <a:rPr lang="en-US" sz="1400" b="1" i="0" dirty="0">
                <a:solidFill>
                  <a:srgbClr val="00B050"/>
                </a:solidFill>
                <a:latin typeface="Candara" panose="020E0502030303020204" pitchFamily="34" charset="0"/>
                <a:ea typeface="Cambria Math" panose="02040503050406030204" pitchFamily="18" charset="0"/>
              </a:rPr>
              <a:t>MQTT Broker</a:t>
            </a:r>
            <a:endParaRPr sz="1400" b="1" i="0" dirty="0">
              <a:solidFill>
                <a:srgbClr val="00B050"/>
              </a:solidFill>
              <a:latin typeface="Candara" panose="020E0502030303020204" pitchFamily="34" charset="0"/>
              <a:ea typeface="Cambria Math" panose="02040503050406030204" pitchFamily="18" charset="0"/>
            </a:endParaRPr>
          </a:p>
        </p:txBody>
      </p:sp>
      <p:pic>
        <p:nvPicPr>
          <p:cNvPr id="13" name="Video 12">
            <a:hlinkClick r:id="" action="ppaction://media"/>
            <a:extLst>
              <a:ext uri="{FF2B5EF4-FFF2-40B4-BE49-F238E27FC236}">
                <a16:creationId xmlns:a16="http://schemas.microsoft.com/office/drawing/2014/main" id="{5D28CF58-B785-A60E-A2A3-031E49122832}"/>
              </a:ext>
            </a:extLst>
          </p:cNvPr>
          <p:cNvPicPr>
            <a:picLocks noChangeAspect="1"/>
          </p:cNvPicPr>
          <p:nvPr>
            <a:videoFile r:link="rId2"/>
            <p:extLst>
              <p:ext uri="{DAA4B4D4-6D71-4841-9C94-3DE7FCFB9230}">
                <p14:media xmlns:p14="http://schemas.microsoft.com/office/powerpoint/2010/main" r:embed="rId1"/>
              </p:ext>
              <p:ext uri="{42D2F446-02D8-4167-A562-619A0277C38B}">
                <p15:isNarration xmlns:p15="http://schemas.microsoft.com/office/powerpoint/2012/main" val="1"/>
              </p:ext>
            </p:extLst>
          </p:nvPr>
        </p:nvPicPr>
        <p:blipFill>
          <a:blip r:embed="rId5"/>
          <a:srcRect l="21875" r="21875"/>
          <a:stretch>
            <a:fillRect/>
          </a:stretch>
        </p:blipFill>
        <p:spPr>
          <a:xfrm>
            <a:off x="10049129" y="4718304"/>
            <a:ext cx="2057400" cy="2057400"/>
          </a:xfrm>
          <a:prstGeom prst="ellipse">
            <a:avLst/>
          </a:prstGeom>
          <a:ln>
            <a:noFill/>
          </a:ln>
          <a:effectLst>
            <a:softEdge rad="127000"/>
          </a:effectLst>
        </p:spPr>
      </p:pic>
    </p:spTree>
  </p:cSld>
  <p:clrMapOvr>
    <a:masterClrMapping/>
  </p:clrMapOvr>
  <mc:AlternateContent xmlns:mc="http://schemas.openxmlformats.org/markup-compatibility/2006">
    <mc:Choice xmlns:p14="http://schemas.microsoft.com/office/powerpoint/2010/main" Requires="p14">
      <p:transition spd="slow" p14:dur="2000" advTm="23957"/>
    </mc:Choice>
    <mc:Fallback>
      <p:transition spd="slow" advTm="23957"/>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13"/>
                </p:tgtEl>
              </p:cMediaNode>
            </p:video>
            <p:seq concurrent="1" nextAc="seek">
              <p:cTn id="8" restart="whenNotActive" fill="hold" evtFilter="cancelBubble" nodeType="interactiveSeq">
                <p:stCondLst>
                  <p:cond evt="onClick" delay="0">
                    <p:tgtEl>
                      <p:spTgt spid="1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3"/>
                                        </p:tgtEl>
                                      </p:cBhvr>
                                    </p:cmd>
                                  </p:childTnLst>
                                </p:cTn>
                              </p:par>
                            </p:childTnLst>
                          </p:cTn>
                        </p:par>
                      </p:childTnLst>
                    </p:cTn>
                  </p:par>
                </p:childTnLst>
              </p:cTn>
              <p:nextCondLst>
                <p:cond evt="onClick" delay="0">
                  <p:tgtEl>
                    <p:spTgt spid="13"/>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D2117"/>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0"/>
            <a:ext cx="12188952" cy="6858000"/>
          </a:xfrm>
          <a:prstGeom prst="rect">
            <a:avLst/>
          </a:prstGeom>
        </p:spPr>
      </p:pic>
      <p:sp>
        <p:nvSpPr>
          <p:cNvPr id="3" name="TextBox 2"/>
          <p:cNvSpPr txBox="1"/>
          <p:nvPr/>
        </p:nvSpPr>
        <p:spPr>
          <a:xfrm>
            <a:off x="1215390" y="429547"/>
            <a:ext cx="6273546" cy="584775"/>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3200" b="1" i="0" u="none" strike="noStrike" kern="1200" cap="none" spc="0" normalizeH="0" baseline="0" noProof="0" dirty="0">
                <a:ln>
                  <a:noFill/>
                </a:ln>
                <a:solidFill>
                  <a:srgbClr val="FFFFFF"/>
                </a:solidFill>
                <a:effectLst/>
                <a:uLnTx/>
                <a:uFillTx/>
                <a:latin typeface="Candara"/>
                <a:ea typeface="+mn-ea"/>
                <a:cs typeface="+mn-cs"/>
              </a:rPr>
              <a:t>Presentation Agenda</a:t>
            </a:r>
          </a:p>
        </p:txBody>
      </p:sp>
      <p:sp>
        <p:nvSpPr>
          <p:cNvPr id="6" name="Rounded Rectangle 5"/>
          <p:cNvSpPr/>
          <p:nvPr/>
        </p:nvSpPr>
        <p:spPr>
          <a:xfrm>
            <a:off x="1353312" y="1408176"/>
            <a:ext cx="3182111" cy="1181588"/>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8" name="Rounded Rectangle 7"/>
          <p:cNvSpPr/>
          <p:nvPr/>
        </p:nvSpPr>
        <p:spPr>
          <a:xfrm>
            <a:off x="1472184" y="1609344"/>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p:cNvSpPr txBox="1"/>
          <p:nvPr/>
        </p:nvSpPr>
        <p:spPr>
          <a:xfrm>
            <a:off x="1472184" y="1600200"/>
            <a:ext cx="420624" cy="307777"/>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3ECF80"/>
                </a:solidFill>
                <a:effectLst/>
                <a:uLnTx/>
                <a:uFillTx/>
                <a:latin typeface="Candara"/>
                <a:ea typeface="+mn-ea"/>
                <a:cs typeface="+mn-cs"/>
              </a:rPr>
              <a:t>01</a:t>
            </a:r>
          </a:p>
        </p:txBody>
      </p:sp>
      <p:sp>
        <p:nvSpPr>
          <p:cNvPr id="10" name="TextBox 9"/>
          <p:cNvSpPr txBox="1"/>
          <p:nvPr/>
        </p:nvSpPr>
        <p:spPr>
          <a:xfrm>
            <a:off x="1975104" y="1591056"/>
            <a:ext cx="2761487" cy="34747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dirty="0">
                <a:ln>
                  <a:noFill/>
                </a:ln>
                <a:solidFill>
                  <a:srgbClr val="FFFFFF"/>
                </a:solidFill>
                <a:effectLst/>
                <a:uLnTx/>
                <a:uFillTx/>
                <a:latin typeface="Candara"/>
                <a:ea typeface="+mn-ea"/>
                <a:cs typeface="+mn-cs"/>
              </a:rPr>
              <a:t>Problem Statement</a:t>
            </a:r>
          </a:p>
        </p:txBody>
      </p:sp>
      <p:sp>
        <p:nvSpPr>
          <p:cNvPr id="11" name="TextBox 10"/>
          <p:cNvSpPr txBox="1"/>
          <p:nvPr/>
        </p:nvSpPr>
        <p:spPr>
          <a:xfrm>
            <a:off x="1975104" y="1975104"/>
            <a:ext cx="2761487"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7AAB8A"/>
                </a:solidFill>
                <a:effectLst/>
                <a:uLnTx/>
                <a:uFillTx/>
                <a:latin typeface="Candara"/>
                <a:ea typeface="+mn-ea"/>
                <a:cs typeface="+mn-cs"/>
              </a:rPr>
              <a:t>Why IoT monitoring matters in industrial settings</a:t>
            </a:r>
          </a:p>
        </p:txBody>
      </p:sp>
      <p:sp>
        <p:nvSpPr>
          <p:cNvPr id="12" name="Rounded Rectangle 11"/>
          <p:cNvSpPr/>
          <p:nvPr/>
        </p:nvSpPr>
        <p:spPr>
          <a:xfrm>
            <a:off x="1353312" y="2679192"/>
            <a:ext cx="3182111" cy="1188719"/>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4" name="Rounded Rectangle 13"/>
          <p:cNvSpPr/>
          <p:nvPr/>
        </p:nvSpPr>
        <p:spPr>
          <a:xfrm>
            <a:off x="1472184" y="2880360"/>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5" name="TextBox 14"/>
          <p:cNvSpPr txBox="1"/>
          <p:nvPr/>
        </p:nvSpPr>
        <p:spPr>
          <a:xfrm>
            <a:off x="1472184" y="2871216"/>
            <a:ext cx="420624" cy="307777"/>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3ECF80"/>
                </a:solidFill>
                <a:effectLst/>
                <a:uLnTx/>
                <a:uFillTx/>
                <a:latin typeface="Candara"/>
                <a:ea typeface="+mn-ea"/>
                <a:cs typeface="+mn-cs"/>
              </a:rPr>
              <a:t>02</a:t>
            </a:r>
          </a:p>
        </p:txBody>
      </p:sp>
      <p:sp>
        <p:nvSpPr>
          <p:cNvPr id="16" name="TextBox 15"/>
          <p:cNvSpPr txBox="1"/>
          <p:nvPr/>
        </p:nvSpPr>
        <p:spPr>
          <a:xfrm>
            <a:off x="1975104" y="2862072"/>
            <a:ext cx="2761487" cy="34747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dirty="0">
                <a:ln>
                  <a:noFill/>
                </a:ln>
                <a:solidFill>
                  <a:srgbClr val="FFFFFF"/>
                </a:solidFill>
                <a:effectLst/>
                <a:uLnTx/>
                <a:uFillTx/>
                <a:latin typeface="Candara"/>
                <a:ea typeface="+mn-ea"/>
                <a:cs typeface="+mn-cs"/>
              </a:rPr>
              <a:t>Project Goals &amp; Scope</a:t>
            </a:r>
          </a:p>
        </p:txBody>
      </p:sp>
      <p:sp>
        <p:nvSpPr>
          <p:cNvPr id="17" name="TextBox 16"/>
          <p:cNvSpPr txBox="1"/>
          <p:nvPr/>
        </p:nvSpPr>
        <p:spPr>
          <a:xfrm>
            <a:off x="1975105" y="3246120"/>
            <a:ext cx="2487168"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a:ln>
                  <a:noFill/>
                </a:ln>
                <a:solidFill>
                  <a:srgbClr val="7AAB8A"/>
                </a:solidFill>
                <a:effectLst/>
                <a:uLnTx/>
                <a:uFillTx/>
                <a:latin typeface="Candara"/>
                <a:ea typeface="+mn-ea"/>
                <a:cs typeface="+mn-cs"/>
              </a:rPr>
              <a:t>Objectives, requirements, boundaries</a:t>
            </a:r>
          </a:p>
        </p:txBody>
      </p:sp>
      <p:sp>
        <p:nvSpPr>
          <p:cNvPr id="18" name="Rounded Rectangle 17"/>
          <p:cNvSpPr/>
          <p:nvPr/>
        </p:nvSpPr>
        <p:spPr>
          <a:xfrm>
            <a:off x="1353312" y="3950208"/>
            <a:ext cx="3163824" cy="1181587"/>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20" name="Rounded Rectangle 19"/>
          <p:cNvSpPr/>
          <p:nvPr/>
        </p:nvSpPr>
        <p:spPr>
          <a:xfrm>
            <a:off x="1472184" y="4151376"/>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21" name="TextBox 20"/>
          <p:cNvSpPr txBox="1"/>
          <p:nvPr/>
        </p:nvSpPr>
        <p:spPr>
          <a:xfrm>
            <a:off x="1472184" y="4142232"/>
            <a:ext cx="420624" cy="307777"/>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3ECF80"/>
                </a:solidFill>
                <a:effectLst/>
                <a:uLnTx/>
                <a:uFillTx/>
                <a:latin typeface="Candara"/>
                <a:ea typeface="+mn-ea"/>
                <a:cs typeface="+mn-cs"/>
              </a:rPr>
              <a:t>03</a:t>
            </a:r>
          </a:p>
        </p:txBody>
      </p:sp>
      <p:sp>
        <p:nvSpPr>
          <p:cNvPr id="22" name="TextBox 21"/>
          <p:cNvSpPr txBox="1"/>
          <p:nvPr/>
        </p:nvSpPr>
        <p:spPr>
          <a:xfrm>
            <a:off x="1975104" y="4133088"/>
            <a:ext cx="2487169" cy="34747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a:ln>
                  <a:noFill/>
                </a:ln>
                <a:solidFill>
                  <a:srgbClr val="FFFFFF"/>
                </a:solidFill>
                <a:effectLst/>
                <a:uLnTx/>
                <a:uFillTx/>
                <a:latin typeface="Candara"/>
                <a:ea typeface="+mn-ea"/>
                <a:cs typeface="+mn-cs"/>
              </a:rPr>
              <a:t>Technology Stack</a:t>
            </a:r>
          </a:p>
        </p:txBody>
      </p:sp>
      <p:sp>
        <p:nvSpPr>
          <p:cNvPr id="23" name="TextBox 22"/>
          <p:cNvSpPr txBox="1"/>
          <p:nvPr/>
        </p:nvSpPr>
        <p:spPr>
          <a:xfrm>
            <a:off x="1975104" y="4517136"/>
            <a:ext cx="2487169"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a:ln>
                  <a:noFill/>
                </a:ln>
                <a:solidFill>
                  <a:srgbClr val="7AAB8A"/>
                </a:solidFill>
                <a:effectLst/>
                <a:uLnTx/>
                <a:uFillTx/>
                <a:latin typeface="Candara"/>
                <a:ea typeface="+mn-ea"/>
                <a:cs typeface="+mn-cs"/>
              </a:rPr>
              <a:t>C#, ASP.NET Core, React, SQL Server</a:t>
            </a:r>
          </a:p>
        </p:txBody>
      </p:sp>
      <p:sp>
        <p:nvSpPr>
          <p:cNvPr id="24" name="Rounded Rectangle 23"/>
          <p:cNvSpPr/>
          <p:nvPr/>
        </p:nvSpPr>
        <p:spPr>
          <a:xfrm>
            <a:off x="1353312" y="5212079"/>
            <a:ext cx="3182111" cy="1090148"/>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26" name="Rounded Rectangle 25"/>
          <p:cNvSpPr/>
          <p:nvPr/>
        </p:nvSpPr>
        <p:spPr>
          <a:xfrm>
            <a:off x="1472184" y="5413247"/>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27" name="TextBox 26"/>
          <p:cNvSpPr txBox="1"/>
          <p:nvPr/>
        </p:nvSpPr>
        <p:spPr>
          <a:xfrm>
            <a:off x="1472184" y="5404103"/>
            <a:ext cx="420624" cy="307777"/>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3ECF80"/>
                </a:solidFill>
                <a:effectLst/>
                <a:uLnTx/>
                <a:uFillTx/>
                <a:latin typeface="Candara"/>
                <a:ea typeface="+mn-ea"/>
                <a:cs typeface="+mn-cs"/>
              </a:rPr>
              <a:t>04</a:t>
            </a:r>
          </a:p>
        </p:txBody>
      </p:sp>
      <p:sp>
        <p:nvSpPr>
          <p:cNvPr id="28" name="TextBox 27"/>
          <p:cNvSpPr txBox="1"/>
          <p:nvPr/>
        </p:nvSpPr>
        <p:spPr>
          <a:xfrm>
            <a:off x="1975104" y="5394959"/>
            <a:ext cx="2560319" cy="34747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a:ln>
                  <a:noFill/>
                </a:ln>
                <a:solidFill>
                  <a:srgbClr val="FFFFFF"/>
                </a:solidFill>
                <a:effectLst/>
                <a:uLnTx/>
                <a:uFillTx/>
                <a:latin typeface="Candara"/>
                <a:ea typeface="+mn-ea"/>
                <a:cs typeface="+mn-cs"/>
              </a:rPr>
              <a:t>System Architecture</a:t>
            </a:r>
          </a:p>
        </p:txBody>
      </p:sp>
      <p:sp>
        <p:nvSpPr>
          <p:cNvPr id="29" name="TextBox 28"/>
          <p:cNvSpPr txBox="1"/>
          <p:nvPr/>
        </p:nvSpPr>
        <p:spPr>
          <a:xfrm>
            <a:off x="1975104" y="5779007"/>
            <a:ext cx="2761487"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7AAB8A"/>
                </a:solidFill>
                <a:effectLst/>
                <a:uLnTx/>
                <a:uFillTx/>
                <a:latin typeface="Candara"/>
                <a:ea typeface="+mn-ea"/>
                <a:cs typeface="+mn-cs"/>
              </a:rPr>
              <a:t>Edge</a:t>
            </a:r>
            <a:r>
              <a:rPr kumimoji="0" lang="en-US" sz="1400" b="0" i="0" u="none" strike="noStrike" kern="1200" cap="none" spc="0" normalizeH="0" baseline="0" noProof="0" dirty="0">
                <a:ln>
                  <a:noFill/>
                </a:ln>
                <a:solidFill>
                  <a:srgbClr val="7AAB8A"/>
                </a:solidFill>
                <a:effectLst/>
                <a:uLnTx/>
                <a:uFillTx/>
                <a:latin typeface="Candara"/>
                <a:ea typeface="+mn-ea"/>
                <a:cs typeface="+mn-cs"/>
              </a:rPr>
              <a:t> → MQTT</a:t>
            </a:r>
            <a:r>
              <a:rPr kumimoji="0" sz="1400" b="0" i="0" u="none" strike="noStrike" kern="1200" cap="none" spc="0" normalizeH="0" baseline="0" noProof="0" dirty="0">
                <a:ln>
                  <a:noFill/>
                </a:ln>
                <a:solidFill>
                  <a:srgbClr val="7AAB8A"/>
                </a:solidFill>
                <a:effectLst/>
                <a:uLnTx/>
                <a:uFillTx/>
                <a:latin typeface="Candara"/>
                <a:ea typeface="+mn-ea"/>
                <a:cs typeface="+mn-cs"/>
              </a:rPr>
              <a:t> → API → DB → </a:t>
            </a:r>
            <a:r>
              <a:rPr kumimoji="0" sz="1400" b="0" i="0" u="none" strike="noStrike" kern="1200" cap="none" spc="0" normalizeH="0" baseline="0" noProof="0" dirty="0" err="1">
                <a:ln>
                  <a:noFill/>
                </a:ln>
                <a:solidFill>
                  <a:srgbClr val="7AAB8A"/>
                </a:solidFill>
                <a:effectLst/>
                <a:uLnTx/>
                <a:uFillTx/>
                <a:latin typeface="Candara"/>
                <a:ea typeface="+mn-ea"/>
                <a:cs typeface="+mn-cs"/>
              </a:rPr>
              <a:t>SignalR</a:t>
            </a:r>
            <a:r>
              <a:rPr kumimoji="0" sz="1400" b="0" i="0" u="none" strike="noStrike" kern="1200" cap="none" spc="0" normalizeH="0" baseline="0" noProof="0" dirty="0">
                <a:ln>
                  <a:noFill/>
                </a:ln>
                <a:solidFill>
                  <a:srgbClr val="7AAB8A"/>
                </a:solidFill>
                <a:effectLst/>
                <a:uLnTx/>
                <a:uFillTx/>
                <a:latin typeface="Candara"/>
                <a:ea typeface="+mn-ea"/>
                <a:cs typeface="+mn-cs"/>
              </a:rPr>
              <a:t> → React</a:t>
            </a:r>
          </a:p>
        </p:txBody>
      </p:sp>
      <p:sp>
        <p:nvSpPr>
          <p:cNvPr id="30" name="Rounded Rectangle 29"/>
          <p:cNvSpPr/>
          <p:nvPr/>
        </p:nvSpPr>
        <p:spPr>
          <a:xfrm>
            <a:off x="4617720" y="1408176"/>
            <a:ext cx="3113532" cy="1181588"/>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31" name="Rectangle 30"/>
          <p:cNvSpPr/>
          <p:nvPr/>
        </p:nvSpPr>
        <p:spPr>
          <a:xfrm>
            <a:off x="4562856" y="1408176"/>
            <a:ext cx="45719" cy="1090148"/>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32" name="Rounded Rectangle 31"/>
          <p:cNvSpPr/>
          <p:nvPr/>
        </p:nvSpPr>
        <p:spPr>
          <a:xfrm>
            <a:off x="4736592" y="1609344"/>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33" name="TextBox 32"/>
          <p:cNvSpPr txBox="1"/>
          <p:nvPr/>
        </p:nvSpPr>
        <p:spPr>
          <a:xfrm>
            <a:off x="4736592" y="1600200"/>
            <a:ext cx="420624" cy="307777"/>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3ECF80"/>
                </a:solidFill>
                <a:effectLst/>
                <a:uLnTx/>
                <a:uFillTx/>
                <a:latin typeface="Candara"/>
                <a:ea typeface="+mn-ea"/>
                <a:cs typeface="+mn-cs"/>
              </a:rPr>
              <a:t>05</a:t>
            </a:r>
          </a:p>
        </p:txBody>
      </p:sp>
      <p:sp>
        <p:nvSpPr>
          <p:cNvPr id="34" name="TextBox 33"/>
          <p:cNvSpPr txBox="1"/>
          <p:nvPr/>
        </p:nvSpPr>
        <p:spPr>
          <a:xfrm>
            <a:off x="5239511" y="1591056"/>
            <a:ext cx="2761487" cy="34747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a:ln>
                  <a:noFill/>
                </a:ln>
                <a:solidFill>
                  <a:srgbClr val="FFFFFF"/>
                </a:solidFill>
                <a:effectLst/>
                <a:uLnTx/>
                <a:uFillTx/>
                <a:latin typeface="Candara"/>
                <a:ea typeface="+mn-ea"/>
                <a:cs typeface="+mn-cs"/>
              </a:rPr>
              <a:t>Database Design</a:t>
            </a:r>
          </a:p>
        </p:txBody>
      </p:sp>
      <p:sp>
        <p:nvSpPr>
          <p:cNvPr id="35" name="TextBox 34"/>
          <p:cNvSpPr txBox="1"/>
          <p:nvPr/>
        </p:nvSpPr>
        <p:spPr>
          <a:xfrm>
            <a:off x="5239511" y="1975104"/>
            <a:ext cx="1993393"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7AAB8A"/>
                </a:solidFill>
                <a:effectLst/>
                <a:uLnTx/>
                <a:uFillTx/>
                <a:latin typeface="Candara"/>
                <a:ea typeface="+mn-ea"/>
                <a:cs typeface="+mn-cs"/>
              </a:rPr>
              <a:t>Devices, sensors, readings, alerts</a:t>
            </a:r>
          </a:p>
        </p:txBody>
      </p:sp>
      <p:sp>
        <p:nvSpPr>
          <p:cNvPr id="36" name="Rounded Rectangle 35"/>
          <p:cNvSpPr/>
          <p:nvPr/>
        </p:nvSpPr>
        <p:spPr>
          <a:xfrm>
            <a:off x="4617720" y="2679192"/>
            <a:ext cx="3113532" cy="1188719"/>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37" name="Rectangle 36"/>
          <p:cNvSpPr/>
          <p:nvPr/>
        </p:nvSpPr>
        <p:spPr>
          <a:xfrm>
            <a:off x="4562856" y="2679192"/>
            <a:ext cx="45719" cy="1090148"/>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38" name="Rounded Rectangle 37"/>
          <p:cNvSpPr/>
          <p:nvPr/>
        </p:nvSpPr>
        <p:spPr>
          <a:xfrm>
            <a:off x="4736592" y="2880360"/>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39" name="TextBox 38"/>
          <p:cNvSpPr txBox="1"/>
          <p:nvPr/>
        </p:nvSpPr>
        <p:spPr>
          <a:xfrm>
            <a:off x="4736592" y="2871216"/>
            <a:ext cx="420624" cy="307777"/>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3ECF80"/>
                </a:solidFill>
                <a:effectLst/>
                <a:uLnTx/>
                <a:uFillTx/>
                <a:latin typeface="Candara"/>
                <a:ea typeface="+mn-ea"/>
                <a:cs typeface="+mn-cs"/>
              </a:rPr>
              <a:t>06</a:t>
            </a:r>
          </a:p>
        </p:txBody>
      </p:sp>
      <p:sp>
        <p:nvSpPr>
          <p:cNvPr id="40" name="TextBox 39"/>
          <p:cNvSpPr txBox="1"/>
          <p:nvPr/>
        </p:nvSpPr>
        <p:spPr>
          <a:xfrm>
            <a:off x="5239511" y="2862072"/>
            <a:ext cx="2761487" cy="34747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a:ln>
                  <a:noFill/>
                </a:ln>
                <a:solidFill>
                  <a:srgbClr val="FFFFFF"/>
                </a:solidFill>
                <a:effectLst/>
                <a:uLnTx/>
                <a:uFillTx/>
                <a:latin typeface="Candara"/>
                <a:ea typeface="+mn-ea"/>
                <a:cs typeface="+mn-cs"/>
              </a:rPr>
              <a:t>Backend &amp; API</a:t>
            </a:r>
          </a:p>
        </p:txBody>
      </p:sp>
      <p:sp>
        <p:nvSpPr>
          <p:cNvPr id="41" name="TextBox 40"/>
          <p:cNvSpPr txBox="1"/>
          <p:nvPr/>
        </p:nvSpPr>
        <p:spPr>
          <a:xfrm>
            <a:off x="5239511" y="3246120"/>
            <a:ext cx="2249425"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7AAB8A"/>
                </a:solidFill>
                <a:effectLst/>
                <a:uLnTx/>
                <a:uFillTx/>
                <a:latin typeface="Candara"/>
                <a:ea typeface="+mn-ea"/>
                <a:cs typeface="+mn-cs"/>
              </a:rPr>
              <a:t>Services, repositories, DTOs</a:t>
            </a:r>
          </a:p>
        </p:txBody>
      </p:sp>
      <p:sp>
        <p:nvSpPr>
          <p:cNvPr id="42" name="Rounded Rectangle 41"/>
          <p:cNvSpPr/>
          <p:nvPr/>
        </p:nvSpPr>
        <p:spPr>
          <a:xfrm>
            <a:off x="4617720" y="3950208"/>
            <a:ext cx="3113532" cy="1188719"/>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3" name="Rectangle 42"/>
          <p:cNvSpPr/>
          <p:nvPr/>
        </p:nvSpPr>
        <p:spPr>
          <a:xfrm>
            <a:off x="4562856" y="3950208"/>
            <a:ext cx="45719" cy="1090148"/>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4" name="Rounded Rectangle 43"/>
          <p:cNvSpPr/>
          <p:nvPr/>
        </p:nvSpPr>
        <p:spPr>
          <a:xfrm>
            <a:off x="4736592" y="4151376"/>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5" name="TextBox 44"/>
          <p:cNvSpPr txBox="1"/>
          <p:nvPr/>
        </p:nvSpPr>
        <p:spPr>
          <a:xfrm>
            <a:off x="4736592" y="4142232"/>
            <a:ext cx="420624" cy="307777"/>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3ECF80"/>
                </a:solidFill>
                <a:effectLst/>
                <a:uLnTx/>
                <a:uFillTx/>
                <a:latin typeface="Candara"/>
                <a:ea typeface="+mn-ea"/>
                <a:cs typeface="+mn-cs"/>
              </a:rPr>
              <a:t>07</a:t>
            </a:r>
          </a:p>
        </p:txBody>
      </p:sp>
      <p:sp>
        <p:nvSpPr>
          <p:cNvPr id="46" name="TextBox 45"/>
          <p:cNvSpPr txBox="1"/>
          <p:nvPr/>
        </p:nvSpPr>
        <p:spPr>
          <a:xfrm>
            <a:off x="5239511" y="4133088"/>
            <a:ext cx="2761487" cy="34747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a:ln>
                  <a:noFill/>
                </a:ln>
                <a:solidFill>
                  <a:srgbClr val="FFFFFF"/>
                </a:solidFill>
                <a:effectLst/>
                <a:uLnTx/>
                <a:uFillTx/>
                <a:latin typeface="Candara"/>
                <a:ea typeface="+mn-ea"/>
                <a:cs typeface="+mn-cs"/>
              </a:rPr>
              <a:t>Frontend Design</a:t>
            </a:r>
          </a:p>
        </p:txBody>
      </p:sp>
      <p:sp>
        <p:nvSpPr>
          <p:cNvPr id="47" name="TextBox 46"/>
          <p:cNvSpPr txBox="1"/>
          <p:nvPr/>
        </p:nvSpPr>
        <p:spPr>
          <a:xfrm>
            <a:off x="5239511" y="4517136"/>
            <a:ext cx="2057401"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7AAB8A"/>
                </a:solidFill>
                <a:effectLst/>
                <a:uLnTx/>
                <a:uFillTx/>
                <a:latin typeface="Candara"/>
                <a:ea typeface="+mn-ea"/>
                <a:cs typeface="+mn-cs"/>
              </a:rPr>
              <a:t>React SPA, charts, </a:t>
            </a:r>
            <a:r>
              <a:rPr kumimoji="0" sz="1400" b="0" i="0" u="none" strike="noStrike" kern="1200" cap="none" spc="0" normalizeH="0" baseline="0" noProof="0" dirty="0" err="1">
                <a:ln>
                  <a:noFill/>
                </a:ln>
                <a:solidFill>
                  <a:srgbClr val="7AAB8A"/>
                </a:solidFill>
                <a:effectLst/>
                <a:uLnTx/>
                <a:uFillTx/>
                <a:latin typeface="Candara"/>
                <a:ea typeface="+mn-ea"/>
                <a:cs typeface="+mn-cs"/>
              </a:rPr>
              <a:t>SignalR</a:t>
            </a:r>
            <a:r>
              <a:rPr kumimoji="0" sz="1400" b="0" i="0" u="none" strike="noStrike" kern="1200" cap="none" spc="0" normalizeH="0" baseline="0" noProof="0" dirty="0">
                <a:ln>
                  <a:noFill/>
                </a:ln>
                <a:solidFill>
                  <a:srgbClr val="7AAB8A"/>
                </a:solidFill>
                <a:effectLst/>
                <a:uLnTx/>
                <a:uFillTx/>
                <a:latin typeface="Candara"/>
                <a:ea typeface="+mn-ea"/>
                <a:cs typeface="+mn-cs"/>
              </a:rPr>
              <a:t> client</a:t>
            </a:r>
          </a:p>
        </p:txBody>
      </p:sp>
      <p:sp>
        <p:nvSpPr>
          <p:cNvPr id="48" name="Rounded Rectangle 47"/>
          <p:cNvSpPr/>
          <p:nvPr/>
        </p:nvSpPr>
        <p:spPr>
          <a:xfrm>
            <a:off x="4617720" y="5212079"/>
            <a:ext cx="3113532" cy="1090148"/>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9" name="Rectangle 48"/>
          <p:cNvSpPr/>
          <p:nvPr/>
        </p:nvSpPr>
        <p:spPr>
          <a:xfrm>
            <a:off x="4562856" y="5212079"/>
            <a:ext cx="45719" cy="1090148"/>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0" name="Rounded Rectangle 49"/>
          <p:cNvSpPr/>
          <p:nvPr/>
        </p:nvSpPr>
        <p:spPr>
          <a:xfrm>
            <a:off x="4736592" y="5413247"/>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1" name="TextBox 50"/>
          <p:cNvSpPr txBox="1"/>
          <p:nvPr/>
        </p:nvSpPr>
        <p:spPr>
          <a:xfrm>
            <a:off x="4736592" y="5404103"/>
            <a:ext cx="420624" cy="307777"/>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3ECF80"/>
                </a:solidFill>
                <a:effectLst/>
                <a:uLnTx/>
                <a:uFillTx/>
                <a:latin typeface="Candara"/>
                <a:ea typeface="+mn-ea"/>
                <a:cs typeface="+mn-cs"/>
              </a:rPr>
              <a:t>08</a:t>
            </a:r>
          </a:p>
        </p:txBody>
      </p:sp>
      <p:sp>
        <p:nvSpPr>
          <p:cNvPr id="52" name="TextBox 51"/>
          <p:cNvSpPr txBox="1"/>
          <p:nvPr/>
        </p:nvSpPr>
        <p:spPr>
          <a:xfrm>
            <a:off x="5239511" y="5394959"/>
            <a:ext cx="2761487" cy="29238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300" b="1" i="0" u="none" strike="noStrike" kern="1200" cap="none" spc="0" normalizeH="0" baseline="0" noProof="0">
                <a:ln>
                  <a:noFill/>
                </a:ln>
                <a:solidFill>
                  <a:srgbClr val="FFFFFF"/>
                </a:solidFill>
                <a:effectLst/>
                <a:uLnTx/>
                <a:uFillTx/>
                <a:latin typeface="Candara"/>
                <a:ea typeface="+mn-ea"/>
                <a:cs typeface="+mn-cs"/>
              </a:rPr>
              <a:t>Key Features</a:t>
            </a:r>
          </a:p>
        </p:txBody>
      </p:sp>
      <p:sp>
        <p:nvSpPr>
          <p:cNvPr id="53" name="TextBox 52"/>
          <p:cNvSpPr txBox="1"/>
          <p:nvPr/>
        </p:nvSpPr>
        <p:spPr>
          <a:xfrm>
            <a:off x="5239511" y="5779007"/>
            <a:ext cx="2167129"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7AAB8A"/>
                </a:solidFill>
                <a:effectLst/>
                <a:uLnTx/>
                <a:uFillTx/>
                <a:latin typeface="Candara"/>
                <a:ea typeface="+mn-ea"/>
                <a:cs typeface="+mn-cs"/>
              </a:rPr>
              <a:t>Streaming, dashboards, alerts</a:t>
            </a:r>
          </a:p>
        </p:txBody>
      </p:sp>
      <p:sp>
        <p:nvSpPr>
          <p:cNvPr id="54" name="Rounded Rectangle 53"/>
          <p:cNvSpPr/>
          <p:nvPr/>
        </p:nvSpPr>
        <p:spPr>
          <a:xfrm>
            <a:off x="7863840" y="1408176"/>
            <a:ext cx="3154553" cy="1158169"/>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5" name="Rectangle 54"/>
          <p:cNvSpPr/>
          <p:nvPr/>
        </p:nvSpPr>
        <p:spPr>
          <a:xfrm>
            <a:off x="7772400" y="1408176"/>
            <a:ext cx="54480" cy="1090148"/>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6" name="Rounded Rectangle 55"/>
          <p:cNvSpPr/>
          <p:nvPr/>
        </p:nvSpPr>
        <p:spPr>
          <a:xfrm>
            <a:off x="7982712" y="1609344"/>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7" name="TextBox 56"/>
          <p:cNvSpPr txBox="1"/>
          <p:nvPr/>
        </p:nvSpPr>
        <p:spPr>
          <a:xfrm>
            <a:off x="7982712" y="1600200"/>
            <a:ext cx="420624" cy="307777"/>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dirty="0">
                <a:ln>
                  <a:noFill/>
                </a:ln>
                <a:solidFill>
                  <a:srgbClr val="3ECF80"/>
                </a:solidFill>
                <a:effectLst/>
                <a:uLnTx/>
                <a:uFillTx/>
                <a:latin typeface="Candara"/>
                <a:ea typeface="+mn-ea"/>
                <a:cs typeface="+mn-cs"/>
              </a:rPr>
              <a:t>09</a:t>
            </a:r>
          </a:p>
        </p:txBody>
      </p:sp>
      <p:sp>
        <p:nvSpPr>
          <p:cNvPr id="58" name="TextBox 57"/>
          <p:cNvSpPr txBox="1"/>
          <p:nvPr/>
        </p:nvSpPr>
        <p:spPr>
          <a:xfrm>
            <a:off x="8485633" y="1591056"/>
            <a:ext cx="2240280" cy="34747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a:ln>
                  <a:noFill/>
                </a:ln>
                <a:solidFill>
                  <a:srgbClr val="FFFFFF"/>
                </a:solidFill>
                <a:effectLst/>
                <a:uLnTx/>
                <a:uFillTx/>
                <a:latin typeface="Candara"/>
                <a:ea typeface="+mn-ea"/>
                <a:cs typeface="+mn-cs"/>
              </a:rPr>
              <a:t>Live Demo</a:t>
            </a:r>
          </a:p>
        </p:txBody>
      </p:sp>
      <p:sp>
        <p:nvSpPr>
          <p:cNvPr id="59" name="TextBox 58"/>
          <p:cNvSpPr txBox="1"/>
          <p:nvPr/>
        </p:nvSpPr>
        <p:spPr>
          <a:xfrm>
            <a:off x="8485633" y="1975104"/>
            <a:ext cx="2395728"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a:ln>
                  <a:noFill/>
                </a:ln>
                <a:solidFill>
                  <a:srgbClr val="7AAB8A"/>
                </a:solidFill>
                <a:effectLst/>
                <a:uLnTx/>
                <a:uFillTx/>
                <a:latin typeface="Candara"/>
                <a:ea typeface="+mn-ea"/>
                <a:cs typeface="+mn-cs"/>
              </a:rPr>
              <a:t>Edge → API → SignalR → Dashboard</a:t>
            </a:r>
          </a:p>
        </p:txBody>
      </p:sp>
      <p:sp>
        <p:nvSpPr>
          <p:cNvPr id="60" name="Rounded Rectangle 59"/>
          <p:cNvSpPr/>
          <p:nvPr/>
        </p:nvSpPr>
        <p:spPr>
          <a:xfrm>
            <a:off x="7863840" y="2679192"/>
            <a:ext cx="3154553" cy="1188719"/>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61" name="Rectangle 60"/>
          <p:cNvSpPr/>
          <p:nvPr/>
        </p:nvSpPr>
        <p:spPr>
          <a:xfrm>
            <a:off x="7772400" y="2679192"/>
            <a:ext cx="54480" cy="1090148"/>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62" name="Rounded Rectangle 61"/>
          <p:cNvSpPr/>
          <p:nvPr/>
        </p:nvSpPr>
        <p:spPr>
          <a:xfrm>
            <a:off x="7982712" y="2880360"/>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63" name="TextBox 62"/>
          <p:cNvSpPr txBox="1"/>
          <p:nvPr/>
        </p:nvSpPr>
        <p:spPr>
          <a:xfrm>
            <a:off x="7982712" y="2871216"/>
            <a:ext cx="420624" cy="307777"/>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3ECF80"/>
                </a:solidFill>
                <a:effectLst/>
                <a:uLnTx/>
                <a:uFillTx/>
                <a:latin typeface="Candara"/>
                <a:ea typeface="+mn-ea"/>
                <a:cs typeface="+mn-cs"/>
              </a:rPr>
              <a:t>10</a:t>
            </a:r>
          </a:p>
        </p:txBody>
      </p:sp>
      <p:sp>
        <p:nvSpPr>
          <p:cNvPr id="64" name="TextBox 63"/>
          <p:cNvSpPr txBox="1"/>
          <p:nvPr/>
        </p:nvSpPr>
        <p:spPr>
          <a:xfrm>
            <a:off x="8485632" y="2862072"/>
            <a:ext cx="2240281" cy="34747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a:ln>
                  <a:noFill/>
                </a:ln>
                <a:solidFill>
                  <a:srgbClr val="FFFFFF"/>
                </a:solidFill>
                <a:effectLst/>
                <a:uLnTx/>
                <a:uFillTx/>
                <a:latin typeface="Candara"/>
                <a:ea typeface="+mn-ea"/>
                <a:cs typeface="+mn-cs"/>
              </a:rPr>
              <a:t>Challenges &amp; Solutions</a:t>
            </a:r>
          </a:p>
        </p:txBody>
      </p:sp>
      <p:sp>
        <p:nvSpPr>
          <p:cNvPr id="65" name="TextBox 64"/>
          <p:cNvSpPr txBox="1"/>
          <p:nvPr/>
        </p:nvSpPr>
        <p:spPr>
          <a:xfrm>
            <a:off x="8485632" y="3246120"/>
            <a:ext cx="2240281"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7AAB8A"/>
                </a:solidFill>
                <a:effectLst/>
                <a:uLnTx/>
                <a:uFillTx/>
                <a:latin typeface="Candara"/>
                <a:ea typeface="+mn-ea"/>
                <a:cs typeface="+mn-cs"/>
              </a:rPr>
              <a:t>Sync, data volume, design</a:t>
            </a:r>
          </a:p>
        </p:txBody>
      </p:sp>
      <p:sp>
        <p:nvSpPr>
          <p:cNvPr id="66" name="Rounded Rectangle 65"/>
          <p:cNvSpPr/>
          <p:nvPr/>
        </p:nvSpPr>
        <p:spPr>
          <a:xfrm>
            <a:off x="7863840" y="3950208"/>
            <a:ext cx="3154553" cy="1188719"/>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67" name="Rectangle 66"/>
          <p:cNvSpPr/>
          <p:nvPr/>
        </p:nvSpPr>
        <p:spPr>
          <a:xfrm>
            <a:off x="7772400" y="3950208"/>
            <a:ext cx="54480" cy="1090148"/>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68" name="Rounded Rectangle 67"/>
          <p:cNvSpPr/>
          <p:nvPr/>
        </p:nvSpPr>
        <p:spPr>
          <a:xfrm>
            <a:off x="7982712" y="4151376"/>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69" name="TextBox 68"/>
          <p:cNvSpPr txBox="1"/>
          <p:nvPr/>
        </p:nvSpPr>
        <p:spPr>
          <a:xfrm>
            <a:off x="7982712" y="4142232"/>
            <a:ext cx="420624" cy="307777"/>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3ECF80"/>
                </a:solidFill>
                <a:effectLst/>
                <a:uLnTx/>
                <a:uFillTx/>
                <a:latin typeface="Candara"/>
                <a:ea typeface="+mn-ea"/>
                <a:cs typeface="+mn-cs"/>
              </a:rPr>
              <a:t>11</a:t>
            </a:r>
          </a:p>
        </p:txBody>
      </p:sp>
      <p:sp>
        <p:nvSpPr>
          <p:cNvPr id="70" name="TextBox 69"/>
          <p:cNvSpPr txBox="1"/>
          <p:nvPr/>
        </p:nvSpPr>
        <p:spPr>
          <a:xfrm>
            <a:off x="8485633" y="4133088"/>
            <a:ext cx="2103120" cy="34747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a:ln>
                  <a:noFill/>
                </a:ln>
                <a:solidFill>
                  <a:srgbClr val="FFFFFF"/>
                </a:solidFill>
                <a:effectLst/>
                <a:uLnTx/>
                <a:uFillTx/>
                <a:latin typeface="Candara"/>
                <a:ea typeface="+mn-ea"/>
                <a:cs typeface="+mn-cs"/>
              </a:rPr>
              <a:t>Conclusion &amp; Future</a:t>
            </a:r>
          </a:p>
        </p:txBody>
      </p:sp>
      <p:sp>
        <p:nvSpPr>
          <p:cNvPr id="74" name="Rounded Rectangle 65">
            <a:extLst>
              <a:ext uri="{FF2B5EF4-FFF2-40B4-BE49-F238E27FC236}">
                <a16:creationId xmlns:a16="http://schemas.microsoft.com/office/drawing/2014/main" id="{47AB4A4A-A8CE-FF32-418B-F6A5ECDEFA50}"/>
              </a:ext>
            </a:extLst>
          </p:cNvPr>
          <p:cNvSpPr/>
          <p:nvPr/>
        </p:nvSpPr>
        <p:spPr>
          <a:xfrm>
            <a:off x="7885937" y="5212079"/>
            <a:ext cx="3132456" cy="1090148"/>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75" name="Rectangle 74">
            <a:extLst>
              <a:ext uri="{FF2B5EF4-FFF2-40B4-BE49-F238E27FC236}">
                <a16:creationId xmlns:a16="http://schemas.microsoft.com/office/drawing/2014/main" id="{B7DB0902-45A1-6AAA-C9B7-2054F58EC30E}"/>
              </a:ext>
            </a:extLst>
          </p:cNvPr>
          <p:cNvSpPr/>
          <p:nvPr/>
        </p:nvSpPr>
        <p:spPr>
          <a:xfrm>
            <a:off x="7772400" y="5212079"/>
            <a:ext cx="54480" cy="1090148"/>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80" name="TextBox 79">
            <a:extLst>
              <a:ext uri="{FF2B5EF4-FFF2-40B4-BE49-F238E27FC236}">
                <a16:creationId xmlns:a16="http://schemas.microsoft.com/office/drawing/2014/main" id="{89B7797C-7309-8EC4-1A4D-B8987CFB0555}"/>
              </a:ext>
            </a:extLst>
          </p:cNvPr>
          <p:cNvSpPr txBox="1"/>
          <p:nvPr/>
        </p:nvSpPr>
        <p:spPr>
          <a:xfrm>
            <a:off x="8517256" y="5409056"/>
            <a:ext cx="2071498" cy="338554"/>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ndara"/>
                <a:ea typeface="+mn-ea"/>
                <a:cs typeface="+mn-cs"/>
              </a:rPr>
              <a:t>End Of Presentation</a:t>
            </a:r>
            <a:endParaRPr kumimoji="0" sz="1600" b="1" i="0" u="none" strike="noStrike" kern="1200" cap="none" spc="0" normalizeH="0" baseline="0" noProof="0" dirty="0">
              <a:ln>
                <a:noFill/>
              </a:ln>
              <a:solidFill>
                <a:srgbClr val="FFFFFF"/>
              </a:solidFill>
              <a:effectLst/>
              <a:uLnTx/>
              <a:uFillTx/>
              <a:latin typeface="Candara"/>
              <a:ea typeface="+mn-ea"/>
              <a:cs typeface="+mn-cs"/>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D2117"/>
        </a:solidFill>
        <a:effectLst/>
      </p:bgPr>
    </p:bg>
    <p:spTree>
      <p:nvGrpSpPr>
        <p:cNvPr id="1" name=""/>
        <p:cNvGrpSpPr/>
        <p:nvPr/>
      </p:nvGrpSpPr>
      <p:grpSpPr>
        <a:xfrm>
          <a:off x="0" y="0"/>
          <a:ext cx="0" cy="0"/>
          <a:chOff x="0" y="0"/>
          <a:chExt cx="0" cy="0"/>
        </a:xfrm>
      </p:grpSpPr>
      <p:sp>
        <p:nvSpPr>
          <p:cNvPr id="2" name="TextBox 1"/>
          <p:cNvSpPr txBox="1"/>
          <p:nvPr/>
        </p:nvSpPr>
        <p:spPr>
          <a:xfrm>
            <a:off x="558699" y="578072"/>
            <a:ext cx="4583888" cy="584775"/>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3200" b="1" i="0" u="none" strike="noStrike" kern="1200" cap="none" spc="0" normalizeH="0" baseline="0" noProof="0" dirty="0">
                <a:ln>
                  <a:noFill/>
                </a:ln>
                <a:solidFill>
                  <a:srgbClr val="FFFFFF"/>
                </a:solidFill>
                <a:effectLst/>
                <a:uLnTx/>
                <a:uFillTx/>
                <a:latin typeface="Candara"/>
                <a:ea typeface="+mn-ea"/>
                <a:cs typeface="+mn-cs"/>
              </a:rPr>
              <a:t>Project Statement</a:t>
            </a:r>
          </a:p>
        </p:txBody>
      </p:sp>
      <p:sp>
        <p:nvSpPr>
          <p:cNvPr id="6" name="Rectangle 5"/>
          <p:cNvSpPr/>
          <p:nvPr/>
        </p:nvSpPr>
        <p:spPr>
          <a:xfrm flipH="1">
            <a:off x="5495799" y="1298448"/>
            <a:ext cx="45719" cy="4352544"/>
          </a:xfrm>
          <a:prstGeom prst="rect">
            <a:avLst/>
          </a:prstGeom>
          <a:solidFill>
            <a:srgbClr val="2555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pic>
        <p:nvPicPr>
          <p:cNvPr id="7" name="Picture 6" descr="image.png"/>
          <p:cNvPicPr>
            <a:picLocks noChangeAspect="1"/>
          </p:cNvPicPr>
          <p:nvPr/>
        </p:nvPicPr>
        <p:blipFill>
          <a:blip r:embed="rId3"/>
          <a:stretch>
            <a:fillRect/>
          </a:stretch>
        </p:blipFill>
        <p:spPr>
          <a:xfrm>
            <a:off x="5752493" y="1298448"/>
            <a:ext cx="475488" cy="475488"/>
          </a:xfrm>
          <a:prstGeom prst="rect">
            <a:avLst/>
          </a:prstGeom>
        </p:spPr>
      </p:pic>
      <p:sp>
        <p:nvSpPr>
          <p:cNvPr id="8" name="TextBox 7"/>
          <p:cNvSpPr txBox="1"/>
          <p:nvPr/>
        </p:nvSpPr>
        <p:spPr>
          <a:xfrm>
            <a:off x="6374284" y="1316736"/>
            <a:ext cx="246888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800" b="1" i="0" u="none" strike="noStrike" kern="1200" cap="none" spc="0" normalizeH="0" baseline="0" noProof="0">
                <a:ln>
                  <a:noFill/>
                </a:ln>
                <a:solidFill>
                  <a:srgbClr val="FFFFFF"/>
                </a:solidFill>
                <a:effectLst/>
                <a:uLnTx/>
                <a:uFillTx/>
                <a:latin typeface="Candara"/>
                <a:ea typeface="+mn-ea"/>
                <a:cs typeface="+mn-cs"/>
              </a:rPr>
              <a:t>Web-Based</a:t>
            </a:r>
          </a:p>
        </p:txBody>
      </p:sp>
      <p:sp>
        <p:nvSpPr>
          <p:cNvPr id="9" name="TextBox 8"/>
          <p:cNvSpPr txBox="1"/>
          <p:nvPr/>
        </p:nvSpPr>
        <p:spPr>
          <a:xfrm>
            <a:off x="6374284" y="1572768"/>
            <a:ext cx="2468880"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7AAB8A"/>
                </a:solidFill>
                <a:effectLst/>
                <a:uLnTx/>
                <a:uFillTx/>
                <a:latin typeface="Candara"/>
                <a:ea typeface="+mn-ea"/>
                <a:cs typeface="+mn-cs"/>
              </a:rPr>
              <a:t>No proprietary hardware required</a:t>
            </a:r>
          </a:p>
        </p:txBody>
      </p:sp>
      <p:pic>
        <p:nvPicPr>
          <p:cNvPr id="10" name="Picture 9" descr="image.png"/>
          <p:cNvPicPr>
            <a:picLocks noChangeAspect="1"/>
          </p:cNvPicPr>
          <p:nvPr/>
        </p:nvPicPr>
        <p:blipFill>
          <a:blip r:embed="rId4"/>
          <a:stretch>
            <a:fillRect/>
          </a:stretch>
        </p:blipFill>
        <p:spPr>
          <a:xfrm>
            <a:off x="8632853" y="1298448"/>
            <a:ext cx="475488" cy="475488"/>
          </a:xfrm>
          <a:prstGeom prst="rect">
            <a:avLst/>
          </a:prstGeom>
        </p:spPr>
      </p:pic>
      <p:sp>
        <p:nvSpPr>
          <p:cNvPr id="11" name="TextBox 10"/>
          <p:cNvSpPr txBox="1"/>
          <p:nvPr/>
        </p:nvSpPr>
        <p:spPr>
          <a:xfrm>
            <a:off x="9254645" y="1316736"/>
            <a:ext cx="246888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800" b="1" i="0" u="none" strike="noStrike" kern="1200" cap="none" spc="0" normalizeH="0" baseline="0" noProof="0" dirty="0">
                <a:ln>
                  <a:noFill/>
                </a:ln>
                <a:solidFill>
                  <a:srgbClr val="FFFFFF"/>
                </a:solidFill>
                <a:effectLst/>
                <a:uLnTx/>
                <a:uFillTx/>
                <a:latin typeface="Candara"/>
                <a:ea typeface="+mn-ea"/>
                <a:cs typeface="+mn-cs"/>
              </a:rPr>
              <a:t>Any Browser</a:t>
            </a:r>
          </a:p>
        </p:txBody>
      </p:sp>
      <p:sp>
        <p:nvSpPr>
          <p:cNvPr id="12" name="TextBox 11"/>
          <p:cNvSpPr txBox="1"/>
          <p:nvPr/>
        </p:nvSpPr>
        <p:spPr>
          <a:xfrm>
            <a:off x="9254645" y="1572768"/>
            <a:ext cx="246888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7AAB8A"/>
                </a:solidFill>
                <a:effectLst/>
                <a:uLnTx/>
                <a:uFillTx/>
                <a:latin typeface="Candara"/>
                <a:ea typeface="+mn-ea"/>
                <a:cs typeface="+mn-cs"/>
              </a:rPr>
              <a:t>Accessible from any device</a:t>
            </a:r>
          </a:p>
        </p:txBody>
      </p:sp>
      <p:pic>
        <p:nvPicPr>
          <p:cNvPr id="13" name="Picture 12" descr="image.png"/>
          <p:cNvPicPr>
            <a:picLocks noChangeAspect="1"/>
          </p:cNvPicPr>
          <p:nvPr/>
        </p:nvPicPr>
        <p:blipFill>
          <a:blip r:embed="rId5"/>
          <a:stretch>
            <a:fillRect/>
          </a:stretch>
        </p:blipFill>
        <p:spPr>
          <a:xfrm>
            <a:off x="5752493" y="3236976"/>
            <a:ext cx="475488" cy="475488"/>
          </a:xfrm>
          <a:prstGeom prst="rect">
            <a:avLst/>
          </a:prstGeom>
        </p:spPr>
      </p:pic>
      <p:sp>
        <p:nvSpPr>
          <p:cNvPr id="14" name="TextBox 13"/>
          <p:cNvSpPr txBox="1"/>
          <p:nvPr/>
        </p:nvSpPr>
        <p:spPr>
          <a:xfrm>
            <a:off x="6374284" y="3255264"/>
            <a:ext cx="246888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800" b="1" i="0" u="none" strike="noStrike" kern="1200" cap="none" spc="0" normalizeH="0" baseline="0" noProof="0" dirty="0">
                <a:ln>
                  <a:noFill/>
                </a:ln>
                <a:solidFill>
                  <a:srgbClr val="FFFFFF"/>
                </a:solidFill>
                <a:effectLst/>
                <a:uLnTx/>
                <a:uFillTx/>
                <a:latin typeface="Candara"/>
                <a:ea typeface="+mn-ea"/>
                <a:cs typeface="+mn-cs"/>
              </a:rPr>
              <a:t>Real-Time</a:t>
            </a:r>
          </a:p>
        </p:txBody>
      </p:sp>
      <p:sp>
        <p:nvSpPr>
          <p:cNvPr id="15" name="TextBox 14"/>
          <p:cNvSpPr txBox="1"/>
          <p:nvPr/>
        </p:nvSpPr>
        <p:spPr>
          <a:xfrm>
            <a:off x="6374284" y="3511296"/>
            <a:ext cx="2468880"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err="1">
                <a:ln>
                  <a:noFill/>
                </a:ln>
                <a:solidFill>
                  <a:srgbClr val="7AAB8A"/>
                </a:solidFill>
                <a:effectLst/>
                <a:uLnTx/>
                <a:uFillTx/>
                <a:latin typeface="Candara"/>
                <a:ea typeface="+mn-ea"/>
                <a:cs typeface="+mn-cs"/>
              </a:rPr>
              <a:t>SignalR</a:t>
            </a:r>
            <a:r>
              <a:rPr kumimoji="0" sz="1400" b="0" i="0" u="none" strike="noStrike" kern="1200" cap="none" spc="0" normalizeH="0" baseline="0" noProof="0" dirty="0">
                <a:ln>
                  <a:noFill/>
                </a:ln>
                <a:solidFill>
                  <a:srgbClr val="7AAB8A"/>
                </a:solidFill>
                <a:effectLst/>
                <a:uLnTx/>
                <a:uFillTx/>
                <a:latin typeface="Candara"/>
                <a:ea typeface="+mn-ea"/>
                <a:cs typeface="+mn-cs"/>
              </a:rPr>
              <a:t> / WebSocket </a:t>
            </a:r>
            <a:endParaRPr kumimoji="0" lang="en-US" sz="1400" b="0" i="0" u="none" strike="noStrike" kern="1200" cap="none" spc="0" normalizeH="0" baseline="0" noProof="0" dirty="0">
              <a:ln>
                <a:noFill/>
              </a:ln>
              <a:solidFill>
                <a:srgbClr val="7AAB8A"/>
              </a:solidFill>
              <a:effectLst/>
              <a:uLnTx/>
              <a:uFillTx/>
              <a:latin typeface="Candara"/>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sz="1400" dirty="0">
                <a:solidFill>
                  <a:srgbClr val="7AAB8A"/>
                </a:solidFill>
                <a:latin typeface="Candara"/>
              </a:rPr>
              <a:t>Realtime Update</a:t>
            </a:r>
            <a:endParaRPr kumimoji="0" sz="1400" b="0" i="0" u="none" strike="noStrike" kern="1200" cap="none" spc="0" normalizeH="0" baseline="0" noProof="0" dirty="0">
              <a:ln>
                <a:noFill/>
              </a:ln>
              <a:solidFill>
                <a:srgbClr val="7AAB8A"/>
              </a:solidFill>
              <a:effectLst/>
              <a:uLnTx/>
              <a:uFillTx/>
              <a:latin typeface="Candara"/>
              <a:ea typeface="+mn-ea"/>
              <a:cs typeface="+mn-cs"/>
            </a:endParaRPr>
          </a:p>
        </p:txBody>
      </p:sp>
      <p:pic>
        <p:nvPicPr>
          <p:cNvPr id="16" name="Picture 15" descr="image.png"/>
          <p:cNvPicPr>
            <a:picLocks noChangeAspect="1"/>
          </p:cNvPicPr>
          <p:nvPr/>
        </p:nvPicPr>
        <p:blipFill>
          <a:blip r:embed="rId6"/>
          <a:stretch>
            <a:fillRect/>
          </a:stretch>
        </p:blipFill>
        <p:spPr>
          <a:xfrm>
            <a:off x="8632853" y="3236976"/>
            <a:ext cx="475488" cy="475488"/>
          </a:xfrm>
          <a:prstGeom prst="rect">
            <a:avLst/>
          </a:prstGeom>
        </p:spPr>
      </p:pic>
      <p:sp>
        <p:nvSpPr>
          <p:cNvPr id="17" name="TextBox 16"/>
          <p:cNvSpPr txBox="1"/>
          <p:nvPr/>
        </p:nvSpPr>
        <p:spPr>
          <a:xfrm>
            <a:off x="9254645" y="3255264"/>
            <a:ext cx="246888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800" b="1" i="0" u="none" strike="noStrike" kern="1200" cap="none" spc="0" normalizeH="0" baseline="0" noProof="0">
                <a:ln>
                  <a:noFill/>
                </a:ln>
                <a:solidFill>
                  <a:srgbClr val="FFFFFF"/>
                </a:solidFill>
                <a:effectLst/>
                <a:uLnTx/>
                <a:uFillTx/>
                <a:latin typeface="Candara"/>
                <a:ea typeface="+mn-ea"/>
                <a:cs typeface="+mn-cs"/>
              </a:rPr>
              <a:t>Cost-Effective</a:t>
            </a:r>
          </a:p>
        </p:txBody>
      </p:sp>
      <p:sp>
        <p:nvSpPr>
          <p:cNvPr id="18" name="TextBox 17"/>
          <p:cNvSpPr txBox="1"/>
          <p:nvPr/>
        </p:nvSpPr>
        <p:spPr>
          <a:xfrm>
            <a:off x="9254645" y="3511296"/>
            <a:ext cx="246888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a:ln>
                  <a:noFill/>
                </a:ln>
                <a:solidFill>
                  <a:srgbClr val="7AAB8A"/>
                </a:solidFill>
                <a:effectLst/>
                <a:uLnTx/>
                <a:uFillTx/>
                <a:latin typeface="Candara"/>
                <a:ea typeface="+mn-ea"/>
                <a:cs typeface="+mn-cs"/>
              </a:rPr>
              <a:t>Open-source technology stack</a:t>
            </a:r>
          </a:p>
        </p:txBody>
      </p:sp>
      <p:pic>
        <p:nvPicPr>
          <p:cNvPr id="19" name="Picture 18" descr="image.png"/>
          <p:cNvPicPr>
            <a:picLocks noChangeAspect="1"/>
          </p:cNvPicPr>
          <p:nvPr/>
        </p:nvPicPr>
        <p:blipFill>
          <a:blip r:embed="rId7"/>
          <a:stretch>
            <a:fillRect/>
          </a:stretch>
        </p:blipFill>
        <p:spPr>
          <a:xfrm>
            <a:off x="5752493" y="5175504"/>
            <a:ext cx="475488" cy="475488"/>
          </a:xfrm>
          <a:prstGeom prst="rect">
            <a:avLst/>
          </a:prstGeom>
        </p:spPr>
      </p:pic>
      <p:sp>
        <p:nvSpPr>
          <p:cNvPr id="20" name="TextBox 19"/>
          <p:cNvSpPr txBox="1"/>
          <p:nvPr/>
        </p:nvSpPr>
        <p:spPr>
          <a:xfrm>
            <a:off x="6374284" y="5193792"/>
            <a:ext cx="246888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800" b="1" i="0" u="none" strike="noStrike" kern="1200" cap="none" spc="0" normalizeH="0" baseline="0" noProof="0">
                <a:ln>
                  <a:noFill/>
                </a:ln>
                <a:solidFill>
                  <a:srgbClr val="FFFFFF"/>
                </a:solidFill>
                <a:effectLst/>
                <a:uLnTx/>
                <a:uFillTx/>
                <a:latin typeface="Candara"/>
                <a:ea typeface="+mn-ea"/>
                <a:cs typeface="+mn-cs"/>
              </a:rPr>
              <a:t>SQL Server</a:t>
            </a:r>
          </a:p>
        </p:txBody>
      </p:sp>
      <p:sp>
        <p:nvSpPr>
          <p:cNvPr id="21" name="TextBox 20"/>
          <p:cNvSpPr txBox="1"/>
          <p:nvPr/>
        </p:nvSpPr>
        <p:spPr>
          <a:xfrm>
            <a:off x="6374284" y="5449824"/>
            <a:ext cx="246888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a:ln>
                  <a:noFill/>
                </a:ln>
                <a:solidFill>
                  <a:srgbClr val="7AAB8A"/>
                </a:solidFill>
                <a:effectLst/>
                <a:uLnTx/>
                <a:uFillTx/>
                <a:latin typeface="Candara"/>
                <a:ea typeface="+mn-ea"/>
                <a:cs typeface="+mn-cs"/>
              </a:rPr>
              <a:t>Full historical data storage</a:t>
            </a:r>
          </a:p>
        </p:txBody>
      </p:sp>
      <p:pic>
        <p:nvPicPr>
          <p:cNvPr id="22" name="Picture 21" descr="image.png"/>
          <p:cNvPicPr>
            <a:picLocks noChangeAspect="1"/>
          </p:cNvPicPr>
          <p:nvPr/>
        </p:nvPicPr>
        <p:blipFill>
          <a:blip r:embed="rId8"/>
          <a:stretch>
            <a:fillRect/>
          </a:stretch>
        </p:blipFill>
        <p:spPr>
          <a:xfrm>
            <a:off x="8632853" y="5175504"/>
            <a:ext cx="475488" cy="475488"/>
          </a:xfrm>
          <a:prstGeom prst="rect">
            <a:avLst/>
          </a:prstGeom>
        </p:spPr>
      </p:pic>
      <p:sp>
        <p:nvSpPr>
          <p:cNvPr id="23" name="TextBox 22"/>
          <p:cNvSpPr txBox="1"/>
          <p:nvPr/>
        </p:nvSpPr>
        <p:spPr>
          <a:xfrm>
            <a:off x="9254645" y="5193792"/>
            <a:ext cx="246888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800" b="1" i="0" u="none" strike="noStrike" kern="1200" cap="none" spc="0" normalizeH="0" baseline="0" noProof="0">
                <a:ln>
                  <a:noFill/>
                </a:ln>
                <a:solidFill>
                  <a:srgbClr val="FFFFFF"/>
                </a:solidFill>
                <a:effectLst/>
                <a:uLnTx/>
                <a:uFillTx/>
                <a:latin typeface="Candara"/>
                <a:ea typeface="+mn-ea"/>
                <a:cs typeface="+mn-cs"/>
              </a:rPr>
              <a:t>Hardware</a:t>
            </a:r>
          </a:p>
        </p:txBody>
      </p:sp>
      <p:sp>
        <p:nvSpPr>
          <p:cNvPr id="24" name="TextBox 23"/>
          <p:cNvSpPr txBox="1"/>
          <p:nvPr/>
        </p:nvSpPr>
        <p:spPr>
          <a:xfrm>
            <a:off x="9254645" y="5449824"/>
            <a:ext cx="246888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a:ln>
                  <a:noFill/>
                </a:ln>
                <a:solidFill>
                  <a:srgbClr val="7AAB8A"/>
                </a:solidFill>
                <a:effectLst/>
                <a:uLnTx/>
                <a:uFillTx/>
                <a:latin typeface="Candara"/>
                <a:ea typeface="+mn-ea"/>
                <a:cs typeface="+mn-cs"/>
              </a:rPr>
              <a:t>Arduino, ESP32, Raspberry Pi</a:t>
            </a:r>
          </a:p>
        </p:txBody>
      </p:sp>
      <p:sp>
        <p:nvSpPr>
          <p:cNvPr id="28" name="Rounded Rectangle 65">
            <a:extLst>
              <a:ext uri="{FF2B5EF4-FFF2-40B4-BE49-F238E27FC236}">
                <a16:creationId xmlns:a16="http://schemas.microsoft.com/office/drawing/2014/main" id="{E4CE1A21-D746-DD58-B8A0-0DF310D360A3}"/>
              </a:ext>
            </a:extLst>
          </p:cNvPr>
          <p:cNvSpPr/>
          <p:nvPr/>
        </p:nvSpPr>
        <p:spPr>
          <a:xfrm>
            <a:off x="431924" y="1374402"/>
            <a:ext cx="4813075" cy="4276590"/>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b="0" i="0" u="none" strike="noStrike" kern="1200" cap="none" spc="0" normalizeH="0" baseline="0" noProof="0">
              <a:ln>
                <a:noFill/>
              </a:ln>
              <a:solidFill>
                <a:prstClr val="white"/>
              </a:solidFill>
              <a:effectLst/>
              <a:uLnTx/>
              <a:uFillTx/>
              <a:latin typeface="Calibri"/>
              <a:ea typeface="+mn-ea"/>
              <a:cs typeface="+mn-cs"/>
            </a:endParaRPr>
          </a:p>
        </p:txBody>
      </p:sp>
      <p:sp>
        <p:nvSpPr>
          <p:cNvPr id="29" name="Rounded Rectangle 67">
            <a:extLst>
              <a:ext uri="{FF2B5EF4-FFF2-40B4-BE49-F238E27FC236}">
                <a16:creationId xmlns:a16="http://schemas.microsoft.com/office/drawing/2014/main" id="{3F563196-068C-1563-C9CE-D3B78948976C}"/>
              </a:ext>
            </a:extLst>
          </p:cNvPr>
          <p:cNvSpPr/>
          <p:nvPr/>
        </p:nvSpPr>
        <p:spPr>
          <a:xfrm>
            <a:off x="873492" y="2067956"/>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b="0" i="0" u="none" strike="noStrike" kern="1200" cap="none" spc="0" normalizeH="0" baseline="0" noProof="0" dirty="0">
              <a:ln>
                <a:noFill/>
              </a:ln>
              <a:solidFill>
                <a:prstClr val="white"/>
              </a:solidFill>
              <a:effectLst/>
              <a:uLnTx/>
              <a:uFillTx/>
              <a:latin typeface="Calibri"/>
              <a:ea typeface="+mn-ea"/>
              <a:cs typeface="+mn-cs"/>
            </a:endParaRPr>
          </a:p>
        </p:txBody>
      </p:sp>
      <p:sp>
        <p:nvSpPr>
          <p:cNvPr id="30" name="TextBox 29">
            <a:extLst>
              <a:ext uri="{FF2B5EF4-FFF2-40B4-BE49-F238E27FC236}">
                <a16:creationId xmlns:a16="http://schemas.microsoft.com/office/drawing/2014/main" id="{71E26511-B6EC-D7A9-0C81-5004617CB2DE}"/>
              </a:ext>
            </a:extLst>
          </p:cNvPr>
          <p:cNvSpPr txBox="1"/>
          <p:nvPr/>
        </p:nvSpPr>
        <p:spPr>
          <a:xfrm>
            <a:off x="1782075" y="1681440"/>
            <a:ext cx="3231123" cy="1508105"/>
          </a:xfrm>
          <a:prstGeom prst="rect">
            <a:avLst/>
          </a:prstGeom>
          <a:noFill/>
        </p:spPr>
        <p:txBody>
          <a:bodyPr wrap="square">
            <a:spAutoFit/>
          </a:bodyPr>
          <a:lstStyle/>
          <a:p>
            <a:r>
              <a:rPr lang="en-US" sz="2000" b="1" dirty="0">
                <a:solidFill>
                  <a:srgbClr val="00B050"/>
                </a:solidFill>
              </a:rPr>
              <a:t>Need</a:t>
            </a:r>
          </a:p>
          <a:p>
            <a:r>
              <a:rPr lang="en-US" dirty="0">
                <a:solidFill>
                  <a:schemeClr val="bg1"/>
                </a:solidFill>
              </a:rPr>
              <a:t>Sites need continuous equipment monitoring.</a:t>
            </a:r>
          </a:p>
          <a:p>
            <a:br>
              <a:rPr lang="en-US" dirty="0">
                <a:solidFill>
                  <a:schemeClr val="bg1"/>
                </a:solidFill>
              </a:rPr>
            </a:br>
            <a:endParaRPr kumimoji="0" b="1" i="0" u="none" strike="noStrike" kern="1200" cap="none" spc="0" normalizeH="0" baseline="0" noProof="0" dirty="0">
              <a:ln>
                <a:noFill/>
              </a:ln>
              <a:solidFill>
                <a:srgbClr val="FFFFFF"/>
              </a:solidFill>
              <a:effectLst/>
              <a:uLnTx/>
              <a:uFillTx/>
              <a:latin typeface="Candara"/>
              <a:ea typeface="+mn-ea"/>
              <a:cs typeface="+mn-cs"/>
            </a:endParaRPr>
          </a:p>
        </p:txBody>
      </p:sp>
      <p:sp>
        <p:nvSpPr>
          <p:cNvPr id="31" name="Rounded Rectangle 67">
            <a:extLst>
              <a:ext uri="{FF2B5EF4-FFF2-40B4-BE49-F238E27FC236}">
                <a16:creationId xmlns:a16="http://schemas.microsoft.com/office/drawing/2014/main" id="{81705BD6-A901-B965-EEFF-0BC3D56B1487}"/>
              </a:ext>
            </a:extLst>
          </p:cNvPr>
          <p:cNvSpPr/>
          <p:nvPr/>
        </p:nvSpPr>
        <p:spPr>
          <a:xfrm>
            <a:off x="877288" y="3395472"/>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b="0" i="0" u="none" strike="noStrike" kern="1200" cap="none" spc="0" normalizeH="0" baseline="0" noProof="0">
              <a:ln>
                <a:noFill/>
              </a:ln>
              <a:solidFill>
                <a:prstClr val="white"/>
              </a:solidFill>
              <a:effectLst/>
              <a:uLnTx/>
              <a:uFillTx/>
              <a:latin typeface="Calibri"/>
              <a:ea typeface="+mn-ea"/>
              <a:cs typeface="+mn-cs"/>
            </a:endParaRPr>
          </a:p>
        </p:txBody>
      </p:sp>
      <p:sp>
        <p:nvSpPr>
          <p:cNvPr id="32" name="TextBox 31">
            <a:extLst>
              <a:ext uri="{FF2B5EF4-FFF2-40B4-BE49-F238E27FC236}">
                <a16:creationId xmlns:a16="http://schemas.microsoft.com/office/drawing/2014/main" id="{748A9D6F-6515-79FE-000D-C26143FEE0E9}"/>
              </a:ext>
            </a:extLst>
          </p:cNvPr>
          <p:cNvSpPr txBox="1"/>
          <p:nvPr/>
        </p:nvSpPr>
        <p:spPr>
          <a:xfrm>
            <a:off x="1782075" y="3058667"/>
            <a:ext cx="3298050" cy="954107"/>
          </a:xfrm>
          <a:prstGeom prst="rect">
            <a:avLst/>
          </a:prstGeom>
          <a:noFill/>
        </p:spPr>
        <p:txBody>
          <a:bodyPr wrap="square">
            <a:spAutoFit/>
          </a:bodyPr>
          <a:lstStyle/>
          <a:p>
            <a:pPr lvl="0">
              <a:defRPr/>
            </a:pPr>
            <a:r>
              <a:rPr lang="en-US" sz="2000" b="1" dirty="0">
                <a:solidFill>
                  <a:srgbClr val="00B050"/>
                </a:solidFill>
              </a:rPr>
              <a:t>Issue</a:t>
            </a:r>
          </a:p>
          <a:p>
            <a:pPr lvl="0">
              <a:defRPr/>
            </a:pPr>
            <a:r>
              <a:rPr lang="en-US" dirty="0">
                <a:solidFill>
                  <a:schemeClr val="bg1"/>
                </a:solidFill>
              </a:rPr>
              <a:t>Traditional lock into proprietary hardware and software, cost.</a:t>
            </a:r>
            <a:endParaRPr kumimoji="0" b="1" i="0" u="none" strike="noStrike" kern="1200" cap="none" spc="0" normalizeH="0" baseline="0" noProof="0" dirty="0">
              <a:ln>
                <a:noFill/>
              </a:ln>
              <a:solidFill>
                <a:srgbClr val="FFFFFF"/>
              </a:solidFill>
              <a:effectLst/>
              <a:uLnTx/>
              <a:uFillTx/>
              <a:latin typeface="Candara"/>
              <a:ea typeface="+mn-ea"/>
              <a:cs typeface="+mn-cs"/>
            </a:endParaRPr>
          </a:p>
        </p:txBody>
      </p:sp>
      <p:sp>
        <p:nvSpPr>
          <p:cNvPr id="33" name="Rounded Rectangle 67">
            <a:extLst>
              <a:ext uri="{FF2B5EF4-FFF2-40B4-BE49-F238E27FC236}">
                <a16:creationId xmlns:a16="http://schemas.microsoft.com/office/drawing/2014/main" id="{B108914F-BA29-3DA7-E8A2-2CA1CD1D024A}"/>
              </a:ext>
            </a:extLst>
          </p:cNvPr>
          <p:cNvSpPr/>
          <p:nvPr/>
        </p:nvSpPr>
        <p:spPr>
          <a:xfrm>
            <a:off x="877288" y="4711930"/>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b="0" i="0" u="none" strike="noStrike" kern="1200" cap="none" spc="0" normalizeH="0" baseline="0" noProof="0">
              <a:ln>
                <a:noFill/>
              </a:ln>
              <a:solidFill>
                <a:prstClr val="white"/>
              </a:solidFill>
              <a:effectLst/>
              <a:uLnTx/>
              <a:uFillTx/>
              <a:latin typeface="Calibri"/>
              <a:ea typeface="+mn-ea"/>
              <a:cs typeface="+mn-cs"/>
            </a:endParaRPr>
          </a:p>
        </p:txBody>
      </p:sp>
      <p:sp>
        <p:nvSpPr>
          <p:cNvPr id="34" name="TextBox 33">
            <a:extLst>
              <a:ext uri="{FF2B5EF4-FFF2-40B4-BE49-F238E27FC236}">
                <a16:creationId xmlns:a16="http://schemas.microsoft.com/office/drawing/2014/main" id="{6586F3FA-5B2E-FF03-B3D3-DA3781B93554}"/>
              </a:ext>
            </a:extLst>
          </p:cNvPr>
          <p:cNvSpPr txBox="1"/>
          <p:nvPr/>
        </p:nvSpPr>
        <p:spPr>
          <a:xfrm>
            <a:off x="1782074" y="4341334"/>
            <a:ext cx="3417205" cy="1231106"/>
          </a:xfrm>
          <a:prstGeom prst="rect">
            <a:avLst/>
          </a:prstGeom>
          <a:noFill/>
        </p:spPr>
        <p:txBody>
          <a:bodyPr wrap="square">
            <a:spAutoFit/>
          </a:bodyPr>
          <a:lstStyle/>
          <a:p>
            <a:r>
              <a:rPr lang="en-US" sz="2000" b="1" dirty="0">
                <a:solidFill>
                  <a:srgbClr val="00B050"/>
                </a:solidFill>
              </a:rPr>
              <a:t>Approach</a:t>
            </a:r>
            <a:br>
              <a:rPr lang="en-US" dirty="0">
                <a:solidFill>
                  <a:schemeClr val="bg1"/>
                </a:solidFill>
              </a:rPr>
            </a:br>
            <a:r>
              <a:rPr lang="en-US" dirty="0">
                <a:solidFill>
                  <a:schemeClr val="bg1"/>
                </a:solidFill>
              </a:rPr>
              <a:t>A web dashboard with real-time data, historical storage, and standard IoT hardware.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D2117"/>
        </a:solidFill>
        <a:effectLst/>
      </p:bgPr>
    </p:bg>
    <p:spTree>
      <p:nvGrpSpPr>
        <p:cNvPr id="1" name=""/>
        <p:cNvGrpSpPr/>
        <p:nvPr/>
      </p:nvGrpSpPr>
      <p:grpSpPr>
        <a:xfrm>
          <a:off x="0" y="0"/>
          <a:ext cx="0" cy="0"/>
          <a:chOff x="0" y="0"/>
          <a:chExt cx="0" cy="0"/>
        </a:xfrm>
      </p:grpSpPr>
      <p:sp>
        <p:nvSpPr>
          <p:cNvPr id="2" name="TextBox 1"/>
          <p:cNvSpPr txBox="1"/>
          <p:nvPr/>
        </p:nvSpPr>
        <p:spPr>
          <a:xfrm>
            <a:off x="589788" y="733419"/>
            <a:ext cx="5838444" cy="584775"/>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3200" b="1" i="0" u="none" strike="noStrike" kern="1200" cap="none" spc="0" normalizeH="0" baseline="0" noProof="0" dirty="0">
                <a:ln>
                  <a:noFill/>
                </a:ln>
                <a:solidFill>
                  <a:srgbClr val="FFFFFF"/>
                </a:solidFill>
                <a:effectLst/>
                <a:uLnTx/>
                <a:uFillTx/>
                <a:latin typeface="Candara" panose="020E0502030303020204" pitchFamily="34" charset="0"/>
                <a:ea typeface="+mn-ea"/>
                <a:cs typeface="+mn-cs"/>
              </a:rPr>
              <a:t>Project Goals &amp; Scope</a:t>
            </a:r>
          </a:p>
        </p:txBody>
      </p:sp>
      <p:sp>
        <p:nvSpPr>
          <p:cNvPr id="5" name="TextBox 4"/>
          <p:cNvSpPr txBox="1"/>
          <p:nvPr/>
        </p:nvSpPr>
        <p:spPr>
          <a:xfrm>
            <a:off x="1088136" y="1740312"/>
            <a:ext cx="2679352"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dirty="0">
                <a:ln>
                  <a:noFill/>
                </a:ln>
                <a:solidFill>
                  <a:srgbClr val="FFFF00"/>
                </a:solidFill>
                <a:effectLst/>
                <a:uLnTx/>
                <a:uFillTx/>
                <a:latin typeface="Candara" panose="020E0502030303020204" pitchFamily="34" charset="0"/>
                <a:ea typeface="+mn-ea"/>
                <a:cs typeface="+mn-cs"/>
              </a:rPr>
              <a:t>CORE SYSTEM CAPABILITIES</a:t>
            </a:r>
          </a:p>
        </p:txBody>
      </p:sp>
      <p:pic>
        <p:nvPicPr>
          <p:cNvPr id="7" name="Picture 6" descr="image.png"/>
          <p:cNvPicPr>
            <a:picLocks noChangeAspect="1"/>
          </p:cNvPicPr>
          <p:nvPr/>
        </p:nvPicPr>
        <p:blipFill>
          <a:blip r:embed="rId3"/>
          <a:stretch>
            <a:fillRect/>
          </a:stretch>
        </p:blipFill>
        <p:spPr>
          <a:xfrm>
            <a:off x="1271016" y="2524759"/>
            <a:ext cx="420624" cy="420624"/>
          </a:xfrm>
          <a:prstGeom prst="rect">
            <a:avLst/>
          </a:prstGeom>
        </p:spPr>
      </p:pic>
      <p:sp>
        <p:nvSpPr>
          <p:cNvPr id="8" name="TextBox 7"/>
          <p:cNvSpPr txBox="1"/>
          <p:nvPr/>
        </p:nvSpPr>
        <p:spPr>
          <a:xfrm>
            <a:off x="1856232" y="2524759"/>
            <a:ext cx="457200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FFFFFF"/>
                </a:solidFill>
                <a:latin typeface="Candara" panose="020E0502030303020204" pitchFamily="34" charset="0"/>
              </a:rPr>
              <a:t>Devices &amp; Sensors Setup</a:t>
            </a:r>
            <a:endParaRPr kumimoji="0" b="1" i="0" u="none" strike="noStrike" kern="1200" cap="none" spc="0" normalizeH="0" baseline="0" noProof="0" dirty="0">
              <a:ln>
                <a:noFill/>
              </a:ln>
              <a:solidFill>
                <a:srgbClr val="FFFFFF"/>
              </a:solidFill>
              <a:effectLst/>
              <a:uLnTx/>
              <a:uFillTx/>
              <a:latin typeface="Candara" panose="020E0502030303020204" pitchFamily="34" charset="0"/>
              <a:ea typeface="+mn-ea"/>
              <a:cs typeface="+mn-cs"/>
            </a:endParaRPr>
          </a:p>
        </p:txBody>
      </p:sp>
      <p:sp>
        <p:nvSpPr>
          <p:cNvPr id="9" name="TextBox 8"/>
          <p:cNvSpPr txBox="1"/>
          <p:nvPr/>
        </p:nvSpPr>
        <p:spPr>
          <a:xfrm>
            <a:off x="1856232" y="2898723"/>
            <a:ext cx="4572000" cy="307777"/>
          </a:xfrm>
          <a:prstGeom prst="rect">
            <a:avLst/>
          </a:prstGeom>
          <a:noFill/>
        </p:spPr>
        <p:txBody>
          <a:bodyPr wrap="square">
            <a:spAutoFit/>
          </a:bodyPr>
          <a:lstStyle/>
          <a:p>
            <a:pPr lvl="0">
              <a:defRPr/>
            </a:pPr>
            <a:r>
              <a:rPr lang="en-US" sz="1400" dirty="0">
                <a:solidFill>
                  <a:srgbClr val="7AAB8A"/>
                </a:solidFill>
                <a:latin typeface="Candara" panose="020E0502030303020204" pitchFamily="34" charset="0"/>
              </a:rPr>
              <a:t>Register and configure IoT Devices</a:t>
            </a:r>
            <a:endParaRPr sz="1400" dirty="0">
              <a:solidFill>
                <a:srgbClr val="7AAB8A"/>
              </a:solidFill>
              <a:latin typeface="Candara" panose="020E0502030303020204" pitchFamily="34" charset="0"/>
            </a:endParaRPr>
          </a:p>
        </p:txBody>
      </p:sp>
      <p:sp>
        <p:nvSpPr>
          <p:cNvPr id="10" name="Rectangle 9"/>
          <p:cNvSpPr/>
          <p:nvPr/>
        </p:nvSpPr>
        <p:spPr>
          <a:xfrm>
            <a:off x="1197864" y="2524759"/>
            <a:ext cx="36576" cy="420624"/>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pic>
        <p:nvPicPr>
          <p:cNvPr id="11" name="Picture 10" descr="image.png"/>
          <p:cNvPicPr>
            <a:picLocks noChangeAspect="1"/>
          </p:cNvPicPr>
          <p:nvPr/>
        </p:nvPicPr>
        <p:blipFill>
          <a:blip r:embed="rId4"/>
          <a:stretch>
            <a:fillRect/>
          </a:stretch>
        </p:blipFill>
        <p:spPr>
          <a:xfrm>
            <a:off x="1271016" y="3942079"/>
            <a:ext cx="420624" cy="420624"/>
          </a:xfrm>
          <a:prstGeom prst="rect">
            <a:avLst/>
          </a:prstGeom>
        </p:spPr>
      </p:pic>
      <p:sp>
        <p:nvSpPr>
          <p:cNvPr id="12" name="TextBox 11"/>
          <p:cNvSpPr txBox="1"/>
          <p:nvPr/>
        </p:nvSpPr>
        <p:spPr>
          <a:xfrm>
            <a:off x="1856232" y="3942079"/>
            <a:ext cx="457200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b="1" i="0" u="none" strike="noStrike" kern="1200" cap="none" spc="0" normalizeH="0" baseline="0" noProof="0" dirty="0">
                <a:ln>
                  <a:noFill/>
                </a:ln>
                <a:solidFill>
                  <a:srgbClr val="FFFFFF"/>
                </a:solidFill>
                <a:effectLst/>
                <a:uLnTx/>
                <a:uFillTx/>
                <a:latin typeface="Candara" panose="020E0502030303020204" pitchFamily="34" charset="0"/>
                <a:ea typeface="+mn-ea"/>
                <a:cs typeface="+mn-cs"/>
              </a:rPr>
              <a:t>Dashboard</a:t>
            </a:r>
            <a:r>
              <a:rPr kumimoji="0" lang="en-US" b="1" i="0" u="none" strike="noStrike" kern="1200" cap="none" spc="0" normalizeH="0" baseline="0" noProof="0" dirty="0">
                <a:ln>
                  <a:noFill/>
                </a:ln>
                <a:solidFill>
                  <a:srgbClr val="FFFFFF"/>
                </a:solidFill>
                <a:effectLst/>
                <a:uLnTx/>
                <a:uFillTx/>
                <a:latin typeface="Candara" panose="020E0502030303020204" pitchFamily="34" charset="0"/>
                <a:ea typeface="+mn-ea"/>
                <a:cs typeface="+mn-cs"/>
              </a:rPr>
              <a:t> &amp; Charts</a:t>
            </a:r>
            <a:endParaRPr kumimoji="0" b="1" i="0" u="none" strike="noStrike" kern="1200" cap="none" spc="0" normalizeH="0" baseline="0" noProof="0" dirty="0">
              <a:ln>
                <a:noFill/>
              </a:ln>
              <a:solidFill>
                <a:srgbClr val="FFFFFF"/>
              </a:solidFill>
              <a:effectLst/>
              <a:uLnTx/>
              <a:uFillTx/>
              <a:latin typeface="Candara" panose="020E0502030303020204" pitchFamily="34" charset="0"/>
              <a:ea typeface="+mn-ea"/>
              <a:cs typeface="+mn-cs"/>
            </a:endParaRPr>
          </a:p>
        </p:txBody>
      </p:sp>
      <p:sp>
        <p:nvSpPr>
          <p:cNvPr id="13" name="TextBox 12"/>
          <p:cNvSpPr txBox="1"/>
          <p:nvPr/>
        </p:nvSpPr>
        <p:spPr>
          <a:xfrm>
            <a:off x="1856232" y="4198112"/>
            <a:ext cx="457200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400" dirty="0">
                <a:solidFill>
                  <a:srgbClr val="7AAB8A"/>
                </a:solidFill>
                <a:latin typeface="Candara" panose="020E0502030303020204" pitchFamily="34" charset="0"/>
              </a:rPr>
              <a:t>Gauge, line trends, discrete indicator</a:t>
            </a:r>
            <a:endParaRPr kumimoji="0"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endParaRPr>
          </a:p>
        </p:txBody>
      </p:sp>
      <p:sp>
        <p:nvSpPr>
          <p:cNvPr id="14" name="Rectangle 13"/>
          <p:cNvSpPr/>
          <p:nvPr/>
        </p:nvSpPr>
        <p:spPr>
          <a:xfrm>
            <a:off x="1197864" y="3942079"/>
            <a:ext cx="36576" cy="420624"/>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pic>
        <p:nvPicPr>
          <p:cNvPr id="15" name="Picture 14" descr="image.png"/>
          <p:cNvPicPr>
            <a:picLocks noChangeAspect="1"/>
          </p:cNvPicPr>
          <p:nvPr/>
        </p:nvPicPr>
        <p:blipFill>
          <a:blip r:embed="rId5"/>
          <a:stretch>
            <a:fillRect/>
          </a:stretch>
        </p:blipFill>
        <p:spPr>
          <a:xfrm>
            <a:off x="1271016" y="5359400"/>
            <a:ext cx="420624" cy="420624"/>
          </a:xfrm>
          <a:prstGeom prst="rect">
            <a:avLst/>
          </a:prstGeom>
        </p:spPr>
      </p:pic>
      <p:sp>
        <p:nvSpPr>
          <p:cNvPr id="16" name="TextBox 15"/>
          <p:cNvSpPr txBox="1"/>
          <p:nvPr/>
        </p:nvSpPr>
        <p:spPr>
          <a:xfrm>
            <a:off x="1856232" y="5359400"/>
            <a:ext cx="4572000" cy="92333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FFFFFF"/>
                </a:solidFill>
                <a:latin typeface="Candara" panose="020E0502030303020204" pitchFamily="34" charset="0"/>
              </a:rPr>
              <a:t>Threshold Alerting</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b="1" i="0" u="none" strike="noStrike" kern="1200" cap="none" spc="0" normalizeH="0" baseline="0" noProof="0" dirty="0">
              <a:ln>
                <a:noFill/>
              </a:ln>
              <a:solidFill>
                <a:srgbClr val="FFFFFF"/>
              </a:solidFill>
              <a:effectLst/>
              <a:uLnTx/>
              <a:uFillTx/>
              <a:latin typeface="Candara" panose="020E0502030303020204" pitchFamily="34" charset="0"/>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b="1" i="0" u="none" strike="noStrike" kern="1200" cap="none" spc="0" normalizeH="0" baseline="0" noProof="0" dirty="0">
              <a:ln>
                <a:noFill/>
              </a:ln>
              <a:solidFill>
                <a:srgbClr val="FFFFFF"/>
              </a:solidFill>
              <a:effectLst/>
              <a:uLnTx/>
              <a:uFillTx/>
              <a:latin typeface="Candara" panose="020E0502030303020204" pitchFamily="34" charset="0"/>
              <a:ea typeface="+mn-ea"/>
              <a:cs typeface="+mn-cs"/>
            </a:endParaRPr>
          </a:p>
        </p:txBody>
      </p:sp>
      <p:sp>
        <p:nvSpPr>
          <p:cNvPr id="17" name="TextBox 16"/>
          <p:cNvSpPr txBox="1"/>
          <p:nvPr/>
        </p:nvSpPr>
        <p:spPr>
          <a:xfrm>
            <a:off x="1856232" y="5615432"/>
            <a:ext cx="3745992" cy="307777"/>
          </a:xfrm>
          <a:prstGeom prst="rect">
            <a:avLst/>
          </a:prstGeom>
          <a:noFill/>
        </p:spPr>
        <p:txBody>
          <a:bodyPr wrap="square">
            <a:spAutoFit/>
          </a:bodyPr>
          <a:lstStyle/>
          <a:p>
            <a:pPr lvl="0">
              <a:defRPr/>
            </a:pPr>
            <a:r>
              <a:rPr lang="en-US" sz="1400" dirty="0">
                <a:solidFill>
                  <a:srgbClr val="7AAB8A"/>
                </a:solidFill>
                <a:latin typeface="Candara" panose="020E0502030303020204" pitchFamily="34" charset="0"/>
              </a:rPr>
              <a:t>Rule-based alerts with real-time notifications</a:t>
            </a:r>
            <a:endParaRPr sz="1400" dirty="0">
              <a:solidFill>
                <a:srgbClr val="7AAB8A"/>
              </a:solidFill>
              <a:latin typeface="Candara" panose="020E0502030303020204" pitchFamily="34" charset="0"/>
            </a:endParaRPr>
          </a:p>
        </p:txBody>
      </p:sp>
      <p:sp>
        <p:nvSpPr>
          <p:cNvPr id="18" name="Rectangle 17"/>
          <p:cNvSpPr/>
          <p:nvPr/>
        </p:nvSpPr>
        <p:spPr>
          <a:xfrm>
            <a:off x="1197864" y="5359400"/>
            <a:ext cx="36576" cy="420624"/>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pic>
        <p:nvPicPr>
          <p:cNvPr id="19" name="Picture 18" descr="image.png"/>
          <p:cNvPicPr>
            <a:picLocks noChangeAspect="1"/>
          </p:cNvPicPr>
          <p:nvPr/>
        </p:nvPicPr>
        <p:blipFill>
          <a:blip r:embed="rId6"/>
          <a:stretch>
            <a:fillRect/>
          </a:stretch>
        </p:blipFill>
        <p:spPr>
          <a:xfrm>
            <a:off x="6793992" y="2524759"/>
            <a:ext cx="420624" cy="420624"/>
          </a:xfrm>
          <a:prstGeom prst="rect">
            <a:avLst/>
          </a:prstGeom>
        </p:spPr>
      </p:pic>
      <p:sp>
        <p:nvSpPr>
          <p:cNvPr id="20" name="TextBox 19"/>
          <p:cNvSpPr txBox="1"/>
          <p:nvPr/>
        </p:nvSpPr>
        <p:spPr>
          <a:xfrm>
            <a:off x="7379207" y="2524759"/>
            <a:ext cx="457200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FFFFFF"/>
                </a:solidFill>
                <a:latin typeface="Candara" panose="020E0502030303020204" pitchFamily="34" charset="0"/>
              </a:rPr>
              <a:t>Real-Time Monitoring</a:t>
            </a:r>
            <a:endParaRPr kumimoji="0" b="1" i="0" u="none" strike="noStrike" kern="1200" cap="none" spc="0" normalizeH="0" baseline="0" noProof="0" dirty="0">
              <a:ln>
                <a:noFill/>
              </a:ln>
              <a:solidFill>
                <a:srgbClr val="FFFFFF"/>
              </a:solidFill>
              <a:effectLst/>
              <a:uLnTx/>
              <a:uFillTx/>
              <a:latin typeface="Candara" panose="020E0502030303020204" pitchFamily="34" charset="0"/>
              <a:ea typeface="+mn-ea"/>
              <a:cs typeface="+mn-cs"/>
            </a:endParaRPr>
          </a:p>
        </p:txBody>
      </p:sp>
      <p:sp>
        <p:nvSpPr>
          <p:cNvPr id="21" name="TextBox 20"/>
          <p:cNvSpPr txBox="1"/>
          <p:nvPr/>
        </p:nvSpPr>
        <p:spPr>
          <a:xfrm>
            <a:off x="7379207" y="2780792"/>
            <a:ext cx="457200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400" dirty="0">
                <a:solidFill>
                  <a:srgbClr val="7AAB8A"/>
                </a:solidFill>
                <a:latin typeface="Candara" panose="020E0502030303020204" pitchFamily="34" charset="0"/>
              </a:rPr>
              <a:t>Live sensor reading &amp; Device on/off-line status</a:t>
            </a:r>
            <a:endParaRPr kumimoji="0"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endParaRPr>
          </a:p>
        </p:txBody>
      </p:sp>
      <p:sp>
        <p:nvSpPr>
          <p:cNvPr id="22" name="Rectangle 21"/>
          <p:cNvSpPr/>
          <p:nvPr/>
        </p:nvSpPr>
        <p:spPr>
          <a:xfrm>
            <a:off x="6720840" y="2524759"/>
            <a:ext cx="36576" cy="420624"/>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pic>
        <p:nvPicPr>
          <p:cNvPr id="23" name="Picture 22" descr="image.png"/>
          <p:cNvPicPr>
            <a:picLocks noChangeAspect="1"/>
          </p:cNvPicPr>
          <p:nvPr/>
        </p:nvPicPr>
        <p:blipFill>
          <a:blip r:embed="rId7"/>
          <a:stretch>
            <a:fillRect/>
          </a:stretch>
        </p:blipFill>
        <p:spPr>
          <a:xfrm>
            <a:off x="6793992" y="3942079"/>
            <a:ext cx="420624" cy="420624"/>
          </a:xfrm>
          <a:prstGeom prst="rect">
            <a:avLst/>
          </a:prstGeom>
        </p:spPr>
      </p:pic>
      <p:sp>
        <p:nvSpPr>
          <p:cNvPr id="24" name="TextBox 23"/>
          <p:cNvSpPr txBox="1"/>
          <p:nvPr/>
        </p:nvSpPr>
        <p:spPr>
          <a:xfrm>
            <a:off x="7379207" y="3942079"/>
            <a:ext cx="457200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FFFFFF"/>
                </a:solidFill>
                <a:latin typeface="Candara" panose="020E0502030303020204" pitchFamily="34" charset="0"/>
              </a:rPr>
              <a:t>Live &amp; History Window</a:t>
            </a:r>
            <a:endParaRPr kumimoji="0" b="1" i="0" u="none" strike="noStrike" kern="1200" cap="none" spc="0" normalizeH="0" baseline="0" noProof="0" dirty="0">
              <a:ln>
                <a:noFill/>
              </a:ln>
              <a:solidFill>
                <a:srgbClr val="FFFFFF"/>
              </a:solidFill>
              <a:effectLst/>
              <a:uLnTx/>
              <a:uFillTx/>
              <a:latin typeface="Candara" panose="020E0502030303020204" pitchFamily="34" charset="0"/>
              <a:ea typeface="+mn-ea"/>
              <a:cs typeface="+mn-cs"/>
            </a:endParaRPr>
          </a:p>
        </p:txBody>
      </p:sp>
      <p:sp>
        <p:nvSpPr>
          <p:cNvPr id="25" name="TextBox 24"/>
          <p:cNvSpPr txBox="1"/>
          <p:nvPr/>
        </p:nvSpPr>
        <p:spPr>
          <a:xfrm>
            <a:off x="7379207" y="4198112"/>
            <a:ext cx="457200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400" dirty="0">
                <a:solidFill>
                  <a:srgbClr val="7AAB8A"/>
                </a:solidFill>
                <a:latin typeface="Candara" panose="020E0502030303020204" pitchFamily="34" charset="0"/>
              </a:rPr>
              <a:t>Store readings &amp; rolling time windows</a:t>
            </a:r>
            <a:endParaRPr kumimoji="0"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endParaRPr>
          </a:p>
        </p:txBody>
      </p:sp>
      <p:sp>
        <p:nvSpPr>
          <p:cNvPr id="26" name="Rectangle 25"/>
          <p:cNvSpPr/>
          <p:nvPr/>
        </p:nvSpPr>
        <p:spPr>
          <a:xfrm>
            <a:off x="6720840" y="3942079"/>
            <a:ext cx="36576" cy="420624"/>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pic>
        <p:nvPicPr>
          <p:cNvPr id="27" name="Picture 26" descr="image.png"/>
          <p:cNvPicPr>
            <a:picLocks noChangeAspect="1"/>
          </p:cNvPicPr>
          <p:nvPr/>
        </p:nvPicPr>
        <p:blipFill>
          <a:blip r:embed="rId8"/>
          <a:stretch>
            <a:fillRect/>
          </a:stretch>
        </p:blipFill>
        <p:spPr>
          <a:xfrm>
            <a:off x="6793992" y="5359400"/>
            <a:ext cx="420624" cy="420624"/>
          </a:xfrm>
          <a:prstGeom prst="rect">
            <a:avLst/>
          </a:prstGeom>
        </p:spPr>
      </p:pic>
      <p:sp>
        <p:nvSpPr>
          <p:cNvPr id="28" name="TextBox 27"/>
          <p:cNvSpPr txBox="1"/>
          <p:nvPr/>
        </p:nvSpPr>
        <p:spPr>
          <a:xfrm>
            <a:off x="7379207" y="5359400"/>
            <a:ext cx="457200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FFFFFF"/>
                </a:solidFill>
                <a:latin typeface="Candara" panose="020E0502030303020204" pitchFamily="34" charset="0"/>
              </a:rPr>
              <a:t>Actuator Commands</a:t>
            </a:r>
            <a:endParaRPr kumimoji="0" b="1" i="0" u="none" strike="noStrike" kern="1200" cap="none" spc="0" normalizeH="0" baseline="0" noProof="0" dirty="0">
              <a:ln>
                <a:noFill/>
              </a:ln>
              <a:solidFill>
                <a:srgbClr val="FFFFFF"/>
              </a:solidFill>
              <a:effectLst/>
              <a:uLnTx/>
              <a:uFillTx/>
              <a:latin typeface="Candara" panose="020E0502030303020204" pitchFamily="34" charset="0"/>
              <a:ea typeface="+mn-ea"/>
              <a:cs typeface="+mn-cs"/>
            </a:endParaRPr>
          </a:p>
        </p:txBody>
      </p:sp>
      <p:sp>
        <p:nvSpPr>
          <p:cNvPr id="29" name="TextBox 28"/>
          <p:cNvSpPr txBox="1"/>
          <p:nvPr/>
        </p:nvSpPr>
        <p:spPr>
          <a:xfrm>
            <a:off x="7379207" y="5615432"/>
            <a:ext cx="457200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400" dirty="0">
                <a:solidFill>
                  <a:srgbClr val="7AAB8A"/>
                </a:solidFill>
                <a:latin typeface="Candara" panose="020E0502030303020204" pitchFamily="34" charset="0"/>
              </a:rPr>
              <a:t>Remote output control with command history</a:t>
            </a:r>
            <a:endParaRPr kumimoji="0"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endParaRPr>
          </a:p>
        </p:txBody>
      </p:sp>
      <p:sp>
        <p:nvSpPr>
          <p:cNvPr id="30" name="Rectangle 29"/>
          <p:cNvSpPr/>
          <p:nvPr/>
        </p:nvSpPr>
        <p:spPr>
          <a:xfrm>
            <a:off x="6720840" y="5359400"/>
            <a:ext cx="36576" cy="420624"/>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D2117"/>
        </a:solidFill>
        <a:effectLst/>
      </p:bgPr>
    </p:bg>
    <p:spTree>
      <p:nvGrpSpPr>
        <p:cNvPr id="1" name=""/>
        <p:cNvGrpSpPr/>
        <p:nvPr/>
      </p:nvGrpSpPr>
      <p:grpSpPr>
        <a:xfrm>
          <a:off x="0" y="0"/>
          <a:ext cx="0" cy="0"/>
          <a:chOff x="0" y="0"/>
          <a:chExt cx="0" cy="0"/>
        </a:xfrm>
      </p:grpSpPr>
      <p:sp>
        <p:nvSpPr>
          <p:cNvPr id="2" name="TextBox 1"/>
          <p:cNvSpPr txBox="1"/>
          <p:nvPr/>
        </p:nvSpPr>
        <p:spPr>
          <a:xfrm>
            <a:off x="457200" y="702147"/>
            <a:ext cx="5831305" cy="584775"/>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3200" b="1" i="0" u="none" strike="noStrike" kern="1200" cap="none" spc="0" normalizeH="0" baseline="0" noProof="0" dirty="0">
                <a:ln>
                  <a:noFill/>
                </a:ln>
                <a:solidFill>
                  <a:srgbClr val="FFFFFF"/>
                </a:solidFill>
                <a:effectLst/>
                <a:uLnTx/>
                <a:uFillTx/>
                <a:latin typeface="Candara" panose="020E0502030303020204" pitchFamily="34" charset="0"/>
                <a:ea typeface="+mn-ea"/>
                <a:cs typeface="+mn-cs"/>
              </a:rPr>
              <a:t>Technology Stack</a:t>
            </a:r>
          </a:p>
        </p:txBody>
      </p:sp>
      <p:sp>
        <p:nvSpPr>
          <p:cNvPr id="3" name="TextBox 2"/>
          <p:cNvSpPr txBox="1"/>
          <p:nvPr/>
        </p:nvSpPr>
        <p:spPr>
          <a:xfrm>
            <a:off x="457200" y="1216543"/>
            <a:ext cx="6270498" cy="338554"/>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dirty="0">
                <a:ln>
                  <a:noFill/>
                </a:ln>
                <a:solidFill>
                  <a:srgbClr val="FFFF00"/>
                </a:solidFill>
                <a:effectLst/>
                <a:uLnTx/>
                <a:uFillTx/>
                <a:latin typeface="Candara" panose="020E0502030303020204" pitchFamily="34" charset="0"/>
                <a:ea typeface="+mn-ea"/>
                <a:cs typeface="+mn-cs"/>
              </a:rPr>
              <a:t>Device → MQTT → </a:t>
            </a:r>
            <a:r>
              <a:rPr lang="en-US" sz="1600" b="1" dirty="0">
                <a:solidFill>
                  <a:srgbClr val="FFFF00"/>
                </a:solidFill>
                <a:latin typeface="Candara" panose="020E0502030303020204" pitchFamily="34" charset="0"/>
              </a:rPr>
              <a:t>API → SQL Server . </a:t>
            </a:r>
            <a:r>
              <a:rPr kumimoji="0" sz="1600" b="1" i="0" u="none" strike="noStrike" kern="1200" cap="none" spc="0" normalizeH="0" baseline="0" noProof="0" dirty="0" err="1">
                <a:ln>
                  <a:noFill/>
                </a:ln>
                <a:solidFill>
                  <a:srgbClr val="FFFF00"/>
                </a:solidFill>
                <a:effectLst/>
                <a:uLnTx/>
                <a:uFillTx/>
                <a:latin typeface="Candara" panose="020E0502030303020204" pitchFamily="34" charset="0"/>
                <a:ea typeface="+mn-ea"/>
                <a:cs typeface="+mn-cs"/>
              </a:rPr>
              <a:t>SignalR</a:t>
            </a:r>
            <a:r>
              <a:rPr kumimoji="0" sz="1600" b="1" i="0" u="none" strike="noStrike" kern="1200" cap="none" spc="0" normalizeH="0" baseline="0" noProof="0" dirty="0">
                <a:ln>
                  <a:noFill/>
                </a:ln>
                <a:solidFill>
                  <a:srgbClr val="FFFF00"/>
                </a:solidFill>
                <a:effectLst/>
                <a:uLnTx/>
                <a:uFillTx/>
                <a:latin typeface="Candara" panose="020E0502030303020204" pitchFamily="34" charset="0"/>
                <a:ea typeface="+mn-ea"/>
                <a:cs typeface="+mn-cs"/>
              </a:rPr>
              <a:t> → UI</a:t>
            </a:r>
          </a:p>
        </p:txBody>
      </p:sp>
      <p:sp>
        <p:nvSpPr>
          <p:cNvPr id="5" name="Rounded Rectangle 4"/>
          <p:cNvSpPr/>
          <p:nvPr/>
        </p:nvSpPr>
        <p:spPr>
          <a:xfrm>
            <a:off x="457200" y="1991771"/>
            <a:ext cx="3566160" cy="1993392"/>
          </a:xfrm>
          <a:prstGeom prst="roundRect">
            <a:avLst>
              <a:gd name="adj" fmla="val 4000"/>
            </a:avLst>
          </a:prstGeom>
          <a:solidFill>
            <a:srgbClr val="112B1D"/>
          </a:solidFill>
          <a:ln w="9525">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pic>
        <p:nvPicPr>
          <p:cNvPr id="7" name="Picture 6" descr="image.png"/>
          <p:cNvPicPr>
            <a:picLocks noChangeAspect="1"/>
          </p:cNvPicPr>
          <p:nvPr/>
        </p:nvPicPr>
        <p:blipFill>
          <a:blip r:embed="rId3"/>
          <a:stretch>
            <a:fillRect/>
          </a:stretch>
        </p:blipFill>
        <p:spPr>
          <a:xfrm>
            <a:off x="3090672" y="2586131"/>
            <a:ext cx="804672" cy="804672"/>
          </a:xfrm>
          <a:prstGeom prst="rect">
            <a:avLst/>
          </a:prstGeom>
        </p:spPr>
      </p:pic>
      <p:sp>
        <p:nvSpPr>
          <p:cNvPr id="8" name="TextBox 7"/>
          <p:cNvSpPr txBox="1"/>
          <p:nvPr/>
        </p:nvSpPr>
        <p:spPr>
          <a:xfrm>
            <a:off x="640080" y="2174651"/>
            <a:ext cx="237744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800" b="1" i="0" u="none" strike="noStrike" kern="1200" cap="none" spc="0" normalizeH="0" baseline="0" noProof="0" dirty="0">
                <a:ln>
                  <a:noFill/>
                </a:ln>
                <a:solidFill>
                  <a:srgbClr val="FFFFFF"/>
                </a:solidFill>
                <a:effectLst/>
                <a:uLnTx/>
                <a:uFillTx/>
                <a:latin typeface="Candara" panose="020E0502030303020204" pitchFamily="34" charset="0"/>
                <a:ea typeface="+mn-ea"/>
                <a:cs typeface="+mn-cs"/>
              </a:rPr>
              <a:t>Backend</a:t>
            </a:r>
          </a:p>
        </p:txBody>
      </p:sp>
      <p:sp>
        <p:nvSpPr>
          <p:cNvPr id="9" name="TextBox 8"/>
          <p:cNvSpPr txBox="1"/>
          <p:nvPr/>
        </p:nvSpPr>
        <p:spPr>
          <a:xfrm>
            <a:off x="640080" y="2503835"/>
            <a:ext cx="237744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3ECF80"/>
                </a:solidFill>
                <a:effectLst/>
                <a:uLnTx/>
                <a:uFillTx/>
                <a:latin typeface="Candara" panose="020E0502030303020204" pitchFamily="34" charset="0"/>
                <a:ea typeface="+mn-ea"/>
                <a:cs typeface="+mn-cs"/>
              </a:rPr>
              <a:t>C# / ASP.NET Core</a:t>
            </a:r>
            <a:r>
              <a:rPr kumimoji="0" lang="en-US" sz="1400" b="0" i="0" u="none" strike="noStrike" kern="1200" cap="none" spc="0" normalizeH="0" baseline="0" noProof="0" dirty="0">
                <a:ln>
                  <a:noFill/>
                </a:ln>
                <a:solidFill>
                  <a:srgbClr val="3ECF80"/>
                </a:solidFill>
                <a:effectLst/>
                <a:uLnTx/>
                <a:uFillTx/>
                <a:latin typeface="Candara" panose="020E0502030303020204" pitchFamily="34" charset="0"/>
                <a:ea typeface="+mn-ea"/>
                <a:cs typeface="+mn-cs"/>
              </a:rPr>
              <a:t> 8</a:t>
            </a:r>
            <a:endParaRPr kumimoji="0" sz="1400" b="0" i="0" u="none" strike="noStrike" kern="1200" cap="none" spc="0" normalizeH="0" baseline="0" noProof="0" dirty="0">
              <a:ln>
                <a:noFill/>
              </a:ln>
              <a:solidFill>
                <a:srgbClr val="3ECF80"/>
              </a:solidFill>
              <a:effectLst/>
              <a:uLnTx/>
              <a:uFillTx/>
              <a:latin typeface="Candara" panose="020E0502030303020204" pitchFamily="34" charset="0"/>
              <a:ea typeface="+mn-ea"/>
              <a:cs typeface="+mn-cs"/>
            </a:endParaRPr>
          </a:p>
        </p:txBody>
      </p:sp>
      <p:sp>
        <p:nvSpPr>
          <p:cNvPr id="10" name="TextBox 9"/>
          <p:cNvSpPr txBox="1"/>
          <p:nvPr/>
        </p:nvSpPr>
        <p:spPr>
          <a:xfrm>
            <a:off x="640080" y="2769011"/>
            <a:ext cx="2377440"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rPr>
              <a:t>Rest</a:t>
            </a:r>
            <a:r>
              <a:rPr kumimoji="0"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rPr>
              <a:t> APIs</a:t>
            </a:r>
            <a:r>
              <a:rPr kumimoji="0" lang="en-US"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rPr>
              <a:t>, MQTT Ingest, JWT Authentication</a:t>
            </a:r>
            <a:endParaRPr kumimoji="0"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endParaRPr>
          </a:p>
        </p:txBody>
      </p:sp>
      <p:sp>
        <p:nvSpPr>
          <p:cNvPr id="11" name="Rounded Rectangle 10"/>
          <p:cNvSpPr/>
          <p:nvPr/>
        </p:nvSpPr>
        <p:spPr>
          <a:xfrm>
            <a:off x="4219956" y="1991771"/>
            <a:ext cx="3566160" cy="1993392"/>
          </a:xfrm>
          <a:prstGeom prst="roundRect">
            <a:avLst>
              <a:gd name="adj" fmla="val 4000"/>
            </a:avLst>
          </a:prstGeom>
          <a:solidFill>
            <a:srgbClr val="112B1D"/>
          </a:solidFill>
          <a:ln w="9525">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sp>
        <p:nvSpPr>
          <p:cNvPr id="12" name="Rectangle 11"/>
          <p:cNvSpPr/>
          <p:nvPr/>
        </p:nvSpPr>
        <p:spPr>
          <a:xfrm>
            <a:off x="4091940" y="1964791"/>
            <a:ext cx="50292" cy="1993392"/>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pic>
        <p:nvPicPr>
          <p:cNvPr id="13" name="Picture 12" descr="image.png"/>
          <p:cNvPicPr>
            <a:picLocks noChangeAspect="1"/>
          </p:cNvPicPr>
          <p:nvPr/>
        </p:nvPicPr>
        <p:blipFill>
          <a:blip r:embed="rId4"/>
          <a:stretch>
            <a:fillRect/>
          </a:stretch>
        </p:blipFill>
        <p:spPr>
          <a:xfrm>
            <a:off x="6853428" y="2586131"/>
            <a:ext cx="804672" cy="804672"/>
          </a:xfrm>
          <a:prstGeom prst="rect">
            <a:avLst/>
          </a:prstGeom>
        </p:spPr>
      </p:pic>
      <p:sp>
        <p:nvSpPr>
          <p:cNvPr id="14" name="TextBox 13"/>
          <p:cNvSpPr txBox="1"/>
          <p:nvPr/>
        </p:nvSpPr>
        <p:spPr>
          <a:xfrm>
            <a:off x="4402836" y="2174651"/>
            <a:ext cx="237744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800" b="1" i="0" u="none" strike="noStrike" kern="1200" cap="none" spc="0" normalizeH="0" baseline="0" noProof="0">
                <a:ln>
                  <a:noFill/>
                </a:ln>
                <a:solidFill>
                  <a:srgbClr val="FFFFFF"/>
                </a:solidFill>
                <a:effectLst/>
                <a:uLnTx/>
                <a:uFillTx/>
                <a:latin typeface="Candara" panose="020E0502030303020204" pitchFamily="34" charset="0"/>
                <a:ea typeface="+mn-ea"/>
                <a:cs typeface="+mn-cs"/>
              </a:rPr>
              <a:t>IoT Messaging</a:t>
            </a:r>
          </a:p>
        </p:txBody>
      </p:sp>
      <p:sp>
        <p:nvSpPr>
          <p:cNvPr id="15" name="TextBox 14"/>
          <p:cNvSpPr txBox="1"/>
          <p:nvPr/>
        </p:nvSpPr>
        <p:spPr>
          <a:xfrm>
            <a:off x="4402836" y="2503835"/>
            <a:ext cx="2377440"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3ECF80"/>
                </a:solidFill>
                <a:effectLst/>
                <a:uLnTx/>
                <a:uFillTx/>
                <a:latin typeface="Candara" panose="020E0502030303020204" pitchFamily="34" charset="0"/>
                <a:ea typeface="+mn-ea"/>
                <a:cs typeface="+mn-cs"/>
              </a:rPr>
              <a:t>MQTT + Broker (</a:t>
            </a:r>
            <a:r>
              <a:rPr kumimoji="0" sz="1400" b="0" i="0" u="none" strike="noStrike" kern="1200" cap="none" spc="0" normalizeH="0" baseline="0" noProof="0" dirty="0" err="1">
                <a:ln>
                  <a:noFill/>
                </a:ln>
                <a:solidFill>
                  <a:srgbClr val="3ECF80"/>
                </a:solidFill>
                <a:effectLst/>
                <a:uLnTx/>
                <a:uFillTx/>
                <a:latin typeface="Candara" panose="020E0502030303020204" pitchFamily="34" charset="0"/>
                <a:ea typeface="+mn-ea"/>
                <a:cs typeface="+mn-cs"/>
              </a:rPr>
              <a:t>Mosquit</a:t>
            </a:r>
            <a:r>
              <a:rPr kumimoji="0" lang="en-US" sz="1400" b="0" i="0" u="none" strike="noStrike" kern="1200" cap="none" spc="0" normalizeH="0" baseline="0" noProof="0" dirty="0" err="1">
                <a:ln>
                  <a:noFill/>
                </a:ln>
                <a:solidFill>
                  <a:srgbClr val="3ECF80"/>
                </a:solidFill>
                <a:effectLst/>
                <a:uLnTx/>
                <a:uFillTx/>
                <a:latin typeface="Candara" panose="020E0502030303020204" pitchFamily="34" charset="0"/>
                <a:ea typeface="+mn-ea"/>
                <a:cs typeface="+mn-cs"/>
              </a:rPr>
              <a:t>t</a:t>
            </a:r>
            <a:r>
              <a:rPr kumimoji="0" sz="1400" b="0" i="0" u="none" strike="noStrike" kern="1200" cap="none" spc="0" normalizeH="0" baseline="0" noProof="0" dirty="0" err="1">
                <a:ln>
                  <a:noFill/>
                </a:ln>
                <a:solidFill>
                  <a:srgbClr val="3ECF80"/>
                </a:solidFill>
                <a:effectLst/>
                <a:uLnTx/>
                <a:uFillTx/>
                <a:latin typeface="Candara" panose="020E0502030303020204" pitchFamily="34" charset="0"/>
                <a:ea typeface="+mn-ea"/>
                <a:cs typeface="+mn-cs"/>
              </a:rPr>
              <a:t>o</a:t>
            </a:r>
            <a:r>
              <a:rPr kumimoji="0" sz="1400" b="0" i="0" u="none" strike="noStrike" kern="1200" cap="none" spc="0" normalizeH="0" baseline="0" noProof="0" dirty="0">
                <a:ln>
                  <a:noFill/>
                </a:ln>
                <a:solidFill>
                  <a:srgbClr val="3ECF80"/>
                </a:solidFill>
                <a:effectLst/>
                <a:uLnTx/>
                <a:uFillTx/>
                <a:latin typeface="Candara" panose="020E0502030303020204" pitchFamily="34" charset="0"/>
                <a:ea typeface="+mn-ea"/>
                <a:cs typeface="+mn-cs"/>
              </a:rPr>
              <a:t>/EMQX)</a:t>
            </a:r>
          </a:p>
        </p:txBody>
      </p:sp>
      <p:sp>
        <p:nvSpPr>
          <p:cNvPr id="16" name="TextBox 15"/>
          <p:cNvSpPr txBox="1"/>
          <p:nvPr/>
        </p:nvSpPr>
        <p:spPr>
          <a:xfrm>
            <a:off x="4350258" y="3027055"/>
            <a:ext cx="2759202"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rPr>
              <a:t>Device → Broker → Backend</a:t>
            </a:r>
            <a:r>
              <a:rPr kumimoji="0" lang="en-US"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rPr>
              <a:t>; Command to Actuator</a:t>
            </a:r>
            <a:endParaRPr kumimoji="0"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endParaRPr>
          </a:p>
        </p:txBody>
      </p:sp>
      <p:sp>
        <p:nvSpPr>
          <p:cNvPr id="17" name="Rounded Rectangle 16"/>
          <p:cNvSpPr/>
          <p:nvPr/>
        </p:nvSpPr>
        <p:spPr>
          <a:xfrm>
            <a:off x="7982712" y="1991771"/>
            <a:ext cx="3566160" cy="1993392"/>
          </a:xfrm>
          <a:prstGeom prst="roundRect">
            <a:avLst>
              <a:gd name="adj" fmla="val 4000"/>
            </a:avLst>
          </a:prstGeom>
          <a:solidFill>
            <a:srgbClr val="112B1D"/>
          </a:solidFill>
          <a:ln w="9525">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sp>
        <p:nvSpPr>
          <p:cNvPr id="18" name="Rectangle 17"/>
          <p:cNvSpPr/>
          <p:nvPr/>
        </p:nvSpPr>
        <p:spPr>
          <a:xfrm>
            <a:off x="7863840" y="2014744"/>
            <a:ext cx="50292" cy="1993392"/>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pic>
        <p:nvPicPr>
          <p:cNvPr id="19" name="Picture 18" descr="image.png"/>
          <p:cNvPicPr>
            <a:picLocks noChangeAspect="1"/>
          </p:cNvPicPr>
          <p:nvPr/>
        </p:nvPicPr>
        <p:blipFill>
          <a:blip r:embed="rId5"/>
          <a:stretch>
            <a:fillRect/>
          </a:stretch>
        </p:blipFill>
        <p:spPr>
          <a:xfrm>
            <a:off x="10616184" y="2586131"/>
            <a:ext cx="804672" cy="804672"/>
          </a:xfrm>
          <a:prstGeom prst="rect">
            <a:avLst/>
          </a:prstGeom>
        </p:spPr>
      </p:pic>
      <p:sp>
        <p:nvSpPr>
          <p:cNvPr id="20" name="TextBox 19"/>
          <p:cNvSpPr txBox="1"/>
          <p:nvPr/>
        </p:nvSpPr>
        <p:spPr>
          <a:xfrm>
            <a:off x="8165592" y="2174651"/>
            <a:ext cx="237744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800" b="1" i="0" u="none" strike="noStrike" kern="1200" cap="none" spc="0" normalizeH="0" baseline="0" noProof="0">
                <a:ln>
                  <a:noFill/>
                </a:ln>
                <a:solidFill>
                  <a:srgbClr val="FFFFFF"/>
                </a:solidFill>
                <a:effectLst/>
                <a:uLnTx/>
                <a:uFillTx/>
                <a:latin typeface="Candara" panose="020E0502030303020204" pitchFamily="34" charset="0"/>
                <a:ea typeface="+mn-ea"/>
                <a:cs typeface="+mn-cs"/>
              </a:rPr>
              <a:t>Real-Time</a:t>
            </a:r>
          </a:p>
        </p:txBody>
      </p:sp>
      <p:sp>
        <p:nvSpPr>
          <p:cNvPr id="21" name="TextBox 20"/>
          <p:cNvSpPr txBox="1"/>
          <p:nvPr/>
        </p:nvSpPr>
        <p:spPr>
          <a:xfrm>
            <a:off x="8165592" y="2503835"/>
            <a:ext cx="237744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a:ln>
                  <a:noFill/>
                </a:ln>
                <a:solidFill>
                  <a:srgbClr val="3ECF80"/>
                </a:solidFill>
                <a:effectLst/>
                <a:uLnTx/>
                <a:uFillTx/>
                <a:latin typeface="Candara" panose="020E0502030303020204" pitchFamily="34" charset="0"/>
                <a:ea typeface="+mn-ea"/>
                <a:cs typeface="+mn-cs"/>
              </a:rPr>
              <a:t>SignalR</a:t>
            </a:r>
          </a:p>
        </p:txBody>
      </p:sp>
      <p:sp>
        <p:nvSpPr>
          <p:cNvPr id="22" name="TextBox 21"/>
          <p:cNvSpPr txBox="1"/>
          <p:nvPr/>
        </p:nvSpPr>
        <p:spPr>
          <a:xfrm>
            <a:off x="8165592" y="2769011"/>
            <a:ext cx="2377440"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rPr>
              <a:t>Server-to-client live </a:t>
            </a:r>
            <a:r>
              <a:rPr kumimoji="0" lang="en-US"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rPr>
              <a:t> sensor and alert </a:t>
            </a:r>
            <a:r>
              <a:rPr kumimoji="0"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rPr>
              <a:t>updates</a:t>
            </a:r>
          </a:p>
        </p:txBody>
      </p:sp>
      <p:sp>
        <p:nvSpPr>
          <p:cNvPr id="23" name="Rounded Rectangle 22"/>
          <p:cNvSpPr/>
          <p:nvPr/>
        </p:nvSpPr>
        <p:spPr>
          <a:xfrm>
            <a:off x="457200" y="4213763"/>
            <a:ext cx="3566160" cy="1993392"/>
          </a:xfrm>
          <a:prstGeom prst="roundRect">
            <a:avLst>
              <a:gd name="adj" fmla="val 4000"/>
            </a:avLst>
          </a:prstGeom>
          <a:solidFill>
            <a:srgbClr val="112B1D"/>
          </a:solidFill>
          <a:ln w="9525">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pic>
        <p:nvPicPr>
          <p:cNvPr id="25" name="Picture 24" descr="image.png"/>
          <p:cNvPicPr>
            <a:picLocks noChangeAspect="1"/>
          </p:cNvPicPr>
          <p:nvPr/>
        </p:nvPicPr>
        <p:blipFill>
          <a:blip r:embed="rId6"/>
          <a:stretch>
            <a:fillRect/>
          </a:stretch>
        </p:blipFill>
        <p:spPr>
          <a:xfrm>
            <a:off x="3090672" y="4808123"/>
            <a:ext cx="804672" cy="804672"/>
          </a:xfrm>
          <a:prstGeom prst="rect">
            <a:avLst/>
          </a:prstGeom>
        </p:spPr>
      </p:pic>
      <p:sp>
        <p:nvSpPr>
          <p:cNvPr id="26" name="TextBox 25"/>
          <p:cNvSpPr txBox="1"/>
          <p:nvPr/>
        </p:nvSpPr>
        <p:spPr>
          <a:xfrm>
            <a:off x="640080" y="4396643"/>
            <a:ext cx="237744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800" b="1" i="0" u="none" strike="noStrike" kern="1200" cap="none" spc="0" normalizeH="0" baseline="0" noProof="0">
                <a:ln>
                  <a:noFill/>
                </a:ln>
                <a:solidFill>
                  <a:srgbClr val="FFFFFF"/>
                </a:solidFill>
                <a:effectLst/>
                <a:uLnTx/>
                <a:uFillTx/>
                <a:latin typeface="Candara" panose="020E0502030303020204" pitchFamily="34" charset="0"/>
                <a:ea typeface="+mn-ea"/>
                <a:cs typeface="+mn-cs"/>
              </a:rPr>
              <a:t>Frontend</a:t>
            </a:r>
          </a:p>
        </p:txBody>
      </p:sp>
      <p:sp>
        <p:nvSpPr>
          <p:cNvPr id="27" name="TextBox 26"/>
          <p:cNvSpPr txBox="1"/>
          <p:nvPr/>
        </p:nvSpPr>
        <p:spPr>
          <a:xfrm>
            <a:off x="640080" y="4725827"/>
            <a:ext cx="237744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a:ln>
                  <a:noFill/>
                </a:ln>
                <a:solidFill>
                  <a:srgbClr val="3ECF80"/>
                </a:solidFill>
                <a:effectLst/>
                <a:uLnTx/>
                <a:uFillTx/>
                <a:latin typeface="Candara" panose="020E0502030303020204" pitchFamily="34" charset="0"/>
                <a:ea typeface="+mn-ea"/>
                <a:cs typeface="+mn-cs"/>
              </a:rPr>
              <a:t>React + TypeScript</a:t>
            </a:r>
          </a:p>
        </p:txBody>
      </p:sp>
      <p:sp>
        <p:nvSpPr>
          <p:cNvPr id="28" name="Rounded Rectangle 27"/>
          <p:cNvSpPr/>
          <p:nvPr/>
        </p:nvSpPr>
        <p:spPr>
          <a:xfrm>
            <a:off x="4219956" y="4213763"/>
            <a:ext cx="3566160" cy="1993392"/>
          </a:xfrm>
          <a:prstGeom prst="roundRect">
            <a:avLst>
              <a:gd name="adj" fmla="val 4000"/>
            </a:avLst>
          </a:prstGeom>
          <a:solidFill>
            <a:srgbClr val="112B1D"/>
          </a:solidFill>
          <a:ln w="9525">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sp>
        <p:nvSpPr>
          <p:cNvPr id="29" name="Rectangle 28"/>
          <p:cNvSpPr/>
          <p:nvPr/>
        </p:nvSpPr>
        <p:spPr>
          <a:xfrm>
            <a:off x="4107942" y="4213763"/>
            <a:ext cx="50292" cy="1993392"/>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pic>
        <p:nvPicPr>
          <p:cNvPr id="30" name="Picture 29" descr="image.png"/>
          <p:cNvPicPr>
            <a:picLocks noChangeAspect="1"/>
          </p:cNvPicPr>
          <p:nvPr/>
        </p:nvPicPr>
        <p:blipFill>
          <a:blip r:embed="rId7"/>
          <a:stretch>
            <a:fillRect/>
          </a:stretch>
        </p:blipFill>
        <p:spPr>
          <a:xfrm>
            <a:off x="6853428" y="4808123"/>
            <a:ext cx="804672" cy="804672"/>
          </a:xfrm>
          <a:prstGeom prst="rect">
            <a:avLst/>
          </a:prstGeom>
        </p:spPr>
      </p:pic>
      <p:sp>
        <p:nvSpPr>
          <p:cNvPr id="31" name="TextBox 30"/>
          <p:cNvSpPr txBox="1"/>
          <p:nvPr/>
        </p:nvSpPr>
        <p:spPr>
          <a:xfrm>
            <a:off x="4402836" y="4396643"/>
            <a:ext cx="237744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800" b="1" i="0" u="none" strike="noStrike" kern="1200" cap="none" spc="0" normalizeH="0" baseline="0" noProof="0">
                <a:ln>
                  <a:noFill/>
                </a:ln>
                <a:solidFill>
                  <a:srgbClr val="FFFFFF"/>
                </a:solidFill>
                <a:effectLst/>
                <a:uLnTx/>
                <a:uFillTx/>
                <a:latin typeface="Candara" panose="020E0502030303020204" pitchFamily="34" charset="0"/>
                <a:ea typeface="+mn-ea"/>
                <a:cs typeface="+mn-cs"/>
              </a:rPr>
              <a:t>Database</a:t>
            </a:r>
          </a:p>
        </p:txBody>
      </p:sp>
      <p:sp>
        <p:nvSpPr>
          <p:cNvPr id="32" name="TextBox 31"/>
          <p:cNvSpPr txBox="1"/>
          <p:nvPr/>
        </p:nvSpPr>
        <p:spPr>
          <a:xfrm>
            <a:off x="4402836" y="4725827"/>
            <a:ext cx="237744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a:ln>
                  <a:noFill/>
                </a:ln>
                <a:solidFill>
                  <a:srgbClr val="3ECF80"/>
                </a:solidFill>
                <a:effectLst/>
                <a:uLnTx/>
                <a:uFillTx/>
                <a:latin typeface="Candara" panose="020E0502030303020204" pitchFamily="34" charset="0"/>
                <a:ea typeface="+mn-ea"/>
                <a:cs typeface="+mn-cs"/>
              </a:rPr>
              <a:t>SQL Server + EF Core</a:t>
            </a:r>
          </a:p>
        </p:txBody>
      </p:sp>
      <p:sp>
        <p:nvSpPr>
          <p:cNvPr id="33" name="Rounded Rectangle 32"/>
          <p:cNvSpPr/>
          <p:nvPr/>
        </p:nvSpPr>
        <p:spPr>
          <a:xfrm>
            <a:off x="7982712" y="4213763"/>
            <a:ext cx="3566160" cy="1993392"/>
          </a:xfrm>
          <a:prstGeom prst="roundRect">
            <a:avLst>
              <a:gd name="adj" fmla="val 4000"/>
            </a:avLst>
          </a:prstGeom>
          <a:solidFill>
            <a:srgbClr val="112B1D"/>
          </a:solidFill>
          <a:ln w="9525">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sp>
        <p:nvSpPr>
          <p:cNvPr id="34" name="Rectangle 33"/>
          <p:cNvSpPr/>
          <p:nvPr/>
        </p:nvSpPr>
        <p:spPr>
          <a:xfrm>
            <a:off x="7863840" y="4204619"/>
            <a:ext cx="50292" cy="1993392"/>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pic>
        <p:nvPicPr>
          <p:cNvPr id="35" name="Picture 34" descr="image.png"/>
          <p:cNvPicPr>
            <a:picLocks noChangeAspect="1"/>
          </p:cNvPicPr>
          <p:nvPr/>
        </p:nvPicPr>
        <p:blipFill>
          <a:blip r:embed="rId8"/>
          <a:stretch>
            <a:fillRect/>
          </a:stretch>
        </p:blipFill>
        <p:spPr>
          <a:xfrm>
            <a:off x="10616184" y="4808123"/>
            <a:ext cx="804672" cy="804672"/>
          </a:xfrm>
          <a:prstGeom prst="rect">
            <a:avLst/>
          </a:prstGeom>
        </p:spPr>
      </p:pic>
      <p:sp>
        <p:nvSpPr>
          <p:cNvPr id="36" name="TextBox 35"/>
          <p:cNvSpPr txBox="1"/>
          <p:nvPr/>
        </p:nvSpPr>
        <p:spPr>
          <a:xfrm>
            <a:off x="8165592" y="4396643"/>
            <a:ext cx="237744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800" b="1" i="0" u="none" strike="noStrike" kern="1200" cap="none" spc="0" normalizeH="0" baseline="0" noProof="0">
                <a:ln>
                  <a:noFill/>
                </a:ln>
                <a:solidFill>
                  <a:srgbClr val="FFFFFF"/>
                </a:solidFill>
                <a:effectLst/>
                <a:uLnTx/>
                <a:uFillTx/>
                <a:latin typeface="Candara" panose="020E0502030303020204" pitchFamily="34" charset="0"/>
                <a:ea typeface="+mn-ea"/>
                <a:cs typeface="+mn-cs"/>
              </a:rPr>
              <a:t>DevOps</a:t>
            </a:r>
          </a:p>
        </p:txBody>
      </p:sp>
      <p:sp>
        <p:nvSpPr>
          <p:cNvPr id="37" name="TextBox 36"/>
          <p:cNvSpPr txBox="1"/>
          <p:nvPr/>
        </p:nvSpPr>
        <p:spPr>
          <a:xfrm>
            <a:off x="8165592" y="4725827"/>
            <a:ext cx="237744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3ECF80"/>
                </a:solidFill>
                <a:effectLst/>
                <a:uLnTx/>
                <a:uFillTx/>
                <a:latin typeface="Candara" panose="020E0502030303020204" pitchFamily="34" charset="0"/>
                <a:ea typeface="+mn-ea"/>
                <a:cs typeface="+mn-cs"/>
              </a:rPr>
              <a:t>Git + GitHub</a:t>
            </a:r>
            <a:r>
              <a:rPr kumimoji="0" lang="en-US" sz="1400" b="0" i="0" u="none" strike="noStrike" kern="1200" cap="none" spc="0" normalizeH="0" baseline="0" noProof="0" dirty="0">
                <a:ln>
                  <a:noFill/>
                </a:ln>
                <a:solidFill>
                  <a:srgbClr val="3ECF80"/>
                </a:solidFill>
                <a:effectLst/>
                <a:uLnTx/>
                <a:uFillTx/>
                <a:latin typeface="Candara" panose="020E0502030303020204" pitchFamily="34" charset="0"/>
                <a:ea typeface="+mn-ea"/>
                <a:cs typeface="+mn-cs"/>
              </a:rPr>
              <a:t> + Azure</a:t>
            </a:r>
            <a:endParaRPr kumimoji="0" sz="1400" b="0" i="0" u="none" strike="noStrike" kern="1200" cap="none" spc="0" normalizeH="0" baseline="0" noProof="0" dirty="0">
              <a:ln>
                <a:noFill/>
              </a:ln>
              <a:solidFill>
                <a:srgbClr val="3ECF80"/>
              </a:solidFill>
              <a:effectLst/>
              <a:uLnTx/>
              <a:uFillTx/>
              <a:latin typeface="Candara" panose="020E0502030303020204" pitchFamily="34" charset="0"/>
              <a:ea typeface="+mn-ea"/>
              <a:cs typeface="+mn-cs"/>
            </a:endParaRPr>
          </a:p>
        </p:txBody>
      </p:sp>
      <p:sp>
        <p:nvSpPr>
          <p:cNvPr id="6" name="TextBox 5">
            <a:extLst>
              <a:ext uri="{FF2B5EF4-FFF2-40B4-BE49-F238E27FC236}">
                <a16:creationId xmlns:a16="http://schemas.microsoft.com/office/drawing/2014/main" id="{B3AB9396-4401-9411-228D-360974B3A709}"/>
              </a:ext>
            </a:extLst>
          </p:cNvPr>
          <p:cNvSpPr txBox="1"/>
          <p:nvPr/>
        </p:nvSpPr>
        <p:spPr>
          <a:xfrm>
            <a:off x="670941" y="5196646"/>
            <a:ext cx="2377440"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400" dirty="0">
                <a:solidFill>
                  <a:srgbClr val="7AAB8A"/>
                </a:solidFill>
                <a:latin typeface="Candara" panose="020E0502030303020204" pitchFamily="34" charset="0"/>
              </a:rPr>
              <a:t>Dashboard, live chart, gauge, device management UI</a:t>
            </a:r>
            <a:endParaRPr kumimoji="0"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endParaRPr>
          </a:p>
        </p:txBody>
      </p:sp>
      <p:sp>
        <p:nvSpPr>
          <p:cNvPr id="24" name="TextBox 23">
            <a:extLst>
              <a:ext uri="{FF2B5EF4-FFF2-40B4-BE49-F238E27FC236}">
                <a16:creationId xmlns:a16="http://schemas.microsoft.com/office/drawing/2014/main" id="{40DB0B09-998E-0007-29E6-E282B550F991}"/>
              </a:ext>
            </a:extLst>
          </p:cNvPr>
          <p:cNvSpPr txBox="1"/>
          <p:nvPr/>
        </p:nvSpPr>
        <p:spPr>
          <a:xfrm>
            <a:off x="4475988" y="5210459"/>
            <a:ext cx="2377440"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400" dirty="0">
                <a:solidFill>
                  <a:srgbClr val="7AAB8A"/>
                </a:solidFill>
                <a:latin typeface="Candara" panose="020E0502030303020204" pitchFamily="34" charset="0"/>
              </a:rPr>
              <a:t>Sensor readings, devices, alerts, command history</a:t>
            </a:r>
            <a:endParaRPr kumimoji="0"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endParaRPr>
          </a:p>
        </p:txBody>
      </p:sp>
      <p:sp>
        <p:nvSpPr>
          <p:cNvPr id="38" name="TextBox 37">
            <a:extLst>
              <a:ext uri="{FF2B5EF4-FFF2-40B4-BE49-F238E27FC236}">
                <a16:creationId xmlns:a16="http://schemas.microsoft.com/office/drawing/2014/main" id="{2FA83AE0-6E7E-9387-397F-A238EB405207}"/>
              </a:ext>
            </a:extLst>
          </p:cNvPr>
          <p:cNvSpPr txBox="1"/>
          <p:nvPr/>
        </p:nvSpPr>
        <p:spPr>
          <a:xfrm>
            <a:off x="8202168" y="5205622"/>
            <a:ext cx="2377440" cy="523220"/>
          </a:xfrm>
          <a:prstGeom prst="rect">
            <a:avLst/>
          </a:prstGeom>
          <a:noFill/>
        </p:spPr>
        <p:txBody>
          <a:bodyPr wrap="square">
            <a:spAutoFit/>
          </a:bodyPr>
          <a:lstStyle/>
          <a:p>
            <a:pPr lvl="0">
              <a:defRPr/>
            </a:pPr>
            <a:r>
              <a:rPr lang="en-US" sz="1400" dirty="0">
                <a:solidFill>
                  <a:srgbClr val="7AAB8A"/>
                </a:solidFill>
                <a:latin typeface="Candara" panose="020E0502030303020204" pitchFamily="34" charset="0"/>
              </a:rPr>
              <a:t>CI/CD: API (Azure Web App) + SPA (Static Web Apps)</a:t>
            </a:r>
            <a:endParaRPr sz="1400" dirty="0">
              <a:solidFill>
                <a:srgbClr val="7AAB8A"/>
              </a:solidFill>
              <a:latin typeface="Candara" panose="020E0502030303020204" pitchFamily="3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 0"/>
          <p:cNvSpPr/>
          <p:nvPr/>
        </p:nvSpPr>
        <p:spPr>
          <a:xfrm>
            <a:off x="164549" y="272165"/>
            <a:ext cx="11518440" cy="457081"/>
          </a:xfrm>
          <a:prstGeom prst="rect">
            <a:avLst/>
          </a:prstGeom>
          <a:noFill/>
          <a:ln/>
        </p:spPr>
        <p:txBody>
          <a:bodyPr wrap="square" lIns="0" tIns="0" rIns="0" bIns="0" rtlCol="0" anchor="ctr"/>
          <a:lstStyle/>
          <a:p>
            <a:r>
              <a:rPr lang="en-US" sz="3200" b="1" dirty="0">
                <a:solidFill>
                  <a:srgbClr val="FFFFFF"/>
                </a:solidFill>
                <a:latin typeface="Candara" panose="020E0502030303020204" pitchFamily="34" charset="0"/>
                <a:ea typeface="Calibri" pitchFamily="34" charset="-122"/>
                <a:cs typeface="Calibri" pitchFamily="34" charset="-120"/>
              </a:rPr>
              <a:t>System Architecture </a:t>
            </a:r>
            <a:r>
              <a:rPr lang="en-US" sz="3200" b="1" dirty="0">
                <a:solidFill>
                  <a:srgbClr val="3ECF80"/>
                </a:solidFill>
                <a:latin typeface="Candara" panose="020E0502030303020204" pitchFamily="34" charset="0"/>
                <a:ea typeface="Calibri" pitchFamily="34" charset="-122"/>
                <a:cs typeface="Calibri" pitchFamily="34" charset="-120"/>
              </a:rPr>
              <a:t>Overview</a:t>
            </a:r>
            <a:endParaRPr lang="en-US" sz="3200" dirty="0">
              <a:latin typeface="Candara" panose="020E0502030303020204" pitchFamily="34" charset="0"/>
            </a:endParaRPr>
          </a:p>
        </p:txBody>
      </p:sp>
      <p:sp>
        <p:nvSpPr>
          <p:cNvPr id="3" name="Shape 1"/>
          <p:cNvSpPr/>
          <p:nvPr/>
        </p:nvSpPr>
        <p:spPr>
          <a:xfrm>
            <a:off x="164549" y="904875"/>
            <a:ext cx="1874032" cy="5842532"/>
          </a:xfrm>
          <a:prstGeom prst="roundRect">
            <a:avLst>
              <a:gd name="adj" fmla="val 3902"/>
            </a:avLst>
          </a:prstGeom>
          <a:solidFill>
            <a:srgbClr val="081610"/>
          </a:solidFill>
          <a:ln w="9525">
            <a:solidFill>
              <a:schemeClr val="bg1"/>
            </a:solidFill>
            <a:prstDash val="solid"/>
          </a:ln>
        </p:spPr>
        <p:txBody>
          <a:bodyPr/>
          <a:lstStyle/>
          <a:p>
            <a:endParaRPr lang="en-US" sz="1799">
              <a:latin typeface="Candara" panose="020E0502030303020204" pitchFamily="34" charset="0"/>
            </a:endParaRPr>
          </a:p>
        </p:txBody>
      </p:sp>
      <p:sp>
        <p:nvSpPr>
          <p:cNvPr id="4" name="Text 2"/>
          <p:cNvSpPr/>
          <p:nvPr/>
        </p:nvSpPr>
        <p:spPr>
          <a:xfrm>
            <a:off x="255965" y="1145188"/>
            <a:ext cx="1691199" cy="319957"/>
          </a:xfrm>
          <a:prstGeom prst="rect">
            <a:avLst/>
          </a:prstGeom>
          <a:noFill/>
          <a:ln/>
        </p:spPr>
        <p:txBody>
          <a:bodyPr wrap="square" lIns="0" tIns="0" rIns="0" bIns="0" rtlCol="0" anchor="ctr"/>
          <a:lstStyle/>
          <a:p>
            <a:pPr algn="ctr"/>
            <a:r>
              <a:rPr lang="en-US" b="1" dirty="0">
                <a:solidFill>
                  <a:srgbClr val="00B050"/>
                </a:solidFill>
                <a:latin typeface="Candara" panose="020E0502030303020204" pitchFamily="34" charset="0"/>
                <a:ea typeface="Calibri" pitchFamily="34" charset="-122"/>
                <a:cs typeface="Calibri" pitchFamily="34" charset="-120"/>
              </a:rPr>
              <a:t>External Systems</a:t>
            </a:r>
            <a:endParaRPr lang="en-US" dirty="0">
              <a:solidFill>
                <a:srgbClr val="00B050"/>
              </a:solidFill>
              <a:latin typeface="Candara" panose="020E0502030303020204" pitchFamily="34" charset="0"/>
            </a:endParaRPr>
          </a:p>
        </p:txBody>
      </p:sp>
      <p:sp>
        <p:nvSpPr>
          <p:cNvPr id="5" name="Shape 3"/>
          <p:cNvSpPr/>
          <p:nvPr/>
        </p:nvSpPr>
        <p:spPr>
          <a:xfrm>
            <a:off x="2148280" y="904875"/>
            <a:ext cx="2102572" cy="5842532"/>
          </a:xfrm>
          <a:prstGeom prst="roundRect">
            <a:avLst>
              <a:gd name="adj" fmla="val 3478"/>
            </a:avLst>
          </a:prstGeom>
          <a:solidFill>
            <a:srgbClr val="081610"/>
          </a:solidFill>
          <a:ln w="9525">
            <a:solidFill>
              <a:schemeClr val="bg1"/>
            </a:solidFill>
            <a:prstDash val="solid"/>
          </a:ln>
        </p:spPr>
        <p:txBody>
          <a:bodyPr/>
          <a:lstStyle/>
          <a:p>
            <a:endParaRPr lang="en-US" sz="1799">
              <a:latin typeface="Candara" panose="020E0502030303020204" pitchFamily="34" charset="0"/>
            </a:endParaRPr>
          </a:p>
        </p:txBody>
      </p:sp>
      <p:sp>
        <p:nvSpPr>
          <p:cNvPr id="6" name="Text 4"/>
          <p:cNvSpPr/>
          <p:nvPr/>
        </p:nvSpPr>
        <p:spPr>
          <a:xfrm>
            <a:off x="2239696" y="1145188"/>
            <a:ext cx="1919740" cy="319957"/>
          </a:xfrm>
          <a:prstGeom prst="rect">
            <a:avLst/>
          </a:prstGeom>
          <a:noFill/>
          <a:ln/>
        </p:spPr>
        <p:txBody>
          <a:bodyPr wrap="square" lIns="0" tIns="0" rIns="0" bIns="0" rtlCol="0" anchor="ctr"/>
          <a:lstStyle/>
          <a:p>
            <a:pPr algn="ctr"/>
            <a:r>
              <a:rPr lang="en-US" b="1" dirty="0">
                <a:solidFill>
                  <a:srgbClr val="3ECF80"/>
                </a:solidFill>
                <a:latin typeface="Candara" panose="020E0502030303020204" pitchFamily="34" charset="0"/>
                <a:ea typeface="Calibri" pitchFamily="34" charset="-122"/>
                <a:cs typeface="Calibri" pitchFamily="34" charset="-120"/>
              </a:rPr>
              <a:t>Frontend</a:t>
            </a:r>
            <a:endParaRPr lang="en-US" dirty="0">
              <a:latin typeface="Candara" panose="020E0502030303020204" pitchFamily="34" charset="0"/>
            </a:endParaRPr>
          </a:p>
        </p:txBody>
      </p:sp>
      <p:sp>
        <p:nvSpPr>
          <p:cNvPr id="7" name="Shape 5"/>
          <p:cNvSpPr/>
          <p:nvPr/>
        </p:nvSpPr>
        <p:spPr>
          <a:xfrm>
            <a:off x="4360552" y="904873"/>
            <a:ext cx="5759220" cy="5842533"/>
          </a:xfrm>
          <a:prstGeom prst="roundRect">
            <a:avLst>
              <a:gd name="adj" fmla="val 1270"/>
            </a:avLst>
          </a:prstGeom>
          <a:solidFill>
            <a:srgbClr val="081610"/>
          </a:solidFill>
          <a:ln w="9525">
            <a:solidFill>
              <a:schemeClr val="bg1"/>
            </a:solidFill>
            <a:prstDash val="solid"/>
          </a:ln>
        </p:spPr>
        <p:txBody>
          <a:bodyPr/>
          <a:lstStyle/>
          <a:p>
            <a:endParaRPr lang="en-US" sz="1799">
              <a:latin typeface="Candara" panose="020E0502030303020204" pitchFamily="34" charset="0"/>
            </a:endParaRPr>
          </a:p>
        </p:txBody>
      </p:sp>
      <p:sp>
        <p:nvSpPr>
          <p:cNvPr id="8" name="Text 6"/>
          <p:cNvSpPr/>
          <p:nvPr/>
        </p:nvSpPr>
        <p:spPr>
          <a:xfrm>
            <a:off x="4451968" y="1145188"/>
            <a:ext cx="5576387" cy="319957"/>
          </a:xfrm>
          <a:prstGeom prst="rect">
            <a:avLst/>
          </a:prstGeom>
          <a:noFill/>
          <a:ln/>
        </p:spPr>
        <p:txBody>
          <a:bodyPr wrap="square" lIns="0" tIns="0" rIns="0" bIns="0" rtlCol="0" anchor="ctr"/>
          <a:lstStyle/>
          <a:p>
            <a:pPr algn="ctr"/>
            <a:r>
              <a:rPr lang="en-US" b="1" dirty="0">
                <a:solidFill>
                  <a:srgbClr val="3ECF80"/>
                </a:solidFill>
                <a:latin typeface="Candara" panose="020E0502030303020204" pitchFamily="34" charset="0"/>
                <a:ea typeface="Calibri" pitchFamily="34" charset="-122"/>
                <a:cs typeface="Calibri" pitchFamily="34" charset="-120"/>
              </a:rPr>
              <a:t>Backend</a:t>
            </a:r>
            <a:endParaRPr lang="en-US" dirty="0">
              <a:latin typeface="Candara" panose="020E0502030303020204" pitchFamily="34" charset="0"/>
            </a:endParaRPr>
          </a:p>
        </p:txBody>
      </p:sp>
      <p:sp>
        <p:nvSpPr>
          <p:cNvPr id="9" name="Shape 7"/>
          <p:cNvSpPr/>
          <p:nvPr/>
        </p:nvSpPr>
        <p:spPr>
          <a:xfrm>
            <a:off x="10229471" y="904875"/>
            <a:ext cx="1828324" cy="5842532"/>
          </a:xfrm>
          <a:prstGeom prst="roundRect">
            <a:avLst>
              <a:gd name="adj" fmla="val 4000"/>
            </a:avLst>
          </a:prstGeom>
          <a:solidFill>
            <a:srgbClr val="081610"/>
          </a:solidFill>
          <a:ln w="9525">
            <a:solidFill>
              <a:schemeClr val="bg1"/>
            </a:solidFill>
            <a:prstDash val="solid"/>
          </a:ln>
        </p:spPr>
        <p:txBody>
          <a:bodyPr/>
          <a:lstStyle/>
          <a:p>
            <a:endParaRPr lang="en-US" sz="1799">
              <a:latin typeface="Candara" panose="020E0502030303020204" pitchFamily="34" charset="0"/>
            </a:endParaRPr>
          </a:p>
        </p:txBody>
      </p:sp>
      <p:sp>
        <p:nvSpPr>
          <p:cNvPr id="10" name="Text 8"/>
          <p:cNvSpPr/>
          <p:nvPr/>
        </p:nvSpPr>
        <p:spPr>
          <a:xfrm>
            <a:off x="10320887" y="1145188"/>
            <a:ext cx="1645491" cy="319957"/>
          </a:xfrm>
          <a:prstGeom prst="rect">
            <a:avLst/>
          </a:prstGeom>
          <a:noFill/>
          <a:ln/>
        </p:spPr>
        <p:txBody>
          <a:bodyPr wrap="square" lIns="0" tIns="0" rIns="0" bIns="0" rtlCol="0" anchor="ctr"/>
          <a:lstStyle/>
          <a:p>
            <a:pPr algn="ctr"/>
            <a:r>
              <a:rPr lang="en-US" b="1" dirty="0">
                <a:solidFill>
                  <a:srgbClr val="3ECF80"/>
                </a:solidFill>
                <a:latin typeface="Candara" panose="020E0502030303020204" pitchFamily="34" charset="0"/>
                <a:ea typeface="Calibri" pitchFamily="34" charset="-122"/>
                <a:cs typeface="Calibri" pitchFamily="34" charset="-120"/>
              </a:rPr>
              <a:t>Data Layer</a:t>
            </a:r>
            <a:endParaRPr lang="en-US" dirty="0">
              <a:latin typeface="Candara" panose="020E0502030303020204" pitchFamily="34" charset="0"/>
            </a:endParaRPr>
          </a:p>
        </p:txBody>
      </p:sp>
      <p:sp>
        <p:nvSpPr>
          <p:cNvPr id="11" name="Shape 9"/>
          <p:cNvSpPr/>
          <p:nvPr/>
        </p:nvSpPr>
        <p:spPr>
          <a:xfrm>
            <a:off x="1832894" y="2004501"/>
            <a:ext cx="452510" cy="0"/>
          </a:xfrm>
          <a:prstGeom prst="line">
            <a:avLst/>
          </a:prstGeom>
          <a:noFill/>
          <a:ln w="19050">
            <a:solidFill>
              <a:srgbClr val="FFFFFF"/>
            </a:solidFill>
            <a:prstDash val="solid"/>
          </a:ln>
        </p:spPr>
        <p:txBody>
          <a:bodyPr/>
          <a:lstStyle/>
          <a:p>
            <a:endParaRPr lang="en-US" sz="1300">
              <a:latin typeface="Candara" panose="020E0502030303020204" pitchFamily="34" charset="0"/>
            </a:endParaRPr>
          </a:p>
        </p:txBody>
      </p:sp>
      <p:sp>
        <p:nvSpPr>
          <p:cNvPr id="12" name="Shape 10"/>
          <p:cNvSpPr/>
          <p:nvPr/>
        </p:nvSpPr>
        <p:spPr>
          <a:xfrm>
            <a:off x="4113728" y="3604284"/>
            <a:ext cx="338240" cy="0"/>
          </a:xfrm>
          <a:prstGeom prst="line">
            <a:avLst/>
          </a:prstGeom>
          <a:noFill/>
          <a:ln w="19050">
            <a:solidFill>
              <a:srgbClr val="FFFFFF"/>
            </a:solidFill>
            <a:prstDash val="solid"/>
          </a:ln>
        </p:spPr>
        <p:txBody>
          <a:bodyPr/>
          <a:lstStyle/>
          <a:p>
            <a:endParaRPr lang="en-US" sz="1300">
              <a:latin typeface="Candara" panose="020E0502030303020204" pitchFamily="34" charset="0"/>
            </a:endParaRPr>
          </a:p>
        </p:txBody>
      </p:sp>
      <p:sp>
        <p:nvSpPr>
          <p:cNvPr id="13" name="Shape 11"/>
          <p:cNvSpPr/>
          <p:nvPr/>
        </p:nvSpPr>
        <p:spPr>
          <a:xfrm>
            <a:off x="4113728" y="4838402"/>
            <a:ext cx="338240" cy="0"/>
          </a:xfrm>
          <a:prstGeom prst="line">
            <a:avLst/>
          </a:prstGeom>
          <a:noFill/>
          <a:ln w="19050">
            <a:solidFill>
              <a:srgbClr val="FFFFFF"/>
            </a:solidFill>
            <a:prstDash val="solid"/>
          </a:ln>
        </p:spPr>
        <p:txBody>
          <a:bodyPr/>
          <a:lstStyle/>
          <a:p>
            <a:endParaRPr lang="en-US" sz="1300">
              <a:latin typeface="Candara" panose="020E0502030303020204" pitchFamily="34" charset="0"/>
            </a:endParaRPr>
          </a:p>
        </p:txBody>
      </p:sp>
      <p:sp>
        <p:nvSpPr>
          <p:cNvPr id="14" name="Shape 12"/>
          <p:cNvSpPr/>
          <p:nvPr/>
        </p:nvSpPr>
        <p:spPr>
          <a:xfrm>
            <a:off x="1832894" y="6026813"/>
            <a:ext cx="2619074" cy="0"/>
          </a:xfrm>
          <a:prstGeom prst="line">
            <a:avLst/>
          </a:prstGeom>
          <a:noFill/>
          <a:ln w="19050">
            <a:solidFill>
              <a:srgbClr val="FFFFFF"/>
            </a:solidFill>
            <a:prstDash val="solid"/>
          </a:ln>
        </p:spPr>
        <p:txBody>
          <a:bodyPr/>
          <a:lstStyle/>
          <a:p>
            <a:endParaRPr lang="en-US" sz="1300">
              <a:latin typeface="Candara" panose="020E0502030303020204" pitchFamily="34" charset="0"/>
            </a:endParaRPr>
          </a:p>
        </p:txBody>
      </p:sp>
      <p:sp>
        <p:nvSpPr>
          <p:cNvPr id="16" name="Shape 14"/>
          <p:cNvSpPr/>
          <p:nvPr/>
        </p:nvSpPr>
        <p:spPr>
          <a:xfrm>
            <a:off x="6371708" y="3604284"/>
            <a:ext cx="164549" cy="0"/>
          </a:xfrm>
          <a:prstGeom prst="line">
            <a:avLst/>
          </a:prstGeom>
          <a:noFill/>
          <a:ln w="19050">
            <a:solidFill>
              <a:srgbClr val="FFFFFF"/>
            </a:solidFill>
            <a:prstDash val="solid"/>
          </a:ln>
        </p:spPr>
        <p:txBody>
          <a:bodyPr/>
          <a:lstStyle/>
          <a:p>
            <a:endParaRPr lang="en-US" sz="1300">
              <a:latin typeface="Candara" panose="020E0502030303020204" pitchFamily="34" charset="0"/>
            </a:endParaRPr>
          </a:p>
        </p:txBody>
      </p:sp>
      <p:sp>
        <p:nvSpPr>
          <p:cNvPr id="17" name="Shape 15"/>
          <p:cNvSpPr/>
          <p:nvPr/>
        </p:nvSpPr>
        <p:spPr>
          <a:xfrm>
            <a:off x="8684537" y="3604284"/>
            <a:ext cx="201116" cy="0"/>
          </a:xfrm>
          <a:prstGeom prst="line">
            <a:avLst/>
          </a:prstGeom>
          <a:noFill/>
          <a:ln w="19050">
            <a:solidFill>
              <a:srgbClr val="FFFFFF"/>
            </a:solidFill>
            <a:prstDash val="solid"/>
          </a:ln>
        </p:spPr>
        <p:txBody>
          <a:bodyPr/>
          <a:lstStyle/>
          <a:p>
            <a:endParaRPr lang="en-US" sz="1300">
              <a:latin typeface="Candara" panose="020E0502030303020204" pitchFamily="34" charset="0"/>
            </a:endParaRPr>
          </a:p>
        </p:txBody>
      </p:sp>
      <p:sp>
        <p:nvSpPr>
          <p:cNvPr id="18" name="Shape 16"/>
          <p:cNvSpPr/>
          <p:nvPr/>
        </p:nvSpPr>
        <p:spPr>
          <a:xfrm>
            <a:off x="6280292" y="4838402"/>
            <a:ext cx="255965" cy="0"/>
          </a:xfrm>
          <a:prstGeom prst="line">
            <a:avLst/>
          </a:prstGeom>
          <a:noFill/>
          <a:ln w="19050">
            <a:solidFill>
              <a:srgbClr val="FFFFFF"/>
            </a:solidFill>
            <a:prstDash val="solid"/>
          </a:ln>
        </p:spPr>
        <p:txBody>
          <a:bodyPr/>
          <a:lstStyle/>
          <a:p>
            <a:endParaRPr lang="en-US" sz="1300">
              <a:latin typeface="Candara" panose="020E0502030303020204" pitchFamily="34" charset="0"/>
            </a:endParaRPr>
          </a:p>
        </p:txBody>
      </p:sp>
      <p:sp>
        <p:nvSpPr>
          <p:cNvPr id="20" name="Shape 18"/>
          <p:cNvSpPr/>
          <p:nvPr/>
        </p:nvSpPr>
        <p:spPr>
          <a:xfrm>
            <a:off x="1101565" y="3787116"/>
            <a:ext cx="0" cy="1965448"/>
          </a:xfrm>
          <a:prstGeom prst="line">
            <a:avLst/>
          </a:prstGeom>
          <a:noFill/>
          <a:ln w="19050">
            <a:solidFill>
              <a:srgbClr val="FFFFFF"/>
            </a:solidFill>
            <a:prstDash val="solid"/>
          </a:ln>
        </p:spPr>
        <p:txBody>
          <a:bodyPr/>
          <a:lstStyle/>
          <a:p>
            <a:endParaRPr lang="en-US" sz="1300">
              <a:latin typeface="Candara" panose="020E0502030303020204" pitchFamily="34" charset="0"/>
            </a:endParaRPr>
          </a:p>
        </p:txBody>
      </p:sp>
      <p:sp>
        <p:nvSpPr>
          <p:cNvPr id="22" name="Shape 20"/>
          <p:cNvSpPr/>
          <p:nvPr/>
        </p:nvSpPr>
        <p:spPr>
          <a:xfrm>
            <a:off x="3016734" y="2370165"/>
            <a:ext cx="0" cy="982724"/>
          </a:xfrm>
          <a:prstGeom prst="line">
            <a:avLst/>
          </a:prstGeom>
          <a:noFill/>
          <a:ln w="19050">
            <a:solidFill>
              <a:srgbClr val="FFFFFF"/>
            </a:solidFill>
            <a:prstDash val="solid"/>
          </a:ln>
        </p:spPr>
        <p:txBody>
          <a:bodyPr/>
          <a:lstStyle/>
          <a:p>
            <a:endParaRPr lang="en-US" sz="1300">
              <a:latin typeface="Candara" panose="020E0502030303020204" pitchFamily="34" charset="0"/>
            </a:endParaRPr>
          </a:p>
        </p:txBody>
      </p:sp>
      <p:sp>
        <p:nvSpPr>
          <p:cNvPr id="23" name="Shape 21"/>
          <p:cNvSpPr/>
          <p:nvPr/>
        </p:nvSpPr>
        <p:spPr>
          <a:xfrm>
            <a:off x="3382398" y="2370165"/>
            <a:ext cx="0" cy="2193989"/>
          </a:xfrm>
          <a:prstGeom prst="line">
            <a:avLst/>
          </a:prstGeom>
          <a:noFill/>
          <a:ln w="19050">
            <a:solidFill>
              <a:srgbClr val="FFFFFF"/>
            </a:solidFill>
            <a:prstDash val="solid"/>
          </a:ln>
        </p:spPr>
        <p:txBody>
          <a:bodyPr/>
          <a:lstStyle/>
          <a:p>
            <a:endParaRPr lang="en-US" sz="1300">
              <a:latin typeface="Candara" panose="020E0502030303020204" pitchFamily="34" charset="0"/>
            </a:endParaRPr>
          </a:p>
        </p:txBody>
      </p:sp>
      <p:sp>
        <p:nvSpPr>
          <p:cNvPr id="24" name="Shape 22"/>
          <p:cNvSpPr/>
          <p:nvPr/>
        </p:nvSpPr>
        <p:spPr>
          <a:xfrm>
            <a:off x="397660" y="1734823"/>
            <a:ext cx="1462659" cy="594205"/>
          </a:xfrm>
          <a:prstGeom prst="roundRect">
            <a:avLst>
              <a:gd name="adj" fmla="val 9231"/>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25" name="Shape 23"/>
          <p:cNvSpPr/>
          <p:nvPr/>
        </p:nvSpPr>
        <p:spPr>
          <a:xfrm>
            <a:off x="370235" y="1707398"/>
            <a:ext cx="1462659" cy="594205"/>
          </a:xfrm>
          <a:prstGeom prst="roundRect">
            <a:avLst>
              <a:gd name="adj" fmla="val 9231"/>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sp>
        <p:nvSpPr>
          <p:cNvPr id="26" name="Text 24"/>
          <p:cNvSpPr/>
          <p:nvPr/>
        </p:nvSpPr>
        <p:spPr>
          <a:xfrm>
            <a:off x="425085" y="1743965"/>
            <a:ext cx="1352960" cy="521072"/>
          </a:xfrm>
          <a:prstGeom prst="rect">
            <a:avLst/>
          </a:prstGeom>
          <a:noFill/>
          <a:ln/>
        </p:spPr>
        <p:txBody>
          <a:bodyPr wrap="square" lIns="0" tIns="0" rIns="0" bIns="0" rtlCol="0" anchor="ctr"/>
          <a:lstStyle/>
          <a:p>
            <a:pPr algn="ctr"/>
            <a:r>
              <a:rPr lang="en-US" sz="1400" b="1" dirty="0">
                <a:solidFill>
                  <a:srgbClr val="FFC000"/>
                </a:solidFill>
                <a:latin typeface="Candara" panose="020E0502030303020204" pitchFamily="34" charset="0"/>
                <a:ea typeface="Calibri" pitchFamily="34" charset="-122"/>
                <a:cs typeface="Calibri" pitchFamily="34" charset="-120"/>
              </a:rPr>
              <a:t>Operator</a:t>
            </a:r>
            <a:endParaRPr lang="en-US" sz="1400" b="1" dirty="0">
              <a:solidFill>
                <a:srgbClr val="FFC000"/>
              </a:solidFill>
              <a:latin typeface="Candara" panose="020E0502030303020204" pitchFamily="34" charset="0"/>
            </a:endParaRPr>
          </a:p>
          <a:p>
            <a:pPr algn="ctr"/>
            <a:r>
              <a:rPr lang="en-US" sz="1400" b="1" dirty="0">
                <a:solidFill>
                  <a:srgbClr val="FFC000"/>
                </a:solidFill>
                <a:latin typeface="Candara" panose="020E0502030303020204" pitchFamily="34" charset="0"/>
                <a:ea typeface="Calibri" pitchFamily="34" charset="-122"/>
                <a:cs typeface="Calibri" pitchFamily="34" charset="-120"/>
              </a:rPr>
              <a:t>Web Browser</a:t>
            </a:r>
            <a:endParaRPr lang="en-US" sz="1400" b="1" dirty="0">
              <a:solidFill>
                <a:srgbClr val="FFC000"/>
              </a:solidFill>
              <a:latin typeface="Candara" panose="020E0502030303020204" pitchFamily="34" charset="0"/>
            </a:endParaRPr>
          </a:p>
        </p:txBody>
      </p:sp>
      <p:sp>
        <p:nvSpPr>
          <p:cNvPr id="27" name="Shape 25"/>
          <p:cNvSpPr/>
          <p:nvPr/>
        </p:nvSpPr>
        <p:spPr>
          <a:xfrm>
            <a:off x="397660" y="3266044"/>
            <a:ext cx="1462659" cy="548497"/>
          </a:xfrm>
          <a:prstGeom prst="roundRect">
            <a:avLst>
              <a:gd name="adj" fmla="val 10000"/>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28" name="Shape 26"/>
          <p:cNvSpPr/>
          <p:nvPr/>
        </p:nvSpPr>
        <p:spPr>
          <a:xfrm>
            <a:off x="370235" y="3238619"/>
            <a:ext cx="1462659" cy="548497"/>
          </a:xfrm>
          <a:prstGeom prst="roundRect">
            <a:avLst>
              <a:gd name="adj" fmla="val 10000"/>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sp>
        <p:nvSpPr>
          <p:cNvPr id="29" name="Text 27"/>
          <p:cNvSpPr/>
          <p:nvPr/>
        </p:nvSpPr>
        <p:spPr>
          <a:xfrm>
            <a:off x="425085" y="3275186"/>
            <a:ext cx="1352960" cy="475364"/>
          </a:xfrm>
          <a:prstGeom prst="rect">
            <a:avLst/>
          </a:prstGeom>
          <a:noFill/>
          <a:ln/>
        </p:spPr>
        <p:txBody>
          <a:bodyPr wrap="square" lIns="0" tIns="0" rIns="0" bIns="0" rtlCol="0" anchor="ctr"/>
          <a:lstStyle/>
          <a:p>
            <a:pPr algn="ctr"/>
            <a:r>
              <a:rPr lang="en-US" sz="1400" b="1" dirty="0">
                <a:solidFill>
                  <a:srgbClr val="FFC000"/>
                </a:solidFill>
                <a:latin typeface="Candara" panose="020E0502030303020204" pitchFamily="34" charset="0"/>
                <a:ea typeface="Calibri" pitchFamily="34" charset="-122"/>
                <a:cs typeface="Calibri" pitchFamily="34" charset="-120"/>
              </a:rPr>
              <a:t>IoT Devices</a:t>
            </a:r>
            <a:endParaRPr lang="en-US" sz="1400" b="1" dirty="0">
              <a:solidFill>
                <a:srgbClr val="FFC000"/>
              </a:solidFill>
              <a:latin typeface="Candara" panose="020E0502030303020204" pitchFamily="34" charset="0"/>
            </a:endParaRPr>
          </a:p>
          <a:p>
            <a:pPr algn="ctr"/>
            <a:r>
              <a:rPr lang="en-US" sz="1400" b="1" dirty="0">
                <a:solidFill>
                  <a:srgbClr val="FFC000"/>
                </a:solidFill>
                <a:latin typeface="Candara" panose="020E0502030303020204" pitchFamily="34" charset="0"/>
                <a:ea typeface="Calibri" pitchFamily="34" charset="-122"/>
                <a:cs typeface="Calibri" pitchFamily="34" charset="-120"/>
              </a:rPr>
              <a:t>/Gateway</a:t>
            </a:r>
            <a:endParaRPr lang="en-US" sz="1300" b="1" dirty="0">
              <a:solidFill>
                <a:srgbClr val="FFC000"/>
              </a:solidFill>
              <a:latin typeface="Candara" panose="020E0502030303020204" pitchFamily="34" charset="0"/>
            </a:endParaRPr>
          </a:p>
        </p:txBody>
      </p:sp>
      <p:sp>
        <p:nvSpPr>
          <p:cNvPr id="30" name="Shape 28"/>
          <p:cNvSpPr/>
          <p:nvPr/>
        </p:nvSpPr>
        <p:spPr>
          <a:xfrm>
            <a:off x="397660" y="5779989"/>
            <a:ext cx="1462659" cy="548497"/>
          </a:xfrm>
          <a:prstGeom prst="roundRect">
            <a:avLst>
              <a:gd name="adj" fmla="val 10000"/>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31" name="Shape 29"/>
          <p:cNvSpPr/>
          <p:nvPr/>
        </p:nvSpPr>
        <p:spPr>
          <a:xfrm>
            <a:off x="370235" y="5752564"/>
            <a:ext cx="1462659" cy="548497"/>
          </a:xfrm>
          <a:prstGeom prst="roundRect">
            <a:avLst>
              <a:gd name="adj" fmla="val 10000"/>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sp>
        <p:nvSpPr>
          <p:cNvPr id="32" name="Text 30"/>
          <p:cNvSpPr/>
          <p:nvPr/>
        </p:nvSpPr>
        <p:spPr>
          <a:xfrm>
            <a:off x="425085" y="5789131"/>
            <a:ext cx="1352960" cy="475364"/>
          </a:xfrm>
          <a:prstGeom prst="rect">
            <a:avLst/>
          </a:prstGeom>
          <a:noFill/>
          <a:ln/>
        </p:spPr>
        <p:txBody>
          <a:bodyPr wrap="square" lIns="0" tIns="0" rIns="0" bIns="0" rtlCol="0" anchor="ctr"/>
          <a:lstStyle/>
          <a:p>
            <a:pPr algn="ctr"/>
            <a:r>
              <a:rPr lang="en-US" sz="1400" b="1" dirty="0">
                <a:solidFill>
                  <a:srgbClr val="FFC000"/>
                </a:solidFill>
                <a:latin typeface="Candara" panose="020E0502030303020204" pitchFamily="34" charset="0"/>
                <a:ea typeface="Calibri" pitchFamily="34" charset="-122"/>
                <a:cs typeface="Calibri" pitchFamily="34" charset="-120"/>
              </a:rPr>
              <a:t>MQTT</a:t>
            </a:r>
            <a:endParaRPr lang="en-US" sz="1400" b="1" dirty="0">
              <a:solidFill>
                <a:srgbClr val="FFC000"/>
              </a:solidFill>
              <a:latin typeface="Candara" panose="020E0502030303020204" pitchFamily="34" charset="0"/>
            </a:endParaRPr>
          </a:p>
          <a:p>
            <a:pPr algn="ctr"/>
            <a:r>
              <a:rPr lang="en-US" sz="1400" b="1" dirty="0">
                <a:solidFill>
                  <a:srgbClr val="FFC000"/>
                </a:solidFill>
                <a:latin typeface="Candara" panose="020E0502030303020204" pitchFamily="34" charset="0"/>
                <a:ea typeface="Calibri" pitchFamily="34" charset="-122"/>
                <a:cs typeface="Calibri" pitchFamily="34" charset="-120"/>
              </a:rPr>
              <a:t>Broker</a:t>
            </a:r>
            <a:endParaRPr lang="en-US" sz="1400" b="1" dirty="0">
              <a:solidFill>
                <a:srgbClr val="FFC000"/>
              </a:solidFill>
              <a:latin typeface="Candara" panose="020E0502030303020204" pitchFamily="34" charset="0"/>
            </a:endParaRPr>
          </a:p>
        </p:txBody>
      </p:sp>
      <p:sp>
        <p:nvSpPr>
          <p:cNvPr id="33" name="Shape 31"/>
          <p:cNvSpPr/>
          <p:nvPr/>
        </p:nvSpPr>
        <p:spPr>
          <a:xfrm>
            <a:off x="2312829" y="1666260"/>
            <a:ext cx="1828324" cy="731330"/>
          </a:xfrm>
          <a:prstGeom prst="roundRect">
            <a:avLst>
              <a:gd name="adj" fmla="val 7500"/>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34" name="Shape 32"/>
          <p:cNvSpPr/>
          <p:nvPr/>
        </p:nvSpPr>
        <p:spPr>
          <a:xfrm>
            <a:off x="2285404" y="1638836"/>
            <a:ext cx="1828324" cy="731330"/>
          </a:xfrm>
          <a:prstGeom prst="roundRect">
            <a:avLst>
              <a:gd name="adj" fmla="val 7500"/>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sp>
        <p:nvSpPr>
          <p:cNvPr id="35" name="Text 33"/>
          <p:cNvSpPr/>
          <p:nvPr/>
        </p:nvSpPr>
        <p:spPr>
          <a:xfrm>
            <a:off x="2340254" y="1675402"/>
            <a:ext cx="1718624" cy="658197"/>
          </a:xfrm>
          <a:prstGeom prst="rect">
            <a:avLst/>
          </a:prstGeom>
          <a:noFill/>
          <a:ln/>
        </p:spPr>
        <p:txBody>
          <a:bodyPr wrap="square" lIns="0" tIns="0" rIns="0" bIns="0" rtlCol="0" anchor="ctr"/>
          <a:lstStyle/>
          <a:p>
            <a:pPr algn="ctr"/>
            <a:r>
              <a:rPr lang="en-US" sz="1400" b="1" dirty="0">
                <a:solidFill>
                  <a:srgbClr val="FFFF00"/>
                </a:solidFill>
                <a:latin typeface="Candara" panose="020E0502030303020204" pitchFamily="34" charset="0"/>
                <a:ea typeface="Calibri" pitchFamily="34" charset="-122"/>
                <a:cs typeface="Calibri" pitchFamily="34" charset="-120"/>
              </a:rPr>
              <a:t>React SPA</a:t>
            </a:r>
            <a:endParaRPr lang="en-US" sz="1400" b="1" dirty="0">
              <a:solidFill>
                <a:srgbClr val="FFFF00"/>
              </a:solidFill>
              <a:latin typeface="Candara" panose="020E0502030303020204" pitchFamily="34" charset="0"/>
            </a:endParaRPr>
          </a:p>
          <a:p>
            <a:pPr algn="ctr"/>
            <a:r>
              <a:rPr lang="en-US" sz="1300" dirty="0">
                <a:solidFill>
                  <a:srgbClr val="FFFFFF"/>
                </a:solidFill>
                <a:latin typeface="Candara" panose="020E0502030303020204" pitchFamily="34" charset="0"/>
                <a:ea typeface="Calibri" pitchFamily="34" charset="-122"/>
                <a:cs typeface="Calibri" pitchFamily="34" charset="-120"/>
              </a:rPr>
              <a:t>(MUI + React Router)</a:t>
            </a:r>
            <a:endParaRPr lang="en-US" sz="1300" dirty="0">
              <a:latin typeface="Candara" panose="020E0502030303020204" pitchFamily="34" charset="0"/>
            </a:endParaRPr>
          </a:p>
        </p:txBody>
      </p:sp>
      <p:sp>
        <p:nvSpPr>
          <p:cNvPr id="36" name="Shape 34"/>
          <p:cNvSpPr/>
          <p:nvPr/>
        </p:nvSpPr>
        <p:spPr>
          <a:xfrm>
            <a:off x="2312829" y="3380314"/>
            <a:ext cx="1828324" cy="502789"/>
          </a:xfrm>
          <a:prstGeom prst="roundRect">
            <a:avLst>
              <a:gd name="adj" fmla="val 10909"/>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37" name="Shape 35"/>
          <p:cNvSpPr/>
          <p:nvPr/>
        </p:nvSpPr>
        <p:spPr>
          <a:xfrm>
            <a:off x="2285404" y="3352889"/>
            <a:ext cx="1828324" cy="502789"/>
          </a:xfrm>
          <a:prstGeom prst="roundRect">
            <a:avLst>
              <a:gd name="adj" fmla="val 10909"/>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sp>
        <p:nvSpPr>
          <p:cNvPr id="38" name="Text 36"/>
          <p:cNvSpPr/>
          <p:nvPr/>
        </p:nvSpPr>
        <p:spPr>
          <a:xfrm>
            <a:off x="2340254" y="3389456"/>
            <a:ext cx="1718624" cy="429656"/>
          </a:xfrm>
          <a:prstGeom prst="rect">
            <a:avLst/>
          </a:prstGeom>
          <a:noFill/>
          <a:ln/>
        </p:spPr>
        <p:txBody>
          <a:bodyPr wrap="square" lIns="0" tIns="0" rIns="0" bIns="0" rtlCol="0" anchor="ctr"/>
          <a:lstStyle/>
          <a:p>
            <a:pPr algn="ctr"/>
            <a:r>
              <a:rPr lang="en-US" sz="1400" b="1" dirty="0">
                <a:solidFill>
                  <a:srgbClr val="FFFF00"/>
                </a:solidFill>
                <a:latin typeface="Candara" panose="020E0502030303020204" pitchFamily="34" charset="0"/>
                <a:ea typeface="Calibri" pitchFamily="34" charset="-122"/>
                <a:cs typeface="Calibri" pitchFamily="34" charset="-120"/>
              </a:rPr>
              <a:t>REST client</a:t>
            </a:r>
            <a:endParaRPr lang="en-US" sz="1400" b="1" dirty="0">
              <a:solidFill>
                <a:srgbClr val="FFFF00"/>
              </a:solidFill>
              <a:latin typeface="Candara" panose="020E0502030303020204" pitchFamily="34" charset="0"/>
            </a:endParaRPr>
          </a:p>
          <a:p>
            <a:pPr algn="ctr"/>
            <a:r>
              <a:rPr lang="en-US" sz="1300" dirty="0">
                <a:solidFill>
                  <a:srgbClr val="FFFFFF"/>
                </a:solidFill>
                <a:latin typeface="Candara" panose="020E0502030303020204" pitchFamily="34" charset="0"/>
                <a:ea typeface="Calibri" pitchFamily="34" charset="-122"/>
                <a:cs typeface="Calibri" pitchFamily="34" charset="-120"/>
              </a:rPr>
              <a:t>(</a:t>
            </a:r>
            <a:r>
              <a:rPr lang="en-US" sz="1300" dirty="0" err="1">
                <a:solidFill>
                  <a:srgbClr val="FFFFFF"/>
                </a:solidFill>
                <a:latin typeface="Candara" panose="020E0502030303020204" pitchFamily="34" charset="0"/>
                <a:ea typeface="Calibri" pitchFamily="34" charset="-122"/>
                <a:cs typeface="Calibri" pitchFamily="34" charset="-120"/>
              </a:rPr>
              <a:t>api.ts</a:t>
            </a:r>
            <a:r>
              <a:rPr lang="en-US" sz="1300" dirty="0">
                <a:solidFill>
                  <a:srgbClr val="FFFFFF"/>
                </a:solidFill>
                <a:latin typeface="Candara" panose="020E0502030303020204" pitchFamily="34" charset="0"/>
                <a:ea typeface="Calibri" pitchFamily="34" charset="-122"/>
                <a:cs typeface="Calibri" pitchFamily="34" charset="-120"/>
              </a:rPr>
              <a:t> )</a:t>
            </a:r>
            <a:endParaRPr lang="en-US" sz="1300" dirty="0">
              <a:latin typeface="Candara" panose="020E0502030303020204" pitchFamily="34" charset="0"/>
            </a:endParaRPr>
          </a:p>
        </p:txBody>
      </p:sp>
      <p:sp>
        <p:nvSpPr>
          <p:cNvPr id="39" name="Shape 37"/>
          <p:cNvSpPr/>
          <p:nvPr/>
        </p:nvSpPr>
        <p:spPr>
          <a:xfrm>
            <a:off x="2312829" y="4591579"/>
            <a:ext cx="1828324" cy="548497"/>
          </a:xfrm>
          <a:prstGeom prst="roundRect">
            <a:avLst>
              <a:gd name="adj" fmla="val 10000"/>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40" name="Shape 38"/>
          <p:cNvSpPr/>
          <p:nvPr/>
        </p:nvSpPr>
        <p:spPr>
          <a:xfrm>
            <a:off x="2285404" y="4564154"/>
            <a:ext cx="1828324" cy="548497"/>
          </a:xfrm>
          <a:prstGeom prst="roundRect">
            <a:avLst>
              <a:gd name="adj" fmla="val 10000"/>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sp>
        <p:nvSpPr>
          <p:cNvPr id="41" name="Text 39"/>
          <p:cNvSpPr/>
          <p:nvPr/>
        </p:nvSpPr>
        <p:spPr>
          <a:xfrm>
            <a:off x="2340254" y="4600720"/>
            <a:ext cx="1718624" cy="475364"/>
          </a:xfrm>
          <a:prstGeom prst="rect">
            <a:avLst/>
          </a:prstGeom>
          <a:noFill/>
          <a:ln/>
        </p:spPr>
        <p:txBody>
          <a:bodyPr wrap="square" lIns="0" tIns="0" rIns="0" bIns="0" rtlCol="0" anchor="ctr"/>
          <a:lstStyle/>
          <a:p>
            <a:pPr algn="ctr"/>
            <a:r>
              <a:rPr lang="en-US" sz="1400" b="1" dirty="0" err="1">
                <a:solidFill>
                  <a:srgbClr val="FFFF00"/>
                </a:solidFill>
                <a:latin typeface="Candara" panose="020E0502030303020204" pitchFamily="34" charset="0"/>
                <a:ea typeface="Calibri" pitchFamily="34" charset="-122"/>
                <a:cs typeface="Calibri" pitchFamily="34" charset="-120"/>
              </a:rPr>
              <a:t>SignalR</a:t>
            </a:r>
            <a:r>
              <a:rPr lang="en-US" sz="1400" b="1" dirty="0">
                <a:solidFill>
                  <a:srgbClr val="FFFF00"/>
                </a:solidFill>
                <a:latin typeface="Candara" panose="020E0502030303020204" pitchFamily="34" charset="0"/>
                <a:ea typeface="Calibri" pitchFamily="34" charset="-122"/>
                <a:cs typeface="Calibri" pitchFamily="34" charset="-120"/>
              </a:rPr>
              <a:t> client</a:t>
            </a:r>
          </a:p>
          <a:p>
            <a:pPr algn="ctr"/>
            <a:r>
              <a:rPr lang="en-US" sz="1300" dirty="0">
                <a:solidFill>
                  <a:srgbClr val="FFFFFF"/>
                </a:solidFill>
                <a:latin typeface="Candara" panose="020E0502030303020204" pitchFamily="34" charset="0"/>
                <a:ea typeface="Calibri" pitchFamily="34" charset="-122"/>
                <a:cs typeface="Calibri" pitchFamily="34" charset="-120"/>
              </a:rPr>
              <a:t>(</a:t>
            </a:r>
            <a:r>
              <a:rPr lang="en-US" sz="1300" dirty="0" err="1">
                <a:solidFill>
                  <a:srgbClr val="FFFFFF"/>
                </a:solidFill>
                <a:latin typeface="Candara" panose="020E0502030303020204" pitchFamily="34" charset="0"/>
                <a:ea typeface="Calibri" pitchFamily="34" charset="-122"/>
                <a:cs typeface="Calibri" pitchFamily="34" charset="-120"/>
              </a:rPr>
              <a:t>signalRService.ts</a:t>
            </a:r>
            <a:r>
              <a:rPr lang="en-US" sz="1300" dirty="0">
                <a:solidFill>
                  <a:srgbClr val="FFFFFF"/>
                </a:solidFill>
                <a:latin typeface="Candara" panose="020E0502030303020204" pitchFamily="34" charset="0"/>
                <a:ea typeface="Calibri" pitchFamily="34" charset="-122"/>
                <a:cs typeface="Calibri" pitchFamily="34" charset="-120"/>
              </a:rPr>
              <a:t>)</a:t>
            </a:r>
            <a:endParaRPr lang="en-US" sz="1300" dirty="0">
              <a:latin typeface="Candara" panose="020E0502030303020204" pitchFamily="34" charset="0"/>
            </a:endParaRPr>
          </a:p>
        </p:txBody>
      </p:sp>
      <p:sp>
        <p:nvSpPr>
          <p:cNvPr id="42" name="Shape 40"/>
          <p:cNvSpPr/>
          <p:nvPr/>
        </p:nvSpPr>
        <p:spPr>
          <a:xfrm>
            <a:off x="4479393" y="3128920"/>
            <a:ext cx="1919740" cy="1005578"/>
          </a:xfrm>
          <a:prstGeom prst="roundRect">
            <a:avLst>
              <a:gd name="adj" fmla="val 5455"/>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43" name="Shape 41"/>
          <p:cNvSpPr/>
          <p:nvPr/>
        </p:nvSpPr>
        <p:spPr>
          <a:xfrm>
            <a:off x="4451968" y="3101495"/>
            <a:ext cx="1919740" cy="1005578"/>
          </a:xfrm>
          <a:prstGeom prst="roundRect">
            <a:avLst>
              <a:gd name="adj" fmla="val 5455"/>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sp>
        <p:nvSpPr>
          <p:cNvPr id="44" name="Text 42"/>
          <p:cNvSpPr/>
          <p:nvPr/>
        </p:nvSpPr>
        <p:spPr>
          <a:xfrm>
            <a:off x="4506817" y="3138061"/>
            <a:ext cx="1810041" cy="932445"/>
          </a:xfrm>
          <a:prstGeom prst="rect">
            <a:avLst/>
          </a:prstGeom>
          <a:noFill/>
          <a:ln/>
        </p:spPr>
        <p:txBody>
          <a:bodyPr wrap="square" lIns="0" tIns="0" rIns="0" bIns="0" rtlCol="0" anchor="ctr"/>
          <a:lstStyle/>
          <a:p>
            <a:pPr algn="ctr"/>
            <a:r>
              <a:rPr lang="en-US" sz="1400" b="1" dirty="0">
                <a:solidFill>
                  <a:srgbClr val="00B0F0"/>
                </a:solidFill>
                <a:latin typeface="Candara" panose="020E0502030303020204" pitchFamily="34" charset="0"/>
                <a:ea typeface="Calibri" pitchFamily="34" charset="-122"/>
                <a:cs typeface="Calibri" pitchFamily="34" charset="-120"/>
              </a:rPr>
              <a:t>REST Controllers</a:t>
            </a:r>
            <a:endParaRPr lang="en-US" sz="1400" b="1" dirty="0">
              <a:solidFill>
                <a:srgbClr val="00B0F0"/>
              </a:solidFill>
              <a:latin typeface="Candara" panose="020E0502030303020204" pitchFamily="34" charset="0"/>
            </a:endParaRPr>
          </a:p>
          <a:p>
            <a:pPr algn="ctr"/>
            <a:r>
              <a:rPr lang="en-US" sz="1300" dirty="0">
                <a:solidFill>
                  <a:srgbClr val="FFFFFF"/>
                </a:solidFill>
                <a:latin typeface="Candara" panose="020E0502030303020204" pitchFamily="34" charset="0"/>
                <a:ea typeface="Calibri" pitchFamily="34" charset="-122"/>
                <a:cs typeface="Calibri" pitchFamily="34" charset="-120"/>
              </a:rPr>
              <a:t>Devices, Sensors,</a:t>
            </a:r>
            <a:endParaRPr lang="en-US" sz="1300" dirty="0">
              <a:latin typeface="Candara" panose="020E0502030303020204" pitchFamily="34" charset="0"/>
            </a:endParaRPr>
          </a:p>
          <a:p>
            <a:pPr algn="ctr"/>
            <a:r>
              <a:rPr lang="en-US" sz="1300" dirty="0">
                <a:solidFill>
                  <a:srgbClr val="FFFFFF"/>
                </a:solidFill>
                <a:latin typeface="Candara" panose="020E0502030303020204" pitchFamily="34" charset="0"/>
                <a:ea typeface="Calibri" pitchFamily="34" charset="-122"/>
                <a:cs typeface="Calibri" pitchFamily="34" charset="-120"/>
              </a:rPr>
              <a:t>SensorReadings,</a:t>
            </a:r>
            <a:endParaRPr lang="en-US" sz="1300" dirty="0">
              <a:latin typeface="Candara" panose="020E0502030303020204" pitchFamily="34" charset="0"/>
            </a:endParaRPr>
          </a:p>
          <a:p>
            <a:pPr algn="ctr"/>
            <a:r>
              <a:rPr lang="en-US" sz="1300" dirty="0">
                <a:solidFill>
                  <a:srgbClr val="FFFFFF"/>
                </a:solidFill>
                <a:latin typeface="Candara" panose="020E0502030303020204" pitchFamily="34" charset="0"/>
                <a:ea typeface="Calibri" pitchFamily="34" charset="-122"/>
                <a:cs typeface="Calibri" pitchFamily="34" charset="-120"/>
              </a:rPr>
              <a:t>Alerts, AlertRules,</a:t>
            </a:r>
            <a:endParaRPr lang="en-US" sz="1300" dirty="0">
              <a:latin typeface="Candara" panose="020E0502030303020204" pitchFamily="34" charset="0"/>
            </a:endParaRPr>
          </a:p>
          <a:p>
            <a:pPr algn="ctr"/>
            <a:r>
              <a:rPr lang="en-US" sz="1300" dirty="0">
                <a:solidFill>
                  <a:srgbClr val="FFFFFF"/>
                </a:solidFill>
                <a:latin typeface="Candara" panose="020E0502030303020204" pitchFamily="34" charset="0"/>
                <a:ea typeface="Calibri" pitchFamily="34" charset="-122"/>
                <a:cs typeface="Calibri" pitchFamily="34" charset="-120"/>
              </a:rPr>
              <a:t>Health</a:t>
            </a:r>
            <a:endParaRPr lang="en-US" sz="1300" dirty="0">
              <a:latin typeface="Candara" panose="020E0502030303020204" pitchFamily="34" charset="0"/>
            </a:endParaRPr>
          </a:p>
        </p:txBody>
      </p:sp>
      <p:sp>
        <p:nvSpPr>
          <p:cNvPr id="45" name="Shape 43"/>
          <p:cNvSpPr/>
          <p:nvPr/>
        </p:nvSpPr>
        <p:spPr>
          <a:xfrm>
            <a:off x="6563682" y="3037504"/>
            <a:ext cx="2148280" cy="1188410"/>
          </a:xfrm>
          <a:prstGeom prst="roundRect">
            <a:avLst>
              <a:gd name="adj" fmla="val 4615"/>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46" name="Shape 44"/>
          <p:cNvSpPr/>
          <p:nvPr/>
        </p:nvSpPr>
        <p:spPr>
          <a:xfrm>
            <a:off x="6536257" y="3010079"/>
            <a:ext cx="2148280" cy="1188410"/>
          </a:xfrm>
          <a:prstGeom prst="roundRect">
            <a:avLst>
              <a:gd name="adj" fmla="val 4615"/>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sp>
        <p:nvSpPr>
          <p:cNvPr id="47" name="Text 45"/>
          <p:cNvSpPr/>
          <p:nvPr/>
        </p:nvSpPr>
        <p:spPr>
          <a:xfrm>
            <a:off x="6591107" y="3046645"/>
            <a:ext cx="2038581" cy="1115277"/>
          </a:xfrm>
          <a:prstGeom prst="rect">
            <a:avLst/>
          </a:prstGeom>
          <a:noFill/>
          <a:ln/>
        </p:spPr>
        <p:txBody>
          <a:bodyPr wrap="square" lIns="0" tIns="0" rIns="0" bIns="0" rtlCol="0" anchor="ctr"/>
          <a:lstStyle/>
          <a:p>
            <a:pPr algn="ctr"/>
            <a:r>
              <a:rPr lang="en-US" sz="1400" b="1" dirty="0">
                <a:solidFill>
                  <a:srgbClr val="00B0F0"/>
                </a:solidFill>
                <a:latin typeface="Candara" panose="020E0502030303020204" pitchFamily="34" charset="0"/>
                <a:ea typeface="Calibri" pitchFamily="34" charset="-122"/>
                <a:cs typeface="Calibri" pitchFamily="34" charset="-120"/>
              </a:rPr>
              <a:t>Application Services</a:t>
            </a:r>
            <a:endParaRPr lang="en-US" sz="1400" b="1" dirty="0">
              <a:solidFill>
                <a:srgbClr val="00B0F0"/>
              </a:solidFill>
              <a:latin typeface="Candara" panose="020E0502030303020204" pitchFamily="34" charset="0"/>
            </a:endParaRPr>
          </a:p>
          <a:p>
            <a:pPr algn="ctr"/>
            <a:r>
              <a:rPr lang="en-US" sz="1300" dirty="0">
                <a:solidFill>
                  <a:srgbClr val="FFFFFF"/>
                </a:solidFill>
                <a:latin typeface="Candara" panose="020E0502030303020204" pitchFamily="34" charset="0"/>
                <a:ea typeface="Calibri" pitchFamily="34" charset="-122"/>
                <a:cs typeface="Calibri" pitchFamily="34" charset="-120"/>
              </a:rPr>
              <a:t>DeviceService</a:t>
            </a:r>
            <a:endParaRPr lang="en-US" sz="1300" dirty="0">
              <a:latin typeface="Candara" panose="020E0502030303020204" pitchFamily="34" charset="0"/>
            </a:endParaRPr>
          </a:p>
          <a:p>
            <a:pPr algn="ctr"/>
            <a:r>
              <a:rPr lang="en-US" sz="1300" dirty="0">
                <a:solidFill>
                  <a:srgbClr val="FFFFFF"/>
                </a:solidFill>
                <a:latin typeface="Candara" panose="020E0502030303020204" pitchFamily="34" charset="0"/>
                <a:ea typeface="Calibri" pitchFamily="34" charset="-122"/>
                <a:cs typeface="Calibri" pitchFamily="34" charset="-120"/>
              </a:rPr>
              <a:t>SensorService</a:t>
            </a:r>
            <a:endParaRPr lang="en-US" sz="1300" dirty="0">
              <a:latin typeface="Candara" panose="020E0502030303020204" pitchFamily="34" charset="0"/>
            </a:endParaRPr>
          </a:p>
          <a:p>
            <a:pPr algn="ctr"/>
            <a:r>
              <a:rPr lang="en-US" sz="1300" dirty="0">
                <a:solidFill>
                  <a:srgbClr val="FFFFFF"/>
                </a:solidFill>
                <a:latin typeface="Candara" panose="020E0502030303020204" pitchFamily="34" charset="0"/>
                <a:ea typeface="Calibri" pitchFamily="34" charset="-122"/>
                <a:cs typeface="Calibri" pitchFamily="34" charset="-120"/>
              </a:rPr>
              <a:t>SensorReadingService</a:t>
            </a:r>
            <a:endParaRPr lang="en-US" sz="1300" dirty="0">
              <a:latin typeface="Candara" panose="020E0502030303020204" pitchFamily="34" charset="0"/>
            </a:endParaRPr>
          </a:p>
          <a:p>
            <a:pPr algn="ctr"/>
            <a:r>
              <a:rPr lang="en-US" sz="1300" dirty="0">
                <a:solidFill>
                  <a:srgbClr val="FFFFFF"/>
                </a:solidFill>
                <a:latin typeface="Candara" panose="020E0502030303020204" pitchFamily="34" charset="0"/>
                <a:ea typeface="Calibri" pitchFamily="34" charset="-122"/>
                <a:cs typeface="Calibri" pitchFamily="34" charset="-120"/>
              </a:rPr>
              <a:t>AlertService</a:t>
            </a:r>
            <a:endParaRPr lang="en-US" sz="1300" dirty="0">
              <a:latin typeface="Candara" panose="020E0502030303020204" pitchFamily="34" charset="0"/>
            </a:endParaRPr>
          </a:p>
          <a:p>
            <a:pPr algn="ctr"/>
            <a:r>
              <a:rPr lang="en-US" sz="1300" dirty="0">
                <a:solidFill>
                  <a:srgbClr val="FFFFFF"/>
                </a:solidFill>
                <a:latin typeface="Candara" panose="020E0502030303020204" pitchFamily="34" charset="0"/>
                <a:ea typeface="Calibri" pitchFamily="34" charset="-122"/>
                <a:cs typeface="Calibri" pitchFamily="34" charset="-120"/>
              </a:rPr>
              <a:t>AlertRuleService</a:t>
            </a:r>
            <a:endParaRPr lang="en-US" sz="1300" dirty="0">
              <a:latin typeface="Candara" panose="020E0502030303020204" pitchFamily="34" charset="0"/>
            </a:endParaRPr>
          </a:p>
        </p:txBody>
      </p:sp>
      <p:sp>
        <p:nvSpPr>
          <p:cNvPr id="48" name="Shape 46"/>
          <p:cNvSpPr/>
          <p:nvPr/>
        </p:nvSpPr>
        <p:spPr>
          <a:xfrm>
            <a:off x="8913078" y="3380314"/>
            <a:ext cx="1188410" cy="502789"/>
          </a:xfrm>
          <a:prstGeom prst="roundRect">
            <a:avLst>
              <a:gd name="adj" fmla="val 10909"/>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49" name="Shape 47"/>
          <p:cNvSpPr/>
          <p:nvPr/>
        </p:nvSpPr>
        <p:spPr>
          <a:xfrm>
            <a:off x="8885653" y="3352889"/>
            <a:ext cx="1188410" cy="502789"/>
          </a:xfrm>
          <a:prstGeom prst="roundRect">
            <a:avLst>
              <a:gd name="adj" fmla="val 10909"/>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sp>
        <p:nvSpPr>
          <p:cNvPr id="50" name="Text 48"/>
          <p:cNvSpPr/>
          <p:nvPr/>
        </p:nvSpPr>
        <p:spPr>
          <a:xfrm>
            <a:off x="8940503" y="3389456"/>
            <a:ext cx="1078711" cy="429656"/>
          </a:xfrm>
          <a:prstGeom prst="rect">
            <a:avLst/>
          </a:prstGeom>
          <a:noFill/>
          <a:ln/>
        </p:spPr>
        <p:txBody>
          <a:bodyPr wrap="square" lIns="0" tIns="0" rIns="0" bIns="0" rtlCol="0" anchor="ctr"/>
          <a:lstStyle/>
          <a:p>
            <a:pPr algn="ctr"/>
            <a:r>
              <a:rPr lang="en-US" sz="1400" b="1" dirty="0">
                <a:solidFill>
                  <a:srgbClr val="00B0F0"/>
                </a:solidFill>
                <a:latin typeface="Candara" panose="020E0502030303020204" pitchFamily="34" charset="0"/>
                <a:ea typeface="Calibri" pitchFamily="34" charset="-122"/>
                <a:cs typeface="Calibri" pitchFamily="34" charset="-120"/>
              </a:rPr>
              <a:t>Repositories</a:t>
            </a:r>
            <a:endParaRPr lang="en-US" sz="1400" b="1" dirty="0">
              <a:solidFill>
                <a:srgbClr val="00B0F0"/>
              </a:solidFill>
              <a:latin typeface="Candara" panose="020E0502030303020204" pitchFamily="34" charset="0"/>
            </a:endParaRPr>
          </a:p>
        </p:txBody>
      </p:sp>
      <p:sp>
        <p:nvSpPr>
          <p:cNvPr id="51" name="Shape 49"/>
          <p:cNvSpPr/>
          <p:nvPr/>
        </p:nvSpPr>
        <p:spPr>
          <a:xfrm>
            <a:off x="4479393" y="4591579"/>
            <a:ext cx="1828324" cy="548497"/>
          </a:xfrm>
          <a:prstGeom prst="roundRect">
            <a:avLst>
              <a:gd name="adj" fmla="val 10000"/>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52" name="Shape 50"/>
          <p:cNvSpPr/>
          <p:nvPr/>
        </p:nvSpPr>
        <p:spPr>
          <a:xfrm>
            <a:off x="4451968" y="4564154"/>
            <a:ext cx="1828324" cy="548497"/>
          </a:xfrm>
          <a:prstGeom prst="roundRect">
            <a:avLst>
              <a:gd name="adj" fmla="val 10000"/>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sp>
        <p:nvSpPr>
          <p:cNvPr id="53" name="Text 51"/>
          <p:cNvSpPr/>
          <p:nvPr/>
        </p:nvSpPr>
        <p:spPr>
          <a:xfrm>
            <a:off x="4474823" y="4600720"/>
            <a:ext cx="1718624" cy="475364"/>
          </a:xfrm>
          <a:prstGeom prst="rect">
            <a:avLst/>
          </a:prstGeom>
          <a:noFill/>
          <a:ln/>
        </p:spPr>
        <p:txBody>
          <a:bodyPr wrap="square" lIns="0" tIns="0" rIns="0" bIns="0" rtlCol="0" anchor="ctr"/>
          <a:lstStyle/>
          <a:p>
            <a:pPr algn="ctr"/>
            <a:r>
              <a:rPr lang="en-US" sz="1400" b="1" dirty="0">
                <a:solidFill>
                  <a:srgbClr val="00B0F0"/>
                </a:solidFill>
                <a:latin typeface="Candara" panose="020E0502030303020204" pitchFamily="34" charset="0"/>
                <a:ea typeface="Calibri" pitchFamily="34" charset="-122"/>
                <a:cs typeface="Calibri" pitchFamily="34" charset="-120"/>
              </a:rPr>
              <a:t>MonitoringHub</a:t>
            </a:r>
            <a:endParaRPr lang="en-US" sz="1400" b="1" dirty="0">
              <a:solidFill>
                <a:srgbClr val="00B0F0"/>
              </a:solidFill>
              <a:latin typeface="Candara" panose="020E0502030303020204" pitchFamily="34" charset="0"/>
            </a:endParaRPr>
          </a:p>
          <a:p>
            <a:pPr algn="ctr"/>
            <a:r>
              <a:rPr lang="en-US" sz="1300" dirty="0">
                <a:solidFill>
                  <a:srgbClr val="FFFFFF"/>
                </a:solidFill>
                <a:latin typeface="Candara" panose="020E0502030303020204" pitchFamily="34" charset="0"/>
                <a:ea typeface="Calibri" pitchFamily="34" charset="-122"/>
                <a:cs typeface="Calibri" pitchFamily="34" charset="-120"/>
              </a:rPr>
              <a:t>(SignalR)</a:t>
            </a:r>
            <a:endParaRPr lang="en-US" sz="1300" dirty="0">
              <a:latin typeface="Candara" panose="020E0502030303020204" pitchFamily="34" charset="0"/>
            </a:endParaRPr>
          </a:p>
        </p:txBody>
      </p:sp>
      <p:sp>
        <p:nvSpPr>
          <p:cNvPr id="57" name="Shape 55"/>
          <p:cNvSpPr/>
          <p:nvPr/>
        </p:nvSpPr>
        <p:spPr>
          <a:xfrm>
            <a:off x="8775954" y="4614433"/>
            <a:ext cx="1462659" cy="502789"/>
          </a:xfrm>
          <a:prstGeom prst="roundRect">
            <a:avLst>
              <a:gd name="adj" fmla="val 10909"/>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58" name="Shape 56"/>
          <p:cNvSpPr/>
          <p:nvPr/>
        </p:nvSpPr>
        <p:spPr>
          <a:xfrm>
            <a:off x="8293735" y="5674860"/>
            <a:ext cx="1554074" cy="502789"/>
          </a:xfrm>
          <a:prstGeom prst="roundRect">
            <a:avLst>
              <a:gd name="adj" fmla="val 10909"/>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sp>
        <p:nvSpPr>
          <p:cNvPr id="59" name="Text 57"/>
          <p:cNvSpPr/>
          <p:nvPr/>
        </p:nvSpPr>
        <p:spPr>
          <a:xfrm>
            <a:off x="8260632" y="5702285"/>
            <a:ext cx="1604355" cy="429656"/>
          </a:xfrm>
          <a:prstGeom prst="rect">
            <a:avLst/>
          </a:prstGeom>
          <a:noFill/>
          <a:ln/>
        </p:spPr>
        <p:txBody>
          <a:bodyPr wrap="square" lIns="0" tIns="0" rIns="0" bIns="0" rtlCol="0" anchor="ctr"/>
          <a:lstStyle/>
          <a:p>
            <a:pPr algn="ctr"/>
            <a:r>
              <a:rPr lang="en-US" sz="1200" b="1" dirty="0">
                <a:solidFill>
                  <a:srgbClr val="00B0F0"/>
                </a:solidFill>
                <a:latin typeface="Candara" panose="020E0502030303020204" pitchFamily="34" charset="0"/>
                <a:ea typeface="Calibri" pitchFamily="34" charset="-122"/>
                <a:cs typeface="Calibri" pitchFamily="34" charset="-120"/>
              </a:rPr>
              <a:t>ApplicationDbContext</a:t>
            </a:r>
            <a:endParaRPr lang="en-US" sz="1200" b="1" dirty="0">
              <a:solidFill>
                <a:srgbClr val="00B0F0"/>
              </a:solidFill>
              <a:latin typeface="Candara" panose="020E0502030303020204" pitchFamily="34" charset="0"/>
            </a:endParaRPr>
          </a:p>
        </p:txBody>
      </p:sp>
      <p:sp>
        <p:nvSpPr>
          <p:cNvPr id="60" name="Shape 58"/>
          <p:cNvSpPr/>
          <p:nvPr/>
        </p:nvSpPr>
        <p:spPr>
          <a:xfrm>
            <a:off x="4479393" y="5802843"/>
            <a:ext cx="1554075" cy="502789"/>
          </a:xfrm>
          <a:prstGeom prst="roundRect">
            <a:avLst>
              <a:gd name="adj" fmla="val 10909"/>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61" name="Shape 59"/>
          <p:cNvSpPr/>
          <p:nvPr/>
        </p:nvSpPr>
        <p:spPr>
          <a:xfrm>
            <a:off x="4451968" y="5775418"/>
            <a:ext cx="1554075" cy="502789"/>
          </a:xfrm>
          <a:prstGeom prst="roundRect">
            <a:avLst>
              <a:gd name="adj" fmla="val 10909"/>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sp>
        <p:nvSpPr>
          <p:cNvPr id="62" name="Text 60"/>
          <p:cNvSpPr/>
          <p:nvPr/>
        </p:nvSpPr>
        <p:spPr>
          <a:xfrm>
            <a:off x="4506817" y="5811985"/>
            <a:ext cx="1444376" cy="429656"/>
          </a:xfrm>
          <a:prstGeom prst="rect">
            <a:avLst/>
          </a:prstGeom>
          <a:noFill/>
          <a:ln/>
        </p:spPr>
        <p:txBody>
          <a:bodyPr wrap="square" lIns="0" tIns="0" rIns="0" bIns="0" rtlCol="0" anchor="ctr"/>
          <a:lstStyle/>
          <a:p>
            <a:pPr algn="ctr"/>
            <a:r>
              <a:rPr lang="en-US" sz="1400" b="1" dirty="0">
                <a:solidFill>
                  <a:srgbClr val="00B0F0"/>
                </a:solidFill>
                <a:latin typeface="Candara" panose="020E0502030303020204" pitchFamily="34" charset="0"/>
                <a:ea typeface="Calibri" pitchFamily="34" charset="-122"/>
                <a:cs typeface="Calibri" pitchFamily="34" charset="-120"/>
              </a:rPr>
              <a:t>MqttService</a:t>
            </a:r>
            <a:endParaRPr lang="en-US" sz="1400" b="1" dirty="0">
              <a:solidFill>
                <a:srgbClr val="00B0F0"/>
              </a:solidFill>
              <a:latin typeface="Candara" panose="020E0502030303020204" pitchFamily="34" charset="0"/>
            </a:endParaRPr>
          </a:p>
        </p:txBody>
      </p:sp>
      <p:sp>
        <p:nvSpPr>
          <p:cNvPr id="63" name="Shape 61"/>
          <p:cNvSpPr/>
          <p:nvPr/>
        </p:nvSpPr>
        <p:spPr>
          <a:xfrm>
            <a:off x="10348312" y="4614433"/>
            <a:ext cx="1554075" cy="502789"/>
          </a:xfrm>
          <a:prstGeom prst="roundRect">
            <a:avLst>
              <a:gd name="adj" fmla="val 10909"/>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64" name="Shape 62"/>
          <p:cNvSpPr/>
          <p:nvPr/>
        </p:nvSpPr>
        <p:spPr>
          <a:xfrm>
            <a:off x="10351367" y="4587008"/>
            <a:ext cx="1554075" cy="502789"/>
          </a:xfrm>
          <a:prstGeom prst="roundRect">
            <a:avLst>
              <a:gd name="adj" fmla="val 10909"/>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cxnSp>
        <p:nvCxnSpPr>
          <p:cNvPr id="68" name="Connector: Elbow 67">
            <a:extLst>
              <a:ext uri="{FF2B5EF4-FFF2-40B4-BE49-F238E27FC236}">
                <a16:creationId xmlns:a16="http://schemas.microsoft.com/office/drawing/2014/main" id="{C0FD3DCC-31CA-A452-10B7-396F1C1F1B53}"/>
              </a:ext>
            </a:extLst>
          </p:cNvPr>
          <p:cNvCxnSpPr>
            <a:cxnSpLocks/>
            <a:stCxn id="61" idx="3"/>
            <a:endCxn id="47" idx="2"/>
          </p:cNvCxnSpPr>
          <p:nvPr/>
        </p:nvCxnSpPr>
        <p:spPr>
          <a:xfrm flipV="1">
            <a:off x="6006043" y="4161922"/>
            <a:ext cx="1604355" cy="1864891"/>
          </a:xfrm>
          <a:prstGeom prst="bentConnector2">
            <a:avLst/>
          </a:prstGeom>
          <a:ln w="12700">
            <a:solidFill>
              <a:schemeClr val="bg1"/>
            </a:solidFill>
          </a:ln>
        </p:spPr>
        <p:style>
          <a:lnRef idx="2">
            <a:schemeClr val="accent1"/>
          </a:lnRef>
          <a:fillRef idx="0">
            <a:schemeClr val="accent1"/>
          </a:fillRef>
          <a:effectRef idx="1">
            <a:schemeClr val="accent1"/>
          </a:effectRef>
          <a:fontRef idx="minor">
            <a:schemeClr val="tx1"/>
          </a:fontRef>
        </p:style>
      </p:cxnSp>
      <p:sp>
        <p:nvSpPr>
          <p:cNvPr id="65" name="Text 63"/>
          <p:cNvSpPr/>
          <p:nvPr/>
        </p:nvSpPr>
        <p:spPr>
          <a:xfrm>
            <a:off x="10375737" y="4623574"/>
            <a:ext cx="1444376" cy="429656"/>
          </a:xfrm>
          <a:prstGeom prst="rect">
            <a:avLst/>
          </a:prstGeom>
          <a:noFill/>
          <a:ln/>
        </p:spPr>
        <p:txBody>
          <a:bodyPr wrap="square" lIns="0" tIns="0" rIns="0" bIns="0" rtlCol="0" anchor="ctr"/>
          <a:lstStyle/>
          <a:p>
            <a:pPr algn="ctr"/>
            <a:r>
              <a:rPr lang="en-US" sz="1400" b="1" dirty="0">
                <a:solidFill>
                  <a:srgbClr val="FFFF00"/>
                </a:solidFill>
                <a:latin typeface="Candara" panose="020E0502030303020204" pitchFamily="34" charset="0"/>
                <a:ea typeface="Calibri" pitchFamily="34" charset="-122"/>
                <a:cs typeface="Calibri" pitchFamily="34" charset="-120"/>
              </a:rPr>
              <a:t>SQL Server</a:t>
            </a:r>
            <a:endParaRPr lang="en-US" sz="1400" b="1" dirty="0">
              <a:solidFill>
                <a:srgbClr val="FFFF00"/>
              </a:solidFill>
              <a:latin typeface="Candara" panose="020E0502030303020204" pitchFamily="34" charset="0"/>
            </a:endParaRPr>
          </a:p>
        </p:txBody>
      </p:sp>
      <p:cxnSp>
        <p:nvCxnSpPr>
          <p:cNvPr id="92" name="Connector: Elbow 91">
            <a:extLst>
              <a:ext uri="{FF2B5EF4-FFF2-40B4-BE49-F238E27FC236}">
                <a16:creationId xmlns:a16="http://schemas.microsoft.com/office/drawing/2014/main" id="{609D8D8D-3039-15F4-7D4F-9402F6BA4E37}"/>
              </a:ext>
            </a:extLst>
          </p:cNvPr>
          <p:cNvCxnSpPr>
            <a:endCxn id="64" idx="2"/>
          </p:cNvCxnSpPr>
          <p:nvPr/>
        </p:nvCxnSpPr>
        <p:spPr>
          <a:xfrm flipV="1">
            <a:off x="9847808" y="5089797"/>
            <a:ext cx="1280597" cy="836457"/>
          </a:xfrm>
          <a:prstGeom prst="bentConnector2">
            <a:avLst/>
          </a:prstGeom>
          <a:ln w="1270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94" name="Connector: Elbow 93">
            <a:extLst>
              <a:ext uri="{FF2B5EF4-FFF2-40B4-BE49-F238E27FC236}">
                <a16:creationId xmlns:a16="http://schemas.microsoft.com/office/drawing/2014/main" id="{7AB37563-7569-444A-16FF-C05FD823FFB6}"/>
              </a:ext>
            </a:extLst>
          </p:cNvPr>
          <p:cNvCxnSpPr>
            <a:cxnSpLocks/>
            <a:stCxn id="49" idx="2"/>
            <a:endCxn id="58" idx="0"/>
          </p:cNvCxnSpPr>
          <p:nvPr/>
        </p:nvCxnSpPr>
        <p:spPr>
          <a:xfrm rot="5400000">
            <a:off x="8365724" y="4560726"/>
            <a:ext cx="1819182" cy="409086"/>
          </a:xfrm>
          <a:prstGeom prst="bentConnector3">
            <a:avLst/>
          </a:prstGeom>
          <a:ln w="1270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100" name="Connector: Elbow 99">
            <a:extLst>
              <a:ext uri="{FF2B5EF4-FFF2-40B4-BE49-F238E27FC236}">
                <a16:creationId xmlns:a16="http://schemas.microsoft.com/office/drawing/2014/main" id="{4A6EE4DA-84AD-A815-928B-2D0D1848F883}"/>
              </a:ext>
            </a:extLst>
          </p:cNvPr>
          <p:cNvCxnSpPr>
            <a:cxnSpLocks/>
            <a:endCxn id="45" idx="2"/>
          </p:cNvCxnSpPr>
          <p:nvPr/>
        </p:nvCxnSpPr>
        <p:spPr>
          <a:xfrm flipH="1" flipV="1">
            <a:off x="7610398" y="4161922"/>
            <a:ext cx="1074139" cy="676481"/>
          </a:xfrm>
          <a:prstGeom prst="bentConnector4">
            <a:avLst>
              <a:gd name="adj1" fmla="val -21282"/>
              <a:gd name="adj2" fmla="val 68581"/>
            </a:avLst>
          </a:prstGeom>
          <a:ln w="12700">
            <a:solidFill>
              <a:schemeClr val="bg1"/>
            </a:solidFill>
          </a:ln>
        </p:spPr>
        <p:style>
          <a:lnRef idx="2">
            <a:schemeClr val="accent1"/>
          </a:lnRef>
          <a:fillRef idx="0">
            <a:schemeClr val="accent1"/>
          </a:fillRef>
          <a:effectRef idx="1">
            <a:schemeClr val="accent1"/>
          </a:effectRef>
          <a:fontRef idx="minor">
            <a:schemeClr val="tx1"/>
          </a:fontRef>
        </p:style>
      </p:cxnSp>
      <p:sp>
        <p:nvSpPr>
          <p:cNvPr id="102" name="Shape 35">
            <a:extLst>
              <a:ext uri="{FF2B5EF4-FFF2-40B4-BE49-F238E27FC236}">
                <a16:creationId xmlns:a16="http://schemas.microsoft.com/office/drawing/2014/main" id="{766D3456-FCD0-C032-B4BC-AA3FDC6CFF4B}"/>
              </a:ext>
            </a:extLst>
          </p:cNvPr>
          <p:cNvSpPr/>
          <p:nvPr/>
        </p:nvSpPr>
        <p:spPr>
          <a:xfrm>
            <a:off x="6463124" y="4557822"/>
            <a:ext cx="2340255" cy="502789"/>
          </a:xfrm>
          <a:prstGeom prst="roundRect">
            <a:avLst>
              <a:gd name="adj" fmla="val 10909"/>
            </a:avLst>
          </a:prstGeom>
          <a:solidFill>
            <a:srgbClr val="0D2117"/>
          </a:solidFill>
          <a:ln w="15875">
            <a:solidFill>
              <a:srgbClr val="3ECF80"/>
            </a:solidFill>
            <a:prstDash val="solid"/>
          </a:ln>
        </p:spPr>
        <p:txBody>
          <a:bodyPr/>
          <a:lstStyle/>
          <a:p>
            <a:pPr algn="ctr"/>
            <a:endParaRPr lang="en-US" sz="1400" b="1" dirty="0">
              <a:solidFill>
                <a:srgbClr val="00B0F0"/>
              </a:solidFill>
              <a:latin typeface="Candara" panose="020E0502030303020204" pitchFamily="34" charset="0"/>
            </a:endParaRPr>
          </a:p>
        </p:txBody>
      </p:sp>
      <p:sp>
        <p:nvSpPr>
          <p:cNvPr id="103" name="Text 51">
            <a:extLst>
              <a:ext uri="{FF2B5EF4-FFF2-40B4-BE49-F238E27FC236}">
                <a16:creationId xmlns:a16="http://schemas.microsoft.com/office/drawing/2014/main" id="{3170471E-CF4F-AE1D-197E-5EB96B08784F}"/>
              </a:ext>
            </a:extLst>
          </p:cNvPr>
          <p:cNvSpPr/>
          <p:nvPr/>
        </p:nvSpPr>
        <p:spPr>
          <a:xfrm>
            <a:off x="6488264" y="4539527"/>
            <a:ext cx="2287689" cy="475364"/>
          </a:xfrm>
          <a:prstGeom prst="rect">
            <a:avLst/>
          </a:prstGeom>
          <a:noFill/>
          <a:ln/>
        </p:spPr>
        <p:txBody>
          <a:bodyPr wrap="square" lIns="0" tIns="0" rIns="0" bIns="0" rtlCol="0" anchor="ctr"/>
          <a:lstStyle/>
          <a:p>
            <a:pPr algn="ctr"/>
            <a:r>
              <a:rPr lang="en-US" sz="1400" b="1" dirty="0" err="1">
                <a:solidFill>
                  <a:srgbClr val="00B0F0"/>
                </a:solidFill>
                <a:latin typeface="Candara" panose="020E0502030303020204" pitchFamily="34" charset="0"/>
                <a:ea typeface="Calibri" pitchFamily="34" charset="-122"/>
                <a:cs typeface="Calibri" pitchFamily="34" charset="-120"/>
              </a:rPr>
              <a:t>SignalRNotificationServices</a:t>
            </a:r>
            <a:endParaRPr lang="en-US" sz="1400" b="1" dirty="0">
              <a:solidFill>
                <a:srgbClr val="00B0F0"/>
              </a:solidFill>
              <a:latin typeface="Candara" panose="020E0502030303020204" pitchFamily="34"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 0"/>
          <p:cNvSpPr/>
          <p:nvPr/>
        </p:nvSpPr>
        <p:spPr>
          <a:xfrm>
            <a:off x="457080" y="110592"/>
            <a:ext cx="11244191" cy="411373"/>
          </a:xfrm>
          <a:prstGeom prst="rect">
            <a:avLst/>
          </a:prstGeom>
          <a:noFill/>
          <a:ln/>
        </p:spPr>
        <p:txBody>
          <a:bodyPr wrap="square" lIns="0" tIns="0" rIns="0" bIns="0" rtlCol="0" anchor="ctr"/>
          <a:lstStyle/>
          <a:p>
            <a:r>
              <a:rPr lang="en-US" sz="3200" b="1" dirty="0">
                <a:solidFill>
                  <a:srgbClr val="FFFFFF"/>
                </a:solidFill>
                <a:latin typeface="Candara" panose="020E0502030303020204" pitchFamily="34" charset="0"/>
                <a:ea typeface="Calibri" pitchFamily="34" charset="-122"/>
                <a:cs typeface="Calibri" pitchFamily="34" charset="-120"/>
              </a:rPr>
              <a:t>Database Schema Map</a:t>
            </a:r>
            <a:endParaRPr lang="en-US" sz="3200" dirty="0">
              <a:latin typeface="Candara" panose="020E0502030303020204" pitchFamily="34" charset="0"/>
            </a:endParaRPr>
          </a:p>
        </p:txBody>
      </p:sp>
      <p:sp>
        <p:nvSpPr>
          <p:cNvPr id="3" name="Text 1"/>
          <p:cNvSpPr/>
          <p:nvPr/>
        </p:nvSpPr>
        <p:spPr>
          <a:xfrm>
            <a:off x="457080" y="549390"/>
            <a:ext cx="11244191" cy="228540"/>
          </a:xfrm>
          <a:prstGeom prst="rect">
            <a:avLst/>
          </a:prstGeom>
          <a:noFill/>
          <a:ln/>
        </p:spPr>
        <p:txBody>
          <a:bodyPr wrap="square" lIns="0" tIns="0" rIns="0" bIns="0" rtlCol="0" anchor="ctr"/>
          <a:lstStyle/>
          <a:p>
            <a:r>
              <a:rPr lang="en-US" sz="1200" dirty="0">
                <a:solidFill>
                  <a:srgbClr val="7AB896"/>
                </a:solidFill>
                <a:latin typeface="Candara" panose="020E0502030303020204" pitchFamily="34" charset="0"/>
                <a:ea typeface="Calibri" pitchFamily="34" charset="-122"/>
                <a:cs typeface="Calibri" pitchFamily="34" charset="-120"/>
              </a:rPr>
              <a:t>11 tables  •  Devices = central hub  •  Key fields and relationships shown</a:t>
            </a:r>
            <a:endParaRPr lang="en-US" sz="1200" dirty="0">
              <a:latin typeface="Candara" panose="020E0502030303020204" pitchFamily="34" charset="0"/>
            </a:endParaRPr>
          </a:p>
        </p:txBody>
      </p:sp>
      <p:sp>
        <p:nvSpPr>
          <p:cNvPr id="4" name="Shape 2"/>
          <p:cNvSpPr/>
          <p:nvPr/>
        </p:nvSpPr>
        <p:spPr>
          <a:xfrm>
            <a:off x="2651069" y="2079339"/>
            <a:ext cx="2422529" cy="998981"/>
          </a:xfrm>
          <a:prstGeom prst="line">
            <a:avLst/>
          </a:prstGeom>
          <a:noFill/>
          <a:ln w="19050">
            <a:solidFill>
              <a:srgbClr val="3ECF80"/>
            </a:solidFill>
            <a:prstDash val="solid"/>
          </a:ln>
        </p:spPr>
        <p:txBody>
          <a:bodyPr/>
          <a:lstStyle/>
          <a:p>
            <a:endParaRPr lang="en-US" sz="1799">
              <a:latin typeface="Candara" panose="020E0502030303020204" pitchFamily="34" charset="0"/>
            </a:endParaRPr>
          </a:p>
        </p:txBody>
      </p:sp>
      <p:sp>
        <p:nvSpPr>
          <p:cNvPr id="5" name="Shape 3"/>
          <p:cNvSpPr/>
          <p:nvPr/>
        </p:nvSpPr>
        <p:spPr>
          <a:xfrm flipV="1">
            <a:off x="2651069" y="3534459"/>
            <a:ext cx="2422529" cy="99898"/>
          </a:xfrm>
          <a:prstGeom prst="line">
            <a:avLst/>
          </a:prstGeom>
          <a:noFill/>
          <a:ln w="19050">
            <a:solidFill>
              <a:srgbClr val="3ECF80"/>
            </a:solidFill>
            <a:prstDash val="solid"/>
          </a:ln>
        </p:spPr>
        <p:txBody>
          <a:bodyPr/>
          <a:lstStyle/>
          <a:p>
            <a:endParaRPr lang="en-US" sz="1799">
              <a:latin typeface="Candara" panose="020E0502030303020204" pitchFamily="34" charset="0"/>
            </a:endParaRPr>
          </a:p>
        </p:txBody>
      </p:sp>
      <p:sp>
        <p:nvSpPr>
          <p:cNvPr id="6" name="Shape 4"/>
          <p:cNvSpPr/>
          <p:nvPr/>
        </p:nvSpPr>
        <p:spPr>
          <a:xfrm flipV="1">
            <a:off x="7084754" y="1888637"/>
            <a:ext cx="2559653" cy="1151844"/>
          </a:xfrm>
          <a:prstGeom prst="line">
            <a:avLst/>
          </a:prstGeom>
          <a:noFill/>
          <a:ln w="19050">
            <a:solidFill>
              <a:srgbClr val="3ECF80"/>
            </a:solidFill>
            <a:prstDash val="solid"/>
          </a:ln>
        </p:spPr>
        <p:txBody>
          <a:bodyPr/>
          <a:lstStyle/>
          <a:p>
            <a:endParaRPr lang="en-US" sz="1799">
              <a:latin typeface="Candara" panose="020E0502030303020204" pitchFamily="34" charset="0"/>
            </a:endParaRPr>
          </a:p>
        </p:txBody>
      </p:sp>
      <p:sp>
        <p:nvSpPr>
          <p:cNvPr id="7" name="Shape 5"/>
          <p:cNvSpPr/>
          <p:nvPr/>
        </p:nvSpPr>
        <p:spPr>
          <a:xfrm flipV="1">
            <a:off x="7084754" y="3100816"/>
            <a:ext cx="2559653" cy="281562"/>
          </a:xfrm>
          <a:prstGeom prst="line">
            <a:avLst/>
          </a:prstGeom>
          <a:noFill/>
          <a:ln w="19050">
            <a:solidFill>
              <a:srgbClr val="3ECF80"/>
            </a:solidFill>
            <a:prstDash val="solid"/>
          </a:ln>
        </p:spPr>
        <p:txBody>
          <a:bodyPr/>
          <a:lstStyle/>
          <a:p>
            <a:endParaRPr lang="en-US" sz="1799">
              <a:latin typeface="Candara" panose="020E0502030303020204" pitchFamily="34" charset="0"/>
            </a:endParaRPr>
          </a:p>
        </p:txBody>
      </p:sp>
      <p:sp>
        <p:nvSpPr>
          <p:cNvPr id="8" name="Shape 6"/>
          <p:cNvSpPr/>
          <p:nvPr/>
        </p:nvSpPr>
        <p:spPr>
          <a:xfrm>
            <a:off x="7084754" y="3704163"/>
            <a:ext cx="2559653" cy="537527"/>
          </a:xfrm>
          <a:prstGeom prst="line">
            <a:avLst/>
          </a:prstGeom>
          <a:noFill/>
          <a:ln w="19050">
            <a:solidFill>
              <a:srgbClr val="3ECF80"/>
            </a:solidFill>
            <a:prstDash val="solid"/>
          </a:ln>
        </p:spPr>
        <p:txBody>
          <a:bodyPr/>
          <a:lstStyle/>
          <a:p>
            <a:endParaRPr lang="en-US" sz="1799">
              <a:latin typeface="Candara" panose="020E0502030303020204" pitchFamily="34" charset="0"/>
            </a:endParaRPr>
          </a:p>
        </p:txBody>
      </p:sp>
      <p:sp>
        <p:nvSpPr>
          <p:cNvPr id="9" name="Shape 7"/>
          <p:cNvSpPr/>
          <p:nvPr/>
        </p:nvSpPr>
        <p:spPr>
          <a:xfrm>
            <a:off x="7084754" y="4025947"/>
            <a:ext cx="2559653" cy="1356617"/>
          </a:xfrm>
          <a:prstGeom prst="line">
            <a:avLst/>
          </a:prstGeom>
          <a:noFill/>
          <a:ln w="19050">
            <a:solidFill>
              <a:srgbClr val="3ECF80"/>
            </a:solidFill>
            <a:prstDash val="solid"/>
          </a:ln>
        </p:spPr>
        <p:txBody>
          <a:bodyPr/>
          <a:lstStyle/>
          <a:p>
            <a:endParaRPr lang="en-US" sz="1799">
              <a:latin typeface="Candara" panose="020E0502030303020204" pitchFamily="34" charset="0"/>
            </a:endParaRPr>
          </a:p>
        </p:txBody>
      </p:sp>
      <p:sp>
        <p:nvSpPr>
          <p:cNvPr id="10" name="Shape 8"/>
          <p:cNvSpPr/>
          <p:nvPr/>
        </p:nvSpPr>
        <p:spPr>
          <a:xfrm flipV="1">
            <a:off x="4316367" y="4059772"/>
            <a:ext cx="1148797" cy="1060428"/>
          </a:xfrm>
          <a:prstGeom prst="line">
            <a:avLst/>
          </a:prstGeom>
          <a:noFill/>
          <a:ln w="19050">
            <a:solidFill>
              <a:srgbClr val="3ECF80"/>
            </a:solidFill>
            <a:prstDash val="solid"/>
          </a:ln>
        </p:spPr>
        <p:txBody>
          <a:bodyPr/>
          <a:lstStyle/>
          <a:p>
            <a:endParaRPr lang="en-US" sz="1799">
              <a:latin typeface="Candara" panose="020E0502030303020204" pitchFamily="34" charset="0"/>
            </a:endParaRPr>
          </a:p>
        </p:txBody>
      </p:sp>
      <p:sp>
        <p:nvSpPr>
          <p:cNvPr id="11" name="Shape 9"/>
          <p:cNvSpPr/>
          <p:nvPr/>
        </p:nvSpPr>
        <p:spPr>
          <a:xfrm flipV="1">
            <a:off x="5977475" y="4059772"/>
            <a:ext cx="66277" cy="1060428"/>
          </a:xfrm>
          <a:prstGeom prst="line">
            <a:avLst/>
          </a:prstGeom>
          <a:noFill/>
          <a:ln w="19050">
            <a:solidFill>
              <a:srgbClr val="3ECF80"/>
            </a:solidFill>
            <a:prstDash val="solid"/>
          </a:ln>
        </p:spPr>
        <p:txBody>
          <a:bodyPr/>
          <a:lstStyle/>
          <a:p>
            <a:endParaRPr lang="en-US" sz="1799">
              <a:latin typeface="Candara" panose="020E0502030303020204" pitchFamily="34" charset="0"/>
            </a:endParaRPr>
          </a:p>
        </p:txBody>
      </p:sp>
      <p:sp>
        <p:nvSpPr>
          <p:cNvPr id="12" name="Shape 10"/>
          <p:cNvSpPr/>
          <p:nvPr/>
        </p:nvSpPr>
        <p:spPr>
          <a:xfrm>
            <a:off x="6610533" y="4059772"/>
            <a:ext cx="994151" cy="1060428"/>
          </a:xfrm>
          <a:prstGeom prst="line">
            <a:avLst/>
          </a:prstGeom>
          <a:noFill/>
          <a:ln w="12700">
            <a:solidFill>
              <a:srgbClr val="2A6646"/>
            </a:solidFill>
            <a:prstDash val="dash"/>
          </a:ln>
        </p:spPr>
        <p:txBody>
          <a:bodyPr/>
          <a:lstStyle/>
          <a:p>
            <a:endParaRPr lang="en-US" sz="1799">
              <a:latin typeface="Candara" panose="020E0502030303020204" pitchFamily="34" charset="0"/>
            </a:endParaRPr>
          </a:p>
        </p:txBody>
      </p:sp>
      <p:sp>
        <p:nvSpPr>
          <p:cNvPr id="13" name="Shape 11"/>
          <p:cNvSpPr/>
          <p:nvPr/>
        </p:nvSpPr>
        <p:spPr>
          <a:xfrm flipV="1">
            <a:off x="2651069" y="1461649"/>
            <a:ext cx="6993338" cy="177496"/>
          </a:xfrm>
          <a:prstGeom prst="line">
            <a:avLst/>
          </a:prstGeom>
          <a:noFill/>
          <a:ln w="19050">
            <a:solidFill>
              <a:srgbClr val="3ECF80"/>
            </a:solidFill>
            <a:prstDash val="solid"/>
          </a:ln>
        </p:spPr>
        <p:txBody>
          <a:bodyPr/>
          <a:lstStyle/>
          <a:p>
            <a:endParaRPr lang="en-US" sz="1799">
              <a:latin typeface="Candara" panose="020E0502030303020204" pitchFamily="34" charset="0"/>
            </a:endParaRPr>
          </a:p>
        </p:txBody>
      </p:sp>
      <p:sp>
        <p:nvSpPr>
          <p:cNvPr id="14" name="Shape 12"/>
          <p:cNvSpPr/>
          <p:nvPr/>
        </p:nvSpPr>
        <p:spPr>
          <a:xfrm>
            <a:off x="2560069" y="2231448"/>
            <a:ext cx="4661395" cy="2888752"/>
          </a:xfrm>
          <a:prstGeom prst="line">
            <a:avLst/>
          </a:prstGeom>
          <a:noFill/>
          <a:ln w="12700">
            <a:solidFill>
              <a:srgbClr val="2A6646"/>
            </a:solidFill>
            <a:prstDash val="dash"/>
          </a:ln>
        </p:spPr>
        <p:txBody>
          <a:bodyPr/>
          <a:lstStyle/>
          <a:p>
            <a:endParaRPr lang="en-US" sz="1799">
              <a:latin typeface="Candara" panose="020E0502030303020204" pitchFamily="34" charset="0"/>
            </a:endParaRPr>
          </a:p>
        </p:txBody>
      </p:sp>
      <p:sp>
        <p:nvSpPr>
          <p:cNvPr id="15" name="Shape 13"/>
          <p:cNvSpPr/>
          <p:nvPr/>
        </p:nvSpPr>
        <p:spPr>
          <a:xfrm>
            <a:off x="2651069" y="2139382"/>
            <a:ext cx="6993338" cy="3301424"/>
          </a:xfrm>
          <a:prstGeom prst="line">
            <a:avLst/>
          </a:prstGeom>
          <a:noFill/>
          <a:ln w="12700">
            <a:solidFill>
              <a:srgbClr val="2A6646"/>
            </a:solidFill>
            <a:prstDash val="dash"/>
          </a:ln>
        </p:spPr>
        <p:txBody>
          <a:bodyPr/>
          <a:lstStyle/>
          <a:p>
            <a:endParaRPr lang="en-US" sz="1799">
              <a:latin typeface="Candara" panose="020E0502030303020204" pitchFamily="34" charset="0"/>
            </a:endParaRPr>
          </a:p>
        </p:txBody>
      </p:sp>
      <p:sp>
        <p:nvSpPr>
          <p:cNvPr id="16" name="Shape 14"/>
          <p:cNvSpPr/>
          <p:nvPr/>
        </p:nvSpPr>
        <p:spPr>
          <a:xfrm>
            <a:off x="1645491" y="2231448"/>
            <a:ext cx="0" cy="877595"/>
          </a:xfrm>
          <a:prstGeom prst="line">
            <a:avLst/>
          </a:prstGeom>
          <a:noFill/>
          <a:ln w="12700">
            <a:solidFill>
              <a:srgbClr val="2A6646"/>
            </a:solidFill>
            <a:prstDash val="dash"/>
          </a:ln>
        </p:spPr>
        <p:txBody>
          <a:bodyPr/>
          <a:lstStyle/>
          <a:p>
            <a:endParaRPr lang="en-US" sz="1799">
              <a:latin typeface="Candara" panose="020E0502030303020204" pitchFamily="34" charset="0"/>
            </a:endParaRPr>
          </a:p>
        </p:txBody>
      </p:sp>
      <p:sp>
        <p:nvSpPr>
          <p:cNvPr id="17" name="Shape 15"/>
          <p:cNvSpPr/>
          <p:nvPr/>
        </p:nvSpPr>
        <p:spPr>
          <a:xfrm>
            <a:off x="9141618" y="5778396"/>
            <a:ext cx="502789" cy="45708"/>
          </a:xfrm>
          <a:prstGeom prst="line">
            <a:avLst/>
          </a:prstGeom>
          <a:noFill/>
          <a:ln w="19050">
            <a:solidFill>
              <a:srgbClr val="3ECF80"/>
            </a:solidFill>
            <a:prstDash val="solid"/>
          </a:ln>
        </p:spPr>
        <p:txBody>
          <a:bodyPr/>
          <a:lstStyle/>
          <a:p>
            <a:endParaRPr lang="en-US" sz="1799">
              <a:latin typeface="Candara" panose="020E0502030303020204" pitchFamily="34" charset="0"/>
            </a:endParaRPr>
          </a:p>
        </p:txBody>
      </p:sp>
      <p:sp>
        <p:nvSpPr>
          <p:cNvPr id="18" name="Shape 16"/>
          <p:cNvSpPr/>
          <p:nvPr/>
        </p:nvSpPr>
        <p:spPr>
          <a:xfrm>
            <a:off x="2651069" y="4146521"/>
            <a:ext cx="2285405" cy="1069764"/>
          </a:xfrm>
          <a:prstGeom prst="line">
            <a:avLst/>
          </a:prstGeom>
          <a:noFill/>
          <a:ln w="12700">
            <a:solidFill>
              <a:srgbClr val="2A6646"/>
            </a:solidFill>
            <a:prstDash val="dash"/>
          </a:ln>
        </p:spPr>
        <p:txBody>
          <a:bodyPr/>
          <a:lstStyle/>
          <a:p>
            <a:endParaRPr lang="en-US" sz="1799">
              <a:latin typeface="Candara" panose="020E0502030303020204" pitchFamily="34" charset="0"/>
            </a:endParaRPr>
          </a:p>
        </p:txBody>
      </p:sp>
      <p:sp>
        <p:nvSpPr>
          <p:cNvPr id="19" name="Shape 17"/>
          <p:cNvSpPr/>
          <p:nvPr/>
        </p:nvSpPr>
        <p:spPr>
          <a:xfrm>
            <a:off x="5101023" y="2953636"/>
            <a:ext cx="2011156" cy="1133561"/>
          </a:xfrm>
          <a:prstGeom prst="roundRect">
            <a:avLst>
              <a:gd name="adj" fmla="val 6452"/>
            </a:avLst>
          </a:prstGeom>
          <a:solidFill>
            <a:srgbClr val="000000">
              <a:alpha val="20000"/>
            </a:srgbClr>
          </a:solidFill>
          <a:ln w="12700">
            <a:solidFill>
              <a:srgbClr val="000000"/>
            </a:solidFill>
            <a:prstDash val="solid"/>
          </a:ln>
        </p:spPr>
        <p:txBody>
          <a:bodyPr/>
          <a:lstStyle/>
          <a:p>
            <a:endParaRPr lang="en-US" sz="1799">
              <a:latin typeface="Candara" panose="020E0502030303020204" pitchFamily="34" charset="0"/>
            </a:endParaRPr>
          </a:p>
        </p:txBody>
      </p:sp>
      <p:sp>
        <p:nvSpPr>
          <p:cNvPr id="20" name="Shape 18"/>
          <p:cNvSpPr/>
          <p:nvPr/>
        </p:nvSpPr>
        <p:spPr>
          <a:xfrm>
            <a:off x="5073598" y="2926211"/>
            <a:ext cx="2011156" cy="1133561"/>
          </a:xfrm>
          <a:prstGeom prst="roundRect">
            <a:avLst>
              <a:gd name="adj" fmla="val 6452"/>
            </a:avLst>
          </a:prstGeom>
          <a:solidFill>
            <a:srgbClr val="112B1D"/>
          </a:solidFill>
          <a:ln w="19050">
            <a:solidFill>
              <a:srgbClr val="3ECF80"/>
            </a:solidFill>
            <a:prstDash val="solid"/>
          </a:ln>
        </p:spPr>
        <p:txBody>
          <a:bodyPr/>
          <a:lstStyle/>
          <a:p>
            <a:endParaRPr lang="en-US" sz="1799">
              <a:latin typeface="Candara" panose="020E0502030303020204" pitchFamily="34" charset="0"/>
            </a:endParaRPr>
          </a:p>
        </p:txBody>
      </p:sp>
      <p:sp>
        <p:nvSpPr>
          <p:cNvPr id="21" name="Shape 19"/>
          <p:cNvSpPr/>
          <p:nvPr/>
        </p:nvSpPr>
        <p:spPr>
          <a:xfrm>
            <a:off x="5073598" y="2999344"/>
            <a:ext cx="50279" cy="987295"/>
          </a:xfrm>
          <a:prstGeom prst="rect">
            <a:avLst/>
          </a:prstGeom>
          <a:solidFill>
            <a:srgbClr val="3ECF80"/>
          </a:solidFill>
          <a:ln w="12700">
            <a:solidFill>
              <a:srgbClr val="3ECF80"/>
            </a:solidFill>
            <a:prstDash val="solid"/>
          </a:ln>
        </p:spPr>
        <p:txBody>
          <a:bodyPr/>
          <a:lstStyle/>
          <a:p>
            <a:endParaRPr lang="en-US" sz="1799">
              <a:latin typeface="Candara" panose="020E0502030303020204" pitchFamily="34" charset="0"/>
            </a:endParaRPr>
          </a:p>
        </p:txBody>
      </p:sp>
      <p:sp>
        <p:nvSpPr>
          <p:cNvPr id="22" name="Shape 20"/>
          <p:cNvSpPr/>
          <p:nvPr/>
        </p:nvSpPr>
        <p:spPr>
          <a:xfrm>
            <a:off x="5073598" y="2926211"/>
            <a:ext cx="50279" cy="164549"/>
          </a:xfrm>
          <a:prstGeom prst="roundRect">
            <a:avLst>
              <a:gd name="adj" fmla="val 72727"/>
            </a:avLst>
          </a:prstGeom>
          <a:solidFill>
            <a:srgbClr val="3ECF80"/>
          </a:solidFill>
          <a:ln w="12700">
            <a:solidFill>
              <a:srgbClr val="3ECF80"/>
            </a:solidFill>
            <a:prstDash val="solid"/>
          </a:ln>
        </p:spPr>
        <p:txBody>
          <a:bodyPr/>
          <a:lstStyle/>
          <a:p>
            <a:endParaRPr lang="en-US" sz="1799">
              <a:latin typeface="Candara" panose="020E0502030303020204" pitchFamily="34" charset="0"/>
            </a:endParaRPr>
          </a:p>
        </p:txBody>
      </p:sp>
      <p:sp>
        <p:nvSpPr>
          <p:cNvPr id="23" name="Shape 21"/>
          <p:cNvSpPr/>
          <p:nvPr/>
        </p:nvSpPr>
        <p:spPr>
          <a:xfrm>
            <a:off x="6581965" y="2981061"/>
            <a:ext cx="438798" cy="182832"/>
          </a:xfrm>
          <a:prstGeom prst="roundRect">
            <a:avLst>
              <a:gd name="adj" fmla="val 20000"/>
            </a:avLst>
          </a:prstGeom>
          <a:solidFill>
            <a:srgbClr val="3ECF80"/>
          </a:solidFill>
          <a:ln w="12700">
            <a:solidFill>
              <a:srgbClr val="3ECF80"/>
            </a:solidFill>
            <a:prstDash val="solid"/>
          </a:ln>
        </p:spPr>
        <p:txBody>
          <a:bodyPr/>
          <a:lstStyle/>
          <a:p>
            <a:endParaRPr lang="en-US" sz="1799">
              <a:latin typeface="Candara" panose="020E0502030303020204" pitchFamily="34" charset="0"/>
            </a:endParaRPr>
          </a:p>
        </p:txBody>
      </p:sp>
      <p:sp>
        <p:nvSpPr>
          <p:cNvPr id="24" name="Text 22"/>
          <p:cNvSpPr/>
          <p:nvPr/>
        </p:nvSpPr>
        <p:spPr>
          <a:xfrm>
            <a:off x="6581965" y="2981061"/>
            <a:ext cx="438798" cy="182832"/>
          </a:xfrm>
          <a:prstGeom prst="rect">
            <a:avLst/>
          </a:prstGeom>
          <a:noFill/>
          <a:ln/>
        </p:spPr>
        <p:txBody>
          <a:bodyPr wrap="square" lIns="0" tIns="0" rIns="0" bIns="0" rtlCol="0" anchor="ctr"/>
          <a:lstStyle/>
          <a:p>
            <a:pPr algn="ctr"/>
            <a:r>
              <a:rPr lang="en-US" sz="800" b="1" kern="0" spc="300" dirty="0">
                <a:solidFill>
                  <a:srgbClr val="0D2117"/>
                </a:solidFill>
                <a:latin typeface="Candara" panose="020E0502030303020204" pitchFamily="34" charset="0"/>
                <a:ea typeface="Calibri" pitchFamily="34" charset="-122"/>
                <a:cs typeface="Calibri" pitchFamily="34" charset="-120"/>
              </a:rPr>
              <a:t>HUB</a:t>
            </a:r>
            <a:endParaRPr lang="en-US" sz="800" dirty="0">
              <a:latin typeface="Candara" panose="020E0502030303020204" pitchFamily="34" charset="0"/>
            </a:endParaRPr>
          </a:p>
        </p:txBody>
      </p:sp>
      <p:sp>
        <p:nvSpPr>
          <p:cNvPr id="25" name="Text 23"/>
          <p:cNvSpPr/>
          <p:nvPr/>
        </p:nvSpPr>
        <p:spPr>
          <a:xfrm>
            <a:off x="5219864" y="2944494"/>
            <a:ext cx="1810041" cy="237682"/>
          </a:xfrm>
          <a:prstGeom prst="rect">
            <a:avLst/>
          </a:prstGeom>
          <a:noFill/>
          <a:ln/>
        </p:spPr>
        <p:txBody>
          <a:bodyPr wrap="square" lIns="0" tIns="0" rIns="0" bIns="0" rtlCol="0" anchor="ctr"/>
          <a:lstStyle/>
          <a:p>
            <a:r>
              <a:rPr lang="en-US" sz="1300" b="1" dirty="0">
                <a:solidFill>
                  <a:srgbClr val="FFFFFF"/>
                </a:solidFill>
                <a:latin typeface="Candara" panose="020E0502030303020204" pitchFamily="34" charset="0"/>
                <a:ea typeface="Calibri" pitchFamily="34" charset="-122"/>
                <a:cs typeface="Calibri" pitchFamily="34" charset="-120"/>
              </a:rPr>
              <a:t>Devices</a:t>
            </a:r>
            <a:endParaRPr lang="en-US" sz="1300" dirty="0">
              <a:latin typeface="Candara" panose="020E0502030303020204" pitchFamily="34" charset="0"/>
            </a:endParaRPr>
          </a:p>
        </p:txBody>
      </p:sp>
      <p:sp>
        <p:nvSpPr>
          <p:cNvPr id="26" name="Text 24"/>
          <p:cNvSpPr/>
          <p:nvPr/>
        </p:nvSpPr>
        <p:spPr>
          <a:xfrm>
            <a:off x="5219864" y="3218743"/>
            <a:ext cx="1810041" cy="164549"/>
          </a:xfrm>
          <a:prstGeom prst="rect">
            <a:avLst/>
          </a:prstGeom>
          <a:noFill/>
          <a:ln/>
        </p:spPr>
        <p:txBody>
          <a:bodyPr wrap="square" lIns="0" tIns="0" rIns="0" bIns="0" rtlCol="0" anchor="t"/>
          <a:lstStyle/>
          <a:p>
            <a:r>
              <a:rPr lang="en-US" sz="850" i="1" dirty="0">
                <a:solidFill>
                  <a:srgbClr val="7AB896"/>
                </a:solidFill>
                <a:latin typeface="Candara" panose="020E0502030303020204" pitchFamily="34" charset="0"/>
                <a:ea typeface="Calibri" pitchFamily="34" charset="-122"/>
                <a:cs typeface="Calibri" pitchFamily="34" charset="-120"/>
              </a:rPr>
              <a:t>IoT equipment registry</a:t>
            </a:r>
            <a:endParaRPr lang="en-US" sz="850" dirty="0">
              <a:latin typeface="Candara" panose="020E0502030303020204" pitchFamily="34" charset="0"/>
            </a:endParaRPr>
          </a:p>
        </p:txBody>
      </p:sp>
      <p:sp>
        <p:nvSpPr>
          <p:cNvPr id="27" name="Shape 25"/>
          <p:cNvSpPr/>
          <p:nvPr/>
        </p:nvSpPr>
        <p:spPr>
          <a:xfrm>
            <a:off x="5201580" y="3401575"/>
            <a:ext cx="1828324" cy="0"/>
          </a:xfrm>
          <a:prstGeom prst="line">
            <a:avLst/>
          </a:prstGeom>
          <a:noFill/>
          <a:ln w="9525">
            <a:solidFill>
              <a:srgbClr val="1E3D2A"/>
            </a:solidFill>
            <a:prstDash val="solid"/>
          </a:ln>
        </p:spPr>
        <p:txBody>
          <a:bodyPr/>
          <a:lstStyle/>
          <a:p>
            <a:endParaRPr lang="en-US" sz="1799">
              <a:latin typeface="Candara" panose="020E0502030303020204" pitchFamily="34" charset="0"/>
            </a:endParaRPr>
          </a:p>
        </p:txBody>
      </p:sp>
      <p:sp>
        <p:nvSpPr>
          <p:cNvPr id="28" name="Text 26"/>
          <p:cNvSpPr/>
          <p:nvPr/>
        </p:nvSpPr>
        <p:spPr>
          <a:xfrm>
            <a:off x="5219864" y="3438142"/>
            <a:ext cx="274249" cy="141695"/>
          </a:xfrm>
          <a:prstGeom prst="rect">
            <a:avLst/>
          </a:prstGeom>
          <a:noFill/>
          <a:ln/>
        </p:spPr>
        <p:txBody>
          <a:bodyPr wrap="square" lIns="0" tIns="0" rIns="0" bIns="0" rtlCol="0" anchor="ctr"/>
          <a:lstStyle/>
          <a:p>
            <a:r>
              <a:rPr lang="en-US" sz="700" b="1" dirty="0">
                <a:solidFill>
                  <a:srgbClr val="F6C90E"/>
                </a:solidFill>
                <a:latin typeface="Candara" panose="020E0502030303020204" pitchFamily="34" charset="0"/>
                <a:ea typeface="Calibri" pitchFamily="34" charset="-122"/>
                <a:cs typeface="Calibri" pitchFamily="34" charset="-120"/>
              </a:rPr>
              <a:t>PK</a:t>
            </a:r>
            <a:endParaRPr lang="en-US" sz="700" dirty="0">
              <a:latin typeface="Candara" panose="020E0502030303020204" pitchFamily="34" charset="0"/>
            </a:endParaRPr>
          </a:p>
        </p:txBody>
      </p:sp>
      <p:sp>
        <p:nvSpPr>
          <p:cNvPr id="29" name="Text 27"/>
          <p:cNvSpPr/>
          <p:nvPr/>
        </p:nvSpPr>
        <p:spPr>
          <a:xfrm>
            <a:off x="5512396" y="3438142"/>
            <a:ext cx="1005578" cy="141695"/>
          </a:xfrm>
          <a:prstGeom prst="rect">
            <a:avLst/>
          </a:prstGeom>
          <a:noFill/>
          <a:ln/>
        </p:spPr>
        <p:txBody>
          <a:bodyPr wrap="square" lIns="0" tIns="0" rIns="0" bIns="0" rtlCol="0" anchor="ctr"/>
          <a:lstStyle/>
          <a:p>
            <a:r>
              <a:rPr lang="en-US" sz="850" b="1" dirty="0">
                <a:solidFill>
                  <a:srgbClr val="FFFFFF"/>
                </a:solidFill>
                <a:latin typeface="Candara" panose="020E0502030303020204" pitchFamily="34" charset="0"/>
                <a:ea typeface="Calibri" pitchFamily="34" charset="-122"/>
                <a:cs typeface="Calibri" pitchFamily="34" charset="-120"/>
              </a:rPr>
              <a:t>DeviceId</a:t>
            </a:r>
            <a:endParaRPr lang="en-US" sz="850" dirty="0">
              <a:latin typeface="Candara" panose="020E0502030303020204" pitchFamily="34" charset="0"/>
            </a:endParaRPr>
          </a:p>
        </p:txBody>
      </p:sp>
      <p:sp>
        <p:nvSpPr>
          <p:cNvPr id="30" name="Text 28"/>
          <p:cNvSpPr/>
          <p:nvPr/>
        </p:nvSpPr>
        <p:spPr>
          <a:xfrm>
            <a:off x="6517974" y="3438142"/>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31" name="Text 29"/>
          <p:cNvSpPr/>
          <p:nvPr/>
        </p:nvSpPr>
        <p:spPr>
          <a:xfrm>
            <a:off x="5512396" y="3579837"/>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DeviceName</a:t>
            </a:r>
            <a:endParaRPr lang="en-US" sz="850" dirty="0">
              <a:latin typeface="Candara" panose="020E0502030303020204" pitchFamily="34" charset="0"/>
            </a:endParaRPr>
          </a:p>
        </p:txBody>
      </p:sp>
      <p:sp>
        <p:nvSpPr>
          <p:cNvPr id="32" name="Text 30"/>
          <p:cNvSpPr/>
          <p:nvPr/>
        </p:nvSpPr>
        <p:spPr>
          <a:xfrm>
            <a:off x="6517974" y="3579837"/>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string(100)</a:t>
            </a:r>
            <a:endParaRPr lang="en-US" sz="750" dirty="0">
              <a:latin typeface="Candara" panose="020E0502030303020204" pitchFamily="34" charset="0"/>
            </a:endParaRPr>
          </a:p>
        </p:txBody>
      </p:sp>
      <p:sp>
        <p:nvSpPr>
          <p:cNvPr id="33" name="Text 31"/>
          <p:cNvSpPr/>
          <p:nvPr/>
        </p:nvSpPr>
        <p:spPr>
          <a:xfrm>
            <a:off x="5512396" y="3721532"/>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DeviceType</a:t>
            </a:r>
            <a:endParaRPr lang="en-US" sz="850" dirty="0">
              <a:latin typeface="Candara" panose="020E0502030303020204" pitchFamily="34" charset="0"/>
            </a:endParaRPr>
          </a:p>
        </p:txBody>
      </p:sp>
      <p:sp>
        <p:nvSpPr>
          <p:cNvPr id="34" name="Text 32"/>
          <p:cNvSpPr/>
          <p:nvPr/>
        </p:nvSpPr>
        <p:spPr>
          <a:xfrm>
            <a:off x="6517974" y="3721532"/>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string(50)</a:t>
            </a:r>
            <a:endParaRPr lang="en-US" sz="750" dirty="0">
              <a:latin typeface="Candara" panose="020E0502030303020204" pitchFamily="34" charset="0"/>
            </a:endParaRPr>
          </a:p>
        </p:txBody>
      </p:sp>
      <p:sp>
        <p:nvSpPr>
          <p:cNvPr id="35" name="Text 33"/>
          <p:cNvSpPr/>
          <p:nvPr/>
        </p:nvSpPr>
        <p:spPr>
          <a:xfrm>
            <a:off x="5512396" y="3863227"/>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IsActive</a:t>
            </a:r>
            <a:endParaRPr lang="en-US" sz="850" dirty="0">
              <a:latin typeface="Candara" panose="020E0502030303020204" pitchFamily="34" charset="0"/>
            </a:endParaRPr>
          </a:p>
        </p:txBody>
      </p:sp>
      <p:sp>
        <p:nvSpPr>
          <p:cNvPr id="36" name="Text 34"/>
          <p:cNvSpPr/>
          <p:nvPr/>
        </p:nvSpPr>
        <p:spPr>
          <a:xfrm>
            <a:off x="6517974" y="3863227"/>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bool</a:t>
            </a:r>
            <a:endParaRPr lang="en-US" sz="750" dirty="0">
              <a:latin typeface="Candara" panose="020E0502030303020204" pitchFamily="34" charset="0"/>
            </a:endParaRPr>
          </a:p>
        </p:txBody>
      </p:sp>
      <p:sp>
        <p:nvSpPr>
          <p:cNvPr id="37" name="Shape 35"/>
          <p:cNvSpPr/>
          <p:nvPr/>
        </p:nvSpPr>
        <p:spPr>
          <a:xfrm>
            <a:off x="667338" y="1125312"/>
            <a:ext cx="2011156" cy="1133561"/>
          </a:xfrm>
          <a:prstGeom prst="roundRect">
            <a:avLst>
              <a:gd name="adj" fmla="val 6452"/>
            </a:avLst>
          </a:prstGeom>
          <a:solidFill>
            <a:srgbClr val="000000">
              <a:alpha val="20000"/>
            </a:srgbClr>
          </a:solidFill>
          <a:ln w="12700">
            <a:solidFill>
              <a:srgbClr val="000000"/>
            </a:solidFill>
            <a:prstDash val="solid"/>
          </a:ln>
        </p:spPr>
        <p:txBody>
          <a:bodyPr/>
          <a:lstStyle/>
          <a:p>
            <a:endParaRPr lang="en-US" sz="1799">
              <a:latin typeface="Candara" panose="020E0502030303020204" pitchFamily="34" charset="0"/>
            </a:endParaRPr>
          </a:p>
        </p:txBody>
      </p:sp>
      <p:sp>
        <p:nvSpPr>
          <p:cNvPr id="38" name="Shape 36"/>
          <p:cNvSpPr/>
          <p:nvPr/>
        </p:nvSpPr>
        <p:spPr>
          <a:xfrm>
            <a:off x="639913" y="1097887"/>
            <a:ext cx="2011156" cy="1133561"/>
          </a:xfrm>
          <a:prstGeom prst="roundRect">
            <a:avLst>
              <a:gd name="adj" fmla="val 6452"/>
            </a:avLst>
          </a:prstGeom>
          <a:solidFill>
            <a:srgbClr val="112B1D"/>
          </a:solidFill>
          <a:ln w="9525">
            <a:solidFill>
              <a:srgbClr val="1E3D2A"/>
            </a:solidFill>
            <a:prstDash val="solid"/>
          </a:ln>
        </p:spPr>
        <p:txBody>
          <a:bodyPr/>
          <a:lstStyle/>
          <a:p>
            <a:endParaRPr lang="en-US" sz="1799">
              <a:latin typeface="Candara" panose="020E0502030303020204" pitchFamily="34" charset="0"/>
            </a:endParaRPr>
          </a:p>
        </p:txBody>
      </p:sp>
      <p:sp>
        <p:nvSpPr>
          <p:cNvPr id="39" name="Shape 37"/>
          <p:cNvSpPr/>
          <p:nvPr/>
        </p:nvSpPr>
        <p:spPr>
          <a:xfrm>
            <a:off x="639913" y="1171020"/>
            <a:ext cx="50279" cy="987295"/>
          </a:xfrm>
          <a:prstGeom prst="rect">
            <a:avLst/>
          </a:prstGeom>
          <a:solidFill>
            <a:srgbClr val="2A9962"/>
          </a:solidFill>
          <a:ln w="12700">
            <a:solidFill>
              <a:srgbClr val="2A9962"/>
            </a:solidFill>
            <a:prstDash val="solid"/>
          </a:ln>
        </p:spPr>
        <p:txBody>
          <a:bodyPr/>
          <a:lstStyle/>
          <a:p>
            <a:endParaRPr lang="en-US" sz="1799">
              <a:latin typeface="Candara" panose="020E0502030303020204" pitchFamily="34" charset="0"/>
            </a:endParaRPr>
          </a:p>
        </p:txBody>
      </p:sp>
      <p:sp>
        <p:nvSpPr>
          <p:cNvPr id="40" name="Shape 38"/>
          <p:cNvSpPr/>
          <p:nvPr/>
        </p:nvSpPr>
        <p:spPr>
          <a:xfrm>
            <a:off x="639913" y="1097887"/>
            <a:ext cx="50279" cy="164549"/>
          </a:xfrm>
          <a:prstGeom prst="roundRect">
            <a:avLst>
              <a:gd name="adj" fmla="val 72727"/>
            </a:avLst>
          </a:prstGeom>
          <a:solidFill>
            <a:srgbClr val="2A9962"/>
          </a:solidFill>
          <a:ln w="12700">
            <a:solidFill>
              <a:srgbClr val="2A9962"/>
            </a:solidFill>
            <a:prstDash val="solid"/>
          </a:ln>
        </p:spPr>
        <p:txBody>
          <a:bodyPr/>
          <a:lstStyle/>
          <a:p>
            <a:endParaRPr lang="en-US" sz="1799">
              <a:latin typeface="Candara" panose="020E0502030303020204" pitchFamily="34" charset="0"/>
            </a:endParaRPr>
          </a:p>
        </p:txBody>
      </p:sp>
      <p:sp>
        <p:nvSpPr>
          <p:cNvPr id="41" name="Text 39"/>
          <p:cNvSpPr/>
          <p:nvPr/>
        </p:nvSpPr>
        <p:spPr>
          <a:xfrm>
            <a:off x="786178" y="1116171"/>
            <a:ext cx="1810041"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Sensors</a:t>
            </a:r>
            <a:endParaRPr lang="en-US" sz="1100" dirty="0">
              <a:latin typeface="Candara" panose="020E0502030303020204" pitchFamily="34" charset="0"/>
            </a:endParaRPr>
          </a:p>
        </p:txBody>
      </p:sp>
      <p:sp>
        <p:nvSpPr>
          <p:cNvPr id="42" name="Text 40"/>
          <p:cNvSpPr/>
          <p:nvPr/>
        </p:nvSpPr>
        <p:spPr>
          <a:xfrm>
            <a:off x="786178" y="1390419"/>
            <a:ext cx="1810041" cy="164549"/>
          </a:xfrm>
          <a:prstGeom prst="rect">
            <a:avLst/>
          </a:prstGeom>
          <a:noFill/>
          <a:ln/>
        </p:spPr>
        <p:txBody>
          <a:bodyPr wrap="square" lIns="0" tIns="0" rIns="0" bIns="0" rtlCol="0" anchor="t"/>
          <a:lstStyle/>
          <a:p>
            <a:r>
              <a:rPr lang="en-US" sz="850" i="1" dirty="0">
                <a:solidFill>
                  <a:srgbClr val="7AB896"/>
                </a:solidFill>
                <a:latin typeface="Candara" panose="020E0502030303020204" pitchFamily="34" charset="0"/>
                <a:ea typeface="Calibri" pitchFamily="34" charset="-122"/>
                <a:cs typeface="Calibri" pitchFamily="34" charset="-120"/>
              </a:rPr>
              <a:t>Inputs on each device</a:t>
            </a:r>
            <a:endParaRPr lang="en-US" sz="850" dirty="0">
              <a:latin typeface="Candara" panose="020E0502030303020204" pitchFamily="34" charset="0"/>
            </a:endParaRPr>
          </a:p>
        </p:txBody>
      </p:sp>
      <p:sp>
        <p:nvSpPr>
          <p:cNvPr id="43" name="Shape 41"/>
          <p:cNvSpPr/>
          <p:nvPr/>
        </p:nvSpPr>
        <p:spPr>
          <a:xfrm>
            <a:off x="767895" y="1573251"/>
            <a:ext cx="1828324" cy="0"/>
          </a:xfrm>
          <a:prstGeom prst="line">
            <a:avLst/>
          </a:prstGeom>
          <a:noFill/>
          <a:ln w="9525">
            <a:solidFill>
              <a:srgbClr val="1E3D2A"/>
            </a:solidFill>
            <a:prstDash val="solid"/>
          </a:ln>
        </p:spPr>
        <p:txBody>
          <a:bodyPr/>
          <a:lstStyle/>
          <a:p>
            <a:endParaRPr lang="en-US" sz="1799">
              <a:latin typeface="Candara" panose="020E0502030303020204" pitchFamily="34" charset="0"/>
            </a:endParaRPr>
          </a:p>
        </p:txBody>
      </p:sp>
      <p:sp>
        <p:nvSpPr>
          <p:cNvPr id="44" name="Text 42"/>
          <p:cNvSpPr/>
          <p:nvPr/>
        </p:nvSpPr>
        <p:spPr>
          <a:xfrm>
            <a:off x="786178" y="1609818"/>
            <a:ext cx="274249" cy="141695"/>
          </a:xfrm>
          <a:prstGeom prst="rect">
            <a:avLst/>
          </a:prstGeom>
          <a:noFill/>
          <a:ln/>
        </p:spPr>
        <p:txBody>
          <a:bodyPr wrap="square" lIns="0" tIns="0" rIns="0" bIns="0" rtlCol="0" anchor="ctr"/>
          <a:lstStyle/>
          <a:p>
            <a:r>
              <a:rPr lang="en-US" sz="700" b="1" dirty="0">
                <a:solidFill>
                  <a:srgbClr val="F6C90E"/>
                </a:solidFill>
                <a:latin typeface="Candara" panose="020E0502030303020204" pitchFamily="34" charset="0"/>
                <a:ea typeface="Calibri" pitchFamily="34" charset="-122"/>
                <a:cs typeface="Calibri" pitchFamily="34" charset="-120"/>
              </a:rPr>
              <a:t>PK</a:t>
            </a:r>
            <a:endParaRPr lang="en-US" sz="700" dirty="0">
              <a:latin typeface="Candara" panose="020E0502030303020204" pitchFamily="34" charset="0"/>
            </a:endParaRPr>
          </a:p>
        </p:txBody>
      </p:sp>
      <p:sp>
        <p:nvSpPr>
          <p:cNvPr id="45" name="Text 43"/>
          <p:cNvSpPr/>
          <p:nvPr/>
        </p:nvSpPr>
        <p:spPr>
          <a:xfrm>
            <a:off x="1078711" y="1609818"/>
            <a:ext cx="1005578" cy="141695"/>
          </a:xfrm>
          <a:prstGeom prst="rect">
            <a:avLst/>
          </a:prstGeom>
          <a:noFill/>
          <a:ln/>
        </p:spPr>
        <p:txBody>
          <a:bodyPr wrap="square" lIns="0" tIns="0" rIns="0" bIns="0" rtlCol="0" anchor="ctr"/>
          <a:lstStyle/>
          <a:p>
            <a:r>
              <a:rPr lang="en-US" sz="850" b="1" dirty="0">
                <a:solidFill>
                  <a:srgbClr val="FFFFFF"/>
                </a:solidFill>
                <a:latin typeface="Candara" panose="020E0502030303020204" pitchFamily="34" charset="0"/>
                <a:ea typeface="Calibri" pitchFamily="34" charset="-122"/>
                <a:cs typeface="Calibri" pitchFamily="34" charset="-120"/>
              </a:rPr>
              <a:t>SensorId</a:t>
            </a:r>
            <a:endParaRPr lang="en-US" sz="850" dirty="0">
              <a:latin typeface="Candara" panose="020E0502030303020204" pitchFamily="34" charset="0"/>
            </a:endParaRPr>
          </a:p>
        </p:txBody>
      </p:sp>
      <p:sp>
        <p:nvSpPr>
          <p:cNvPr id="46" name="Text 44"/>
          <p:cNvSpPr/>
          <p:nvPr/>
        </p:nvSpPr>
        <p:spPr>
          <a:xfrm>
            <a:off x="2084289" y="1609818"/>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47" name="Text 45"/>
          <p:cNvSpPr/>
          <p:nvPr/>
        </p:nvSpPr>
        <p:spPr>
          <a:xfrm>
            <a:off x="786178" y="1751513"/>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48" name="Text 46"/>
          <p:cNvSpPr/>
          <p:nvPr/>
        </p:nvSpPr>
        <p:spPr>
          <a:xfrm>
            <a:off x="1078711" y="1751513"/>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DeviceId</a:t>
            </a:r>
            <a:endParaRPr lang="en-US" sz="850" dirty="0">
              <a:latin typeface="Candara" panose="020E0502030303020204" pitchFamily="34" charset="0"/>
            </a:endParaRPr>
          </a:p>
        </p:txBody>
      </p:sp>
      <p:sp>
        <p:nvSpPr>
          <p:cNvPr id="49" name="Text 47"/>
          <p:cNvSpPr/>
          <p:nvPr/>
        </p:nvSpPr>
        <p:spPr>
          <a:xfrm>
            <a:off x="2084289" y="1751513"/>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50" name="Text 48"/>
          <p:cNvSpPr/>
          <p:nvPr/>
        </p:nvSpPr>
        <p:spPr>
          <a:xfrm>
            <a:off x="1078711" y="1893208"/>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SensorName</a:t>
            </a:r>
            <a:endParaRPr lang="en-US" sz="850" dirty="0">
              <a:latin typeface="Candara" panose="020E0502030303020204" pitchFamily="34" charset="0"/>
            </a:endParaRPr>
          </a:p>
        </p:txBody>
      </p:sp>
      <p:sp>
        <p:nvSpPr>
          <p:cNvPr id="51" name="Text 49"/>
          <p:cNvSpPr/>
          <p:nvPr/>
        </p:nvSpPr>
        <p:spPr>
          <a:xfrm>
            <a:off x="2084289" y="1893208"/>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string(100)</a:t>
            </a:r>
            <a:endParaRPr lang="en-US" sz="750" dirty="0">
              <a:latin typeface="Candara" panose="020E0502030303020204" pitchFamily="34" charset="0"/>
            </a:endParaRPr>
          </a:p>
        </p:txBody>
      </p:sp>
      <p:sp>
        <p:nvSpPr>
          <p:cNvPr id="52" name="Text 50"/>
          <p:cNvSpPr/>
          <p:nvPr/>
        </p:nvSpPr>
        <p:spPr>
          <a:xfrm>
            <a:off x="1078711" y="2034903"/>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SensorType</a:t>
            </a:r>
            <a:endParaRPr lang="en-US" sz="850" dirty="0">
              <a:latin typeface="Candara" panose="020E0502030303020204" pitchFamily="34" charset="0"/>
            </a:endParaRPr>
          </a:p>
        </p:txBody>
      </p:sp>
      <p:sp>
        <p:nvSpPr>
          <p:cNvPr id="53" name="Text 51"/>
          <p:cNvSpPr/>
          <p:nvPr/>
        </p:nvSpPr>
        <p:spPr>
          <a:xfrm>
            <a:off x="2084289" y="2034903"/>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string(50)</a:t>
            </a:r>
            <a:endParaRPr lang="en-US" sz="750" dirty="0">
              <a:latin typeface="Candara" panose="020E0502030303020204" pitchFamily="34" charset="0"/>
            </a:endParaRPr>
          </a:p>
        </p:txBody>
      </p:sp>
      <p:sp>
        <p:nvSpPr>
          <p:cNvPr id="54" name="Shape 52"/>
          <p:cNvSpPr/>
          <p:nvPr/>
        </p:nvSpPr>
        <p:spPr>
          <a:xfrm>
            <a:off x="667338" y="3136468"/>
            <a:ext cx="2011156" cy="1133561"/>
          </a:xfrm>
          <a:prstGeom prst="roundRect">
            <a:avLst>
              <a:gd name="adj" fmla="val 6452"/>
            </a:avLst>
          </a:prstGeom>
          <a:solidFill>
            <a:srgbClr val="000000">
              <a:alpha val="20000"/>
            </a:srgbClr>
          </a:solidFill>
          <a:ln w="12700">
            <a:solidFill>
              <a:srgbClr val="000000"/>
            </a:solidFill>
            <a:prstDash val="solid"/>
          </a:ln>
        </p:spPr>
        <p:txBody>
          <a:bodyPr/>
          <a:lstStyle/>
          <a:p>
            <a:endParaRPr lang="en-US" sz="1799">
              <a:latin typeface="Candara" panose="020E0502030303020204" pitchFamily="34" charset="0"/>
            </a:endParaRPr>
          </a:p>
        </p:txBody>
      </p:sp>
      <p:sp>
        <p:nvSpPr>
          <p:cNvPr id="55" name="Shape 53"/>
          <p:cNvSpPr/>
          <p:nvPr/>
        </p:nvSpPr>
        <p:spPr>
          <a:xfrm>
            <a:off x="639913" y="3109043"/>
            <a:ext cx="2011156" cy="1133561"/>
          </a:xfrm>
          <a:prstGeom prst="roundRect">
            <a:avLst>
              <a:gd name="adj" fmla="val 6452"/>
            </a:avLst>
          </a:prstGeom>
          <a:solidFill>
            <a:srgbClr val="112B1D"/>
          </a:solidFill>
          <a:ln w="9525">
            <a:solidFill>
              <a:srgbClr val="1E3D2A"/>
            </a:solidFill>
            <a:prstDash val="solid"/>
          </a:ln>
        </p:spPr>
        <p:txBody>
          <a:bodyPr/>
          <a:lstStyle/>
          <a:p>
            <a:endParaRPr lang="en-US" sz="1799">
              <a:latin typeface="Candara" panose="020E0502030303020204" pitchFamily="34" charset="0"/>
            </a:endParaRPr>
          </a:p>
        </p:txBody>
      </p:sp>
      <p:sp>
        <p:nvSpPr>
          <p:cNvPr id="56" name="Shape 54"/>
          <p:cNvSpPr/>
          <p:nvPr/>
        </p:nvSpPr>
        <p:spPr>
          <a:xfrm>
            <a:off x="639913" y="3182176"/>
            <a:ext cx="50279" cy="987295"/>
          </a:xfrm>
          <a:prstGeom prst="rect">
            <a:avLst/>
          </a:prstGeom>
          <a:solidFill>
            <a:srgbClr val="2A9962"/>
          </a:solidFill>
          <a:ln w="12700">
            <a:solidFill>
              <a:srgbClr val="2A9962"/>
            </a:solidFill>
            <a:prstDash val="solid"/>
          </a:ln>
        </p:spPr>
        <p:txBody>
          <a:bodyPr/>
          <a:lstStyle/>
          <a:p>
            <a:endParaRPr lang="en-US" sz="1799">
              <a:latin typeface="Candara" panose="020E0502030303020204" pitchFamily="34" charset="0"/>
            </a:endParaRPr>
          </a:p>
        </p:txBody>
      </p:sp>
      <p:sp>
        <p:nvSpPr>
          <p:cNvPr id="57" name="Shape 55"/>
          <p:cNvSpPr/>
          <p:nvPr/>
        </p:nvSpPr>
        <p:spPr>
          <a:xfrm>
            <a:off x="639913" y="3109043"/>
            <a:ext cx="50279" cy="164549"/>
          </a:xfrm>
          <a:prstGeom prst="roundRect">
            <a:avLst>
              <a:gd name="adj" fmla="val 72727"/>
            </a:avLst>
          </a:prstGeom>
          <a:solidFill>
            <a:srgbClr val="2A9962"/>
          </a:solidFill>
          <a:ln w="12700">
            <a:solidFill>
              <a:srgbClr val="2A9962"/>
            </a:solidFill>
            <a:prstDash val="solid"/>
          </a:ln>
        </p:spPr>
        <p:txBody>
          <a:bodyPr/>
          <a:lstStyle/>
          <a:p>
            <a:endParaRPr lang="en-US" sz="1799">
              <a:latin typeface="Candara" panose="020E0502030303020204" pitchFamily="34" charset="0"/>
            </a:endParaRPr>
          </a:p>
        </p:txBody>
      </p:sp>
      <p:sp>
        <p:nvSpPr>
          <p:cNvPr id="58" name="Text 56"/>
          <p:cNvSpPr/>
          <p:nvPr/>
        </p:nvSpPr>
        <p:spPr>
          <a:xfrm>
            <a:off x="786178" y="3127327"/>
            <a:ext cx="1810041"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Actuators</a:t>
            </a:r>
            <a:endParaRPr lang="en-US" sz="1100" dirty="0">
              <a:latin typeface="Candara" panose="020E0502030303020204" pitchFamily="34" charset="0"/>
            </a:endParaRPr>
          </a:p>
        </p:txBody>
      </p:sp>
      <p:sp>
        <p:nvSpPr>
          <p:cNvPr id="59" name="Text 57"/>
          <p:cNvSpPr/>
          <p:nvPr/>
        </p:nvSpPr>
        <p:spPr>
          <a:xfrm>
            <a:off x="786178" y="3401575"/>
            <a:ext cx="1810041" cy="164549"/>
          </a:xfrm>
          <a:prstGeom prst="rect">
            <a:avLst/>
          </a:prstGeom>
          <a:noFill/>
          <a:ln/>
        </p:spPr>
        <p:txBody>
          <a:bodyPr wrap="square" lIns="0" tIns="0" rIns="0" bIns="0" rtlCol="0" anchor="t"/>
          <a:lstStyle/>
          <a:p>
            <a:r>
              <a:rPr lang="en-US" sz="850" i="1" dirty="0">
                <a:solidFill>
                  <a:srgbClr val="7AB896"/>
                </a:solidFill>
                <a:latin typeface="Candara" panose="020E0502030303020204" pitchFamily="34" charset="0"/>
                <a:ea typeface="Calibri" pitchFamily="34" charset="-122"/>
                <a:cs typeface="Calibri" pitchFamily="34" charset="-120"/>
              </a:rPr>
              <a:t>Controllable outputs</a:t>
            </a:r>
            <a:endParaRPr lang="en-US" sz="850" dirty="0">
              <a:latin typeface="Candara" panose="020E0502030303020204" pitchFamily="34" charset="0"/>
            </a:endParaRPr>
          </a:p>
        </p:txBody>
      </p:sp>
      <p:sp>
        <p:nvSpPr>
          <p:cNvPr id="60" name="Shape 58"/>
          <p:cNvSpPr/>
          <p:nvPr/>
        </p:nvSpPr>
        <p:spPr>
          <a:xfrm>
            <a:off x="767895" y="3584408"/>
            <a:ext cx="1828324" cy="0"/>
          </a:xfrm>
          <a:prstGeom prst="line">
            <a:avLst/>
          </a:prstGeom>
          <a:noFill/>
          <a:ln w="9525">
            <a:solidFill>
              <a:srgbClr val="1E3D2A"/>
            </a:solidFill>
            <a:prstDash val="solid"/>
          </a:ln>
        </p:spPr>
        <p:txBody>
          <a:bodyPr/>
          <a:lstStyle/>
          <a:p>
            <a:endParaRPr lang="en-US" sz="1799">
              <a:latin typeface="Candara" panose="020E0502030303020204" pitchFamily="34" charset="0"/>
            </a:endParaRPr>
          </a:p>
        </p:txBody>
      </p:sp>
      <p:sp>
        <p:nvSpPr>
          <p:cNvPr id="61" name="Text 59"/>
          <p:cNvSpPr/>
          <p:nvPr/>
        </p:nvSpPr>
        <p:spPr>
          <a:xfrm>
            <a:off x="786178" y="3620974"/>
            <a:ext cx="274249" cy="141695"/>
          </a:xfrm>
          <a:prstGeom prst="rect">
            <a:avLst/>
          </a:prstGeom>
          <a:noFill/>
          <a:ln/>
        </p:spPr>
        <p:txBody>
          <a:bodyPr wrap="square" lIns="0" tIns="0" rIns="0" bIns="0" rtlCol="0" anchor="ctr"/>
          <a:lstStyle/>
          <a:p>
            <a:r>
              <a:rPr lang="en-US" sz="700" b="1" dirty="0">
                <a:solidFill>
                  <a:srgbClr val="F6C90E"/>
                </a:solidFill>
                <a:latin typeface="Candara" panose="020E0502030303020204" pitchFamily="34" charset="0"/>
                <a:ea typeface="Calibri" pitchFamily="34" charset="-122"/>
                <a:cs typeface="Calibri" pitchFamily="34" charset="-120"/>
              </a:rPr>
              <a:t>PK</a:t>
            </a:r>
            <a:endParaRPr lang="en-US" sz="700" dirty="0">
              <a:latin typeface="Candara" panose="020E0502030303020204" pitchFamily="34" charset="0"/>
            </a:endParaRPr>
          </a:p>
        </p:txBody>
      </p:sp>
      <p:sp>
        <p:nvSpPr>
          <p:cNvPr id="62" name="Text 60"/>
          <p:cNvSpPr/>
          <p:nvPr/>
        </p:nvSpPr>
        <p:spPr>
          <a:xfrm>
            <a:off x="1078711" y="3620974"/>
            <a:ext cx="1005578" cy="141695"/>
          </a:xfrm>
          <a:prstGeom prst="rect">
            <a:avLst/>
          </a:prstGeom>
          <a:noFill/>
          <a:ln/>
        </p:spPr>
        <p:txBody>
          <a:bodyPr wrap="square" lIns="0" tIns="0" rIns="0" bIns="0" rtlCol="0" anchor="ctr"/>
          <a:lstStyle/>
          <a:p>
            <a:r>
              <a:rPr lang="en-US" sz="850" b="1" dirty="0">
                <a:solidFill>
                  <a:srgbClr val="FFFFFF"/>
                </a:solidFill>
                <a:latin typeface="Candara" panose="020E0502030303020204" pitchFamily="34" charset="0"/>
                <a:ea typeface="Calibri" pitchFamily="34" charset="-122"/>
                <a:cs typeface="Calibri" pitchFamily="34" charset="-120"/>
              </a:rPr>
              <a:t>ActuatorId</a:t>
            </a:r>
            <a:endParaRPr lang="en-US" sz="850" dirty="0">
              <a:latin typeface="Candara" panose="020E0502030303020204" pitchFamily="34" charset="0"/>
            </a:endParaRPr>
          </a:p>
        </p:txBody>
      </p:sp>
      <p:sp>
        <p:nvSpPr>
          <p:cNvPr id="63" name="Text 61"/>
          <p:cNvSpPr/>
          <p:nvPr/>
        </p:nvSpPr>
        <p:spPr>
          <a:xfrm>
            <a:off x="2084289" y="3620974"/>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64" name="Text 62"/>
          <p:cNvSpPr/>
          <p:nvPr/>
        </p:nvSpPr>
        <p:spPr>
          <a:xfrm>
            <a:off x="786178" y="3762669"/>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65" name="Text 63"/>
          <p:cNvSpPr/>
          <p:nvPr/>
        </p:nvSpPr>
        <p:spPr>
          <a:xfrm>
            <a:off x="1078711" y="3762669"/>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DeviceId</a:t>
            </a:r>
            <a:endParaRPr lang="en-US" sz="850" dirty="0">
              <a:latin typeface="Candara" panose="020E0502030303020204" pitchFamily="34" charset="0"/>
            </a:endParaRPr>
          </a:p>
        </p:txBody>
      </p:sp>
      <p:sp>
        <p:nvSpPr>
          <p:cNvPr id="66" name="Text 64"/>
          <p:cNvSpPr/>
          <p:nvPr/>
        </p:nvSpPr>
        <p:spPr>
          <a:xfrm>
            <a:off x="2084289" y="3762669"/>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67" name="Text 65"/>
          <p:cNvSpPr/>
          <p:nvPr/>
        </p:nvSpPr>
        <p:spPr>
          <a:xfrm>
            <a:off x="786178" y="3904364"/>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68" name="Text 66"/>
          <p:cNvSpPr/>
          <p:nvPr/>
        </p:nvSpPr>
        <p:spPr>
          <a:xfrm>
            <a:off x="1078711" y="3904364"/>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FeedbackSensorId</a:t>
            </a:r>
            <a:endParaRPr lang="en-US" sz="850" dirty="0">
              <a:latin typeface="Candara" panose="020E0502030303020204" pitchFamily="34" charset="0"/>
            </a:endParaRPr>
          </a:p>
        </p:txBody>
      </p:sp>
      <p:sp>
        <p:nvSpPr>
          <p:cNvPr id="69" name="Text 67"/>
          <p:cNvSpPr/>
          <p:nvPr/>
        </p:nvSpPr>
        <p:spPr>
          <a:xfrm>
            <a:off x="2084289" y="3904364"/>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70" name="Text 68"/>
          <p:cNvSpPr/>
          <p:nvPr/>
        </p:nvSpPr>
        <p:spPr>
          <a:xfrm>
            <a:off x="1078711" y="4046059"/>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Kind</a:t>
            </a:r>
            <a:endParaRPr lang="en-US" sz="850" dirty="0">
              <a:latin typeface="Candara" panose="020E0502030303020204" pitchFamily="34" charset="0"/>
            </a:endParaRPr>
          </a:p>
        </p:txBody>
      </p:sp>
      <p:sp>
        <p:nvSpPr>
          <p:cNvPr id="71" name="Text 69"/>
          <p:cNvSpPr/>
          <p:nvPr/>
        </p:nvSpPr>
        <p:spPr>
          <a:xfrm>
            <a:off x="2084289" y="4046059"/>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string(20)</a:t>
            </a:r>
            <a:endParaRPr lang="en-US" sz="750" dirty="0">
              <a:latin typeface="Candara" panose="020E0502030303020204" pitchFamily="34" charset="0"/>
            </a:endParaRPr>
          </a:p>
        </p:txBody>
      </p:sp>
      <p:sp>
        <p:nvSpPr>
          <p:cNvPr id="72" name="Shape 70"/>
          <p:cNvSpPr/>
          <p:nvPr/>
        </p:nvSpPr>
        <p:spPr>
          <a:xfrm>
            <a:off x="667338" y="5147624"/>
            <a:ext cx="2011156" cy="1334676"/>
          </a:xfrm>
          <a:prstGeom prst="roundRect">
            <a:avLst>
              <a:gd name="adj" fmla="val 5479"/>
            </a:avLst>
          </a:prstGeom>
          <a:solidFill>
            <a:srgbClr val="000000">
              <a:alpha val="20000"/>
            </a:srgbClr>
          </a:solidFill>
          <a:ln w="12700">
            <a:solidFill>
              <a:srgbClr val="000000"/>
            </a:solidFill>
            <a:prstDash val="solid"/>
          </a:ln>
        </p:spPr>
        <p:txBody>
          <a:bodyPr/>
          <a:lstStyle/>
          <a:p>
            <a:endParaRPr lang="en-US" sz="1799">
              <a:latin typeface="Candara" panose="020E0502030303020204" pitchFamily="34" charset="0"/>
            </a:endParaRPr>
          </a:p>
        </p:txBody>
      </p:sp>
      <p:sp>
        <p:nvSpPr>
          <p:cNvPr id="73" name="Shape 71"/>
          <p:cNvSpPr/>
          <p:nvPr/>
        </p:nvSpPr>
        <p:spPr>
          <a:xfrm>
            <a:off x="639913" y="5120200"/>
            <a:ext cx="2011156" cy="1334676"/>
          </a:xfrm>
          <a:prstGeom prst="roundRect">
            <a:avLst>
              <a:gd name="adj" fmla="val 5479"/>
            </a:avLst>
          </a:prstGeom>
          <a:solidFill>
            <a:srgbClr val="112B1D"/>
          </a:solidFill>
          <a:ln w="9525">
            <a:solidFill>
              <a:srgbClr val="1E3D2A"/>
            </a:solidFill>
            <a:prstDash val="solid"/>
          </a:ln>
        </p:spPr>
        <p:txBody>
          <a:bodyPr/>
          <a:lstStyle/>
          <a:p>
            <a:endParaRPr lang="en-US" sz="1799">
              <a:latin typeface="Candara" panose="020E0502030303020204" pitchFamily="34" charset="0"/>
            </a:endParaRPr>
          </a:p>
        </p:txBody>
      </p:sp>
      <p:sp>
        <p:nvSpPr>
          <p:cNvPr id="74" name="Shape 72"/>
          <p:cNvSpPr/>
          <p:nvPr/>
        </p:nvSpPr>
        <p:spPr>
          <a:xfrm>
            <a:off x="639913" y="5193333"/>
            <a:ext cx="50279" cy="1188410"/>
          </a:xfrm>
          <a:prstGeom prst="rect">
            <a:avLst/>
          </a:prstGeom>
          <a:solidFill>
            <a:srgbClr val="2A9962"/>
          </a:solidFill>
          <a:ln w="12700">
            <a:solidFill>
              <a:srgbClr val="2A9962"/>
            </a:solidFill>
            <a:prstDash val="solid"/>
          </a:ln>
        </p:spPr>
        <p:txBody>
          <a:bodyPr/>
          <a:lstStyle/>
          <a:p>
            <a:endParaRPr lang="en-US" sz="1799">
              <a:latin typeface="Candara" panose="020E0502030303020204" pitchFamily="34" charset="0"/>
            </a:endParaRPr>
          </a:p>
        </p:txBody>
      </p:sp>
      <p:sp>
        <p:nvSpPr>
          <p:cNvPr id="75" name="Shape 73"/>
          <p:cNvSpPr/>
          <p:nvPr/>
        </p:nvSpPr>
        <p:spPr>
          <a:xfrm>
            <a:off x="639913" y="5120200"/>
            <a:ext cx="50279" cy="164549"/>
          </a:xfrm>
          <a:prstGeom prst="roundRect">
            <a:avLst>
              <a:gd name="adj" fmla="val 72727"/>
            </a:avLst>
          </a:prstGeom>
          <a:solidFill>
            <a:srgbClr val="2A9962"/>
          </a:solidFill>
          <a:ln w="12700">
            <a:solidFill>
              <a:srgbClr val="2A9962"/>
            </a:solidFill>
            <a:prstDash val="solid"/>
          </a:ln>
        </p:spPr>
        <p:txBody>
          <a:bodyPr/>
          <a:lstStyle/>
          <a:p>
            <a:endParaRPr lang="en-US" sz="1799">
              <a:latin typeface="Candara" panose="020E0502030303020204" pitchFamily="34" charset="0"/>
            </a:endParaRPr>
          </a:p>
        </p:txBody>
      </p:sp>
      <p:sp>
        <p:nvSpPr>
          <p:cNvPr id="76" name="Text 74"/>
          <p:cNvSpPr/>
          <p:nvPr/>
        </p:nvSpPr>
        <p:spPr>
          <a:xfrm>
            <a:off x="786178" y="5138483"/>
            <a:ext cx="1810041"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Users</a:t>
            </a:r>
            <a:endParaRPr lang="en-US" sz="1100" dirty="0">
              <a:latin typeface="Candara" panose="020E0502030303020204" pitchFamily="34" charset="0"/>
            </a:endParaRPr>
          </a:p>
        </p:txBody>
      </p:sp>
      <p:sp>
        <p:nvSpPr>
          <p:cNvPr id="77" name="Text 75"/>
          <p:cNvSpPr/>
          <p:nvPr/>
        </p:nvSpPr>
        <p:spPr>
          <a:xfrm>
            <a:off x="786178" y="5412731"/>
            <a:ext cx="1810041" cy="164549"/>
          </a:xfrm>
          <a:prstGeom prst="rect">
            <a:avLst/>
          </a:prstGeom>
          <a:noFill/>
          <a:ln/>
        </p:spPr>
        <p:txBody>
          <a:bodyPr wrap="square" lIns="0" tIns="0" rIns="0" bIns="0" rtlCol="0" anchor="t"/>
          <a:lstStyle/>
          <a:p>
            <a:r>
              <a:rPr lang="en-US" sz="850" i="1" dirty="0">
                <a:solidFill>
                  <a:srgbClr val="7AB896"/>
                </a:solidFill>
                <a:latin typeface="Candara" panose="020E0502030303020204" pitchFamily="34" charset="0"/>
                <a:ea typeface="Calibri" pitchFamily="34" charset="-122"/>
                <a:cs typeface="Calibri" pitchFamily="34" charset="-120"/>
              </a:rPr>
              <a:t>App login and roles</a:t>
            </a:r>
            <a:endParaRPr lang="en-US" sz="850" dirty="0">
              <a:latin typeface="Candara" panose="020E0502030303020204" pitchFamily="34" charset="0"/>
            </a:endParaRPr>
          </a:p>
        </p:txBody>
      </p:sp>
      <p:sp>
        <p:nvSpPr>
          <p:cNvPr id="78" name="Shape 76"/>
          <p:cNvSpPr/>
          <p:nvPr/>
        </p:nvSpPr>
        <p:spPr>
          <a:xfrm>
            <a:off x="767895" y="5595564"/>
            <a:ext cx="1828324" cy="0"/>
          </a:xfrm>
          <a:prstGeom prst="line">
            <a:avLst/>
          </a:prstGeom>
          <a:noFill/>
          <a:ln w="9525">
            <a:solidFill>
              <a:srgbClr val="1E3D2A"/>
            </a:solidFill>
            <a:prstDash val="solid"/>
          </a:ln>
        </p:spPr>
        <p:txBody>
          <a:bodyPr/>
          <a:lstStyle/>
          <a:p>
            <a:endParaRPr lang="en-US" sz="1799">
              <a:latin typeface="Candara" panose="020E0502030303020204" pitchFamily="34" charset="0"/>
            </a:endParaRPr>
          </a:p>
        </p:txBody>
      </p:sp>
      <p:sp>
        <p:nvSpPr>
          <p:cNvPr id="79" name="Text 77"/>
          <p:cNvSpPr/>
          <p:nvPr/>
        </p:nvSpPr>
        <p:spPr>
          <a:xfrm>
            <a:off x="786178" y="5632130"/>
            <a:ext cx="274249" cy="141695"/>
          </a:xfrm>
          <a:prstGeom prst="rect">
            <a:avLst/>
          </a:prstGeom>
          <a:noFill/>
          <a:ln/>
        </p:spPr>
        <p:txBody>
          <a:bodyPr wrap="square" lIns="0" tIns="0" rIns="0" bIns="0" rtlCol="0" anchor="ctr"/>
          <a:lstStyle/>
          <a:p>
            <a:r>
              <a:rPr lang="en-US" sz="700" b="1" dirty="0">
                <a:solidFill>
                  <a:srgbClr val="F6C90E"/>
                </a:solidFill>
                <a:latin typeface="Candara" panose="020E0502030303020204" pitchFamily="34" charset="0"/>
                <a:ea typeface="Calibri" pitchFamily="34" charset="-122"/>
                <a:cs typeface="Calibri" pitchFamily="34" charset="-120"/>
              </a:rPr>
              <a:t>PK</a:t>
            </a:r>
            <a:endParaRPr lang="en-US" sz="700" dirty="0">
              <a:latin typeface="Candara" panose="020E0502030303020204" pitchFamily="34" charset="0"/>
            </a:endParaRPr>
          </a:p>
        </p:txBody>
      </p:sp>
      <p:sp>
        <p:nvSpPr>
          <p:cNvPr id="80" name="Text 78"/>
          <p:cNvSpPr/>
          <p:nvPr/>
        </p:nvSpPr>
        <p:spPr>
          <a:xfrm>
            <a:off x="1078711" y="5632130"/>
            <a:ext cx="1005578" cy="141695"/>
          </a:xfrm>
          <a:prstGeom prst="rect">
            <a:avLst/>
          </a:prstGeom>
          <a:noFill/>
          <a:ln/>
        </p:spPr>
        <p:txBody>
          <a:bodyPr wrap="square" lIns="0" tIns="0" rIns="0" bIns="0" rtlCol="0" anchor="ctr"/>
          <a:lstStyle/>
          <a:p>
            <a:r>
              <a:rPr lang="en-US" sz="850" b="1" dirty="0">
                <a:solidFill>
                  <a:srgbClr val="FFFFFF"/>
                </a:solidFill>
                <a:latin typeface="Candara" panose="020E0502030303020204" pitchFamily="34" charset="0"/>
                <a:ea typeface="Calibri" pitchFamily="34" charset="-122"/>
                <a:cs typeface="Calibri" pitchFamily="34" charset="-120"/>
              </a:rPr>
              <a:t>UserId</a:t>
            </a:r>
            <a:endParaRPr lang="en-US" sz="850" dirty="0">
              <a:latin typeface="Candara" panose="020E0502030303020204" pitchFamily="34" charset="0"/>
            </a:endParaRPr>
          </a:p>
        </p:txBody>
      </p:sp>
      <p:sp>
        <p:nvSpPr>
          <p:cNvPr id="81" name="Text 79"/>
          <p:cNvSpPr/>
          <p:nvPr/>
        </p:nvSpPr>
        <p:spPr>
          <a:xfrm>
            <a:off x="2084289" y="5632130"/>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82" name="Text 80"/>
          <p:cNvSpPr/>
          <p:nvPr/>
        </p:nvSpPr>
        <p:spPr>
          <a:xfrm>
            <a:off x="1078711" y="5773825"/>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Username</a:t>
            </a:r>
            <a:endParaRPr lang="en-US" sz="850" dirty="0">
              <a:latin typeface="Candara" panose="020E0502030303020204" pitchFamily="34" charset="0"/>
            </a:endParaRPr>
          </a:p>
        </p:txBody>
      </p:sp>
      <p:sp>
        <p:nvSpPr>
          <p:cNvPr id="83" name="Text 81"/>
          <p:cNvSpPr/>
          <p:nvPr/>
        </p:nvSpPr>
        <p:spPr>
          <a:xfrm>
            <a:off x="2084289" y="5773825"/>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string(100)</a:t>
            </a:r>
            <a:endParaRPr lang="en-US" sz="750" dirty="0">
              <a:latin typeface="Candara" panose="020E0502030303020204" pitchFamily="34" charset="0"/>
            </a:endParaRPr>
          </a:p>
        </p:txBody>
      </p:sp>
      <p:sp>
        <p:nvSpPr>
          <p:cNvPr id="84" name="Text 82"/>
          <p:cNvSpPr/>
          <p:nvPr/>
        </p:nvSpPr>
        <p:spPr>
          <a:xfrm>
            <a:off x="1078711" y="5915520"/>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Role</a:t>
            </a:r>
            <a:endParaRPr lang="en-US" sz="850" dirty="0">
              <a:latin typeface="Candara" panose="020E0502030303020204" pitchFamily="34" charset="0"/>
            </a:endParaRPr>
          </a:p>
        </p:txBody>
      </p:sp>
      <p:sp>
        <p:nvSpPr>
          <p:cNvPr id="85" name="Text 83"/>
          <p:cNvSpPr/>
          <p:nvPr/>
        </p:nvSpPr>
        <p:spPr>
          <a:xfrm>
            <a:off x="2084289" y="5915520"/>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string(20)</a:t>
            </a:r>
            <a:endParaRPr lang="en-US" sz="750" dirty="0">
              <a:latin typeface="Candara" panose="020E0502030303020204" pitchFamily="34" charset="0"/>
            </a:endParaRPr>
          </a:p>
        </p:txBody>
      </p:sp>
      <p:sp>
        <p:nvSpPr>
          <p:cNvPr id="86" name="Text 84"/>
          <p:cNvSpPr/>
          <p:nvPr/>
        </p:nvSpPr>
        <p:spPr>
          <a:xfrm>
            <a:off x="1078711" y="6057215"/>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IsActive</a:t>
            </a:r>
            <a:endParaRPr lang="en-US" sz="850" dirty="0">
              <a:latin typeface="Candara" panose="020E0502030303020204" pitchFamily="34" charset="0"/>
            </a:endParaRPr>
          </a:p>
        </p:txBody>
      </p:sp>
      <p:sp>
        <p:nvSpPr>
          <p:cNvPr id="87" name="Text 85"/>
          <p:cNvSpPr/>
          <p:nvPr/>
        </p:nvSpPr>
        <p:spPr>
          <a:xfrm>
            <a:off x="2084289" y="6057215"/>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bool</a:t>
            </a:r>
            <a:endParaRPr lang="en-US" sz="750" dirty="0">
              <a:latin typeface="Candara" panose="020E0502030303020204" pitchFamily="34" charset="0"/>
            </a:endParaRPr>
          </a:p>
        </p:txBody>
      </p:sp>
      <p:sp>
        <p:nvSpPr>
          <p:cNvPr id="88" name="Text 86"/>
          <p:cNvSpPr/>
          <p:nvPr/>
        </p:nvSpPr>
        <p:spPr>
          <a:xfrm>
            <a:off x="786178" y="6253760"/>
            <a:ext cx="1810041" cy="164549"/>
          </a:xfrm>
          <a:prstGeom prst="rect">
            <a:avLst/>
          </a:prstGeom>
          <a:noFill/>
          <a:ln/>
        </p:spPr>
        <p:txBody>
          <a:bodyPr wrap="square" lIns="0" tIns="0" rIns="0" bIns="0" rtlCol="0" anchor="ctr"/>
          <a:lstStyle/>
          <a:p>
            <a:r>
              <a:rPr lang="en-US" sz="700" i="1" dirty="0">
                <a:solidFill>
                  <a:srgbClr val="7AB896"/>
                </a:solidFill>
                <a:latin typeface="Candara" panose="020E0502030303020204" pitchFamily="34" charset="0"/>
                <a:ea typeface="Calibri" pitchFamily="34" charset="-122"/>
                <a:cs typeface="Calibri" pitchFamily="34" charset="-120"/>
              </a:rPr>
              <a:t>⊘  standalone — no FK links</a:t>
            </a:r>
            <a:endParaRPr lang="en-US" sz="700" dirty="0">
              <a:latin typeface="Candara" panose="020E0502030303020204" pitchFamily="34" charset="0"/>
            </a:endParaRPr>
          </a:p>
        </p:txBody>
      </p:sp>
      <p:sp>
        <p:nvSpPr>
          <p:cNvPr id="89" name="Shape 87"/>
          <p:cNvSpPr/>
          <p:nvPr/>
        </p:nvSpPr>
        <p:spPr>
          <a:xfrm>
            <a:off x="9671832" y="896771"/>
            <a:ext cx="2011156" cy="1133561"/>
          </a:xfrm>
          <a:prstGeom prst="roundRect">
            <a:avLst>
              <a:gd name="adj" fmla="val 6452"/>
            </a:avLst>
          </a:prstGeom>
          <a:solidFill>
            <a:srgbClr val="000000">
              <a:alpha val="20000"/>
            </a:srgbClr>
          </a:solidFill>
          <a:ln w="12700">
            <a:solidFill>
              <a:srgbClr val="000000"/>
            </a:solidFill>
            <a:prstDash val="solid"/>
          </a:ln>
        </p:spPr>
        <p:txBody>
          <a:bodyPr/>
          <a:lstStyle/>
          <a:p>
            <a:endParaRPr lang="en-US" sz="1799">
              <a:latin typeface="Candara" panose="020E0502030303020204" pitchFamily="34" charset="0"/>
            </a:endParaRPr>
          </a:p>
        </p:txBody>
      </p:sp>
      <p:sp>
        <p:nvSpPr>
          <p:cNvPr id="90" name="Shape 88"/>
          <p:cNvSpPr/>
          <p:nvPr/>
        </p:nvSpPr>
        <p:spPr>
          <a:xfrm>
            <a:off x="9644407" y="869347"/>
            <a:ext cx="2011156" cy="1133561"/>
          </a:xfrm>
          <a:prstGeom prst="roundRect">
            <a:avLst>
              <a:gd name="adj" fmla="val 6452"/>
            </a:avLst>
          </a:prstGeom>
          <a:solidFill>
            <a:srgbClr val="112B1D"/>
          </a:solidFill>
          <a:ln w="9525">
            <a:solidFill>
              <a:srgbClr val="1E3D2A"/>
            </a:solidFill>
            <a:prstDash val="solid"/>
          </a:ln>
        </p:spPr>
        <p:txBody>
          <a:bodyPr/>
          <a:lstStyle/>
          <a:p>
            <a:endParaRPr lang="en-US" sz="1799">
              <a:latin typeface="Candara" panose="020E0502030303020204" pitchFamily="34" charset="0"/>
            </a:endParaRPr>
          </a:p>
        </p:txBody>
      </p:sp>
      <p:sp>
        <p:nvSpPr>
          <p:cNvPr id="91" name="Shape 89"/>
          <p:cNvSpPr/>
          <p:nvPr/>
        </p:nvSpPr>
        <p:spPr>
          <a:xfrm>
            <a:off x="9644407" y="942480"/>
            <a:ext cx="50279" cy="987295"/>
          </a:xfrm>
          <a:prstGeom prst="rect">
            <a:avLst/>
          </a:prstGeom>
          <a:solidFill>
            <a:srgbClr val="1B5C3A"/>
          </a:solidFill>
          <a:ln w="12700">
            <a:solidFill>
              <a:srgbClr val="1B5C3A"/>
            </a:solidFill>
            <a:prstDash val="solid"/>
          </a:ln>
        </p:spPr>
        <p:txBody>
          <a:bodyPr/>
          <a:lstStyle/>
          <a:p>
            <a:endParaRPr lang="en-US" sz="1799">
              <a:latin typeface="Candara" panose="020E0502030303020204" pitchFamily="34" charset="0"/>
            </a:endParaRPr>
          </a:p>
        </p:txBody>
      </p:sp>
      <p:sp>
        <p:nvSpPr>
          <p:cNvPr id="92" name="Shape 90"/>
          <p:cNvSpPr/>
          <p:nvPr/>
        </p:nvSpPr>
        <p:spPr>
          <a:xfrm>
            <a:off x="9644407" y="869347"/>
            <a:ext cx="50279" cy="164549"/>
          </a:xfrm>
          <a:prstGeom prst="roundRect">
            <a:avLst>
              <a:gd name="adj" fmla="val 72727"/>
            </a:avLst>
          </a:prstGeom>
          <a:solidFill>
            <a:srgbClr val="1B5C3A"/>
          </a:solidFill>
          <a:ln w="12700">
            <a:solidFill>
              <a:srgbClr val="1B5C3A"/>
            </a:solidFill>
            <a:prstDash val="solid"/>
          </a:ln>
        </p:spPr>
        <p:txBody>
          <a:bodyPr/>
          <a:lstStyle/>
          <a:p>
            <a:endParaRPr lang="en-US" sz="1799">
              <a:latin typeface="Candara" panose="020E0502030303020204" pitchFamily="34" charset="0"/>
            </a:endParaRPr>
          </a:p>
        </p:txBody>
      </p:sp>
      <p:sp>
        <p:nvSpPr>
          <p:cNvPr id="93" name="Text 91"/>
          <p:cNvSpPr/>
          <p:nvPr/>
        </p:nvSpPr>
        <p:spPr>
          <a:xfrm>
            <a:off x="9790673" y="887630"/>
            <a:ext cx="1810041"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SensorReadings</a:t>
            </a:r>
            <a:endParaRPr lang="en-US" sz="1100" dirty="0">
              <a:latin typeface="Candara" panose="020E0502030303020204" pitchFamily="34" charset="0"/>
            </a:endParaRPr>
          </a:p>
        </p:txBody>
      </p:sp>
      <p:sp>
        <p:nvSpPr>
          <p:cNvPr id="94" name="Text 92"/>
          <p:cNvSpPr/>
          <p:nvPr/>
        </p:nvSpPr>
        <p:spPr>
          <a:xfrm>
            <a:off x="9790673" y="1161879"/>
            <a:ext cx="1810041" cy="164549"/>
          </a:xfrm>
          <a:prstGeom prst="rect">
            <a:avLst/>
          </a:prstGeom>
          <a:noFill/>
          <a:ln/>
        </p:spPr>
        <p:txBody>
          <a:bodyPr wrap="square" lIns="0" tIns="0" rIns="0" bIns="0" rtlCol="0" anchor="t"/>
          <a:lstStyle/>
          <a:p>
            <a:r>
              <a:rPr lang="en-US" sz="850" i="1" dirty="0">
                <a:solidFill>
                  <a:srgbClr val="7AB896"/>
                </a:solidFill>
                <a:latin typeface="Candara" panose="020E0502030303020204" pitchFamily="34" charset="0"/>
                <a:ea typeface="Calibri" pitchFamily="34" charset="-122"/>
                <a:cs typeface="Calibri" pitchFamily="34" charset="-120"/>
              </a:rPr>
              <a:t>Raw measurements over time</a:t>
            </a:r>
            <a:endParaRPr lang="en-US" sz="850" dirty="0">
              <a:latin typeface="Candara" panose="020E0502030303020204" pitchFamily="34" charset="0"/>
            </a:endParaRPr>
          </a:p>
        </p:txBody>
      </p:sp>
      <p:sp>
        <p:nvSpPr>
          <p:cNvPr id="95" name="Shape 93"/>
          <p:cNvSpPr/>
          <p:nvPr/>
        </p:nvSpPr>
        <p:spPr>
          <a:xfrm>
            <a:off x="9772390" y="1344711"/>
            <a:ext cx="1828324" cy="0"/>
          </a:xfrm>
          <a:prstGeom prst="line">
            <a:avLst/>
          </a:prstGeom>
          <a:noFill/>
          <a:ln w="9525">
            <a:solidFill>
              <a:srgbClr val="1E3D2A"/>
            </a:solidFill>
            <a:prstDash val="solid"/>
          </a:ln>
        </p:spPr>
        <p:txBody>
          <a:bodyPr/>
          <a:lstStyle/>
          <a:p>
            <a:endParaRPr lang="en-US" sz="1799">
              <a:latin typeface="Candara" panose="020E0502030303020204" pitchFamily="34" charset="0"/>
            </a:endParaRPr>
          </a:p>
        </p:txBody>
      </p:sp>
      <p:sp>
        <p:nvSpPr>
          <p:cNvPr id="96" name="Text 94"/>
          <p:cNvSpPr/>
          <p:nvPr/>
        </p:nvSpPr>
        <p:spPr>
          <a:xfrm>
            <a:off x="9790673" y="1381277"/>
            <a:ext cx="274249" cy="141695"/>
          </a:xfrm>
          <a:prstGeom prst="rect">
            <a:avLst/>
          </a:prstGeom>
          <a:noFill/>
          <a:ln/>
        </p:spPr>
        <p:txBody>
          <a:bodyPr wrap="square" lIns="0" tIns="0" rIns="0" bIns="0" rtlCol="0" anchor="ctr"/>
          <a:lstStyle/>
          <a:p>
            <a:r>
              <a:rPr lang="en-US" sz="700" b="1" dirty="0">
                <a:solidFill>
                  <a:srgbClr val="F6C90E"/>
                </a:solidFill>
                <a:latin typeface="Candara" panose="020E0502030303020204" pitchFamily="34" charset="0"/>
                <a:ea typeface="Calibri" pitchFamily="34" charset="-122"/>
                <a:cs typeface="Calibri" pitchFamily="34" charset="-120"/>
              </a:rPr>
              <a:t>PK</a:t>
            </a:r>
            <a:endParaRPr lang="en-US" sz="700" dirty="0">
              <a:latin typeface="Candara" panose="020E0502030303020204" pitchFamily="34" charset="0"/>
            </a:endParaRPr>
          </a:p>
        </p:txBody>
      </p:sp>
      <p:sp>
        <p:nvSpPr>
          <p:cNvPr id="97" name="Text 95"/>
          <p:cNvSpPr/>
          <p:nvPr/>
        </p:nvSpPr>
        <p:spPr>
          <a:xfrm>
            <a:off x="10083205" y="1381277"/>
            <a:ext cx="1005578" cy="141695"/>
          </a:xfrm>
          <a:prstGeom prst="rect">
            <a:avLst/>
          </a:prstGeom>
          <a:noFill/>
          <a:ln/>
        </p:spPr>
        <p:txBody>
          <a:bodyPr wrap="square" lIns="0" tIns="0" rIns="0" bIns="0" rtlCol="0" anchor="ctr"/>
          <a:lstStyle/>
          <a:p>
            <a:r>
              <a:rPr lang="en-US" sz="850" b="1" dirty="0">
                <a:solidFill>
                  <a:srgbClr val="FFFFFF"/>
                </a:solidFill>
                <a:latin typeface="Candara" panose="020E0502030303020204" pitchFamily="34" charset="0"/>
                <a:ea typeface="Calibri" pitchFamily="34" charset="-122"/>
                <a:cs typeface="Calibri" pitchFamily="34" charset="-120"/>
              </a:rPr>
              <a:t>ReadingId</a:t>
            </a:r>
            <a:endParaRPr lang="en-US" sz="850" dirty="0">
              <a:latin typeface="Candara" panose="020E0502030303020204" pitchFamily="34" charset="0"/>
            </a:endParaRPr>
          </a:p>
        </p:txBody>
      </p:sp>
      <p:sp>
        <p:nvSpPr>
          <p:cNvPr id="98" name="Text 96"/>
          <p:cNvSpPr/>
          <p:nvPr/>
        </p:nvSpPr>
        <p:spPr>
          <a:xfrm>
            <a:off x="11088783" y="1381277"/>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long</a:t>
            </a:r>
            <a:endParaRPr lang="en-US" sz="750" dirty="0">
              <a:latin typeface="Candara" panose="020E0502030303020204" pitchFamily="34" charset="0"/>
            </a:endParaRPr>
          </a:p>
        </p:txBody>
      </p:sp>
      <p:sp>
        <p:nvSpPr>
          <p:cNvPr id="99" name="Text 97"/>
          <p:cNvSpPr/>
          <p:nvPr/>
        </p:nvSpPr>
        <p:spPr>
          <a:xfrm>
            <a:off x="9790673" y="1522973"/>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100" name="Text 98"/>
          <p:cNvSpPr/>
          <p:nvPr/>
        </p:nvSpPr>
        <p:spPr>
          <a:xfrm>
            <a:off x="10083205" y="1522973"/>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DeviceId</a:t>
            </a:r>
            <a:endParaRPr lang="en-US" sz="850" dirty="0">
              <a:latin typeface="Candara" panose="020E0502030303020204" pitchFamily="34" charset="0"/>
            </a:endParaRPr>
          </a:p>
        </p:txBody>
      </p:sp>
      <p:sp>
        <p:nvSpPr>
          <p:cNvPr id="101" name="Text 99"/>
          <p:cNvSpPr/>
          <p:nvPr/>
        </p:nvSpPr>
        <p:spPr>
          <a:xfrm>
            <a:off x="11088783" y="1522973"/>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102" name="Text 100"/>
          <p:cNvSpPr/>
          <p:nvPr/>
        </p:nvSpPr>
        <p:spPr>
          <a:xfrm>
            <a:off x="9790673" y="1664668"/>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103" name="Text 101"/>
          <p:cNvSpPr/>
          <p:nvPr/>
        </p:nvSpPr>
        <p:spPr>
          <a:xfrm>
            <a:off x="10083205" y="1664668"/>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SensorId</a:t>
            </a:r>
            <a:endParaRPr lang="en-US" sz="850" dirty="0">
              <a:latin typeface="Candara" panose="020E0502030303020204" pitchFamily="34" charset="0"/>
            </a:endParaRPr>
          </a:p>
        </p:txBody>
      </p:sp>
      <p:sp>
        <p:nvSpPr>
          <p:cNvPr id="104" name="Text 102"/>
          <p:cNvSpPr/>
          <p:nvPr/>
        </p:nvSpPr>
        <p:spPr>
          <a:xfrm>
            <a:off x="11088783" y="1664668"/>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105" name="Text 103"/>
          <p:cNvSpPr/>
          <p:nvPr/>
        </p:nvSpPr>
        <p:spPr>
          <a:xfrm>
            <a:off x="10083205" y="1806363"/>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Value</a:t>
            </a:r>
            <a:endParaRPr lang="en-US" sz="850" dirty="0">
              <a:latin typeface="Candara" panose="020E0502030303020204" pitchFamily="34" charset="0"/>
            </a:endParaRPr>
          </a:p>
        </p:txBody>
      </p:sp>
      <p:sp>
        <p:nvSpPr>
          <p:cNvPr id="106" name="Text 104"/>
          <p:cNvSpPr/>
          <p:nvPr/>
        </p:nvSpPr>
        <p:spPr>
          <a:xfrm>
            <a:off x="11088783" y="1806363"/>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dec(18,4)</a:t>
            </a:r>
            <a:endParaRPr lang="en-US" sz="750" dirty="0">
              <a:latin typeface="Candara" panose="020E0502030303020204" pitchFamily="34" charset="0"/>
            </a:endParaRPr>
          </a:p>
        </p:txBody>
      </p:sp>
      <p:sp>
        <p:nvSpPr>
          <p:cNvPr id="107" name="Shape 105"/>
          <p:cNvSpPr/>
          <p:nvPr/>
        </p:nvSpPr>
        <p:spPr>
          <a:xfrm>
            <a:off x="9671832" y="2450847"/>
            <a:ext cx="2011156" cy="1133561"/>
          </a:xfrm>
          <a:prstGeom prst="roundRect">
            <a:avLst>
              <a:gd name="adj" fmla="val 6452"/>
            </a:avLst>
          </a:prstGeom>
          <a:solidFill>
            <a:srgbClr val="000000">
              <a:alpha val="20000"/>
            </a:srgbClr>
          </a:solidFill>
          <a:ln w="12700">
            <a:solidFill>
              <a:srgbClr val="000000"/>
            </a:solidFill>
            <a:prstDash val="solid"/>
          </a:ln>
        </p:spPr>
        <p:txBody>
          <a:bodyPr/>
          <a:lstStyle/>
          <a:p>
            <a:endParaRPr lang="en-US" sz="1799">
              <a:latin typeface="Candara" panose="020E0502030303020204" pitchFamily="34" charset="0"/>
            </a:endParaRPr>
          </a:p>
        </p:txBody>
      </p:sp>
      <p:sp>
        <p:nvSpPr>
          <p:cNvPr id="108" name="Shape 106"/>
          <p:cNvSpPr/>
          <p:nvPr/>
        </p:nvSpPr>
        <p:spPr>
          <a:xfrm>
            <a:off x="9644407" y="2423422"/>
            <a:ext cx="2011156" cy="1133561"/>
          </a:xfrm>
          <a:prstGeom prst="roundRect">
            <a:avLst>
              <a:gd name="adj" fmla="val 6452"/>
            </a:avLst>
          </a:prstGeom>
          <a:solidFill>
            <a:srgbClr val="112B1D"/>
          </a:solidFill>
          <a:ln w="9525">
            <a:solidFill>
              <a:srgbClr val="1E3D2A"/>
            </a:solidFill>
            <a:prstDash val="solid"/>
          </a:ln>
        </p:spPr>
        <p:txBody>
          <a:bodyPr/>
          <a:lstStyle/>
          <a:p>
            <a:endParaRPr lang="en-US" sz="1799">
              <a:latin typeface="Candara" panose="020E0502030303020204" pitchFamily="34" charset="0"/>
            </a:endParaRPr>
          </a:p>
        </p:txBody>
      </p:sp>
      <p:sp>
        <p:nvSpPr>
          <p:cNvPr id="109" name="Shape 107"/>
          <p:cNvSpPr/>
          <p:nvPr/>
        </p:nvSpPr>
        <p:spPr>
          <a:xfrm>
            <a:off x="9644407" y="2496555"/>
            <a:ext cx="50279" cy="987295"/>
          </a:xfrm>
          <a:prstGeom prst="rect">
            <a:avLst/>
          </a:prstGeom>
          <a:solidFill>
            <a:srgbClr val="1B5C3A"/>
          </a:solidFill>
          <a:ln w="12700">
            <a:solidFill>
              <a:srgbClr val="1B5C3A"/>
            </a:solidFill>
            <a:prstDash val="solid"/>
          </a:ln>
        </p:spPr>
        <p:txBody>
          <a:bodyPr/>
          <a:lstStyle/>
          <a:p>
            <a:endParaRPr lang="en-US" sz="1799">
              <a:latin typeface="Candara" panose="020E0502030303020204" pitchFamily="34" charset="0"/>
            </a:endParaRPr>
          </a:p>
        </p:txBody>
      </p:sp>
      <p:sp>
        <p:nvSpPr>
          <p:cNvPr id="110" name="Shape 108"/>
          <p:cNvSpPr/>
          <p:nvPr/>
        </p:nvSpPr>
        <p:spPr>
          <a:xfrm>
            <a:off x="9644407" y="2423422"/>
            <a:ext cx="50279" cy="164549"/>
          </a:xfrm>
          <a:prstGeom prst="roundRect">
            <a:avLst>
              <a:gd name="adj" fmla="val 72727"/>
            </a:avLst>
          </a:prstGeom>
          <a:solidFill>
            <a:srgbClr val="1B5C3A"/>
          </a:solidFill>
          <a:ln w="12700">
            <a:solidFill>
              <a:srgbClr val="1B5C3A"/>
            </a:solidFill>
            <a:prstDash val="solid"/>
          </a:ln>
        </p:spPr>
        <p:txBody>
          <a:bodyPr/>
          <a:lstStyle/>
          <a:p>
            <a:endParaRPr lang="en-US" sz="1799">
              <a:latin typeface="Candara" panose="020E0502030303020204" pitchFamily="34" charset="0"/>
            </a:endParaRPr>
          </a:p>
        </p:txBody>
      </p:sp>
      <p:sp>
        <p:nvSpPr>
          <p:cNvPr id="111" name="Text 109"/>
          <p:cNvSpPr/>
          <p:nvPr/>
        </p:nvSpPr>
        <p:spPr>
          <a:xfrm>
            <a:off x="9790673" y="2441705"/>
            <a:ext cx="1810041"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DeviceStatusHistories</a:t>
            </a:r>
            <a:endParaRPr lang="en-US" sz="1100" dirty="0">
              <a:latin typeface="Candara" panose="020E0502030303020204" pitchFamily="34" charset="0"/>
            </a:endParaRPr>
          </a:p>
        </p:txBody>
      </p:sp>
      <p:sp>
        <p:nvSpPr>
          <p:cNvPr id="112" name="Text 110"/>
          <p:cNvSpPr/>
          <p:nvPr/>
        </p:nvSpPr>
        <p:spPr>
          <a:xfrm>
            <a:off x="9790673" y="2715954"/>
            <a:ext cx="1810041" cy="164549"/>
          </a:xfrm>
          <a:prstGeom prst="rect">
            <a:avLst/>
          </a:prstGeom>
          <a:noFill/>
          <a:ln/>
        </p:spPr>
        <p:txBody>
          <a:bodyPr wrap="square" lIns="0" tIns="0" rIns="0" bIns="0" rtlCol="0" anchor="t"/>
          <a:lstStyle/>
          <a:p>
            <a:r>
              <a:rPr lang="en-US" sz="850" i="1" dirty="0">
                <a:solidFill>
                  <a:srgbClr val="7AB896"/>
                </a:solidFill>
                <a:latin typeface="Candara" panose="020E0502030303020204" pitchFamily="34" charset="0"/>
                <a:ea typeface="Calibri" pitchFamily="34" charset="-122"/>
                <a:cs typeface="Calibri" pitchFamily="34" charset="-120"/>
              </a:rPr>
              <a:t>Device status change log</a:t>
            </a:r>
            <a:endParaRPr lang="en-US" sz="850" dirty="0">
              <a:latin typeface="Candara" panose="020E0502030303020204" pitchFamily="34" charset="0"/>
            </a:endParaRPr>
          </a:p>
        </p:txBody>
      </p:sp>
      <p:sp>
        <p:nvSpPr>
          <p:cNvPr id="113" name="Shape 111"/>
          <p:cNvSpPr/>
          <p:nvPr/>
        </p:nvSpPr>
        <p:spPr>
          <a:xfrm>
            <a:off x="9772390" y="2898786"/>
            <a:ext cx="1828324" cy="0"/>
          </a:xfrm>
          <a:prstGeom prst="line">
            <a:avLst/>
          </a:prstGeom>
          <a:noFill/>
          <a:ln w="9525">
            <a:solidFill>
              <a:srgbClr val="1E3D2A"/>
            </a:solidFill>
            <a:prstDash val="solid"/>
          </a:ln>
        </p:spPr>
        <p:txBody>
          <a:bodyPr/>
          <a:lstStyle/>
          <a:p>
            <a:endParaRPr lang="en-US" sz="1799">
              <a:latin typeface="Candara" panose="020E0502030303020204" pitchFamily="34" charset="0"/>
            </a:endParaRPr>
          </a:p>
        </p:txBody>
      </p:sp>
      <p:sp>
        <p:nvSpPr>
          <p:cNvPr id="114" name="Text 112"/>
          <p:cNvSpPr/>
          <p:nvPr/>
        </p:nvSpPr>
        <p:spPr>
          <a:xfrm>
            <a:off x="9790673" y="2935353"/>
            <a:ext cx="274249" cy="141695"/>
          </a:xfrm>
          <a:prstGeom prst="rect">
            <a:avLst/>
          </a:prstGeom>
          <a:noFill/>
          <a:ln/>
        </p:spPr>
        <p:txBody>
          <a:bodyPr wrap="square" lIns="0" tIns="0" rIns="0" bIns="0" rtlCol="0" anchor="ctr"/>
          <a:lstStyle/>
          <a:p>
            <a:r>
              <a:rPr lang="en-US" sz="700" b="1" dirty="0">
                <a:solidFill>
                  <a:srgbClr val="F6C90E"/>
                </a:solidFill>
                <a:latin typeface="Candara" panose="020E0502030303020204" pitchFamily="34" charset="0"/>
                <a:ea typeface="Calibri" pitchFamily="34" charset="-122"/>
                <a:cs typeface="Calibri" pitchFamily="34" charset="-120"/>
              </a:rPr>
              <a:t>PK</a:t>
            </a:r>
            <a:endParaRPr lang="en-US" sz="700" dirty="0">
              <a:latin typeface="Candara" panose="020E0502030303020204" pitchFamily="34" charset="0"/>
            </a:endParaRPr>
          </a:p>
        </p:txBody>
      </p:sp>
      <p:sp>
        <p:nvSpPr>
          <p:cNvPr id="115" name="Text 113"/>
          <p:cNvSpPr/>
          <p:nvPr/>
        </p:nvSpPr>
        <p:spPr>
          <a:xfrm>
            <a:off x="10083205" y="2935353"/>
            <a:ext cx="1005578" cy="141695"/>
          </a:xfrm>
          <a:prstGeom prst="rect">
            <a:avLst/>
          </a:prstGeom>
          <a:noFill/>
          <a:ln/>
        </p:spPr>
        <p:txBody>
          <a:bodyPr wrap="square" lIns="0" tIns="0" rIns="0" bIns="0" rtlCol="0" anchor="ctr"/>
          <a:lstStyle/>
          <a:p>
            <a:r>
              <a:rPr lang="en-US" sz="850" b="1" dirty="0">
                <a:solidFill>
                  <a:srgbClr val="FFFFFF"/>
                </a:solidFill>
                <a:latin typeface="Candara" panose="020E0502030303020204" pitchFamily="34" charset="0"/>
                <a:ea typeface="Calibri" pitchFamily="34" charset="-122"/>
                <a:cs typeface="Calibri" pitchFamily="34" charset="-120"/>
              </a:rPr>
              <a:t>StatusHistoryId</a:t>
            </a:r>
            <a:endParaRPr lang="en-US" sz="850" dirty="0">
              <a:latin typeface="Candara" panose="020E0502030303020204" pitchFamily="34" charset="0"/>
            </a:endParaRPr>
          </a:p>
        </p:txBody>
      </p:sp>
      <p:sp>
        <p:nvSpPr>
          <p:cNvPr id="116" name="Text 114"/>
          <p:cNvSpPr/>
          <p:nvPr/>
        </p:nvSpPr>
        <p:spPr>
          <a:xfrm>
            <a:off x="11088783" y="2935353"/>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long</a:t>
            </a:r>
            <a:endParaRPr lang="en-US" sz="750" dirty="0">
              <a:latin typeface="Candara" panose="020E0502030303020204" pitchFamily="34" charset="0"/>
            </a:endParaRPr>
          </a:p>
        </p:txBody>
      </p:sp>
      <p:sp>
        <p:nvSpPr>
          <p:cNvPr id="117" name="Text 115"/>
          <p:cNvSpPr/>
          <p:nvPr/>
        </p:nvSpPr>
        <p:spPr>
          <a:xfrm>
            <a:off x="9790673" y="3077048"/>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118" name="Text 116"/>
          <p:cNvSpPr/>
          <p:nvPr/>
        </p:nvSpPr>
        <p:spPr>
          <a:xfrm>
            <a:off x="10083205" y="3077048"/>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DeviceId</a:t>
            </a:r>
            <a:endParaRPr lang="en-US" sz="850" dirty="0">
              <a:latin typeface="Candara" panose="020E0502030303020204" pitchFamily="34" charset="0"/>
            </a:endParaRPr>
          </a:p>
        </p:txBody>
      </p:sp>
      <p:sp>
        <p:nvSpPr>
          <p:cNvPr id="119" name="Text 117"/>
          <p:cNvSpPr/>
          <p:nvPr/>
        </p:nvSpPr>
        <p:spPr>
          <a:xfrm>
            <a:off x="11088783" y="3077048"/>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120" name="Text 118"/>
          <p:cNvSpPr/>
          <p:nvPr/>
        </p:nvSpPr>
        <p:spPr>
          <a:xfrm>
            <a:off x="10083205" y="3218743"/>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Status</a:t>
            </a:r>
            <a:endParaRPr lang="en-US" sz="850" dirty="0">
              <a:latin typeface="Candara" panose="020E0502030303020204" pitchFamily="34" charset="0"/>
            </a:endParaRPr>
          </a:p>
        </p:txBody>
      </p:sp>
      <p:sp>
        <p:nvSpPr>
          <p:cNvPr id="121" name="Text 119"/>
          <p:cNvSpPr/>
          <p:nvPr/>
        </p:nvSpPr>
        <p:spPr>
          <a:xfrm>
            <a:off x="11088783" y="3218743"/>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string(50)</a:t>
            </a:r>
            <a:endParaRPr lang="en-US" sz="750" dirty="0">
              <a:latin typeface="Candara" panose="020E0502030303020204" pitchFamily="34" charset="0"/>
            </a:endParaRPr>
          </a:p>
        </p:txBody>
      </p:sp>
      <p:sp>
        <p:nvSpPr>
          <p:cNvPr id="122" name="Text 120"/>
          <p:cNvSpPr/>
          <p:nvPr/>
        </p:nvSpPr>
        <p:spPr>
          <a:xfrm>
            <a:off x="10083205" y="3360438"/>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Timestamp</a:t>
            </a:r>
            <a:endParaRPr lang="en-US" sz="850" dirty="0">
              <a:latin typeface="Candara" panose="020E0502030303020204" pitchFamily="34" charset="0"/>
            </a:endParaRPr>
          </a:p>
        </p:txBody>
      </p:sp>
      <p:sp>
        <p:nvSpPr>
          <p:cNvPr id="123" name="Text 121"/>
          <p:cNvSpPr/>
          <p:nvPr/>
        </p:nvSpPr>
        <p:spPr>
          <a:xfrm>
            <a:off x="11088783" y="3360438"/>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DateTime</a:t>
            </a:r>
            <a:endParaRPr lang="en-US" sz="750" dirty="0">
              <a:latin typeface="Candara" panose="020E0502030303020204" pitchFamily="34" charset="0"/>
            </a:endParaRPr>
          </a:p>
        </p:txBody>
      </p:sp>
      <p:sp>
        <p:nvSpPr>
          <p:cNvPr id="124" name="Shape 122"/>
          <p:cNvSpPr/>
          <p:nvPr/>
        </p:nvSpPr>
        <p:spPr>
          <a:xfrm>
            <a:off x="9671832" y="3913506"/>
            <a:ext cx="2011156" cy="1133561"/>
          </a:xfrm>
          <a:prstGeom prst="roundRect">
            <a:avLst>
              <a:gd name="adj" fmla="val 6452"/>
            </a:avLst>
          </a:prstGeom>
          <a:solidFill>
            <a:srgbClr val="000000">
              <a:alpha val="20000"/>
            </a:srgbClr>
          </a:solidFill>
          <a:ln w="12700">
            <a:solidFill>
              <a:srgbClr val="000000"/>
            </a:solidFill>
            <a:prstDash val="solid"/>
          </a:ln>
        </p:spPr>
        <p:txBody>
          <a:bodyPr/>
          <a:lstStyle/>
          <a:p>
            <a:endParaRPr lang="en-US" sz="1799">
              <a:latin typeface="Candara" panose="020E0502030303020204" pitchFamily="34" charset="0"/>
            </a:endParaRPr>
          </a:p>
        </p:txBody>
      </p:sp>
      <p:sp>
        <p:nvSpPr>
          <p:cNvPr id="125" name="Shape 123"/>
          <p:cNvSpPr/>
          <p:nvPr/>
        </p:nvSpPr>
        <p:spPr>
          <a:xfrm>
            <a:off x="9644407" y="3886081"/>
            <a:ext cx="2011156" cy="1133561"/>
          </a:xfrm>
          <a:prstGeom prst="roundRect">
            <a:avLst>
              <a:gd name="adj" fmla="val 6452"/>
            </a:avLst>
          </a:prstGeom>
          <a:solidFill>
            <a:srgbClr val="112B1D"/>
          </a:solidFill>
          <a:ln w="9525">
            <a:solidFill>
              <a:srgbClr val="1E3D2A"/>
            </a:solidFill>
            <a:prstDash val="solid"/>
          </a:ln>
        </p:spPr>
        <p:txBody>
          <a:bodyPr/>
          <a:lstStyle/>
          <a:p>
            <a:endParaRPr lang="en-US" sz="1799">
              <a:latin typeface="Candara" panose="020E0502030303020204" pitchFamily="34" charset="0"/>
            </a:endParaRPr>
          </a:p>
        </p:txBody>
      </p:sp>
      <p:sp>
        <p:nvSpPr>
          <p:cNvPr id="126" name="Shape 124"/>
          <p:cNvSpPr/>
          <p:nvPr/>
        </p:nvSpPr>
        <p:spPr>
          <a:xfrm>
            <a:off x="9644407" y="3959214"/>
            <a:ext cx="50279" cy="987295"/>
          </a:xfrm>
          <a:prstGeom prst="rect">
            <a:avLst/>
          </a:prstGeom>
          <a:solidFill>
            <a:srgbClr val="1B5C3A"/>
          </a:solidFill>
          <a:ln w="12700">
            <a:solidFill>
              <a:srgbClr val="1B5C3A"/>
            </a:solidFill>
            <a:prstDash val="solid"/>
          </a:ln>
        </p:spPr>
        <p:txBody>
          <a:bodyPr/>
          <a:lstStyle/>
          <a:p>
            <a:endParaRPr lang="en-US" sz="1799">
              <a:latin typeface="Candara" panose="020E0502030303020204" pitchFamily="34" charset="0"/>
            </a:endParaRPr>
          </a:p>
        </p:txBody>
      </p:sp>
      <p:sp>
        <p:nvSpPr>
          <p:cNvPr id="127" name="Shape 125"/>
          <p:cNvSpPr/>
          <p:nvPr/>
        </p:nvSpPr>
        <p:spPr>
          <a:xfrm>
            <a:off x="9644407" y="3886081"/>
            <a:ext cx="50279" cy="164549"/>
          </a:xfrm>
          <a:prstGeom prst="roundRect">
            <a:avLst>
              <a:gd name="adj" fmla="val 72727"/>
            </a:avLst>
          </a:prstGeom>
          <a:solidFill>
            <a:srgbClr val="1B5C3A"/>
          </a:solidFill>
          <a:ln w="12700">
            <a:solidFill>
              <a:srgbClr val="1B5C3A"/>
            </a:solidFill>
            <a:prstDash val="solid"/>
          </a:ln>
        </p:spPr>
        <p:txBody>
          <a:bodyPr/>
          <a:lstStyle/>
          <a:p>
            <a:endParaRPr lang="en-US" sz="1799">
              <a:latin typeface="Candara" panose="020E0502030303020204" pitchFamily="34" charset="0"/>
            </a:endParaRPr>
          </a:p>
        </p:txBody>
      </p:sp>
      <p:sp>
        <p:nvSpPr>
          <p:cNvPr id="128" name="Text 126"/>
          <p:cNvSpPr/>
          <p:nvPr/>
        </p:nvSpPr>
        <p:spPr>
          <a:xfrm>
            <a:off x="9790673" y="3904364"/>
            <a:ext cx="1810041"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OperationalMetrics</a:t>
            </a:r>
            <a:endParaRPr lang="en-US" sz="1100" dirty="0">
              <a:latin typeface="Candara" panose="020E0502030303020204" pitchFamily="34" charset="0"/>
            </a:endParaRPr>
          </a:p>
        </p:txBody>
      </p:sp>
      <p:sp>
        <p:nvSpPr>
          <p:cNvPr id="129" name="Text 127"/>
          <p:cNvSpPr/>
          <p:nvPr/>
        </p:nvSpPr>
        <p:spPr>
          <a:xfrm>
            <a:off x="9790673" y="4178613"/>
            <a:ext cx="1810041" cy="164549"/>
          </a:xfrm>
          <a:prstGeom prst="rect">
            <a:avLst/>
          </a:prstGeom>
          <a:noFill/>
          <a:ln/>
        </p:spPr>
        <p:txBody>
          <a:bodyPr wrap="square" lIns="0" tIns="0" rIns="0" bIns="0" rtlCol="0" anchor="t"/>
          <a:lstStyle/>
          <a:p>
            <a:r>
              <a:rPr lang="en-US" sz="850" i="1" dirty="0">
                <a:solidFill>
                  <a:srgbClr val="7AB896"/>
                </a:solidFill>
                <a:latin typeface="Candara" panose="020E0502030303020204" pitchFamily="34" charset="0"/>
                <a:ea typeface="Calibri" pitchFamily="34" charset="-122"/>
                <a:cs typeface="Calibri" pitchFamily="34" charset="-120"/>
              </a:rPr>
              <a:t>Calculated KPIs per device</a:t>
            </a:r>
            <a:endParaRPr lang="en-US" sz="850" dirty="0">
              <a:latin typeface="Candara" panose="020E0502030303020204" pitchFamily="34" charset="0"/>
            </a:endParaRPr>
          </a:p>
        </p:txBody>
      </p:sp>
      <p:sp>
        <p:nvSpPr>
          <p:cNvPr id="130" name="Shape 128"/>
          <p:cNvSpPr/>
          <p:nvPr/>
        </p:nvSpPr>
        <p:spPr>
          <a:xfrm>
            <a:off x="9772390" y="4361445"/>
            <a:ext cx="1828324" cy="0"/>
          </a:xfrm>
          <a:prstGeom prst="line">
            <a:avLst/>
          </a:prstGeom>
          <a:noFill/>
          <a:ln w="9525">
            <a:solidFill>
              <a:srgbClr val="1E3D2A"/>
            </a:solidFill>
            <a:prstDash val="solid"/>
          </a:ln>
        </p:spPr>
        <p:txBody>
          <a:bodyPr/>
          <a:lstStyle/>
          <a:p>
            <a:endParaRPr lang="en-US" sz="1799">
              <a:latin typeface="Candara" panose="020E0502030303020204" pitchFamily="34" charset="0"/>
            </a:endParaRPr>
          </a:p>
        </p:txBody>
      </p:sp>
      <p:sp>
        <p:nvSpPr>
          <p:cNvPr id="131" name="Text 129"/>
          <p:cNvSpPr/>
          <p:nvPr/>
        </p:nvSpPr>
        <p:spPr>
          <a:xfrm>
            <a:off x="9790673" y="4398012"/>
            <a:ext cx="274249" cy="141695"/>
          </a:xfrm>
          <a:prstGeom prst="rect">
            <a:avLst/>
          </a:prstGeom>
          <a:noFill/>
          <a:ln/>
        </p:spPr>
        <p:txBody>
          <a:bodyPr wrap="square" lIns="0" tIns="0" rIns="0" bIns="0" rtlCol="0" anchor="ctr"/>
          <a:lstStyle/>
          <a:p>
            <a:r>
              <a:rPr lang="en-US" sz="700" b="1" dirty="0">
                <a:solidFill>
                  <a:srgbClr val="F6C90E"/>
                </a:solidFill>
                <a:latin typeface="Candara" panose="020E0502030303020204" pitchFamily="34" charset="0"/>
                <a:ea typeface="Calibri" pitchFamily="34" charset="-122"/>
                <a:cs typeface="Calibri" pitchFamily="34" charset="-120"/>
              </a:rPr>
              <a:t>PK</a:t>
            </a:r>
            <a:endParaRPr lang="en-US" sz="700" dirty="0">
              <a:latin typeface="Candara" panose="020E0502030303020204" pitchFamily="34" charset="0"/>
            </a:endParaRPr>
          </a:p>
        </p:txBody>
      </p:sp>
      <p:sp>
        <p:nvSpPr>
          <p:cNvPr id="132" name="Text 130"/>
          <p:cNvSpPr/>
          <p:nvPr/>
        </p:nvSpPr>
        <p:spPr>
          <a:xfrm>
            <a:off x="10083205" y="4398012"/>
            <a:ext cx="1005578" cy="141695"/>
          </a:xfrm>
          <a:prstGeom prst="rect">
            <a:avLst/>
          </a:prstGeom>
          <a:noFill/>
          <a:ln/>
        </p:spPr>
        <p:txBody>
          <a:bodyPr wrap="square" lIns="0" tIns="0" rIns="0" bIns="0" rtlCol="0" anchor="ctr"/>
          <a:lstStyle/>
          <a:p>
            <a:r>
              <a:rPr lang="en-US" sz="850" b="1" dirty="0">
                <a:solidFill>
                  <a:srgbClr val="FFFFFF"/>
                </a:solidFill>
                <a:latin typeface="Candara" panose="020E0502030303020204" pitchFamily="34" charset="0"/>
                <a:ea typeface="Calibri" pitchFamily="34" charset="-122"/>
                <a:cs typeface="Calibri" pitchFamily="34" charset="-120"/>
              </a:rPr>
              <a:t>MetricId</a:t>
            </a:r>
            <a:endParaRPr lang="en-US" sz="850" dirty="0">
              <a:latin typeface="Candara" panose="020E0502030303020204" pitchFamily="34" charset="0"/>
            </a:endParaRPr>
          </a:p>
        </p:txBody>
      </p:sp>
      <p:sp>
        <p:nvSpPr>
          <p:cNvPr id="133" name="Text 131"/>
          <p:cNvSpPr/>
          <p:nvPr/>
        </p:nvSpPr>
        <p:spPr>
          <a:xfrm>
            <a:off x="11088783" y="4398012"/>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long</a:t>
            </a:r>
            <a:endParaRPr lang="en-US" sz="750" dirty="0">
              <a:latin typeface="Candara" panose="020E0502030303020204" pitchFamily="34" charset="0"/>
            </a:endParaRPr>
          </a:p>
        </p:txBody>
      </p:sp>
      <p:sp>
        <p:nvSpPr>
          <p:cNvPr id="134" name="Text 132"/>
          <p:cNvSpPr/>
          <p:nvPr/>
        </p:nvSpPr>
        <p:spPr>
          <a:xfrm>
            <a:off x="9790673" y="4539707"/>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135" name="Text 133"/>
          <p:cNvSpPr/>
          <p:nvPr/>
        </p:nvSpPr>
        <p:spPr>
          <a:xfrm>
            <a:off x="10083205" y="4539707"/>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DeviceId</a:t>
            </a:r>
            <a:endParaRPr lang="en-US" sz="850" dirty="0">
              <a:latin typeface="Candara" panose="020E0502030303020204" pitchFamily="34" charset="0"/>
            </a:endParaRPr>
          </a:p>
        </p:txBody>
      </p:sp>
      <p:sp>
        <p:nvSpPr>
          <p:cNvPr id="136" name="Text 134"/>
          <p:cNvSpPr/>
          <p:nvPr/>
        </p:nvSpPr>
        <p:spPr>
          <a:xfrm>
            <a:off x="11088783" y="4539707"/>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137" name="Text 135"/>
          <p:cNvSpPr/>
          <p:nvPr/>
        </p:nvSpPr>
        <p:spPr>
          <a:xfrm>
            <a:off x="10083205" y="4681402"/>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MetricType</a:t>
            </a:r>
            <a:endParaRPr lang="en-US" sz="850" dirty="0">
              <a:latin typeface="Candara" panose="020E0502030303020204" pitchFamily="34" charset="0"/>
            </a:endParaRPr>
          </a:p>
        </p:txBody>
      </p:sp>
      <p:sp>
        <p:nvSpPr>
          <p:cNvPr id="138" name="Text 136"/>
          <p:cNvSpPr/>
          <p:nvPr/>
        </p:nvSpPr>
        <p:spPr>
          <a:xfrm>
            <a:off x="11088783" y="4681402"/>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string(50)</a:t>
            </a:r>
            <a:endParaRPr lang="en-US" sz="750" dirty="0">
              <a:latin typeface="Candara" panose="020E0502030303020204" pitchFamily="34" charset="0"/>
            </a:endParaRPr>
          </a:p>
        </p:txBody>
      </p:sp>
      <p:sp>
        <p:nvSpPr>
          <p:cNvPr id="139" name="Text 137"/>
          <p:cNvSpPr/>
          <p:nvPr/>
        </p:nvSpPr>
        <p:spPr>
          <a:xfrm>
            <a:off x="10083205" y="4823097"/>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MetricValue</a:t>
            </a:r>
            <a:endParaRPr lang="en-US" sz="850" dirty="0">
              <a:latin typeface="Candara" panose="020E0502030303020204" pitchFamily="34" charset="0"/>
            </a:endParaRPr>
          </a:p>
        </p:txBody>
      </p:sp>
      <p:sp>
        <p:nvSpPr>
          <p:cNvPr id="140" name="Text 138"/>
          <p:cNvSpPr/>
          <p:nvPr/>
        </p:nvSpPr>
        <p:spPr>
          <a:xfrm>
            <a:off x="11088783" y="4823097"/>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dec(18,4)</a:t>
            </a:r>
            <a:endParaRPr lang="en-US" sz="750" dirty="0">
              <a:latin typeface="Candara" panose="020E0502030303020204" pitchFamily="34" charset="0"/>
            </a:endParaRPr>
          </a:p>
        </p:txBody>
      </p:sp>
      <p:sp>
        <p:nvSpPr>
          <p:cNvPr id="141" name="Shape 139"/>
          <p:cNvSpPr/>
          <p:nvPr/>
        </p:nvSpPr>
        <p:spPr>
          <a:xfrm>
            <a:off x="9671832" y="5376165"/>
            <a:ext cx="2011156" cy="1133561"/>
          </a:xfrm>
          <a:prstGeom prst="roundRect">
            <a:avLst>
              <a:gd name="adj" fmla="val 6452"/>
            </a:avLst>
          </a:prstGeom>
          <a:solidFill>
            <a:srgbClr val="000000">
              <a:alpha val="20000"/>
            </a:srgbClr>
          </a:solidFill>
          <a:ln w="12700">
            <a:solidFill>
              <a:srgbClr val="000000"/>
            </a:solidFill>
            <a:prstDash val="solid"/>
          </a:ln>
        </p:spPr>
        <p:txBody>
          <a:bodyPr/>
          <a:lstStyle/>
          <a:p>
            <a:endParaRPr lang="en-US" sz="1799">
              <a:latin typeface="Candara" panose="020E0502030303020204" pitchFamily="34" charset="0"/>
            </a:endParaRPr>
          </a:p>
        </p:txBody>
      </p:sp>
      <p:sp>
        <p:nvSpPr>
          <p:cNvPr id="142" name="Shape 140"/>
          <p:cNvSpPr/>
          <p:nvPr/>
        </p:nvSpPr>
        <p:spPr>
          <a:xfrm>
            <a:off x="9644407" y="5348740"/>
            <a:ext cx="2011156" cy="1133561"/>
          </a:xfrm>
          <a:prstGeom prst="roundRect">
            <a:avLst>
              <a:gd name="adj" fmla="val 6452"/>
            </a:avLst>
          </a:prstGeom>
          <a:solidFill>
            <a:srgbClr val="112B1D"/>
          </a:solidFill>
          <a:ln w="9525">
            <a:solidFill>
              <a:srgbClr val="1E3D2A"/>
            </a:solidFill>
            <a:prstDash val="solid"/>
          </a:ln>
        </p:spPr>
        <p:txBody>
          <a:bodyPr/>
          <a:lstStyle/>
          <a:p>
            <a:endParaRPr lang="en-US" sz="1799">
              <a:latin typeface="Candara" panose="020E0502030303020204" pitchFamily="34" charset="0"/>
            </a:endParaRPr>
          </a:p>
        </p:txBody>
      </p:sp>
      <p:sp>
        <p:nvSpPr>
          <p:cNvPr id="143" name="Shape 141"/>
          <p:cNvSpPr/>
          <p:nvPr/>
        </p:nvSpPr>
        <p:spPr>
          <a:xfrm>
            <a:off x="9644407" y="5421873"/>
            <a:ext cx="50279" cy="987295"/>
          </a:xfrm>
          <a:prstGeom prst="rect">
            <a:avLst/>
          </a:prstGeom>
          <a:solidFill>
            <a:srgbClr val="1B5C3A"/>
          </a:solidFill>
          <a:ln w="12700">
            <a:solidFill>
              <a:srgbClr val="1B5C3A"/>
            </a:solidFill>
            <a:prstDash val="solid"/>
          </a:ln>
        </p:spPr>
        <p:txBody>
          <a:bodyPr/>
          <a:lstStyle/>
          <a:p>
            <a:endParaRPr lang="en-US" sz="1799">
              <a:latin typeface="Candara" panose="020E0502030303020204" pitchFamily="34" charset="0"/>
            </a:endParaRPr>
          </a:p>
        </p:txBody>
      </p:sp>
      <p:sp>
        <p:nvSpPr>
          <p:cNvPr id="144" name="Shape 142"/>
          <p:cNvSpPr/>
          <p:nvPr/>
        </p:nvSpPr>
        <p:spPr>
          <a:xfrm>
            <a:off x="9644407" y="5348740"/>
            <a:ext cx="50279" cy="164549"/>
          </a:xfrm>
          <a:prstGeom prst="roundRect">
            <a:avLst>
              <a:gd name="adj" fmla="val 72727"/>
            </a:avLst>
          </a:prstGeom>
          <a:solidFill>
            <a:srgbClr val="1B5C3A"/>
          </a:solidFill>
          <a:ln w="12700">
            <a:solidFill>
              <a:srgbClr val="1B5C3A"/>
            </a:solidFill>
            <a:prstDash val="solid"/>
          </a:ln>
        </p:spPr>
        <p:txBody>
          <a:bodyPr/>
          <a:lstStyle/>
          <a:p>
            <a:endParaRPr lang="en-US" sz="1799">
              <a:latin typeface="Candara" panose="020E0502030303020204" pitchFamily="34" charset="0"/>
            </a:endParaRPr>
          </a:p>
        </p:txBody>
      </p:sp>
      <p:sp>
        <p:nvSpPr>
          <p:cNvPr id="145" name="Text 143"/>
          <p:cNvSpPr/>
          <p:nvPr/>
        </p:nvSpPr>
        <p:spPr>
          <a:xfrm>
            <a:off x="9790673" y="5367023"/>
            <a:ext cx="1810041"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Alerts</a:t>
            </a:r>
            <a:endParaRPr lang="en-US" sz="1100" dirty="0">
              <a:latin typeface="Candara" panose="020E0502030303020204" pitchFamily="34" charset="0"/>
            </a:endParaRPr>
          </a:p>
        </p:txBody>
      </p:sp>
      <p:sp>
        <p:nvSpPr>
          <p:cNvPr id="146" name="Text 144"/>
          <p:cNvSpPr/>
          <p:nvPr/>
        </p:nvSpPr>
        <p:spPr>
          <a:xfrm>
            <a:off x="9790673" y="5641272"/>
            <a:ext cx="1810041" cy="164549"/>
          </a:xfrm>
          <a:prstGeom prst="rect">
            <a:avLst/>
          </a:prstGeom>
          <a:noFill/>
          <a:ln/>
        </p:spPr>
        <p:txBody>
          <a:bodyPr wrap="square" lIns="0" tIns="0" rIns="0" bIns="0" rtlCol="0" anchor="t"/>
          <a:lstStyle/>
          <a:p>
            <a:r>
              <a:rPr lang="en-US" sz="850" i="1" dirty="0">
                <a:solidFill>
                  <a:srgbClr val="7AB896"/>
                </a:solidFill>
                <a:latin typeface="Candara" panose="020E0502030303020204" pitchFamily="34" charset="0"/>
                <a:ea typeface="Calibri" pitchFamily="34" charset="-122"/>
                <a:cs typeface="Calibri" pitchFamily="34" charset="-120"/>
              </a:rPr>
              <a:t>Fired alert records</a:t>
            </a:r>
            <a:endParaRPr lang="en-US" sz="850" dirty="0">
              <a:latin typeface="Candara" panose="020E0502030303020204" pitchFamily="34" charset="0"/>
            </a:endParaRPr>
          </a:p>
        </p:txBody>
      </p:sp>
      <p:sp>
        <p:nvSpPr>
          <p:cNvPr id="147" name="Shape 145"/>
          <p:cNvSpPr/>
          <p:nvPr/>
        </p:nvSpPr>
        <p:spPr>
          <a:xfrm>
            <a:off x="9772390" y="5824104"/>
            <a:ext cx="1828324" cy="0"/>
          </a:xfrm>
          <a:prstGeom prst="line">
            <a:avLst/>
          </a:prstGeom>
          <a:noFill/>
          <a:ln w="9525">
            <a:solidFill>
              <a:srgbClr val="1E3D2A"/>
            </a:solidFill>
            <a:prstDash val="solid"/>
          </a:ln>
        </p:spPr>
        <p:txBody>
          <a:bodyPr/>
          <a:lstStyle/>
          <a:p>
            <a:endParaRPr lang="en-US" sz="1799">
              <a:latin typeface="Candara" panose="020E0502030303020204" pitchFamily="34" charset="0"/>
            </a:endParaRPr>
          </a:p>
        </p:txBody>
      </p:sp>
      <p:sp>
        <p:nvSpPr>
          <p:cNvPr id="148" name="Text 146"/>
          <p:cNvSpPr/>
          <p:nvPr/>
        </p:nvSpPr>
        <p:spPr>
          <a:xfrm>
            <a:off x="9790673" y="5860671"/>
            <a:ext cx="274249" cy="141695"/>
          </a:xfrm>
          <a:prstGeom prst="rect">
            <a:avLst/>
          </a:prstGeom>
          <a:noFill/>
          <a:ln/>
        </p:spPr>
        <p:txBody>
          <a:bodyPr wrap="square" lIns="0" tIns="0" rIns="0" bIns="0" rtlCol="0" anchor="ctr"/>
          <a:lstStyle/>
          <a:p>
            <a:r>
              <a:rPr lang="en-US" sz="700" b="1" dirty="0">
                <a:solidFill>
                  <a:srgbClr val="F6C90E"/>
                </a:solidFill>
                <a:latin typeface="Candara" panose="020E0502030303020204" pitchFamily="34" charset="0"/>
                <a:ea typeface="Calibri" pitchFamily="34" charset="-122"/>
                <a:cs typeface="Calibri" pitchFamily="34" charset="-120"/>
              </a:rPr>
              <a:t>PK</a:t>
            </a:r>
            <a:endParaRPr lang="en-US" sz="700" dirty="0">
              <a:latin typeface="Candara" panose="020E0502030303020204" pitchFamily="34" charset="0"/>
            </a:endParaRPr>
          </a:p>
        </p:txBody>
      </p:sp>
      <p:sp>
        <p:nvSpPr>
          <p:cNvPr id="149" name="Text 147"/>
          <p:cNvSpPr/>
          <p:nvPr/>
        </p:nvSpPr>
        <p:spPr>
          <a:xfrm>
            <a:off x="10083205" y="5860671"/>
            <a:ext cx="1005578" cy="141695"/>
          </a:xfrm>
          <a:prstGeom prst="rect">
            <a:avLst/>
          </a:prstGeom>
          <a:noFill/>
          <a:ln/>
        </p:spPr>
        <p:txBody>
          <a:bodyPr wrap="square" lIns="0" tIns="0" rIns="0" bIns="0" rtlCol="0" anchor="ctr"/>
          <a:lstStyle/>
          <a:p>
            <a:r>
              <a:rPr lang="en-US" sz="850" b="1" dirty="0">
                <a:solidFill>
                  <a:srgbClr val="FFFFFF"/>
                </a:solidFill>
                <a:latin typeface="Candara" panose="020E0502030303020204" pitchFamily="34" charset="0"/>
                <a:ea typeface="Calibri" pitchFamily="34" charset="-122"/>
                <a:cs typeface="Calibri" pitchFamily="34" charset="-120"/>
              </a:rPr>
              <a:t>AlertId</a:t>
            </a:r>
            <a:endParaRPr lang="en-US" sz="850" dirty="0">
              <a:latin typeface="Candara" panose="020E0502030303020204" pitchFamily="34" charset="0"/>
            </a:endParaRPr>
          </a:p>
        </p:txBody>
      </p:sp>
      <p:sp>
        <p:nvSpPr>
          <p:cNvPr id="150" name="Text 148"/>
          <p:cNvSpPr/>
          <p:nvPr/>
        </p:nvSpPr>
        <p:spPr>
          <a:xfrm>
            <a:off x="11088783" y="5860671"/>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long</a:t>
            </a:r>
            <a:endParaRPr lang="en-US" sz="750" dirty="0">
              <a:latin typeface="Candara" panose="020E0502030303020204" pitchFamily="34" charset="0"/>
            </a:endParaRPr>
          </a:p>
        </p:txBody>
      </p:sp>
      <p:sp>
        <p:nvSpPr>
          <p:cNvPr id="151" name="Text 149"/>
          <p:cNvSpPr/>
          <p:nvPr/>
        </p:nvSpPr>
        <p:spPr>
          <a:xfrm>
            <a:off x="9790673" y="6002366"/>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152" name="Text 150"/>
          <p:cNvSpPr/>
          <p:nvPr/>
        </p:nvSpPr>
        <p:spPr>
          <a:xfrm>
            <a:off x="10083205" y="6002366"/>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AlertRuleId</a:t>
            </a:r>
            <a:endParaRPr lang="en-US" sz="850" dirty="0">
              <a:latin typeface="Candara" panose="020E0502030303020204" pitchFamily="34" charset="0"/>
            </a:endParaRPr>
          </a:p>
        </p:txBody>
      </p:sp>
      <p:sp>
        <p:nvSpPr>
          <p:cNvPr id="153" name="Text 151"/>
          <p:cNvSpPr/>
          <p:nvPr/>
        </p:nvSpPr>
        <p:spPr>
          <a:xfrm>
            <a:off x="11088783" y="6002366"/>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154" name="Text 152"/>
          <p:cNvSpPr/>
          <p:nvPr/>
        </p:nvSpPr>
        <p:spPr>
          <a:xfrm>
            <a:off x="9790673" y="6144061"/>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155" name="Text 153"/>
          <p:cNvSpPr/>
          <p:nvPr/>
        </p:nvSpPr>
        <p:spPr>
          <a:xfrm>
            <a:off x="10083205" y="6144061"/>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DeviceId</a:t>
            </a:r>
            <a:endParaRPr lang="en-US" sz="850" dirty="0">
              <a:latin typeface="Candara" panose="020E0502030303020204" pitchFamily="34" charset="0"/>
            </a:endParaRPr>
          </a:p>
        </p:txBody>
      </p:sp>
      <p:sp>
        <p:nvSpPr>
          <p:cNvPr id="156" name="Text 154"/>
          <p:cNvSpPr/>
          <p:nvPr/>
        </p:nvSpPr>
        <p:spPr>
          <a:xfrm>
            <a:off x="11088783" y="6144061"/>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157" name="Text 155"/>
          <p:cNvSpPr/>
          <p:nvPr/>
        </p:nvSpPr>
        <p:spPr>
          <a:xfrm>
            <a:off x="9790673" y="6285756"/>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158" name="Text 156"/>
          <p:cNvSpPr/>
          <p:nvPr/>
        </p:nvSpPr>
        <p:spPr>
          <a:xfrm>
            <a:off x="10083205" y="6285756"/>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SensorId</a:t>
            </a:r>
            <a:endParaRPr lang="en-US" sz="850" dirty="0">
              <a:latin typeface="Candara" panose="020E0502030303020204" pitchFamily="34" charset="0"/>
            </a:endParaRPr>
          </a:p>
        </p:txBody>
      </p:sp>
      <p:sp>
        <p:nvSpPr>
          <p:cNvPr id="159" name="Text 157"/>
          <p:cNvSpPr/>
          <p:nvPr/>
        </p:nvSpPr>
        <p:spPr>
          <a:xfrm>
            <a:off x="11088783" y="6285756"/>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160" name="Shape 158"/>
          <p:cNvSpPr/>
          <p:nvPr/>
        </p:nvSpPr>
        <p:spPr>
          <a:xfrm>
            <a:off x="2724202" y="5147624"/>
            <a:ext cx="2011156" cy="1133561"/>
          </a:xfrm>
          <a:prstGeom prst="roundRect">
            <a:avLst>
              <a:gd name="adj" fmla="val 6452"/>
            </a:avLst>
          </a:prstGeom>
          <a:solidFill>
            <a:srgbClr val="000000">
              <a:alpha val="20000"/>
            </a:srgbClr>
          </a:solidFill>
          <a:ln w="12700">
            <a:solidFill>
              <a:srgbClr val="000000"/>
            </a:solidFill>
            <a:prstDash val="solid"/>
          </a:ln>
        </p:spPr>
        <p:txBody>
          <a:bodyPr/>
          <a:lstStyle/>
          <a:p>
            <a:endParaRPr lang="en-US" sz="1799">
              <a:latin typeface="Candara" panose="020E0502030303020204" pitchFamily="34" charset="0"/>
            </a:endParaRPr>
          </a:p>
        </p:txBody>
      </p:sp>
      <p:sp>
        <p:nvSpPr>
          <p:cNvPr id="161" name="Shape 159"/>
          <p:cNvSpPr/>
          <p:nvPr/>
        </p:nvSpPr>
        <p:spPr>
          <a:xfrm>
            <a:off x="2696777" y="5120199"/>
            <a:ext cx="2011156" cy="1133561"/>
          </a:xfrm>
          <a:prstGeom prst="roundRect">
            <a:avLst>
              <a:gd name="adj" fmla="val 6452"/>
            </a:avLst>
          </a:prstGeom>
          <a:solidFill>
            <a:srgbClr val="112B1D"/>
          </a:solidFill>
          <a:ln w="9525">
            <a:solidFill>
              <a:srgbClr val="1E3D2A"/>
            </a:solidFill>
            <a:prstDash val="solid"/>
          </a:ln>
        </p:spPr>
        <p:txBody>
          <a:bodyPr/>
          <a:lstStyle/>
          <a:p>
            <a:endParaRPr lang="en-US" sz="1799">
              <a:latin typeface="Candara" panose="020E0502030303020204" pitchFamily="34" charset="0"/>
            </a:endParaRPr>
          </a:p>
        </p:txBody>
      </p:sp>
      <p:sp>
        <p:nvSpPr>
          <p:cNvPr id="162" name="Shape 160"/>
          <p:cNvSpPr/>
          <p:nvPr/>
        </p:nvSpPr>
        <p:spPr>
          <a:xfrm>
            <a:off x="2696777" y="5193332"/>
            <a:ext cx="50279" cy="987295"/>
          </a:xfrm>
          <a:prstGeom prst="rect">
            <a:avLst/>
          </a:prstGeom>
          <a:solidFill>
            <a:srgbClr val="1A3D52"/>
          </a:solidFill>
          <a:ln w="12700">
            <a:solidFill>
              <a:srgbClr val="1A3D52"/>
            </a:solidFill>
            <a:prstDash val="solid"/>
          </a:ln>
        </p:spPr>
        <p:txBody>
          <a:bodyPr/>
          <a:lstStyle/>
          <a:p>
            <a:endParaRPr lang="en-US" sz="1799">
              <a:latin typeface="Candara" panose="020E0502030303020204" pitchFamily="34" charset="0"/>
            </a:endParaRPr>
          </a:p>
        </p:txBody>
      </p:sp>
      <p:sp>
        <p:nvSpPr>
          <p:cNvPr id="163" name="Shape 161"/>
          <p:cNvSpPr/>
          <p:nvPr/>
        </p:nvSpPr>
        <p:spPr>
          <a:xfrm>
            <a:off x="2696777" y="5120200"/>
            <a:ext cx="50279" cy="164549"/>
          </a:xfrm>
          <a:prstGeom prst="roundRect">
            <a:avLst>
              <a:gd name="adj" fmla="val 72727"/>
            </a:avLst>
          </a:prstGeom>
          <a:solidFill>
            <a:srgbClr val="1A3D52"/>
          </a:solidFill>
          <a:ln w="12700">
            <a:solidFill>
              <a:srgbClr val="1A3D52"/>
            </a:solidFill>
            <a:prstDash val="solid"/>
          </a:ln>
        </p:spPr>
        <p:txBody>
          <a:bodyPr/>
          <a:lstStyle/>
          <a:p>
            <a:endParaRPr lang="en-US" sz="1799">
              <a:latin typeface="Candara" panose="020E0502030303020204" pitchFamily="34" charset="0"/>
            </a:endParaRPr>
          </a:p>
        </p:txBody>
      </p:sp>
      <p:sp>
        <p:nvSpPr>
          <p:cNvPr id="164" name="Text 162"/>
          <p:cNvSpPr/>
          <p:nvPr/>
        </p:nvSpPr>
        <p:spPr>
          <a:xfrm>
            <a:off x="2843043" y="5138483"/>
            <a:ext cx="1810041"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DeviceConfigurations</a:t>
            </a:r>
            <a:endParaRPr lang="en-US" sz="1100" dirty="0">
              <a:latin typeface="Candara" panose="020E0502030303020204" pitchFamily="34" charset="0"/>
            </a:endParaRPr>
          </a:p>
        </p:txBody>
      </p:sp>
      <p:sp>
        <p:nvSpPr>
          <p:cNvPr id="165" name="Text 163"/>
          <p:cNvSpPr/>
          <p:nvPr/>
        </p:nvSpPr>
        <p:spPr>
          <a:xfrm>
            <a:off x="2843043" y="5412731"/>
            <a:ext cx="1810041" cy="164549"/>
          </a:xfrm>
          <a:prstGeom prst="rect">
            <a:avLst/>
          </a:prstGeom>
          <a:noFill/>
          <a:ln/>
        </p:spPr>
        <p:txBody>
          <a:bodyPr wrap="square" lIns="0" tIns="0" rIns="0" bIns="0" rtlCol="0" anchor="t"/>
          <a:lstStyle/>
          <a:p>
            <a:r>
              <a:rPr lang="en-US" sz="850" i="1" dirty="0">
                <a:solidFill>
                  <a:srgbClr val="7AB896"/>
                </a:solidFill>
                <a:latin typeface="Candara" panose="020E0502030303020204" pitchFamily="34" charset="0"/>
                <a:ea typeface="Calibri" pitchFamily="34" charset="-122"/>
                <a:cs typeface="Calibri" pitchFamily="34" charset="-120"/>
              </a:rPr>
              <a:t>Per-device settings</a:t>
            </a:r>
            <a:endParaRPr lang="en-US" sz="850" dirty="0">
              <a:latin typeface="Candara" panose="020E0502030303020204" pitchFamily="34" charset="0"/>
            </a:endParaRPr>
          </a:p>
        </p:txBody>
      </p:sp>
      <p:sp>
        <p:nvSpPr>
          <p:cNvPr id="166" name="Shape 164"/>
          <p:cNvSpPr/>
          <p:nvPr/>
        </p:nvSpPr>
        <p:spPr>
          <a:xfrm>
            <a:off x="2824760" y="5595564"/>
            <a:ext cx="1828324" cy="0"/>
          </a:xfrm>
          <a:prstGeom prst="line">
            <a:avLst/>
          </a:prstGeom>
          <a:noFill/>
          <a:ln w="9525">
            <a:solidFill>
              <a:srgbClr val="1E3D2A"/>
            </a:solidFill>
            <a:prstDash val="solid"/>
          </a:ln>
        </p:spPr>
        <p:txBody>
          <a:bodyPr/>
          <a:lstStyle/>
          <a:p>
            <a:endParaRPr lang="en-US" sz="1799">
              <a:latin typeface="Candara" panose="020E0502030303020204" pitchFamily="34" charset="0"/>
            </a:endParaRPr>
          </a:p>
        </p:txBody>
      </p:sp>
      <p:sp>
        <p:nvSpPr>
          <p:cNvPr id="167" name="Text 165"/>
          <p:cNvSpPr/>
          <p:nvPr/>
        </p:nvSpPr>
        <p:spPr>
          <a:xfrm>
            <a:off x="2843043" y="5632130"/>
            <a:ext cx="274249" cy="141695"/>
          </a:xfrm>
          <a:prstGeom prst="rect">
            <a:avLst/>
          </a:prstGeom>
          <a:noFill/>
          <a:ln/>
        </p:spPr>
        <p:txBody>
          <a:bodyPr wrap="square" lIns="0" tIns="0" rIns="0" bIns="0" rtlCol="0" anchor="ctr"/>
          <a:lstStyle/>
          <a:p>
            <a:r>
              <a:rPr lang="en-US" sz="700" b="1" dirty="0">
                <a:solidFill>
                  <a:srgbClr val="F6C90E"/>
                </a:solidFill>
                <a:latin typeface="Candara" panose="020E0502030303020204" pitchFamily="34" charset="0"/>
                <a:ea typeface="Calibri" pitchFamily="34" charset="-122"/>
                <a:cs typeface="Calibri" pitchFamily="34" charset="-120"/>
              </a:rPr>
              <a:t>PK</a:t>
            </a:r>
            <a:endParaRPr lang="en-US" sz="700" dirty="0">
              <a:latin typeface="Candara" panose="020E0502030303020204" pitchFamily="34" charset="0"/>
            </a:endParaRPr>
          </a:p>
        </p:txBody>
      </p:sp>
      <p:sp>
        <p:nvSpPr>
          <p:cNvPr id="168" name="Text 166"/>
          <p:cNvSpPr/>
          <p:nvPr/>
        </p:nvSpPr>
        <p:spPr>
          <a:xfrm>
            <a:off x="3135575" y="5632130"/>
            <a:ext cx="1005578" cy="141695"/>
          </a:xfrm>
          <a:prstGeom prst="rect">
            <a:avLst/>
          </a:prstGeom>
          <a:noFill/>
          <a:ln/>
        </p:spPr>
        <p:txBody>
          <a:bodyPr wrap="square" lIns="0" tIns="0" rIns="0" bIns="0" rtlCol="0" anchor="ctr"/>
          <a:lstStyle/>
          <a:p>
            <a:r>
              <a:rPr lang="en-US" sz="850" b="1" dirty="0">
                <a:solidFill>
                  <a:srgbClr val="FFFFFF"/>
                </a:solidFill>
                <a:latin typeface="Candara" panose="020E0502030303020204" pitchFamily="34" charset="0"/>
                <a:ea typeface="Calibri" pitchFamily="34" charset="-122"/>
                <a:cs typeface="Calibri" pitchFamily="34" charset="-120"/>
              </a:rPr>
              <a:t>ConfigurationId</a:t>
            </a:r>
            <a:endParaRPr lang="en-US" sz="850" dirty="0">
              <a:latin typeface="Candara" panose="020E0502030303020204" pitchFamily="34" charset="0"/>
            </a:endParaRPr>
          </a:p>
        </p:txBody>
      </p:sp>
      <p:sp>
        <p:nvSpPr>
          <p:cNvPr id="169" name="Text 167"/>
          <p:cNvSpPr/>
          <p:nvPr/>
        </p:nvSpPr>
        <p:spPr>
          <a:xfrm>
            <a:off x="4141153" y="5632130"/>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170" name="Text 168"/>
          <p:cNvSpPr/>
          <p:nvPr/>
        </p:nvSpPr>
        <p:spPr>
          <a:xfrm>
            <a:off x="2843043" y="5773825"/>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171" name="Text 169"/>
          <p:cNvSpPr/>
          <p:nvPr/>
        </p:nvSpPr>
        <p:spPr>
          <a:xfrm>
            <a:off x="3135575" y="5773825"/>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DeviceId</a:t>
            </a:r>
            <a:endParaRPr lang="en-US" sz="850" dirty="0">
              <a:latin typeface="Candara" panose="020E0502030303020204" pitchFamily="34" charset="0"/>
            </a:endParaRPr>
          </a:p>
        </p:txBody>
      </p:sp>
      <p:sp>
        <p:nvSpPr>
          <p:cNvPr id="172" name="Text 170"/>
          <p:cNvSpPr/>
          <p:nvPr/>
        </p:nvSpPr>
        <p:spPr>
          <a:xfrm>
            <a:off x="4141153" y="5773825"/>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173" name="Text 171"/>
          <p:cNvSpPr/>
          <p:nvPr/>
        </p:nvSpPr>
        <p:spPr>
          <a:xfrm>
            <a:off x="3135575" y="5915520"/>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ConfigurationKey</a:t>
            </a:r>
            <a:endParaRPr lang="en-US" sz="850" dirty="0">
              <a:latin typeface="Candara" panose="020E0502030303020204" pitchFamily="34" charset="0"/>
            </a:endParaRPr>
          </a:p>
        </p:txBody>
      </p:sp>
      <p:sp>
        <p:nvSpPr>
          <p:cNvPr id="174" name="Text 172"/>
          <p:cNvSpPr/>
          <p:nvPr/>
        </p:nvSpPr>
        <p:spPr>
          <a:xfrm>
            <a:off x="4141153" y="5915520"/>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string(100)</a:t>
            </a:r>
            <a:endParaRPr lang="en-US" sz="750" dirty="0">
              <a:latin typeface="Candara" panose="020E0502030303020204" pitchFamily="34" charset="0"/>
            </a:endParaRPr>
          </a:p>
        </p:txBody>
      </p:sp>
      <p:sp>
        <p:nvSpPr>
          <p:cNvPr id="175" name="Text 173"/>
          <p:cNvSpPr/>
          <p:nvPr/>
        </p:nvSpPr>
        <p:spPr>
          <a:xfrm>
            <a:off x="3135575" y="6057215"/>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ConfigurationValue</a:t>
            </a:r>
            <a:endParaRPr lang="en-US" sz="850" dirty="0">
              <a:latin typeface="Candara" panose="020E0502030303020204" pitchFamily="34" charset="0"/>
            </a:endParaRPr>
          </a:p>
        </p:txBody>
      </p:sp>
      <p:sp>
        <p:nvSpPr>
          <p:cNvPr id="176" name="Text 174"/>
          <p:cNvSpPr/>
          <p:nvPr/>
        </p:nvSpPr>
        <p:spPr>
          <a:xfrm>
            <a:off x="4141153" y="6057215"/>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string(500)</a:t>
            </a:r>
            <a:endParaRPr lang="en-US" sz="750" dirty="0">
              <a:latin typeface="Candara" panose="020E0502030303020204" pitchFamily="34" charset="0"/>
            </a:endParaRPr>
          </a:p>
        </p:txBody>
      </p:sp>
      <p:sp>
        <p:nvSpPr>
          <p:cNvPr id="177" name="Shape 175"/>
          <p:cNvSpPr/>
          <p:nvPr/>
        </p:nvSpPr>
        <p:spPr>
          <a:xfrm>
            <a:off x="4963899" y="5147624"/>
            <a:ext cx="2011156" cy="1133561"/>
          </a:xfrm>
          <a:prstGeom prst="roundRect">
            <a:avLst>
              <a:gd name="adj" fmla="val 6452"/>
            </a:avLst>
          </a:prstGeom>
          <a:solidFill>
            <a:srgbClr val="000000">
              <a:alpha val="20000"/>
            </a:srgbClr>
          </a:solidFill>
          <a:ln w="12700">
            <a:solidFill>
              <a:srgbClr val="000000"/>
            </a:solidFill>
            <a:prstDash val="solid"/>
          </a:ln>
        </p:spPr>
        <p:txBody>
          <a:bodyPr/>
          <a:lstStyle/>
          <a:p>
            <a:endParaRPr lang="en-US" sz="1799">
              <a:latin typeface="Candara" panose="020E0502030303020204" pitchFamily="34" charset="0"/>
            </a:endParaRPr>
          </a:p>
        </p:txBody>
      </p:sp>
      <p:sp>
        <p:nvSpPr>
          <p:cNvPr id="178" name="Shape 176"/>
          <p:cNvSpPr/>
          <p:nvPr/>
        </p:nvSpPr>
        <p:spPr>
          <a:xfrm>
            <a:off x="4936474" y="5120199"/>
            <a:ext cx="2011156" cy="1133561"/>
          </a:xfrm>
          <a:prstGeom prst="roundRect">
            <a:avLst>
              <a:gd name="adj" fmla="val 6452"/>
            </a:avLst>
          </a:prstGeom>
          <a:solidFill>
            <a:srgbClr val="112B1D"/>
          </a:solidFill>
          <a:ln w="9525">
            <a:solidFill>
              <a:srgbClr val="1E3D2A"/>
            </a:solidFill>
            <a:prstDash val="solid"/>
          </a:ln>
        </p:spPr>
        <p:txBody>
          <a:bodyPr/>
          <a:lstStyle/>
          <a:p>
            <a:endParaRPr lang="en-US" sz="1799">
              <a:latin typeface="Candara" panose="020E0502030303020204" pitchFamily="34" charset="0"/>
            </a:endParaRPr>
          </a:p>
        </p:txBody>
      </p:sp>
      <p:sp>
        <p:nvSpPr>
          <p:cNvPr id="179" name="Shape 177"/>
          <p:cNvSpPr/>
          <p:nvPr/>
        </p:nvSpPr>
        <p:spPr>
          <a:xfrm>
            <a:off x="4936474" y="5193332"/>
            <a:ext cx="50279" cy="987295"/>
          </a:xfrm>
          <a:prstGeom prst="rect">
            <a:avLst/>
          </a:prstGeom>
          <a:solidFill>
            <a:srgbClr val="1B5C3A"/>
          </a:solidFill>
          <a:ln w="12700">
            <a:solidFill>
              <a:srgbClr val="1B5C3A"/>
            </a:solidFill>
            <a:prstDash val="solid"/>
          </a:ln>
        </p:spPr>
        <p:txBody>
          <a:bodyPr/>
          <a:lstStyle/>
          <a:p>
            <a:endParaRPr lang="en-US" sz="1799">
              <a:latin typeface="Candara" panose="020E0502030303020204" pitchFamily="34" charset="0"/>
            </a:endParaRPr>
          </a:p>
        </p:txBody>
      </p:sp>
      <p:sp>
        <p:nvSpPr>
          <p:cNvPr id="180" name="Shape 178"/>
          <p:cNvSpPr/>
          <p:nvPr/>
        </p:nvSpPr>
        <p:spPr>
          <a:xfrm>
            <a:off x="4936474" y="5120200"/>
            <a:ext cx="50279" cy="164549"/>
          </a:xfrm>
          <a:prstGeom prst="roundRect">
            <a:avLst>
              <a:gd name="adj" fmla="val 72727"/>
            </a:avLst>
          </a:prstGeom>
          <a:solidFill>
            <a:srgbClr val="1B5C3A"/>
          </a:solidFill>
          <a:ln w="12700">
            <a:solidFill>
              <a:srgbClr val="1B5C3A"/>
            </a:solidFill>
            <a:prstDash val="solid"/>
          </a:ln>
        </p:spPr>
        <p:txBody>
          <a:bodyPr/>
          <a:lstStyle/>
          <a:p>
            <a:endParaRPr lang="en-US" sz="1799">
              <a:latin typeface="Candara" panose="020E0502030303020204" pitchFamily="34" charset="0"/>
            </a:endParaRPr>
          </a:p>
        </p:txBody>
      </p:sp>
      <p:sp>
        <p:nvSpPr>
          <p:cNvPr id="181" name="Text 179"/>
          <p:cNvSpPr/>
          <p:nvPr/>
        </p:nvSpPr>
        <p:spPr>
          <a:xfrm>
            <a:off x="5082739" y="5138483"/>
            <a:ext cx="1810041"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DeviceCommands</a:t>
            </a:r>
            <a:endParaRPr lang="en-US" sz="1100" dirty="0">
              <a:latin typeface="Candara" panose="020E0502030303020204" pitchFamily="34" charset="0"/>
            </a:endParaRPr>
          </a:p>
        </p:txBody>
      </p:sp>
      <p:sp>
        <p:nvSpPr>
          <p:cNvPr id="182" name="Text 180"/>
          <p:cNvSpPr/>
          <p:nvPr/>
        </p:nvSpPr>
        <p:spPr>
          <a:xfrm>
            <a:off x="5082739" y="5412731"/>
            <a:ext cx="1810041" cy="164549"/>
          </a:xfrm>
          <a:prstGeom prst="rect">
            <a:avLst/>
          </a:prstGeom>
          <a:noFill/>
          <a:ln/>
        </p:spPr>
        <p:txBody>
          <a:bodyPr wrap="square" lIns="0" tIns="0" rIns="0" bIns="0" rtlCol="0" anchor="t"/>
          <a:lstStyle/>
          <a:p>
            <a:r>
              <a:rPr lang="en-US" sz="850" i="1" dirty="0">
                <a:solidFill>
                  <a:srgbClr val="7AB896"/>
                </a:solidFill>
                <a:latin typeface="Candara" panose="020E0502030303020204" pitchFamily="34" charset="0"/>
                <a:ea typeface="Calibri" pitchFamily="34" charset="-122"/>
                <a:cs typeface="Calibri" pitchFamily="34" charset="-120"/>
              </a:rPr>
              <a:t>Commands sent to device / actuator</a:t>
            </a:r>
            <a:endParaRPr lang="en-US" sz="850" dirty="0">
              <a:latin typeface="Candara" panose="020E0502030303020204" pitchFamily="34" charset="0"/>
            </a:endParaRPr>
          </a:p>
        </p:txBody>
      </p:sp>
      <p:sp>
        <p:nvSpPr>
          <p:cNvPr id="183" name="Shape 181"/>
          <p:cNvSpPr/>
          <p:nvPr/>
        </p:nvSpPr>
        <p:spPr>
          <a:xfrm>
            <a:off x="5064456" y="5595564"/>
            <a:ext cx="1828324" cy="0"/>
          </a:xfrm>
          <a:prstGeom prst="line">
            <a:avLst/>
          </a:prstGeom>
          <a:noFill/>
          <a:ln w="9525">
            <a:solidFill>
              <a:srgbClr val="1E3D2A"/>
            </a:solidFill>
            <a:prstDash val="solid"/>
          </a:ln>
        </p:spPr>
        <p:txBody>
          <a:bodyPr/>
          <a:lstStyle/>
          <a:p>
            <a:endParaRPr lang="en-US" sz="1799">
              <a:latin typeface="Candara" panose="020E0502030303020204" pitchFamily="34" charset="0"/>
            </a:endParaRPr>
          </a:p>
        </p:txBody>
      </p:sp>
      <p:sp>
        <p:nvSpPr>
          <p:cNvPr id="184" name="Text 182"/>
          <p:cNvSpPr/>
          <p:nvPr/>
        </p:nvSpPr>
        <p:spPr>
          <a:xfrm>
            <a:off x="5082739" y="5632130"/>
            <a:ext cx="274249" cy="141695"/>
          </a:xfrm>
          <a:prstGeom prst="rect">
            <a:avLst/>
          </a:prstGeom>
          <a:noFill/>
          <a:ln/>
        </p:spPr>
        <p:txBody>
          <a:bodyPr wrap="square" lIns="0" tIns="0" rIns="0" bIns="0" rtlCol="0" anchor="ctr"/>
          <a:lstStyle/>
          <a:p>
            <a:r>
              <a:rPr lang="en-US" sz="700" b="1" dirty="0">
                <a:solidFill>
                  <a:srgbClr val="F6C90E"/>
                </a:solidFill>
                <a:latin typeface="Candara" panose="020E0502030303020204" pitchFamily="34" charset="0"/>
                <a:ea typeface="Calibri" pitchFamily="34" charset="-122"/>
                <a:cs typeface="Calibri" pitchFamily="34" charset="-120"/>
              </a:rPr>
              <a:t>PK</a:t>
            </a:r>
            <a:endParaRPr lang="en-US" sz="700" dirty="0">
              <a:latin typeface="Candara" panose="020E0502030303020204" pitchFamily="34" charset="0"/>
            </a:endParaRPr>
          </a:p>
        </p:txBody>
      </p:sp>
      <p:sp>
        <p:nvSpPr>
          <p:cNvPr id="185" name="Text 183"/>
          <p:cNvSpPr/>
          <p:nvPr/>
        </p:nvSpPr>
        <p:spPr>
          <a:xfrm>
            <a:off x="5375271" y="5632130"/>
            <a:ext cx="1005578" cy="141695"/>
          </a:xfrm>
          <a:prstGeom prst="rect">
            <a:avLst/>
          </a:prstGeom>
          <a:noFill/>
          <a:ln/>
        </p:spPr>
        <p:txBody>
          <a:bodyPr wrap="square" lIns="0" tIns="0" rIns="0" bIns="0" rtlCol="0" anchor="ctr"/>
          <a:lstStyle/>
          <a:p>
            <a:r>
              <a:rPr lang="en-US" sz="850" b="1" dirty="0">
                <a:solidFill>
                  <a:srgbClr val="FFFFFF"/>
                </a:solidFill>
                <a:latin typeface="Candara" panose="020E0502030303020204" pitchFamily="34" charset="0"/>
                <a:ea typeface="Calibri" pitchFamily="34" charset="-122"/>
                <a:cs typeface="Calibri" pitchFamily="34" charset="-120"/>
              </a:rPr>
              <a:t>CommandId</a:t>
            </a:r>
            <a:endParaRPr lang="en-US" sz="850" dirty="0">
              <a:latin typeface="Candara" panose="020E0502030303020204" pitchFamily="34" charset="0"/>
            </a:endParaRPr>
          </a:p>
        </p:txBody>
      </p:sp>
      <p:sp>
        <p:nvSpPr>
          <p:cNvPr id="186" name="Text 184"/>
          <p:cNvSpPr/>
          <p:nvPr/>
        </p:nvSpPr>
        <p:spPr>
          <a:xfrm>
            <a:off x="6380849" y="5632130"/>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long</a:t>
            </a:r>
            <a:endParaRPr lang="en-US" sz="750" dirty="0">
              <a:latin typeface="Candara" panose="020E0502030303020204" pitchFamily="34" charset="0"/>
            </a:endParaRPr>
          </a:p>
        </p:txBody>
      </p:sp>
      <p:sp>
        <p:nvSpPr>
          <p:cNvPr id="187" name="Text 185"/>
          <p:cNvSpPr/>
          <p:nvPr/>
        </p:nvSpPr>
        <p:spPr>
          <a:xfrm>
            <a:off x="5082739" y="5773825"/>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188" name="Text 186"/>
          <p:cNvSpPr/>
          <p:nvPr/>
        </p:nvSpPr>
        <p:spPr>
          <a:xfrm>
            <a:off x="5375271" y="5773825"/>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DeviceId</a:t>
            </a:r>
            <a:endParaRPr lang="en-US" sz="850" dirty="0">
              <a:latin typeface="Candara" panose="020E0502030303020204" pitchFamily="34" charset="0"/>
            </a:endParaRPr>
          </a:p>
        </p:txBody>
      </p:sp>
      <p:sp>
        <p:nvSpPr>
          <p:cNvPr id="189" name="Text 187"/>
          <p:cNvSpPr/>
          <p:nvPr/>
        </p:nvSpPr>
        <p:spPr>
          <a:xfrm>
            <a:off x="6380849" y="5773825"/>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190" name="Text 188"/>
          <p:cNvSpPr/>
          <p:nvPr/>
        </p:nvSpPr>
        <p:spPr>
          <a:xfrm>
            <a:off x="5082739" y="5915520"/>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191" name="Text 189"/>
          <p:cNvSpPr/>
          <p:nvPr/>
        </p:nvSpPr>
        <p:spPr>
          <a:xfrm>
            <a:off x="5375271" y="5915520"/>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ActuatorId</a:t>
            </a:r>
            <a:endParaRPr lang="en-US" sz="850" dirty="0">
              <a:latin typeface="Candara" panose="020E0502030303020204" pitchFamily="34" charset="0"/>
            </a:endParaRPr>
          </a:p>
        </p:txBody>
      </p:sp>
      <p:sp>
        <p:nvSpPr>
          <p:cNvPr id="192" name="Text 190"/>
          <p:cNvSpPr/>
          <p:nvPr/>
        </p:nvSpPr>
        <p:spPr>
          <a:xfrm>
            <a:off x="6380849" y="5915520"/>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193" name="Text 191"/>
          <p:cNvSpPr/>
          <p:nvPr/>
        </p:nvSpPr>
        <p:spPr>
          <a:xfrm>
            <a:off x="5375271" y="6057215"/>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CommandType</a:t>
            </a:r>
            <a:endParaRPr lang="en-US" sz="850" dirty="0">
              <a:latin typeface="Candara" panose="020E0502030303020204" pitchFamily="34" charset="0"/>
            </a:endParaRPr>
          </a:p>
        </p:txBody>
      </p:sp>
      <p:sp>
        <p:nvSpPr>
          <p:cNvPr id="194" name="Text 192"/>
          <p:cNvSpPr/>
          <p:nvPr/>
        </p:nvSpPr>
        <p:spPr>
          <a:xfrm>
            <a:off x="6380849" y="6057215"/>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string(50)</a:t>
            </a:r>
            <a:endParaRPr lang="en-US" sz="750" dirty="0">
              <a:latin typeface="Candara" panose="020E0502030303020204" pitchFamily="34" charset="0"/>
            </a:endParaRPr>
          </a:p>
        </p:txBody>
      </p:sp>
      <p:sp>
        <p:nvSpPr>
          <p:cNvPr id="195" name="Shape 193"/>
          <p:cNvSpPr/>
          <p:nvPr/>
        </p:nvSpPr>
        <p:spPr>
          <a:xfrm>
            <a:off x="7157887" y="5147624"/>
            <a:ext cx="2011156" cy="1133561"/>
          </a:xfrm>
          <a:prstGeom prst="roundRect">
            <a:avLst>
              <a:gd name="adj" fmla="val 6452"/>
            </a:avLst>
          </a:prstGeom>
          <a:solidFill>
            <a:srgbClr val="000000">
              <a:alpha val="20000"/>
            </a:srgbClr>
          </a:solidFill>
          <a:ln w="12700">
            <a:solidFill>
              <a:srgbClr val="000000"/>
            </a:solidFill>
            <a:prstDash val="solid"/>
          </a:ln>
        </p:spPr>
        <p:txBody>
          <a:bodyPr/>
          <a:lstStyle/>
          <a:p>
            <a:endParaRPr lang="en-US" sz="1799">
              <a:latin typeface="Candara" panose="020E0502030303020204" pitchFamily="34" charset="0"/>
            </a:endParaRPr>
          </a:p>
        </p:txBody>
      </p:sp>
      <p:sp>
        <p:nvSpPr>
          <p:cNvPr id="196" name="Shape 194"/>
          <p:cNvSpPr/>
          <p:nvPr/>
        </p:nvSpPr>
        <p:spPr>
          <a:xfrm>
            <a:off x="7130462" y="5120199"/>
            <a:ext cx="2011156" cy="1133561"/>
          </a:xfrm>
          <a:prstGeom prst="roundRect">
            <a:avLst>
              <a:gd name="adj" fmla="val 6452"/>
            </a:avLst>
          </a:prstGeom>
          <a:solidFill>
            <a:srgbClr val="112B1D"/>
          </a:solidFill>
          <a:ln w="9525">
            <a:solidFill>
              <a:srgbClr val="1E3D2A"/>
            </a:solidFill>
            <a:prstDash val="solid"/>
          </a:ln>
        </p:spPr>
        <p:txBody>
          <a:bodyPr/>
          <a:lstStyle/>
          <a:p>
            <a:endParaRPr lang="en-US" sz="1799">
              <a:latin typeface="Candara" panose="020E0502030303020204" pitchFamily="34" charset="0"/>
            </a:endParaRPr>
          </a:p>
        </p:txBody>
      </p:sp>
      <p:sp>
        <p:nvSpPr>
          <p:cNvPr id="197" name="Shape 195"/>
          <p:cNvSpPr/>
          <p:nvPr/>
        </p:nvSpPr>
        <p:spPr>
          <a:xfrm>
            <a:off x="7130462" y="5193332"/>
            <a:ext cx="50279" cy="987295"/>
          </a:xfrm>
          <a:prstGeom prst="rect">
            <a:avLst/>
          </a:prstGeom>
          <a:solidFill>
            <a:srgbClr val="1A3D52"/>
          </a:solidFill>
          <a:ln w="12700">
            <a:solidFill>
              <a:srgbClr val="1A3D52"/>
            </a:solidFill>
            <a:prstDash val="solid"/>
          </a:ln>
        </p:spPr>
        <p:txBody>
          <a:bodyPr/>
          <a:lstStyle/>
          <a:p>
            <a:endParaRPr lang="en-US" sz="1799">
              <a:latin typeface="Candara" panose="020E0502030303020204" pitchFamily="34" charset="0"/>
            </a:endParaRPr>
          </a:p>
        </p:txBody>
      </p:sp>
      <p:sp>
        <p:nvSpPr>
          <p:cNvPr id="198" name="Shape 196"/>
          <p:cNvSpPr/>
          <p:nvPr/>
        </p:nvSpPr>
        <p:spPr>
          <a:xfrm>
            <a:off x="7130462" y="5120200"/>
            <a:ext cx="50279" cy="164549"/>
          </a:xfrm>
          <a:prstGeom prst="roundRect">
            <a:avLst>
              <a:gd name="adj" fmla="val 72727"/>
            </a:avLst>
          </a:prstGeom>
          <a:solidFill>
            <a:srgbClr val="1A3D52"/>
          </a:solidFill>
          <a:ln w="12700">
            <a:solidFill>
              <a:srgbClr val="1A3D52"/>
            </a:solidFill>
            <a:prstDash val="solid"/>
          </a:ln>
        </p:spPr>
        <p:txBody>
          <a:bodyPr/>
          <a:lstStyle/>
          <a:p>
            <a:endParaRPr lang="en-US" sz="1799">
              <a:latin typeface="Candara" panose="020E0502030303020204" pitchFamily="34" charset="0"/>
            </a:endParaRPr>
          </a:p>
        </p:txBody>
      </p:sp>
      <p:sp>
        <p:nvSpPr>
          <p:cNvPr id="199" name="Text 197"/>
          <p:cNvSpPr/>
          <p:nvPr/>
        </p:nvSpPr>
        <p:spPr>
          <a:xfrm>
            <a:off x="7276728" y="5138483"/>
            <a:ext cx="1810041"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AlertRules</a:t>
            </a:r>
            <a:endParaRPr lang="en-US" sz="1100" dirty="0">
              <a:latin typeface="Candara" panose="020E0502030303020204" pitchFamily="34" charset="0"/>
            </a:endParaRPr>
          </a:p>
        </p:txBody>
      </p:sp>
      <p:sp>
        <p:nvSpPr>
          <p:cNvPr id="200" name="Text 198"/>
          <p:cNvSpPr/>
          <p:nvPr/>
        </p:nvSpPr>
        <p:spPr>
          <a:xfrm>
            <a:off x="7276728" y="5412731"/>
            <a:ext cx="1810041" cy="164549"/>
          </a:xfrm>
          <a:prstGeom prst="rect">
            <a:avLst/>
          </a:prstGeom>
          <a:noFill/>
          <a:ln/>
        </p:spPr>
        <p:txBody>
          <a:bodyPr wrap="square" lIns="0" tIns="0" rIns="0" bIns="0" rtlCol="0" anchor="t"/>
          <a:lstStyle/>
          <a:p>
            <a:r>
              <a:rPr lang="en-US" sz="850" i="1" dirty="0">
                <a:solidFill>
                  <a:srgbClr val="7AB896"/>
                </a:solidFill>
                <a:latin typeface="Candara" panose="020E0502030303020204" pitchFamily="34" charset="0"/>
                <a:ea typeface="Calibri" pitchFamily="34" charset="-122"/>
                <a:cs typeface="Calibri" pitchFamily="34" charset="-120"/>
              </a:rPr>
              <a:t>Alert / threshold rules</a:t>
            </a:r>
            <a:endParaRPr lang="en-US" sz="850" dirty="0">
              <a:latin typeface="Candara" panose="020E0502030303020204" pitchFamily="34" charset="0"/>
            </a:endParaRPr>
          </a:p>
        </p:txBody>
      </p:sp>
      <p:sp>
        <p:nvSpPr>
          <p:cNvPr id="201" name="Shape 199"/>
          <p:cNvSpPr/>
          <p:nvPr/>
        </p:nvSpPr>
        <p:spPr>
          <a:xfrm>
            <a:off x="7258445" y="5595564"/>
            <a:ext cx="1828324" cy="0"/>
          </a:xfrm>
          <a:prstGeom prst="line">
            <a:avLst/>
          </a:prstGeom>
          <a:noFill/>
          <a:ln w="9525">
            <a:solidFill>
              <a:srgbClr val="1E3D2A"/>
            </a:solidFill>
            <a:prstDash val="solid"/>
          </a:ln>
        </p:spPr>
        <p:txBody>
          <a:bodyPr/>
          <a:lstStyle/>
          <a:p>
            <a:endParaRPr lang="en-US" sz="1799">
              <a:latin typeface="Candara" panose="020E0502030303020204" pitchFamily="34" charset="0"/>
            </a:endParaRPr>
          </a:p>
        </p:txBody>
      </p:sp>
      <p:sp>
        <p:nvSpPr>
          <p:cNvPr id="202" name="Text 200"/>
          <p:cNvSpPr/>
          <p:nvPr/>
        </p:nvSpPr>
        <p:spPr>
          <a:xfrm>
            <a:off x="7276728" y="5632130"/>
            <a:ext cx="274249" cy="141695"/>
          </a:xfrm>
          <a:prstGeom prst="rect">
            <a:avLst/>
          </a:prstGeom>
          <a:noFill/>
          <a:ln/>
        </p:spPr>
        <p:txBody>
          <a:bodyPr wrap="square" lIns="0" tIns="0" rIns="0" bIns="0" rtlCol="0" anchor="ctr"/>
          <a:lstStyle/>
          <a:p>
            <a:r>
              <a:rPr lang="en-US" sz="700" b="1" dirty="0">
                <a:solidFill>
                  <a:srgbClr val="F6C90E"/>
                </a:solidFill>
                <a:latin typeface="Candara" panose="020E0502030303020204" pitchFamily="34" charset="0"/>
                <a:ea typeface="Calibri" pitchFamily="34" charset="-122"/>
                <a:cs typeface="Calibri" pitchFamily="34" charset="-120"/>
              </a:rPr>
              <a:t>PK</a:t>
            </a:r>
            <a:endParaRPr lang="en-US" sz="700" dirty="0">
              <a:latin typeface="Candara" panose="020E0502030303020204" pitchFamily="34" charset="0"/>
            </a:endParaRPr>
          </a:p>
        </p:txBody>
      </p:sp>
      <p:sp>
        <p:nvSpPr>
          <p:cNvPr id="203" name="Text 201"/>
          <p:cNvSpPr/>
          <p:nvPr/>
        </p:nvSpPr>
        <p:spPr>
          <a:xfrm>
            <a:off x="7569260" y="5632130"/>
            <a:ext cx="1005578" cy="141695"/>
          </a:xfrm>
          <a:prstGeom prst="rect">
            <a:avLst/>
          </a:prstGeom>
          <a:noFill/>
          <a:ln/>
        </p:spPr>
        <p:txBody>
          <a:bodyPr wrap="square" lIns="0" tIns="0" rIns="0" bIns="0" rtlCol="0" anchor="ctr"/>
          <a:lstStyle/>
          <a:p>
            <a:r>
              <a:rPr lang="en-US" sz="850" b="1" dirty="0">
                <a:solidFill>
                  <a:srgbClr val="FFFFFF"/>
                </a:solidFill>
                <a:latin typeface="Candara" panose="020E0502030303020204" pitchFamily="34" charset="0"/>
                <a:ea typeface="Calibri" pitchFamily="34" charset="-122"/>
                <a:cs typeface="Calibri" pitchFamily="34" charset="-120"/>
              </a:rPr>
              <a:t>AlertRuleId</a:t>
            </a:r>
            <a:endParaRPr lang="en-US" sz="850" dirty="0">
              <a:latin typeface="Candara" panose="020E0502030303020204" pitchFamily="34" charset="0"/>
            </a:endParaRPr>
          </a:p>
        </p:txBody>
      </p:sp>
      <p:sp>
        <p:nvSpPr>
          <p:cNvPr id="204" name="Text 202"/>
          <p:cNvSpPr/>
          <p:nvPr/>
        </p:nvSpPr>
        <p:spPr>
          <a:xfrm>
            <a:off x="8574838" y="5632130"/>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205" name="Text 203"/>
          <p:cNvSpPr/>
          <p:nvPr/>
        </p:nvSpPr>
        <p:spPr>
          <a:xfrm>
            <a:off x="7276728" y="5773825"/>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206" name="Text 204"/>
          <p:cNvSpPr/>
          <p:nvPr/>
        </p:nvSpPr>
        <p:spPr>
          <a:xfrm>
            <a:off x="7569260" y="5773825"/>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DeviceId</a:t>
            </a:r>
            <a:endParaRPr lang="en-US" sz="850" dirty="0">
              <a:latin typeface="Candara" panose="020E0502030303020204" pitchFamily="34" charset="0"/>
            </a:endParaRPr>
          </a:p>
        </p:txBody>
      </p:sp>
      <p:sp>
        <p:nvSpPr>
          <p:cNvPr id="207" name="Text 205"/>
          <p:cNvSpPr/>
          <p:nvPr/>
        </p:nvSpPr>
        <p:spPr>
          <a:xfrm>
            <a:off x="8574838" y="5773825"/>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208" name="Text 206"/>
          <p:cNvSpPr/>
          <p:nvPr/>
        </p:nvSpPr>
        <p:spPr>
          <a:xfrm>
            <a:off x="7276728" y="5915520"/>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209" name="Text 207"/>
          <p:cNvSpPr/>
          <p:nvPr/>
        </p:nvSpPr>
        <p:spPr>
          <a:xfrm>
            <a:off x="7569260" y="5915520"/>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SensorId</a:t>
            </a:r>
            <a:endParaRPr lang="en-US" sz="850" dirty="0">
              <a:latin typeface="Candara" panose="020E0502030303020204" pitchFamily="34" charset="0"/>
            </a:endParaRPr>
          </a:p>
        </p:txBody>
      </p:sp>
      <p:sp>
        <p:nvSpPr>
          <p:cNvPr id="210" name="Text 208"/>
          <p:cNvSpPr/>
          <p:nvPr/>
        </p:nvSpPr>
        <p:spPr>
          <a:xfrm>
            <a:off x="8574838" y="5915520"/>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211" name="Text 209"/>
          <p:cNvSpPr/>
          <p:nvPr/>
        </p:nvSpPr>
        <p:spPr>
          <a:xfrm>
            <a:off x="7569260" y="6057215"/>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Severity</a:t>
            </a:r>
            <a:endParaRPr lang="en-US" sz="850" dirty="0">
              <a:latin typeface="Candara" panose="020E0502030303020204" pitchFamily="34" charset="0"/>
            </a:endParaRPr>
          </a:p>
        </p:txBody>
      </p:sp>
      <p:sp>
        <p:nvSpPr>
          <p:cNvPr id="212" name="Text 210"/>
          <p:cNvSpPr/>
          <p:nvPr/>
        </p:nvSpPr>
        <p:spPr>
          <a:xfrm>
            <a:off x="8574838" y="6057215"/>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string(20)</a:t>
            </a:r>
            <a:endParaRPr lang="en-US" sz="750" dirty="0">
              <a:latin typeface="Candara" panose="020E0502030303020204" pitchFamily="34" charset="0"/>
            </a:endParaRPr>
          </a:p>
        </p:txBody>
      </p:sp>
      <p:sp>
        <p:nvSpPr>
          <p:cNvPr id="213" name="Text 211"/>
          <p:cNvSpPr/>
          <p:nvPr/>
        </p:nvSpPr>
        <p:spPr>
          <a:xfrm>
            <a:off x="4756524" y="2814306"/>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1</a:t>
            </a:r>
            <a:endParaRPr lang="en-US" sz="900" dirty="0">
              <a:latin typeface="Candara" panose="020E0502030303020204" pitchFamily="34" charset="0"/>
            </a:endParaRPr>
          </a:p>
        </p:txBody>
      </p:sp>
      <p:sp>
        <p:nvSpPr>
          <p:cNvPr id="214" name="Text 212"/>
          <p:cNvSpPr/>
          <p:nvPr/>
        </p:nvSpPr>
        <p:spPr>
          <a:xfrm>
            <a:off x="2547629" y="2160521"/>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15" name="Text 213"/>
          <p:cNvSpPr/>
          <p:nvPr/>
        </p:nvSpPr>
        <p:spPr>
          <a:xfrm>
            <a:off x="4694035" y="3331082"/>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1</a:t>
            </a:r>
            <a:endParaRPr lang="en-US" sz="900" dirty="0">
              <a:latin typeface="Candara" panose="020E0502030303020204" pitchFamily="34" charset="0"/>
            </a:endParaRPr>
          </a:p>
        </p:txBody>
      </p:sp>
      <p:sp>
        <p:nvSpPr>
          <p:cNvPr id="216" name="Text 214"/>
          <p:cNvSpPr/>
          <p:nvPr/>
        </p:nvSpPr>
        <p:spPr>
          <a:xfrm>
            <a:off x="2610118" y="3654901"/>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17" name="Text 215"/>
          <p:cNvSpPr/>
          <p:nvPr/>
        </p:nvSpPr>
        <p:spPr>
          <a:xfrm>
            <a:off x="7073321" y="2989914"/>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1</a:t>
            </a:r>
            <a:endParaRPr lang="en-US" sz="900" dirty="0">
              <a:latin typeface="Candara" panose="020E0502030303020204" pitchFamily="34" charset="0"/>
            </a:endParaRPr>
          </a:p>
        </p:txBody>
      </p:sp>
      <p:sp>
        <p:nvSpPr>
          <p:cNvPr id="218" name="Text 216"/>
          <p:cNvSpPr/>
          <p:nvPr/>
        </p:nvSpPr>
        <p:spPr>
          <a:xfrm>
            <a:off x="9235326" y="1756373"/>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19" name="Text 217"/>
          <p:cNvSpPr/>
          <p:nvPr/>
        </p:nvSpPr>
        <p:spPr>
          <a:xfrm>
            <a:off x="7051054" y="3391098"/>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1</a:t>
            </a:r>
            <a:endParaRPr lang="en-US" sz="900" dirty="0">
              <a:latin typeface="Candara" panose="020E0502030303020204" pitchFamily="34" charset="0"/>
            </a:endParaRPr>
          </a:p>
        </p:txBody>
      </p:sp>
      <p:sp>
        <p:nvSpPr>
          <p:cNvPr id="220" name="Text 218"/>
          <p:cNvSpPr/>
          <p:nvPr/>
        </p:nvSpPr>
        <p:spPr>
          <a:xfrm>
            <a:off x="9257593" y="2909264"/>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21" name="Text 219"/>
          <p:cNvSpPr/>
          <p:nvPr/>
        </p:nvSpPr>
        <p:spPr>
          <a:xfrm>
            <a:off x="7011109" y="3762868"/>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1</a:t>
            </a:r>
            <a:endParaRPr lang="en-US" sz="900" dirty="0">
              <a:latin typeface="Candara" panose="020E0502030303020204" pitchFamily="34" charset="0"/>
            </a:endParaRPr>
          </a:p>
        </p:txBody>
      </p:sp>
      <p:sp>
        <p:nvSpPr>
          <p:cNvPr id="222" name="Text 220"/>
          <p:cNvSpPr/>
          <p:nvPr/>
        </p:nvSpPr>
        <p:spPr>
          <a:xfrm>
            <a:off x="9297538" y="4000152"/>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23" name="Text 221"/>
          <p:cNvSpPr/>
          <p:nvPr/>
        </p:nvSpPr>
        <p:spPr>
          <a:xfrm>
            <a:off x="6964236" y="4116594"/>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1</a:t>
            </a:r>
            <a:endParaRPr lang="en-US" sz="900" dirty="0">
              <a:latin typeface="Candara" panose="020E0502030303020204" pitchFamily="34" charset="0"/>
            </a:endParaRPr>
          </a:p>
        </p:txBody>
      </p:sp>
      <p:sp>
        <p:nvSpPr>
          <p:cNvPr id="224" name="Text 222"/>
          <p:cNvSpPr/>
          <p:nvPr/>
        </p:nvSpPr>
        <p:spPr>
          <a:xfrm>
            <a:off x="9344412" y="5109086"/>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25" name="Text 223"/>
          <p:cNvSpPr/>
          <p:nvPr/>
        </p:nvSpPr>
        <p:spPr>
          <a:xfrm>
            <a:off x="5053388" y="3992641"/>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1</a:t>
            </a:r>
            <a:endParaRPr lang="en-US" sz="900" dirty="0">
              <a:latin typeface="Candara" panose="020E0502030303020204" pitchFamily="34" charset="0"/>
            </a:endParaRPr>
          </a:p>
        </p:txBody>
      </p:sp>
      <p:sp>
        <p:nvSpPr>
          <p:cNvPr id="226" name="Text 224"/>
          <p:cNvSpPr/>
          <p:nvPr/>
        </p:nvSpPr>
        <p:spPr>
          <a:xfrm>
            <a:off x="4307629" y="5004498"/>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27" name="Text 225"/>
          <p:cNvSpPr/>
          <p:nvPr/>
        </p:nvSpPr>
        <p:spPr>
          <a:xfrm>
            <a:off x="5704622" y="4125171"/>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1</a:t>
            </a:r>
            <a:endParaRPr lang="en-US" sz="900" dirty="0">
              <a:latin typeface="Candara" panose="020E0502030303020204" pitchFamily="34" charset="0"/>
            </a:endParaRPr>
          </a:p>
        </p:txBody>
      </p:sp>
      <p:sp>
        <p:nvSpPr>
          <p:cNvPr id="228" name="Text 226"/>
          <p:cNvSpPr/>
          <p:nvPr/>
        </p:nvSpPr>
        <p:spPr>
          <a:xfrm>
            <a:off x="5896092" y="4871968"/>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29" name="Text 227"/>
          <p:cNvSpPr/>
          <p:nvPr/>
        </p:nvSpPr>
        <p:spPr>
          <a:xfrm>
            <a:off x="6426119" y="4169680"/>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0..1</a:t>
            </a:r>
            <a:endParaRPr lang="en-US" sz="900" dirty="0">
              <a:latin typeface="Candara" panose="020E0502030303020204" pitchFamily="34" charset="0"/>
            </a:endParaRPr>
          </a:p>
        </p:txBody>
      </p:sp>
      <p:sp>
        <p:nvSpPr>
          <p:cNvPr id="230" name="Text 228"/>
          <p:cNvSpPr/>
          <p:nvPr/>
        </p:nvSpPr>
        <p:spPr>
          <a:xfrm>
            <a:off x="7368583" y="4827459"/>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31" name="Text 229"/>
          <p:cNvSpPr/>
          <p:nvPr/>
        </p:nvSpPr>
        <p:spPr>
          <a:xfrm>
            <a:off x="2608323" y="1662357"/>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1</a:t>
            </a:r>
            <a:endParaRPr lang="en-US" sz="900" dirty="0">
              <a:latin typeface="Candara" panose="020E0502030303020204" pitchFamily="34" charset="0"/>
            </a:endParaRPr>
          </a:p>
        </p:txBody>
      </p:sp>
      <p:sp>
        <p:nvSpPr>
          <p:cNvPr id="232" name="Text 230"/>
          <p:cNvSpPr/>
          <p:nvPr/>
        </p:nvSpPr>
        <p:spPr>
          <a:xfrm>
            <a:off x="9266639" y="1255605"/>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33" name="Text 231"/>
          <p:cNvSpPr/>
          <p:nvPr/>
        </p:nvSpPr>
        <p:spPr>
          <a:xfrm>
            <a:off x="2427079" y="2327727"/>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0..1</a:t>
            </a:r>
            <a:endParaRPr lang="en-US" sz="900" dirty="0">
              <a:latin typeface="Candara" panose="020E0502030303020204" pitchFamily="34" charset="0"/>
            </a:endParaRPr>
          </a:p>
        </p:txBody>
      </p:sp>
      <p:sp>
        <p:nvSpPr>
          <p:cNvPr id="234" name="Text 232"/>
          <p:cNvSpPr/>
          <p:nvPr/>
        </p:nvSpPr>
        <p:spPr>
          <a:xfrm>
            <a:off x="6933939" y="4841088"/>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35" name="Text 233"/>
          <p:cNvSpPr/>
          <p:nvPr/>
        </p:nvSpPr>
        <p:spPr>
          <a:xfrm>
            <a:off x="2538879" y="2225681"/>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0..1</a:t>
            </a:r>
            <a:endParaRPr lang="en-US" sz="900" dirty="0">
              <a:latin typeface="Candara" panose="020E0502030303020204" pitchFamily="34" charset="0"/>
            </a:endParaRPr>
          </a:p>
        </p:txBody>
      </p:sp>
      <p:sp>
        <p:nvSpPr>
          <p:cNvPr id="236" name="Text 234"/>
          <p:cNvSpPr/>
          <p:nvPr/>
        </p:nvSpPr>
        <p:spPr>
          <a:xfrm>
            <a:off x="9336083" y="5171675"/>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37" name="Text 235"/>
          <p:cNvSpPr/>
          <p:nvPr/>
        </p:nvSpPr>
        <p:spPr>
          <a:xfrm>
            <a:off x="1316393" y="2304581"/>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0..1</a:t>
            </a:r>
            <a:endParaRPr lang="en-US" sz="900" dirty="0">
              <a:latin typeface="Candara" panose="020E0502030303020204" pitchFamily="34" charset="0"/>
            </a:endParaRPr>
          </a:p>
        </p:txBody>
      </p:sp>
      <p:sp>
        <p:nvSpPr>
          <p:cNvPr id="238" name="Text 236"/>
          <p:cNvSpPr/>
          <p:nvPr/>
        </p:nvSpPr>
        <p:spPr>
          <a:xfrm>
            <a:off x="1554075" y="2853078"/>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39" name="Text 237"/>
          <p:cNvSpPr/>
          <p:nvPr/>
        </p:nvSpPr>
        <p:spPr>
          <a:xfrm>
            <a:off x="9084475" y="5820230"/>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1</a:t>
            </a:r>
            <a:endParaRPr lang="en-US" sz="900" dirty="0">
              <a:latin typeface="Candara" panose="020E0502030303020204" pitchFamily="34" charset="0"/>
            </a:endParaRPr>
          </a:p>
        </p:txBody>
      </p:sp>
      <p:sp>
        <p:nvSpPr>
          <p:cNvPr id="240" name="Text 238"/>
          <p:cNvSpPr/>
          <p:nvPr/>
        </p:nvSpPr>
        <p:spPr>
          <a:xfrm>
            <a:off x="9281036" y="5599438"/>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41" name="Text 239"/>
          <p:cNvSpPr/>
          <p:nvPr/>
        </p:nvSpPr>
        <p:spPr>
          <a:xfrm>
            <a:off x="2539461" y="4232496"/>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0..1</a:t>
            </a:r>
            <a:endParaRPr lang="en-US" sz="900" dirty="0">
              <a:latin typeface="Candara" panose="020E0502030303020204" pitchFamily="34" charset="0"/>
            </a:endParaRPr>
          </a:p>
        </p:txBody>
      </p:sp>
      <p:sp>
        <p:nvSpPr>
          <p:cNvPr id="242" name="Text 240"/>
          <p:cNvSpPr/>
          <p:nvPr/>
        </p:nvSpPr>
        <p:spPr>
          <a:xfrm>
            <a:off x="4627567" y="4947476"/>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43" name="Shape 241"/>
          <p:cNvSpPr/>
          <p:nvPr/>
        </p:nvSpPr>
        <p:spPr>
          <a:xfrm>
            <a:off x="457080" y="6619425"/>
            <a:ext cx="50279" cy="164549"/>
          </a:xfrm>
          <a:prstGeom prst="rect">
            <a:avLst/>
          </a:prstGeom>
          <a:solidFill>
            <a:srgbClr val="3ECF80"/>
          </a:solidFill>
          <a:ln w="12700">
            <a:solidFill>
              <a:srgbClr val="3ECF80"/>
            </a:solidFill>
            <a:prstDash val="solid"/>
          </a:ln>
        </p:spPr>
        <p:txBody>
          <a:bodyPr/>
          <a:lstStyle/>
          <a:p>
            <a:endParaRPr lang="en-US" sz="1799">
              <a:latin typeface="Candara" panose="020E0502030303020204" pitchFamily="34" charset="0"/>
            </a:endParaRPr>
          </a:p>
        </p:txBody>
      </p:sp>
      <p:sp>
        <p:nvSpPr>
          <p:cNvPr id="244" name="Text 242"/>
          <p:cNvSpPr/>
          <p:nvPr/>
        </p:nvSpPr>
        <p:spPr>
          <a:xfrm>
            <a:off x="566780" y="6601142"/>
            <a:ext cx="1554075" cy="201116"/>
          </a:xfrm>
          <a:prstGeom prst="rect">
            <a:avLst/>
          </a:prstGeom>
          <a:noFill/>
          <a:ln/>
        </p:spPr>
        <p:txBody>
          <a:bodyPr wrap="square" lIns="0" tIns="0" rIns="0" bIns="0" rtlCol="0" anchor="ctr"/>
          <a:lstStyle/>
          <a:p>
            <a:r>
              <a:rPr lang="en-US" sz="900" dirty="0">
                <a:solidFill>
                  <a:srgbClr val="7AB896"/>
                </a:solidFill>
                <a:latin typeface="Candara" panose="020E0502030303020204" pitchFamily="34" charset="0"/>
                <a:ea typeface="Calibri" pitchFamily="34" charset="-122"/>
                <a:cs typeface="Calibri" pitchFamily="34" charset="-120"/>
              </a:rPr>
              <a:t>Hub (Devices)</a:t>
            </a:r>
            <a:endParaRPr lang="en-US" sz="900" dirty="0">
              <a:latin typeface="Candara" panose="020E0502030303020204" pitchFamily="34" charset="0"/>
            </a:endParaRPr>
          </a:p>
        </p:txBody>
      </p:sp>
      <p:sp>
        <p:nvSpPr>
          <p:cNvPr id="245" name="Shape 243"/>
          <p:cNvSpPr/>
          <p:nvPr/>
        </p:nvSpPr>
        <p:spPr>
          <a:xfrm>
            <a:off x="2056864" y="6619425"/>
            <a:ext cx="50279" cy="164549"/>
          </a:xfrm>
          <a:prstGeom prst="rect">
            <a:avLst/>
          </a:prstGeom>
          <a:solidFill>
            <a:srgbClr val="2A9962"/>
          </a:solidFill>
          <a:ln w="12700">
            <a:solidFill>
              <a:srgbClr val="2A9962"/>
            </a:solidFill>
            <a:prstDash val="solid"/>
          </a:ln>
        </p:spPr>
        <p:txBody>
          <a:bodyPr/>
          <a:lstStyle/>
          <a:p>
            <a:endParaRPr lang="en-US" sz="1799">
              <a:latin typeface="Candara" panose="020E0502030303020204" pitchFamily="34" charset="0"/>
            </a:endParaRPr>
          </a:p>
        </p:txBody>
      </p:sp>
      <p:sp>
        <p:nvSpPr>
          <p:cNvPr id="246" name="Text 244"/>
          <p:cNvSpPr/>
          <p:nvPr/>
        </p:nvSpPr>
        <p:spPr>
          <a:xfrm>
            <a:off x="2166563" y="6601142"/>
            <a:ext cx="1554075" cy="201116"/>
          </a:xfrm>
          <a:prstGeom prst="rect">
            <a:avLst/>
          </a:prstGeom>
          <a:noFill/>
          <a:ln/>
        </p:spPr>
        <p:txBody>
          <a:bodyPr wrap="square" lIns="0" tIns="0" rIns="0" bIns="0" rtlCol="0" anchor="ctr"/>
          <a:lstStyle/>
          <a:p>
            <a:r>
              <a:rPr lang="en-US" sz="900" dirty="0">
                <a:solidFill>
                  <a:srgbClr val="7AB896"/>
                </a:solidFill>
                <a:latin typeface="Candara" panose="020E0502030303020204" pitchFamily="34" charset="0"/>
                <a:ea typeface="Calibri" pitchFamily="34" charset="-122"/>
                <a:cs typeface="Calibri" pitchFamily="34" charset="-120"/>
              </a:rPr>
              <a:t>Primary entities</a:t>
            </a:r>
            <a:endParaRPr lang="en-US" sz="900" dirty="0">
              <a:latin typeface="Candara" panose="020E0502030303020204" pitchFamily="34" charset="0"/>
            </a:endParaRPr>
          </a:p>
        </p:txBody>
      </p:sp>
      <p:sp>
        <p:nvSpPr>
          <p:cNvPr id="247" name="Shape 245"/>
          <p:cNvSpPr/>
          <p:nvPr/>
        </p:nvSpPr>
        <p:spPr>
          <a:xfrm>
            <a:off x="3793771" y="6619425"/>
            <a:ext cx="50279" cy="164549"/>
          </a:xfrm>
          <a:prstGeom prst="rect">
            <a:avLst/>
          </a:prstGeom>
          <a:solidFill>
            <a:srgbClr val="1B5C3A"/>
          </a:solidFill>
          <a:ln w="12700">
            <a:solidFill>
              <a:srgbClr val="1B5C3A"/>
            </a:solidFill>
            <a:prstDash val="solid"/>
          </a:ln>
        </p:spPr>
        <p:txBody>
          <a:bodyPr/>
          <a:lstStyle/>
          <a:p>
            <a:endParaRPr lang="en-US" sz="1799">
              <a:latin typeface="Candara" panose="020E0502030303020204" pitchFamily="34" charset="0"/>
            </a:endParaRPr>
          </a:p>
        </p:txBody>
      </p:sp>
      <p:sp>
        <p:nvSpPr>
          <p:cNvPr id="248" name="Text 246"/>
          <p:cNvSpPr/>
          <p:nvPr/>
        </p:nvSpPr>
        <p:spPr>
          <a:xfrm>
            <a:off x="3903471" y="6601142"/>
            <a:ext cx="1554075" cy="201116"/>
          </a:xfrm>
          <a:prstGeom prst="rect">
            <a:avLst/>
          </a:prstGeom>
          <a:noFill/>
          <a:ln/>
        </p:spPr>
        <p:txBody>
          <a:bodyPr wrap="square" lIns="0" tIns="0" rIns="0" bIns="0" rtlCol="0" anchor="ctr"/>
          <a:lstStyle/>
          <a:p>
            <a:r>
              <a:rPr lang="en-US" sz="900" dirty="0">
                <a:solidFill>
                  <a:srgbClr val="7AB896"/>
                </a:solidFill>
                <a:latin typeface="Candara" panose="020E0502030303020204" pitchFamily="34" charset="0"/>
                <a:ea typeface="Calibri" pitchFamily="34" charset="-122"/>
                <a:cs typeface="Calibri" pitchFamily="34" charset="-120"/>
              </a:rPr>
              <a:t>Event / log tables</a:t>
            </a:r>
            <a:endParaRPr lang="en-US" sz="900" dirty="0">
              <a:latin typeface="Candara" panose="020E0502030303020204" pitchFamily="34" charset="0"/>
            </a:endParaRPr>
          </a:p>
        </p:txBody>
      </p:sp>
      <p:sp>
        <p:nvSpPr>
          <p:cNvPr id="249" name="Shape 247"/>
          <p:cNvSpPr/>
          <p:nvPr/>
        </p:nvSpPr>
        <p:spPr>
          <a:xfrm>
            <a:off x="5667803" y="6619425"/>
            <a:ext cx="50279" cy="164549"/>
          </a:xfrm>
          <a:prstGeom prst="rect">
            <a:avLst/>
          </a:prstGeom>
          <a:solidFill>
            <a:srgbClr val="1A3D52"/>
          </a:solidFill>
          <a:ln w="12700">
            <a:solidFill>
              <a:srgbClr val="1A3D52"/>
            </a:solidFill>
            <a:prstDash val="solid"/>
          </a:ln>
        </p:spPr>
        <p:txBody>
          <a:bodyPr/>
          <a:lstStyle/>
          <a:p>
            <a:endParaRPr lang="en-US" sz="1799">
              <a:latin typeface="Candara" panose="020E0502030303020204" pitchFamily="34" charset="0"/>
            </a:endParaRPr>
          </a:p>
        </p:txBody>
      </p:sp>
      <p:sp>
        <p:nvSpPr>
          <p:cNvPr id="250" name="Text 248"/>
          <p:cNvSpPr/>
          <p:nvPr/>
        </p:nvSpPr>
        <p:spPr>
          <a:xfrm>
            <a:off x="5777503" y="6601142"/>
            <a:ext cx="1554075" cy="201116"/>
          </a:xfrm>
          <a:prstGeom prst="rect">
            <a:avLst/>
          </a:prstGeom>
          <a:noFill/>
          <a:ln/>
        </p:spPr>
        <p:txBody>
          <a:bodyPr wrap="square" lIns="0" tIns="0" rIns="0" bIns="0" rtlCol="0" anchor="ctr"/>
          <a:lstStyle/>
          <a:p>
            <a:r>
              <a:rPr lang="en-US" sz="900" dirty="0">
                <a:solidFill>
                  <a:srgbClr val="7AB896"/>
                </a:solidFill>
                <a:latin typeface="Candara" panose="020E0502030303020204" pitchFamily="34" charset="0"/>
                <a:ea typeface="Calibri" pitchFamily="34" charset="-122"/>
                <a:cs typeface="Calibri" pitchFamily="34" charset="-120"/>
              </a:rPr>
              <a:t>Configuration</a:t>
            </a:r>
            <a:endParaRPr lang="en-US" sz="900" dirty="0">
              <a:latin typeface="Candara" panose="020E0502030303020204" pitchFamily="34" charset="0"/>
            </a:endParaRPr>
          </a:p>
        </p:txBody>
      </p:sp>
      <p:sp>
        <p:nvSpPr>
          <p:cNvPr id="251" name="Shape 249"/>
          <p:cNvSpPr/>
          <p:nvPr/>
        </p:nvSpPr>
        <p:spPr>
          <a:xfrm>
            <a:off x="7359003" y="6665133"/>
            <a:ext cx="0" cy="91416"/>
          </a:xfrm>
          <a:prstGeom prst="line">
            <a:avLst/>
          </a:prstGeom>
          <a:noFill/>
          <a:ln w="9525">
            <a:solidFill>
              <a:srgbClr val="1E3D2A"/>
            </a:solidFill>
            <a:prstDash val="solid"/>
          </a:ln>
        </p:spPr>
        <p:txBody>
          <a:bodyPr/>
          <a:lstStyle/>
          <a:p>
            <a:endParaRPr lang="en-US" sz="1799">
              <a:latin typeface="Candara" panose="020E0502030303020204" pitchFamily="34" charset="0"/>
            </a:endParaRPr>
          </a:p>
        </p:txBody>
      </p:sp>
      <p:sp>
        <p:nvSpPr>
          <p:cNvPr id="252" name="Shape 250"/>
          <p:cNvSpPr/>
          <p:nvPr/>
        </p:nvSpPr>
        <p:spPr>
          <a:xfrm>
            <a:off x="7496127" y="6701700"/>
            <a:ext cx="319957" cy="0"/>
          </a:xfrm>
          <a:prstGeom prst="line">
            <a:avLst/>
          </a:prstGeom>
          <a:noFill/>
          <a:ln w="15875">
            <a:solidFill>
              <a:srgbClr val="3ECF80"/>
            </a:solidFill>
            <a:prstDash val="solid"/>
          </a:ln>
        </p:spPr>
        <p:txBody>
          <a:bodyPr/>
          <a:lstStyle/>
          <a:p>
            <a:endParaRPr lang="en-US" sz="1799">
              <a:latin typeface="Candara" panose="020E0502030303020204" pitchFamily="34" charset="0"/>
            </a:endParaRPr>
          </a:p>
        </p:txBody>
      </p:sp>
      <p:sp>
        <p:nvSpPr>
          <p:cNvPr id="253" name="Text 251"/>
          <p:cNvSpPr/>
          <p:nvPr/>
        </p:nvSpPr>
        <p:spPr>
          <a:xfrm>
            <a:off x="7724668" y="6601142"/>
            <a:ext cx="420514" cy="201116"/>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1</a:t>
            </a:r>
            <a:endParaRPr lang="en-US" sz="900" dirty="0">
              <a:latin typeface="Candara" panose="020E0502030303020204" pitchFamily="34" charset="0"/>
            </a:endParaRPr>
          </a:p>
        </p:txBody>
      </p:sp>
      <p:sp>
        <p:nvSpPr>
          <p:cNvPr id="254" name="Text 252"/>
          <p:cNvSpPr/>
          <p:nvPr/>
        </p:nvSpPr>
        <p:spPr>
          <a:xfrm>
            <a:off x="8172607" y="6601142"/>
            <a:ext cx="1096994" cy="201116"/>
          </a:xfrm>
          <a:prstGeom prst="rect">
            <a:avLst/>
          </a:prstGeom>
          <a:noFill/>
          <a:ln/>
        </p:spPr>
        <p:txBody>
          <a:bodyPr wrap="square" lIns="0" tIns="0" rIns="0" bIns="0" rtlCol="0" anchor="ctr"/>
          <a:lstStyle/>
          <a:p>
            <a:r>
              <a:rPr lang="en-US" sz="900" dirty="0">
                <a:solidFill>
                  <a:srgbClr val="7AB896"/>
                </a:solidFill>
                <a:latin typeface="Candara" panose="020E0502030303020204" pitchFamily="34" charset="0"/>
                <a:ea typeface="Calibri" pitchFamily="34" charset="-122"/>
                <a:cs typeface="Calibri" pitchFamily="34" charset="-120"/>
              </a:rPr>
              <a:t>required (1)</a:t>
            </a:r>
            <a:endParaRPr lang="en-US" sz="900" dirty="0">
              <a:latin typeface="Candara" panose="020E0502030303020204" pitchFamily="34" charset="0"/>
            </a:endParaRPr>
          </a:p>
        </p:txBody>
      </p:sp>
      <p:sp>
        <p:nvSpPr>
          <p:cNvPr id="255" name="Shape 253"/>
          <p:cNvSpPr/>
          <p:nvPr/>
        </p:nvSpPr>
        <p:spPr>
          <a:xfrm>
            <a:off x="8867370" y="6701700"/>
            <a:ext cx="319957" cy="0"/>
          </a:xfrm>
          <a:prstGeom prst="line">
            <a:avLst/>
          </a:prstGeom>
          <a:noFill/>
          <a:ln w="15875">
            <a:solidFill>
              <a:srgbClr val="2A6646"/>
            </a:solidFill>
            <a:prstDash val="dash"/>
          </a:ln>
        </p:spPr>
        <p:txBody>
          <a:bodyPr/>
          <a:lstStyle/>
          <a:p>
            <a:endParaRPr lang="en-US" sz="1799">
              <a:latin typeface="Candara" panose="020E0502030303020204" pitchFamily="34" charset="0"/>
            </a:endParaRPr>
          </a:p>
        </p:txBody>
      </p:sp>
      <p:sp>
        <p:nvSpPr>
          <p:cNvPr id="256" name="Text 254"/>
          <p:cNvSpPr/>
          <p:nvPr/>
        </p:nvSpPr>
        <p:spPr>
          <a:xfrm>
            <a:off x="9095910" y="6601142"/>
            <a:ext cx="420514" cy="201116"/>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0..1</a:t>
            </a:r>
            <a:endParaRPr lang="en-US" sz="900" dirty="0">
              <a:latin typeface="Candara" panose="020E0502030303020204" pitchFamily="34" charset="0"/>
            </a:endParaRPr>
          </a:p>
        </p:txBody>
      </p:sp>
      <p:sp>
        <p:nvSpPr>
          <p:cNvPr id="257" name="Text 255"/>
          <p:cNvSpPr/>
          <p:nvPr/>
        </p:nvSpPr>
        <p:spPr>
          <a:xfrm>
            <a:off x="9543850" y="6601142"/>
            <a:ext cx="1096994" cy="201116"/>
          </a:xfrm>
          <a:prstGeom prst="rect">
            <a:avLst/>
          </a:prstGeom>
          <a:noFill/>
          <a:ln/>
        </p:spPr>
        <p:txBody>
          <a:bodyPr wrap="square" lIns="0" tIns="0" rIns="0" bIns="0" rtlCol="0" anchor="ctr"/>
          <a:lstStyle/>
          <a:p>
            <a:r>
              <a:rPr lang="en-US" sz="900" dirty="0">
                <a:solidFill>
                  <a:srgbClr val="7AB896"/>
                </a:solidFill>
                <a:latin typeface="Candara" panose="020E0502030303020204" pitchFamily="34" charset="0"/>
                <a:ea typeface="Calibri" pitchFamily="34" charset="-122"/>
                <a:cs typeface="Calibri" pitchFamily="34" charset="-120"/>
              </a:rPr>
              <a:t>optional (0..1)</a:t>
            </a:r>
            <a:endParaRPr lang="en-US" sz="900" dirty="0">
              <a:latin typeface="Candara" panose="020E0502030303020204" pitchFamily="34" charset="0"/>
            </a:endParaRPr>
          </a:p>
        </p:txBody>
      </p:sp>
      <p:sp>
        <p:nvSpPr>
          <p:cNvPr id="258" name="Shape 256"/>
          <p:cNvSpPr/>
          <p:nvPr/>
        </p:nvSpPr>
        <p:spPr>
          <a:xfrm>
            <a:off x="10421445" y="6701700"/>
            <a:ext cx="319957" cy="0"/>
          </a:xfrm>
          <a:prstGeom prst="line">
            <a:avLst/>
          </a:prstGeom>
          <a:noFill/>
          <a:ln w="15875">
            <a:solidFill>
              <a:srgbClr val="3ECF80"/>
            </a:solidFill>
            <a:prstDash val="solid"/>
          </a:ln>
        </p:spPr>
        <p:txBody>
          <a:bodyPr/>
          <a:lstStyle/>
          <a:p>
            <a:endParaRPr lang="en-US" sz="1799">
              <a:latin typeface="Candara" panose="020E0502030303020204" pitchFamily="34" charset="0"/>
            </a:endParaRPr>
          </a:p>
        </p:txBody>
      </p:sp>
      <p:sp>
        <p:nvSpPr>
          <p:cNvPr id="259" name="Text 257"/>
          <p:cNvSpPr/>
          <p:nvPr/>
        </p:nvSpPr>
        <p:spPr>
          <a:xfrm>
            <a:off x="10649986" y="6601142"/>
            <a:ext cx="420514" cy="201116"/>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60" name="Text 258"/>
          <p:cNvSpPr/>
          <p:nvPr/>
        </p:nvSpPr>
        <p:spPr>
          <a:xfrm>
            <a:off x="11097925" y="6601142"/>
            <a:ext cx="1096994" cy="201116"/>
          </a:xfrm>
          <a:prstGeom prst="rect">
            <a:avLst/>
          </a:prstGeom>
          <a:noFill/>
          <a:ln/>
        </p:spPr>
        <p:txBody>
          <a:bodyPr wrap="square" lIns="0" tIns="0" rIns="0" bIns="0" rtlCol="0" anchor="ctr"/>
          <a:lstStyle/>
          <a:p>
            <a:r>
              <a:rPr lang="en-US" sz="900" dirty="0">
                <a:solidFill>
                  <a:srgbClr val="7AB896"/>
                </a:solidFill>
                <a:latin typeface="Candara" panose="020E0502030303020204" pitchFamily="34" charset="0"/>
                <a:ea typeface="Calibri" pitchFamily="34" charset="-122"/>
                <a:cs typeface="Calibri" pitchFamily="34" charset="-120"/>
              </a:rPr>
              <a:t>many (0..*)</a:t>
            </a:r>
            <a:endParaRPr lang="en-US" sz="900" dirty="0">
              <a:latin typeface="Candara" panose="020E0502030303020204" pitchFamily="34"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 0"/>
          <p:cNvSpPr/>
          <p:nvPr/>
        </p:nvSpPr>
        <p:spPr>
          <a:xfrm>
            <a:off x="201115" y="92309"/>
            <a:ext cx="6399133" cy="420514"/>
          </a:xfrm>
          <a:prstGeom prst="rect">
            <a:avLst/>
          </a:prstGeom>
          <a:noFill/>
          <a:ln/>
        </p:spPr>
        <p:txBody>
          <a:bodyPr wrap="square" lIns="0" tIns="0" rIns="0" bIns="0" rtlCol="0" anchor="ctr"/>
          <a:lstStyle/>
          <a:p>
            <a:r>
              <a:rPr lang="en-US" sz="2800" b="1" dirty="0">
                <a:solidFill>
                  <a:srgbClr val="FFFFFF"/>
                </a:solidFill>
                <a:latin typeface="Candara" panose="020E0502030303020204" pitchFamily="34" charset="0"/>
                <a:ea typeface="Calibri" pitchFamily="34" charset="-122"/>
                <a:cs typeface="Calibri" pitchFamily="34" charset="-120"/>
              </a:rPr>
              <a:t>Backend &amp; API Design</a:t>
            </a:r>
            <a:endParaRPr lang="en-US" sz="2800" dirty="0">
              <a:latin typeface="Candara" panose="020E0502030303020204" pitchFamily="34" charset="0"/>
            </a:endParaRPr>
          </a:p>
        </p:txBody>
      </p:sp>
      <p:sp>
        <p:nvSpPr>
          <p:cNvPr id="3" name="Text 1"/>
          <p:cNvSpPr/>
          <p:nvPr/>
        </p:nvSpPr>
        <p:spPr>
          <a:xfrm>
            <a:off x="201115" y="531107"/>
            <a:ext cx="4753642" cy="219399"/>
          </a:xfrm>
          <a:prstGeom prst="rect">
            <a:avLst/>
          </a:prstGeom>
          <a:noFill/>
          <a:ln/>
        </p:spPr>
        <p:txBody>
          <a:bodyPr wrap="square" lIns="0" tIns="0" rIns="0" bIns="0" rtlCol="0" anchor="ctr"/>
          <a:lstStyle/>
          <a:p>
            <a:r>
              <a:rPr lang="en-US" sz="1200" dirty="0">
                <a:solidFill>
                  <a:srgbClr val="7AB896"/>
                </a:solidFill>
                <a:latin typeface="Candara" panose="020E0502030303020204" pitchFamily="34" charset="0"/>
                <a:ea typeface="Calibri" pitchFamily="34" charset="-122"/>
                <a:cs typeface="Calibri" pitchFamily="34" charset="-120"/>
              </a:rPr>
              <a:t>Layered architecture  ·  RESTful APIs  ·  real-time streaming</a:t>
            </a:r>
            <a:endParaRPr lang="en-US" sz="1200" dirty="0">
              <a:latin typeface="Candara" panose="020E0502030303020204" pitchFamily="34" charset="0"/>
            </a:endParaRPr>
          </a:p>
        </p:txBody>
      </p:sp>
      <p:sp>
        <p:nvSpPr>
          <p:cNvPr id="4" name="Text 2"/>
          <p:cNvSpPr/>
          <p:nvPr/>
        </p:nvSpPr>
        <p:spPr>
          <a:xfrm>
            <a:off x="5210722" y="531107"/>
            <a:ext cx="6810506" cy="219399"/>
          </a:xfrm>
          <a:prstGeom prst="rect">
            <a:avLst/>
          </a:prstGeom>
          <a:noFill/>
          <a:ln/>
        </p:spPr>
        <p:txBody>
          <a:bodyPr wrap="square" lIns="0" tIns="0" rIns="0" bIns="0" rtlCol="0" anchor="ctr"/>
          <a:lstStyle/>
          <a:p>
            <a:pPr algn="r"/>
            <a:r>
              <a:rPr lang="en-US" sz="1200" dirty="0">
                <a:solidFill>
                  <a:srgbClr val="3ECF80"/>
                </a:solidFill>
                <a:latin typeface="Candara" panose="020E0502030303020204" pitchFamily="34" charset="0"/>
                <a:ea typeface="Consolas" pitchFamily="34" charset="-122"/>
                <a:cs typeface="Consolas" pitchFamily="34" charset="-120"/>
              </a:rPr>
              <a:t>Base:  https://host/api/v1</a:t>
            </a:r>
            <a:endParaRPr lang="en-US" sz="1200" dirty="0">
              <a:latin typeface="Candara" panose="020E0502030303020204" pitchFamily="34" charset="0"/>
            </a:endParaRPr>
          </a:p>
        </p:txBody>
      </p:sp>
      <p:sp>
        <p:nvSpPr>
          <p:cNvPr id="5" name="Shape 3"/>
          <p:cNvSpPr/>
          <p:nvPr/>
        </p:nvSpPr>
        <p:spPr>
          <a:xfrm>
            <a:off x="201115" y="823639"/>
            <a:ext cx="11792688" cy="0"/>
          </a:xfrm>
          <a:prstGeom prst="line">
            <a:avLst/>
          </a:prstGeom>
          <a:noFill/>
          <a:ln w="6350">
            <a:solidFill>
              <a:srgbClr val="1C3D28"/>
            </a:solidFill>
            <a:prstDash val="solid"/>
          </a:ln>
        </p:spPr>
        <p:txBody>
          <a:bodyPr/>
          <a:lstStyle/>
          <a:p>
            <a:endParaRPr lang="en-US" sz="1200">
              <a:latin typeface="Candara" panose="020E0502030303020204" pitchFamily="34" charset="0"/>
            </a:endParaRPr>
          </a:p>
        </p:txBody>
      </p:sp>
      <p:sp>
        <p:nvSpPr>
          <p:cNvPr id="6" name="Shape 4"/>
          <p:cNvSpPr/>
          <p:nvPr/>
        </p:nvSpPr>
        <p:spPr>
          <a:xfrm>
            <a:off x="1526650" y="1728659"/>
            <a:ext cx="0" cy="557639"/>
          </a:xfrm>
          <a:prstGeom prst="line">
            <a:avLst/>
          </a:prstGeom>
          <a:noFill/>
          <a:ln w="9525">
            <a:solidFill>
              <a:srgbClr val="3A6B52"/>
            </a:solidFill>
            <a:prstDash val="sysDot"/>
          </a:ln>
        </p:spPr>
        <p:txBody>
          <a:bodyPr/>
          <a:lstStyle/>
          <a:p>
            <a:endParaRPr lang="en-US" sz="1100">
              <a:latin typeface="Candara" panose="020E0502030303020204" pitchFamily="34" charset="0"/>
            </a:endParaRPr>
          </a:p>
        </p:txBody>
      </p:sp>
      <p:sp>
        <p:nvSpPr>
          <p:cNvPr id="7" name="Text 5"/>
          <p:cNvSpPr/>
          <p:nvPr/>
        </p:nvSpPr>
        <p:spPr>
          <a:xfrm>
            <a:off x="1389525" y="1728659"/>
            <a:ext cx="274249" cy="557639"/>
          </a:xfrm>
          <a:prstGeom prst="rect">
            <a:avLst/>
          </a:prstGeom>
          <a:noFill/>
          <a:ln/>
        </p:spPr>
        <p:txBody>
          <a:bodyPr wrap="square" lIns="0" tIns="0" rIns="0" bIns="0" rtlCol="0" anchor="ctr"/>
          <a:lstStyle/>
          <a:p>
            <a:pPr algn="ctr"/>
            <a:r>
              <a:rPr lang="en-US" sz="1100" dirty="0">
                <a:solidFill>
                  <a:srgbClr val="3A6B52"/>
                </a:solidFill>
                <a:latin typeface="Candara" panose="020E0502030303020204" pitchFamily="34" charset="0"/>
              </a:rPr>
              <a:t>↓</a:t>
            </a:r>
            <a:endParaRPr lang="en-US" sz="1100" dirty="0">
              <a:latin typeface="Candara" panose="020E0502030303020204" pitchFamily="34" charset="0"/>
            </a:endParaRPr>
          </a:p>
        </p:txBody>
      </p:sp>
      <p:sp>
        <p:nvSpPr>
          <p:cNvPr id="8" name="Shape 6"/>
          <p:cNvSpPr/>
          <p:nvPr/>
        </p:nvSpPr>
        <p:spPr>
          <a:xfrm>
            <a:off x="228540" y="988188"/>
            <a:ext cx="2651069" cy="767896"/>
          </a:xfrm>
          <a:prstGeom prst="roundRect">
            <a:avLst>
              <a:gd name="adj" fmla="val 8333"/>
            </a:avLst>
          </a:prstGeom>
          <a:solidFill>
            <a:srgbClr val="000000">
              <a:alpha val="15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9" name="Shape 7"/>
          <p:cNvSpPr/>
          <p:nvPr/>
        </p:nvSpPr>
        <p:spPr>
          <a:xfrm>
            <a:off x="201115" y="960763"/>
            <a:ext cx="2651069" cy="767896"/>
          </a:xfrm>
          <a:prstGeom prst="roundRect">
            <a:avLst>
              <a:gd name="adj" fmla="val 8333"/>
            </a:avLst>
          </a:prstGeom>
          <a:solidFill>
            <a:srgbClr val="091A0F"/>
          </a:solidFill>
          <a:ln w="9525">
            <a:solidFill>
              <a:srgbClr val="1C3D28"/>
            </a:solidFill>
            <a:prstDash val="solid"/>
          </a:ln>
        </p:spPr>
        <p:txBody>
          <a:bodyPr/>
          <a:lstStyle/>
          <a:p>
            <a:endParaRPr lang="en-US" sz="1100">
              <a:latin typeface="Candara" panose="020E0502030303020204" pitchFamily="34" charset="0"/>
            </a:endParaRPr>
          </a:p>
        </p:txBody>
      </p:sp>
      <p:sp>
        <p:nvSpPr>
          <p:cNvPr id="11" name="Shape 9"/>
          <p:cNvSpPr/>
          <p:nvPr/>
        </p:nvSpPr>
        <p:spPr>
          <a:xfrm>
            <a:off x="319956" y="1097887"/>
            <a:ext cx="274249" cy="274249"/>
          </a:xfrm>
          <a:prstGeom prst="ellipse">
            <a:avLst/>
          </a:prstGeom>
          <a:solidFill>
            <a:srgbClr val="0D2B1D"/>
          </a:solidFill>
          <a:ln w="9525">
            <a:solidFill>
              <a:srgbClr val="3ECF80"/>
            </a:solidFill>
            <a:prstDash val="solid"/>
          </a:ln>
        </p:spPr>
        <p:txBody>
          <a:bodyPr/>
          <a:lstStyle/>
          <a:p>
            <a:endParaRPr lang="en-US" sz="1100">
              <a:latin typeface="Candara" panose="020E0502030303020204" pitchFamily="34" charset="0"/>
            </a:endParaRPr>
          </a:p>
        </p:txBody>
      </p:sp>
      <p:sp>
        <p:nvSpPr>
          <p:cNvPr id="12" name="Text 10"/>
          <p:cNvSpPr/>
          <p:nvPr/>
        </p:nvSpPr>
        <p:spPr>
          <a:xfrm>
            <a:off x="319956" y="1097887"/>
            <a:ext cx="274249" cy="274249"/>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1</a:t>
            </a:r>
            <a:endParaRPr lang="en-US" sz="1100" dirty="0">
              <a:latin typeface="Candara" panose="020E0502030303020204" pitchFamily="34" charset="0"/>
            </a:endParaRPr>
          </a:p>
        </p:txBody>
      </p:sp>
      <p:sp>
        <p:nvSpPr>
          <p:cNvPr id="13" name="Text 11"/>
          <p:cNvSpPr/>
          <p:nvPr/>
        </p:nvSpPr>
        <p:spPr>
          <a:xfrm>
            <a:off x="676479" y="1052179"/>
            <a:ext cx="2102572" cy="310815"/>
          </a:xfrm>
          <a:prstGeom prst="rect">
            <a:avLst/>
          </a:prstGeom>
          <a:noFill/>
          <a:ln/>
        </p:spPr>
        <p:txBody>
          <a:bodyPr wrap="square" lIns="0" tIns="0" rIns="0" bIns="0" rtlCol="0" anchor="ctr"/>
          <a:lstStyle/>
          <a:p>
            <a:r>
              <a:rPr lang="en-US" sz="1100" b="1" dirty="0">
                <a:solidFill>
                  <a:srgbClr val="FFFFFF"/>
                </a:solidFill>
                <a:latin typeface="Candara" panose="020E0502030303020204" pitchFamily="34" charset="0"/>
                <a:ea typeface="Calibri" pitchFamily="34" charset="-122"/>
                <a:cs typeface="Calibri" pitchFamily="34" charset="-120"/>
              </a:rPr>
              <a:t>Presentation Layer</a:t>
            </a:r>
            <a:endParaRPr lang="en-US" sz="1100" dirty="0">
              <a:latin typeface="Candara" panose="020E0502030303020204" pitchFamily="34" charset="0"/>
            </a:endParaRPr>
          </a:p>
        </p:txBody>
      </p:sp>
      <p:sp>
        <p:nvSpPr>
          <p:cNvPr id="14" name="Text 12"/>
          <p:cNvSpPr/>
          <p:nvPr/>
        </p:nvSpPr>
        <p:spPr>
          <a:xfrm>
            <a:off x="676479" y="1362994"/>
            <a:ext cx="2102572" cy="255965"/>
          </a:xfrm>
          <a:prstGeom prst="rect">
            <a:avLst/>
          </a:prstGeom>
          <a:noFill/>
          <a:ln/>
        </p:spPr>
        <p:txBody>
          <a:bodyPr wrap="square" lIns="0" tIns="0" rIns="0" bIns="0" rtlCol="0" anchor="ctr"/>
          <a:lstStyle/>
          <a:p>
            <a:r>
              <a:rPr lang="en-US" sz="1100" dirty="0">
                <a:solidFill>
                  <a:srgbClr val="7AB896"/>
                </a:solidFill>
                <a:latin typeface="Candara" panose="020E0502030303020204" pitchFamily="34" charset="0"/>
                <a:ea typeface="Calibri" pitchFamily="34" charset="-122"/>
                <a:cs typeface="Calibri" pitchFamily="34" charset="-120"/>
              </a:rPr>
              <a:t>Controllers  ·  SignalR Hub</a:t>
            </a:r>
            <a:endParaRPr lang="en-US" sz="1100" dirty="0">
              <a:latin typeface="Candara" panose="020E0502030303020204" pitchFamily="34" charset="0"/>
            </a:endParaRPr>
          </a:p>
        </p:txBody>
      </p:sp>
      <p:sp>
        <p:nvSpPr>
          <p:cNvPr id="15" name="Shape 13"/>
          <p:cNvSpPr/>
          <p:nvPr/>
        </p:nvSpPr>
        <p:spPr>
          <a:xfrm>
            <a:off x="1526650" y="3054194"/>
            <a:ext cx="0" cy="557639"/>
          </a:xfrm>
          <a:prstGeom prst="line">
            <a:avLst/>
          </a:prstGeom>
          <a:noFill/>
          <a:ln w="9525">
            <a:solidFill>
              <a:srgbClr val="3A6B52"/>
            </a:solidFill>
            <a:prstDash val="sysDot"/>
          </a:ln>
        </p:spPr>
        <p:txBody>
          <a:bodyPr/>
          <a:lstStyle/>
          <a:p>
            <a:endParaRPr lang="en-US" sz="1100">
              <a:latin typeface="Candara" panose="020E0502030303020204" pitchFamily="34" charset="0"/>
            </a:endParaRPr>
          </a:p>
        </p:txBody>
      </p:sp>
      <p:sp>
        <p:nvSpPr>
          <p:cNvPr id="16" name="Text 14"/>
          <p:cNvSpPr/>
          <p:nvPr/>
        </p:nvSpPr>
        <p:spPr>
          <a:xfrm>
            <a:off x="1389525" y="3054194"/>
            <a:ext cx="274249" cy="557639"/>
          </a:xfrm>
          <a:prstGeom prst="rect">
            <a:avLst/>
          </a:prstGeom>
          <a:noFill/>
          <a:ln/>
        </p:spPr>
        <p:txBody>
          <a:bodyPr wrap="square" lIns="0" tIns="0" rIns="0" bIns="0" rtlCol="0" anchor="ctr"/>
          <a:lstStyle/>
          <a:p>
            <a:pPr algn="ctr"/>
            <a:r>
              <a:rPr lang="en-US" sz="1100" dirty="0">
                <a:solidFill>
                  <a:srgbClr val="3A6B52"/>
                </a:solidFill>
                <a:latin typeface="Candara" panose="020E0502030303020204" pitchFamily="34" charset="0"/>
              </a:rPr>
              <a:t>↓</a:t>
            </a:r>
            <a:endParaRPr lang="en-US" sz="1100" dirty="0">
              <a:latin typeface="Candara" panose="020E0502030303020204" pitchFamily="34" charset="0"/>
            </a:endParaRPr>
          </a:p>
        </p:txBody>
      </p:sp>
      <p:sp>
        <p:nvSpPr>
          <p:cNvPr id="17" name="Shape 15"/>
          <p:cNvSpPr/>
          <p:nvPr/>
        </p:nvSpPr>
        <p:spPr>
          <a:xfrm>
            <a:off x="228540" y="2313723"/>
            <a:ext cx="2651069" cy="767896"/>
          </a:xfrm>
          <a:prstGeom prst="roundRect">
            <a:avLst>
              <a:gd name="adj" fmla="val 8333"/>
            </a:avLst>
          </a:prstGeom>
          <a:solidFill>
            <a:srgbClr val="000000">
              <a:alpha val="15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8" name="Shape 16"/>
          <p:cNvSpPr/>
          <p:nvPr/>
        </p:nvSpPr>
        <p:spPr>
          <a:xfrm>
            <a:off x="201115" y="2286298"/>
            <a:ext cx="2651069" cy="767896"/>
          </a:xfrm>
          <a:prstGeom prst="roundRect">
            <a:avLst>
              <a:gd name="adj" fmla="val 8333"/>
            </a:avLst>
          </a:prstGeom>
          <a:solidFill>
            <a:srgbClr val="091A0F"/>
          </a:solidFill>
          <a:ln w="9525">
            <a:solidFill>
              <a:srgbClr val="1C3D28"/>
            </a:solidFill>
            <a:prstDash val="solid"/>
          </a:ln>
        </p:spPr>
        <p:txBody>
          <a:bodyPr/>
          <a:lstStyle/>
          <a:p>
            <a:endParaRPr lang="en-US" sz="1100">
              <a:latin typeface="Candara" panose="020E0502030303020204" pitchFamily="34" charset="0"/>
            </a:endParaRPr>
          </a:p>
        </p:txBody>
      </p:sp>
      <p:sp>
        <p:nvSpPr>
          <p:cNvPr id="20" name="Shape 18"/>
          <p:cNvSpPr/>
          <p:nvPr/>
        </p:nvSpPr>
        <p:spPr>
          <a:xfrm>
            <a:off x="319956" y="2423422"/>
            <a:ext cx="274249" cy="274249"/>
          </a:xfrm>
          <a:prstGeom prst="ellipse">
            <a:avLst/>
          </a:prstGeom>
          <a:solidFill>
            <a:srgbClr val="0D2B1D"/>
          </a:solidFill>
          <a:ln w="9525">
            <a:solidFill>
              <a:srgbClr val="3ECF80"/>
            </a:solidFill>
            <a:prstDash val="solid"/>
          </a:ln>
        </p:spPr>
        <p:txBody>
          <a:bodyPr/>
          <a:lstStyle/>
          <a:p>
            <a:endParaRPr lang="en-US" sz="1100">
              <a:latin typeface="Candara" panose="020E0502030303020204" pitchFamily="34" charset="0"/>
            </a:endParaRPr>
          </a:p>
        </p:txBody>
      </p:sp>
      <p:sp>
        <p:nvSpPr>
          <p:cNvPr id="21" name="Text 19"/>
          <p:cNvSpPr/>
          <p:nvPr/>
        </p:nvSpPr>
        <p:spPr>
          <a:xfrm>
            <a:off x="319956" y="2423422"/>
            <a:ext cx="274249" cy="274249"/>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2</a:t>
            </a:r>
            <a:endParaRPr lang="en-US" sz="1100" dirty="0">
              <a:latin typeface="Candara" panose="020E0502030303020204" pitchFamily="34" charset="0"/>
            </a:endParaRPr>
          </a:p>
        </p:txBody>
      </p:sp>
      <p:sp>
        <p:nvSpPr>
          <p:cNvPr id="22" name="Text 20"/>
          <p:cNvSpPr/>
          <p:nvPr/>
        </p:nvSpPr>
        <p:spPr>
          <a:xfrm>
            <a:off x="676479" y="2377714"/>
            <a:ext cx="2102572" cy="310815"/>
          </a:xfrm>
          <a:prstGeom prst="rect">
            <a:avLst/>
          </a:prstGeom>
          <a:noFill/>
          <a:ln/>
        </p:spPr>
        <p:txBody>
          <a:bodyPr wrap="square" lIns="0" tIns="0" rIns="0" bIns="0" rtlCol="0" anchor="ctr"/>
          <a:lstStyle/>
          <a:p>
            <a:r>
              <a:rPr lang="en-US" sz="1100" b="1" dirty="0">
                <a:solidFill>
                  <a:srgbClr val="FFFFFF"/>
                </a:solidFill>
                <a:latin typeface="Candara" panose="020E0502030303020204" pitchFamily="34" charset="0"/>
                <a:ea typeface="Calibri" pitchFamily="34" charset="-122"/>
                <a:cs typeface="Calibri" pitchFamily="34" charset="-120"/>
              </a:rPr>
              <a:t>Service Layer</a:t>
            </a:r>
            <a:endParaRPr lang="en-US" sz="1100" dirty="0">
              <a:latin typeface="Candara" panose="020E0502030303020204" pitchFamily="34" charset="0"/>
            </a:endParaRPr>
          </a:p>
        </p:txBody>
      </p:sp>
      <p:sp>
        <p:nvSpPr>
          <p:cNvPr id="23" name="Text 21"/>
          <p:cNvSpPr/>
          <p:nvPr/>
        </p:nvSpPr>
        <p:spPr>
          <a:xfrm>
            <a:off x="676479" y="2688529"/>
            <a:ext cx="2102572" cy="255965"/>
          </a:xfrm>
          <a:prstGeom prst="rect">
            <a:avLst/>
          </a:prstGeom>
          <a:noFill/>
          <a:ln/>
        </p:spPr>
        <p:txBody>
          <a:bodyPr wrap="square" lIns="0" tIns="0" rIns="0" bIns="0" rtlCol="0" anchor="ctr"/>
          <a:lstStyle/>
          <a:p>
            <a:r>
              <a:rPr lang="en-US" sz="1100" dirty="0">
                <a:solidFill>
                  <a:srgbClr val="7AB896"/>
                </a:solidFill>
                <a:latin typeface="Candara" panose="020E0502030303020204" pitchFamily="34" charset="0"/>
                <a:ea typeface="Calibri" pitchFamily="34" charset="-122"/>
                <a:cs typeface="Calibri" pitchFamily="34" charset="-120"/>
              </a:rPr>
              <a:t>Business Logic  ·  Validation</a:t>
            </a:r>
            <a:endParaRPr lang="en-US" sz="1100" dirty="0">
              <a:latin typeface="Candara" panose="020E0502030303020204" pitchFamily="34" charset="0"/>
            </a:endParaRPr>
          </a:p>
        </p:txBody>
      </p:sp>
      <p:sp>
        <p:nvSpPr>
          <p:cNvPr id="24" name="Shape 22"/>
          <p:cNvSpPr/>
          <p:nvPr/>
        </p:nvSpPr>
        <p:spPr>
          <a:xfrm>
            <a:off x="1526650" y="4379728"/>
            <a:ext cx="0" cy="557639"/>
          </a:xfrm>
          <a:prstGeom prst="line">
            <a:avLst/>
          </a:prstGeom>
          <a:noFill/>
          <a:ln w="9525">
            <a:solidFill>
              <a:srgbClr val="3A6B52"/>
            </a:solidFill>
            <a:prstDash val="sysDot"/>
          </a:ln>
        </p:spPr>
        <p:txBody>
          <a:bodyPr/>
          <a:lstStyle/>
          <a:p>
            <a:endParaRPr lang="en-US" sz="1100">
              <a:latin typeface="Candara" panose="020E0502030303020204" pitchFamily="34" charset="0"/>
            </a:endParaRPr>
          </a:p>
        </p:txBody>
      </p:sp>
      <p:sp>
        <p:nvSpPr>
          <p:cNvPr id="25" name="Text 23"/>
          <p:cNvSpPr/>
          <p:nvPr/>
        </p:nvSpPr>
        <p:spPr>
          <a:xfrm>
            <a:off x="1389525" y="4379728"/>
            <a:ext cx="274249" cy="557639"/>
          </a:xfrm>
          <a:prstGeom prst="rect">
            <a:avLst/>
          </a:prstGeom>
          <a:noFill/>
          <a:ln/>
        </p:spPr>
        <p:txBody>
          <a:bodyPr wrap="square" lIns="0" tIns="0" rIns="0" bIns="0" rtlCol="0" anchor="ctr"/>
          <a:lstStyle/>
          <a:p>
            <a:pPr algn="ctr"/>
            <a:r>
              <a:rPr lang="en-US" sz="1100" dirty="0">
                <a:solidFill>
                  <a:srgbClr val="3A6B52"/>
                </a:solidFill>
                <a:latin typeface="Candara" panose="020E0502030303020204" pitchFamily="34" charset="0"/>
              </a:rPr>
              <a:t>↓</a:t>
            </a:r>
            <a:endParaRPr lang="en-US" sz="1100" dirty="0">
              <a:latin typeface="Candara" panose="020E0502030303020204" pitchFamily="34" charset="0"/>
            </a:endParaRPr>
          </a:p>
        </p:txBody>
      </p:sp>
      <p:sp>
        <p:nvSpPr>
          <p:cNvPr id="26" name="Shape 24"/>
          <p:cNvSpPr/>
          <p:nvPr/>
        </p:nvSpPr>
        <p:spPr>
          <a:xfrm>
            <a:off x="228540" y="3639257"/>
            <a:ext cx="2651069" cy="767896"/>
          </a:xfrm>
          <a:prstGeom prst="roundRect">
            <a:avLst>
              <a:gd name="adj" fmla="val 8333"/>
            </a:avLst>
          </a:prstGeom>
          <a:solidFill>
            <a:srgbClr val="000000">
              <a:alpha val="15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27" name="Shape 25"/>
          <p:cNvSpPr/>
          <p:nvPr/>
        </p:nvSpPr>
        <p:spPr>
          <a:xfrm>
            <a:off x="201115" y="3611832"/>
            <a:ext cx="2651069" cy="767896"/>
          </a:xfrm>
          <a:prstGeom prst="roundRect">
            <a:avLst>
              <a:gd name="adj" fmla="val 8333"/>
            </a:avLst>
          </a:prstGeom>
          <a:solidFill>
            <a:srgbClr val="091A0F"/>
          </a:solidFill>
          <a:ln w="9525">
            <a:solidFill>
              <a:srgbClr val="1C3D28"/>
            </a:solidFill>
            <a:prstDash val="solid"/>
          </a:ln>
        </p:spPr>
        <p:txBody>
          <a:bodyPr/>
          <a:lstStyle/>
          <a:p>
            <a:endParaRPr lang="en-US" sz="1100">
              <a:latin typeface="Candara" panose="020E0502030303020204" pitchFamily="34" charset="0"/>
            </a:endParaRPr>
          </a:p>
        </p:txBody>
      </p:sp>
      <p:sp>
        <p:nvSpPr>
          <p:cNvPr id="29" name="Shape 27"/>
          <p:cNvSpPr/>
          <p:nvPr/>
        </p:nvSpPr>
        <p:spPr>
          <a:xfrm>
            <a:off x="319956" y="3748956"/>
            <a:ext cx="274249" cy="274249"/>
          </a:xfrm>
          <a:prstGeom prst="ellipse">
            <a:avLst/>
          </a:prstGeom>
          <a:solidFill>
            <a:srgbClr val="0D2B1D"/>
          </a:solidFill>
          <a:ln w="9525">
            <a:solidFill>
              <a:srgbClr val="3ECF80"/>
            </a:solidFill>
            <a:prstDash val="solid"/>
          </a:ln>
        </p:spPr>
        <p:txBody>
          <a:bodyPr/>
          <a:lstStyle/>
          <a:p>
            <a:endParaRPr lang="en-US" sz="1100">
              <a:latin typeface="Candara" panose="020E0502030303020204" pitchFamily="34" charset="0"/>
            </a:endParaRPr>
          </a:p>
        </p:txBody>
      </p:sp>
      <p:sp>
        <p:nvSpPr>
          <p:cNvPr id="30" name="Text 28"/>
          <p:cNvSpPr/>
          <p:nvPr/>
        </p:nvSpPr>
        <p:spPr>
          <a:xfrm>
            <a:off x="319956" y="3748956"/>
            <a:ext cx="274249" cy="274249"/>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3</a:t>
            </a:r>
            <a:endParaRPr lang="en-US" sz="1100" dirty="0">
              <a:latin typeface="Candara" panose="020E0502030303020204" pitchFamily="34" charset="0"/>
            </a:endParaRPr>
          </a:p>
        </p:txBody>
      </p:sp>
      <p:sp>
        <p:nvSpPr>
          <p:cNvPr id="31" name="Text 29"/>
          <p:cNvSpPr/>
          <p:nvPr/>
        </p:nvSpPr>
        <p:spPr>
          <a:xfrm>
            <a:off x="676479" y="3703249"/>
            <a:ext cx="2102572" cy="310815"/>
          </a:xfrm>
          <a:prstGeom prst="rect">
            <a:avLst/>
          </a:prstGeom>
          <a:noFill/>
          <a:ln/>
        </p:spPr>
        <p:txBody>
          <a:bodyPr wrap="square" lIns="0" tIns="0" rIns="0" bIns="0" rtlCol="0" anchor="ctr"/>
          <a:lstStyle/>
          <a:p>
            <a:r>
              <a:rPr lang="en-US" sz="1100" b="1" dirty="0">
                <a:solidFill>
                  <a:srgbClr val="FFFFFF"/>
                </a:solidFill>
                <a:latin typeface="Candara" panose="020E0502030303020204" pitchFamily="34" charset="0"/>
                <a:ea typeface="Calibri" pitchFamily="34" charset="-122"/>
                <a:cs typeface="Calibri" pitchFamily="34" charset="-120"/>
              </a:rPr>
              <a:t>Data Access Layer</a:t>
            </a:r>
            <a:endParaRPr lang="en-US" sz="1100" dirty="0">
              <a:latin typeface="Candara" panose="020E0502030303020204" pitchFamily="34" charset="0"/>
            </a:endParaRPr>
          </a:p>
        </p:txBody>
      </p:sp>
      <p:sp>
        <p:nvSpPr>
          <p:cNvPr id="32" name="Text 30"/>
          <p:cNvSpPr/>
          <p:nvPr/>
        </p:nvSpPr>
        <p:spPr>
          <a:xfrm>
            <a:off x="676479" y="4014064"/>
            <a:ext cx="2102572" cy="255965"/>
          </a:xfrm>
          <a:prstGeom prst="rect">
            <a:avLst/>
          </a:prstGeom>
          <a:noFill/>
          <a:ln/>
        </p:spPr>
        <p:txBody>
          <a:bodyPr wrap="square" lIns="0" tIns="0" rIns="0" bIns="0" rtlCol="0" anchor="ctr"/>
          <a:lstStyle/>
          <a:p>
            <a:r>
              <a:rPr lang="en-US" sz="1100" dirty="0">
                <a:solidFill>
                  <a:srgbClr val="7AB896"/>
                </a:solidFill>
                <a:latin typeface="Candara" panose="020E0502030303020204" pitchFamily="34" charset="0"/>
                <a:ea typeface="Calibri" pitchFamily="34" charset="-122"/>
                <a:cs typeface="Calibri" pitchFamily="34" charset="-120"/>
              </a:rPr>
              <a:t>EF Core  ·  Repository Pattern</a:t>
            </a:r>
            <a:endParaRPr lang="en-US" sz="1100" dirty="0">
              <a:latin typeface="Candara" panose="020E0502030303020204" pitchFamily="34" charset="0"/>
            </a:endParaRPr>
          </a:p>
        </p:txBody>
      </p:sp>
      <p:sp>
        <p:nvSpPr>
          <p:cNvPr id="33" name="Shape 31"/>
          <p:cNvSpPr/>
          <p:nvPr/>
        </p:nvSpPr>
        <p:spPr>
          <a:xfrm>
            <a:off x="228540" y="4964792"/>
            <a:ext cx="2651069" cy="767896"/>
          </a:xfrm>
          <a:prstGeom prst="roundRect">
            <a:avLst>
              <a:gd name="adj" fmla="val 8333"/>
            </a:avLst>
          </a:prstGeom>
          <a:solidFill>
            <a:srgbClr val="000000">
              <a:alpha val="15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34" name="Shape 32"/>
          <p:cNvSpPr/>
          <p:nvPr/>
        </p:nvSpPr>
        <p:spPr>
          <a:xfrm>
            <a:off x="201115" y="4937367"/>
            <a:ext cx="2651069" cy="767896"/>
          </a:xfrm>
          <a:prstGeom prst="roundRect">
            <a:avLst>
              <a:gd name="adj" fmla="val 8333"/>
            </a:avLst>
          </a:prstGeom>
          <a:solidFill>
            <a:srgbClr val="091A0F"/>
          </a:solidFill>
          <a:ln w="9525">
            <a:solidFill>
              <a:srgbClr val="1C3D28"/>
            </a:solidFill>
            <a:prstDash val="solid"/>
          </a:ln>
        </p:spPr>
        <p:txBody>
          <a:bodyPr/>
          <a:lstStyle/>
          <a:p>
            <a:endParaRPr lang="en-US" sz="1100">
              <a:latin typeface="Candara" panose="020E0502030303020204" pitchFamily="34" charset="0"/>
            </a:endParaRPr>
          </a:p>
        </p:txBody>
      </p:sp>
      <p:sp>
        <p:nvSpPr>
          <p:cNvPr id="36" name="Shape 34"/>
          <p:cNvSpPr/>
          <p:nvPr/>
        </p:nvSpPr>
        <p:spPr>
          <a:xfrm>
            <a:off x="319956" y="5074491"/>
            <a:ext cx="274249" cy="274249"/>
          </a:xfrm>
          <a:prstGeom prst="ellipse">
            <a:avLst/>
          </a:prstGeom>
          <a:solidFill>
            <a:srgbClr val="0D2B1D"/>
          </a:solidFill>
          <a:ln w="9525">
            <a:solidFill>
              <a:srgbClr val="3ECF80"/>
            </a:solidFill>
            <a:prstDash val="solid"/>
          </a:ln>
        </p:spPr>
        <p:txBody>
          <a:bodyPr/>
          <a:lstStyle/>
          <a:p>
            <a:endParaRPr lang="en-US" sz="1100">
              <a:latin typeface="Candara" panose="020E0502030303020204" pitchFamily="34" charset="0"/>
            </a:endParaRPr>
          </a:p>
        </p:txBody>
      </p:sp>
      <p:sp>
        <p:nvSpPr>
          <p:cNvPr id="37" name="Text 35"/>
          <p:cNvSpPr/>
          <p:nvPr/>
        </p:nvSpPr>
        <p:spPr>
          <a:xfrm>
            <a:off x="319956" y="5074491"/>
            <a:ext cx="274249" cy="274249"/>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4</a:t>
            </a:r>
            <a:endParaRPr lang="en-US" sz="1100" dirty="0">
              <a:latin typeface="Candara" panose="020E0502030303020204" pitchFamily="34" charset="0"/>
            </a:endParaRPr>
          </a:p>
        </p:txBody>
      </p:sp>
      <p:sp>
        <p:nvSpPr>
          <p:cNvPr id="38" name="Text 36"/>
          <p:cNvSpPr/>
          <p:nvPr/>
        </p:nvSpPr>
        <p:spPr>
          <a:xfrm>
            <a:off x="676479" y="5028783"/>
            <a:ext cx="2102572" cy="310815"/>
          </a:xfrm>
          <a:prstGeom prst="rect">
            <a:avLst/>
          </a:prstGeom>
          <a:noFill/>
          <a:ln/>
        </p:spPr>
        <p:txBody>
          <a:bodyPr wrap="square" lIns="0" tIns="0" rIns="0" bIns="0" rtlCol="0" anchor="ctr"/>
          <a:lstStyle/>
          <a:p>
            <a:r>
              <a:rPr lang="en-US" sz="1100" b="1" dirty="0">
                <a:solidFill>
                  <a:srgbClr val="FFFFFF"/>
                </a:solidFill>
                <a:latin typeface="Candara" panose="020E0502030303020204" pitchFamily="34" charset="0"/>
                <a:ea typeface="Calibri" pitchFamily="34" charset="-122"/>
                <a:cs typeface="Calibri" pitchFamily="34" charset="-120"/>
              </a:rPr>
              <a:t>Database Layer</a:t>
            </a:r>
            <a:endParaRPr lang="en-US" sz="1100" dirty="0">
              <a:latin typeface="Candara" panose="020E0502030303020204" pitchFamily="34" charset="0"/>
            </a:endParaRPr>
          </a:p>
        </p:txBody>
      </p:sp>
      <p:sp>
        <p:nvSpPr>
          <p:cNvPr id="39" name="Text 37"/>
          <p:cNvSpPr/>
          <p:nvPr/>
        </p:nvSpPr>
        <p:spPr>
          <a:xfrm>
            <a:off x="676479" y="5339598"/>
            <a:ext cx="2102572" cy="255965"/>
          </a:xfrm>
          <a:prstGeom prst="rect">
            <a:avLst/>
          </a:prstGeom>
          <a:noFill/>
          <a:ln/>
        </p:spPr>
        <p:txBody>
          <a:bodyPr wrap="square" lIns="0" tIns="0" rIns="0" bIns="0" rtlCol="0" anchor="ctr"/>
          <a:lstStyle/>
          <a:p>
            <a:r>
              <a:rPr lang="en-US" sz="1100" dirty="0">
                <a:solidFill>
                  <a:srgbClr val="7AB896"/>
                </a:solidFill>
                <a:latin typeface="Candara" panose="020E0502030303020204" pitchFamily="34" charset="0"/>
                <a:ea typeface="Calibri" pitchFamily="34" charset="-122"/>
                <a:cs typeface="Calibri" pitchFamily="34" charset="-120"/>
              </a:rPr>
              <a:t>SQL Server  ·  IoTMonitoringDB</a:t>
            </a:r>
            <a:endParaRPr lang="en-US" sz="1100" dirty="0">
              <a:latin typeface="Candara" panose="020E0502030303020204" pitchFamily="34" charset="0"/>
            </a:endParaRPr>
          </a:p>
        </p:txBody>
      </p:sp>
      <p:sp>
        <p:nvSpPr>
          <p:cNvPr id="41" name="Shape 39"/>
          <p:cNvSpPr/>
          <p:nvPr/>
        </p:nvSpPr>
        <p:spPr>
          <a:xfrm>
            <a:off x="3204137" y="937910"/>
            <a:ext cx="4296561" cy="1153672"/>
          </a:xfrm>
          <a:prstGeom prst="roundRect">
            <a:avLst>
              <a:gd name="adj" fmla="val 5547"/>
            </a:avLst>
          </a:prstGeom>
          <a:solidFill>
            <a:srgbClr val="000000">
              <a:alpha val="12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42" name="Shape 40"/>
          <p:cNvSpPr/>
          <p:nvPr/>
        </p:nvSpPr>
        <p:spPr>
          <a:xfrm>
            <a:off x="3181283" y="915056"/>
            <a:ext cx="4296561" cy="1153672"/>
          </a:xfrm>
          <a:prstGeom prst="roundRect">
            <a:avLst>
              <a:gd name="adj" fmla="val 5547"/>
            </a:avLst>
          </a:prstGeom>
          <a:solidFill>
            <a:srgbClr val="091A0F"/>
          </a:solidFill>
          <a:ln w="9525">
            <a:solidFill>
              <a:srgbClr val="1C3D28"/>
            </a:solidFill>
            <a:prstDash val="solid"/>
          </a:ln>
        </p:spPr>
        <p:txBody>
          <a:bodyPr/>
          <a:lstStyle/>
          <a:p>
            <a:endParaRPr lang="en-US" sz="1100">
              <a:latin typeface="Candara" panose="020E0502030303020204" pitchFamily="34" charset="0"/>
            </a:endParaRPr>
          </a:p>
        </p:txBody>
      </p:sp>
      <p:sp>
        <p:nvSpPr>
          <p:cNvPr id="43" name="Shape 41"/>
          <p:cNvSpPr/>
          <p:nvPr/>
        </p:nvSpPr>
        <p:spPr>
          <a:xfrm>
            <a:off x="3181283" y="915055"/>
            <a:ext cx="4296561" cy="237682"/>
          </a:xfrm>
          <a:prstGeom prst="roundRect">
            <a:avLst>
              <a:gd name="adj" fmla="val 26923"/>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44" name="Shape 42"/>
          <p:cNvSpPr/>
          <p:nvPr/>
        </p:nvSpPr>
        <p:spPr>
          <a:xfrm>
            <a:off x="3181283" y="1097887"/>
            <a:ext cx="4296561" cy="54850"/>
          </a:xfrm>
          <a:prstGeom prst="rect">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45" name="Text 43"/>
          <p:cNvSpPr/>
          <p:nvPr/>
        </p:nvSpPr>
        <p:spPr>
          <a:xfrm>
            <a:off x="3272699" y="915055"/>
            <a:ext cx="4150295"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Device APIs</a:t>
            </a:r>
            <a:endParaRPr lang="en-US" sz="1100" dirty="0">
              <a:latin typeface="Candara" panose="020E0502030303020204" pitchFamily="34" charset="0"/>
            </a:endParaRPr>
          </a:p>
        </p:txBody>
      </p:sp>
      <p:sp>
        <p:nvSpPr>
          <p:cNvPr id="46" name="Shape 44"/>
          <p:cNvSpPr/>
          <p:nvPr/>
        </p:nvSpPr>
        <p:spPr>
          <a:xfrm>
            <a:off x="3236133" y="1152737"/>
            <a:ext cx="4186861" cy="0"/>
          </a:xfrm>
          <a:prstGeom prst="line">
            <a:avLst/>
          </a:prstGeom>
          <a:noFill/>
          <a:ln w="6350">
            <a:solidFill>
              <a:srgbClr val="1C3D28"/>
            </a:solidFill>
            <a:prstDash val="solid"/>
          </a:ln>
        </p:spPr>
        <p:txBody>
          <a:bodyPr/>
          <a:lstStyle/>
          <a:p>
            <a:endParaRPr lang="en-US" sz="1100">
              <a:latin typeface="Candara" panose="020E0502030303020204" pitchFamily="34" charset="0"/>
            </a:endParaRPr>
          </a:p>
        </p:txBody>
      </p:sp>
      <p:sp>
        <p:nvSpPr>
          <p:cNvPr id="47" name="Shape 45"/>
          <p:cNvSpPr/>
          <p:nvPr/>
        </p:nvSpPr>
        <p:spPr>
          <a:xfrm>
            <a:off x="3254416" y="1189304"/>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48" name="Text 46"/>
          <p:cNvSpPr/>
          <p:nvPr/>
        </p:nvSpPr>
        <p:spPr>
          <a:xfrm>
            <a:off x="3254416" y="1189304"/>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49" name="Text 47"/>
          <p:cNvSpPr/>
          <p:nvPr/>
        </p:nvSpPr>
        <p:spPr>
          <a:xfrm>
            <a:off x="3876046" y="1171021"/>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/devices</a:t>
            </a:r>
            <a:endParaRPr lang="en-US" sz="1100" dirty="0">
              <a:latin typeface="Candara" panose="020E0502030303020204" pitchFamily="34" charset="0"/>
            </a:endParaRPr>
          </a:p>
        </p:txBody>
      </p:sp>
      <p:sp>
        <p:nvSpPr>
          <p:cNvPr id="50" name="Shape 48"/>
          <p:cNvSpPr/>
          <p:nvPr/>
        </p:nvSpPr>
        <p:spPr>
          <a:xfrm>
            <a:off x="3217849" y="1309973"/>
            <a:ext cx="4223428"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51" name="Shape 49"/>
          <p:cNvSpPr/>
          <p:nvPr/>
        </p:nvSpPr>
        <p:spPr>
          <a:xfrm>
            <a:off x="3254416" y="1328257"/>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52" name="Text 50"/>
          <p:cNvSpPr/>
          <p:nvPr/>
        </p:nvSpPr>
        <p:spPr>
          <a:xfrm>
            <a:off x="3254416" y="1328257"/>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53" name="Text 51"/>
          <p:cNvSpPr/>
          <p:nvPr/>
        </p:nvSpPr>
        <p:spPr>
          <a:xfrm>
            <a:off x="3876046" y="1309973"/>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/devices/{id}</a:t>
            </a:r>
            <a:endParaRPr lang="en-US" sz="1100" dirty="0">
              <a:latin typeface="Candara" panose="020E0502030303020204" pitchFamily="34" charset="0"/>
            </a:endParaRPr>
          </a:p>
        </p:txBody>
      </p:sp>
      <p:sp>
        <p:nvSpPr>
          <p:cNvPr id="54" name="Shape 52"/>
          <p:cNvSpPr/>
          <p:nvPr/>
        </p:nvSpPr>
        <p:spPr>
          <a:xfrm>
            <a:off x="3254416" y="1467210"/>
            <a:ext cx="585064" cy="102386"/>
          </a:xfrm>
          <a:prstGeom prst="roundRect">
            <a:avLst>
              <a:gd name="adj" fmla="val 26786"/>
            </a:avLst>
          </a:prstGeom>
          <a:solidFill>
            <a:srgbClr val="091C26"/>
          </a:solidFill>
          <a:ln w="3810">
            <a:solidFill>
              <a:srgbClr val="7EC8E3">
                <a:alpha val="45000"/>
              </a:srgbClr>
            </a:solidFill>
            <a:prstDash val="solid"/>
          </a:ln>
        </p:spPr>
        <p:txBody>
          <a:bodyPr/>
          <a:lstStyle/>
          <a:p>
            <a:endParaRPr lang="en-US" sz="1100">
              <a:latin typeface="Candara" panose="020E0502030303020204" pitchFamily="34" charset="0"/>
            </a:endParaRPr>
          </a:p>
        </p:txBody>
      </p:sp>
      <p:sp>
        <p:nvSpPr>
          <p:cNvPr id="55" name="Text 53"/>
          <p:cNvSpPr/>
          <p:nvPr/>
        </p:nvSpPr>
        <p:spPr>
          <a:xfrm>
            <a:off x="3254416" y="1467210"/>
            <a:ext cx="585064" cy="102386"/>
          </a:xfrm>
          <a:prstGeom prst="rect">
            <a:avLst/>
          </a:prstGeom>
          <a:noFill/>
          <a:ln/>
        </p:spPr>
        <p:txBody>
          <a:bodyPr wrap="square" lIns="0" tIns="0" rIns="0" bIns="0" rtlCol="0" anchor="ctr"/>
          <a:lstStyle/>
          <a:p>
            <a:pPr algn="ctr"/>
            <a:r>
              <a:rPr lang="en-US" sz="1100" b="1" dirty="0">
                <a:solidFill>
                  <a:srgbClr val="7EC8E3"/>
                </a:solidFill>
                <a:latin typeface="Candara" panose="020E0502030303020204" pitchFamily="34" charset="0"/>
                <a:ea typeface="Calibri" pitchFamily="34" charset="-122"/>
                <a:cs typeface="Calibri" pitchFamily="34" charset="-120"/>
              </a:rPr>
              <a:t>POST</a:t>
            </a:r>
            <a:endParaRPr lang="en-US" sz="1100" dirty="0">
              <a:latin typeface="Candara" panose="020E0502030303020204" pitchFamily="34" charset="0"/>
            </a:endParaRPr>
          </a:p>
        </p:txBody>
      </p:sp>
      <p:sp>
        <p:nvSpPr>
          <p:cNvPr id="56" name="Text 54"/>
          <p:cNvSpPr/>
          <p:nvPr/>
        </p:nvSpPr>
        <p:spPr>
          <a:xfrm>
            <a:off x="3876046" y="1448926"/>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/devices</a:t>
            </a:r>
            <a:endParaRPr lang="en-US" sz="1100" dirty="0">
              <a:latin typeface="Candara" panose="020E0502030303020204" pitchFamily="34" charset="0"/>
            </a:endParaRPr>
          </a:p>
        </p:txBody>
      </p:sp>
      <p:sp>
        <p:nvSpPr>
          <p:cNvPr id="57" name="Shape 55"/>
          <p:cNvSpPr/>
          <p:nvPr/>
        </p:nvSpPr>
        <p:spPr>
          <a:xfrm>
            <a:off x="3217849" y="1587878"/>
            <a:ext cx="4223428"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58" name="Shape 56"/>
          <p:cNvSpPr/>
          <p:nvPr/>
        </p:nvSpPr>
        <p:spPr>
          <a:xfrm>
            <a:off x="3254416" y="1606161"/>
            <a:ext cx="585064" cy="102386"/>
          </a:xfrm>
          <a:prstGeom prst="roundRect">
            <a:avLst>
              <a:gd name="adj" fmla="val 26786"/>
            </a:avLst>
          </a:prstGeom>
          <a:solidFill>
            <a:srgbClr val="201608"/>
          </a:solidFill>
          <a:ln w="3810">
            <a:solidFill>
              <a:srgbClr val="E8B87A">
                <a:alpha val="45000"/>
              </a:srgbClr>
            </a:solidFill>
            <a:prstDash val="solid"/>
          </a:ln>
        </p:spPr>
        <p:txBody>
          <a:bodyPr/>
          <a:lstStyle/>
          <a:p>
            <a:endParaRPr lang="en-US" sz="1100">
              <a:latin typeface="Candara" panose="020E0502030303020204" pitchFamily="34" charset="0"/>
            </a:endParaRPr>
          </a:p>
        </p:txBody>
      </p:sp>
      <p:sp>
        <p:nvSpPr>
          <p:cNvPr id="59" name="Text 57"/>
          <p:cNvSpPr/>
          <p:nvPr/>
        </p:nvSpPr>
        <p:spPr>
          <a:xfrm>
            <a:off x="3254416" y="1606161"/>
            <a:ext cx="585064" cy="102386"/>
          </a:xfrm>
          <a:prstGeom prst="rect">
            <a:avLst/>
          </a:prstGeom>
          <a:noFill/>
          <a:ln/>
        </p:spPr>
        <p:txBody>
          <a:bodyPr wrap="square" lIns="0" tIns="0" rIns="0" bIns="0" rtlCol="0" anchor="ctr"/>
          <a:lstStyle/>
          <a:p>
            <a:pPr algn="ctr"/>
            <a:r>
              <a:rPr lang="en-US" sz="1100" b="1" dirty="0">
                <a:solidFill>
                  <a:srgbClr val="E8B87A"/>
                </a:solidFill>
                <a:latin typeface="Candara" panose="020E0502030303020204" pitchFamily="34" charset="0"/>
                <a:ea typeface="Calibri" pitchFamily="34" charset="-122"/>
                <a:cs typeface="Calibri" pitchFamily="34" charset="-120"/>
              </a:rPr>
              <a:t>PUT</a:t>
            </a:r>
            <a:endParaRPr lang="en-US" sz="1100" dirty="0">
              <a:latin typeface="Candara" panose="020E0502030303020204" pitchFamily="34" charset="0"/>
            </a:endParaRPr>
          </a:p>
        </p:txBody>
      </p:sp>
      <p:sp>
        <p:nvSpPr>
          <p:cNvPr id="60" name="Text 58"/>
          <p:cNvSpPr/>
          <p:nvPr/>
        </p:nvSpPr>
        <p:spPr>
          <a:xfrm>
            <a:off x="3876046" y="1587878"/>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/devices/{id}</a:t>
            </a:r>
            <a:endParaRPr lang="en-US" sz="1100" dirty="0">
              <a:latin typeface="Candara" panose="020E0502030303020204" pitchFamily="34" charset="0"/>
            </a:endParaRPr>
          </a:p>
        </p:txBody>
      </p:sp>
      <p:sp>
        <p:nvSpPr>
          <p:cNvPr id="61" name="Shape 59"/>
          <p:cNvSpPr/>
          <p:nvPr/>
        </p:nvSpPr>
        <p:spPr>
          <a:xfrm>
            <a:off x="3254416" y="1745114"/>
            <a:ext cx="585064" cy="102386"/>
          </a:xfrm>
          <a:prstGeom prst="roundRect">
            <a:avLst>
              <a:gd name="adj" fmla="val 26786"/>
            </a:avLst>
          </a:prstGeom>
          <a:solidFill>
            <a:srgbClr val="200A0A"/>
          </a:solidFill>
          <a:ln w="3810">
            <a:solidFill>
              <a:srgbClr val="E07070">
                <a:alpha val="45000"/>
              </a:srgbClr>
            </a:solidFill>
            <a:prstDash val="solid"/>
          </a:ln>
        </p:spPr>
        <p:txBody>
          <a:bodyPr/>
          <a:lstStyle/>
          <a:p>
            <a:endParaRPr lang="en-US" sz="1100">
              <a:latin typeface="Candara" panose="020E0502030303020204" pitchFamily="34" charset="0"/>
            </a:endParaRPr>
          </a:p>
        </p:txBody>
      </p:sp>
      <p:sp>
        <p:nvSpPr>
          <p:cNvPr id="62" name="Text 60"/>
          <p:cNvSpPr/>
          <p:nvPr/>
        </p:nvSpPr>
        <p:spPr>
          <a:xfrm>
            <a:off x="3254416" y="1745114"/>
            <a:ext cx="585064" cy="102386"/>
          </a:xfrm>
          <a:prstGeom prst="rect">
            <a:avLst/>
          </a:prstGeom>
          <a:noFill/>
          <a:ln/>
        </p:spPr>
        <p:txBody>
          <a:bodyPr wrap="square" lIns="0" tIns="0" rIns="0" bIns="0" rtlCol="0" anchor="ctr"/>
          <a:lstStyle/>
          <a:p>
            <a:pPr algn="ctr"/>
            <a:r>
              <a:rPr lang="en-US" sz="1100" b="1" dirty="0">
                <a:solidFill>
                  <a:srgbClr val="E07070"/>
                </a:solidFill>
                <a:latin typeface="Candara" panose="020E0502030303020204" pitchFamily="34" charset="0"/>
                <a:ea typeface="Calibri" pitchFamily="34" charset="-122"/>
                <a:cs typeface="Calibri" pitchFamily="34" charset="-120"/>
              </a:rPr>
              <a:t>DELETE</a:t>
            </a:r>
            <a:endParaRPr lang="en-US" sz="1100" dirty="0">
              <a:latin typeface="Candara" panose="020E0502030303020204" pitchFamily="34" charset="0"/>
            </a:endParaRPr>
          </a:p>
        </p:txBody>
      </p:sp>
      <p:sp>
        <p:nvSpPr>
          <p:cNvPr id="63" name="Text 61"/>
          <p:cNvSpPr/>
          <p:nvPr/>
        </p:nvSpPr>
        <p:spPr>
          <a:xfrm>
            <a:off x="3876046" y="1726831"/>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/devices/{id}</a:t>
            </a:r>
            <a:endParaRPr lang="en-US" sz="1100" dirty="0">
              <a:latin typeface="Candara" panose="020E0502030303020204" pitchFamily="34" charset="0"/>
            </a:endParaRPr>
          </a:p>
        </p:txBody>
      </p:sp>
      <p:sp>
        <p:nvSpPr>
          <p:cNvPr id="64" name="Shape 62"/>
          <p:cNvSpPr/>
          <p:nvPr/>
        </p:nvSpPr>
        <p:spPr>
          <a:xfrm>
            <a:off x="3217849" y="1865784"/>
            <a:ext cx="4223428"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65" name="Shape 63"/>
          <p:cNvSpPr/>
          <p:nvPr/>
        </p:nvSpPr>
        <p:spPr>
          <a:xfrm>
            <a:off x="3254416" y="1884067"/>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66" name="Text 64"/>
          <p:cNvSpPr/>
          <p:nvPr/>
        </p:nvSpPr>
        <p:spPr>
          <a:xfrm>
            <a:off x="3254416" y="1884067"/>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67" name="Text 65"/>
          <p:cNvSpPr/>
          <p:nvPr/>
        </p:nvSpPr>
        <p:spPr>
          <a:xfrm>
            <a:off x="3876046" y="1865784"/>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/devices/{id}/status</a:t>
            </a:r>
            <a:endParaRPr lang="en-US" sz="1100" dirty="0">
              <a:latin typeface="Candara" panose="020E0502030303020204" pitchFamily="34" charset="0"/>
            </a:endParaRPr>
          </a:p>
        </p:txBody>
      </p:sp>
      <p:sp>
        <p:nvSpPr>
          <p:cNvPr id="68" name="Shape 66"/>
          <p:cNvSpPr/>
          <p:nvPr/>
        </p:nvSpPr>
        <p:spPr>
          <a:xfrm>
            <a:off x="3204137" y="2192139"/>
            <a:ext cx="4296561" cy="1014720"/>
          </a:xfrm>
          <a:prstGeom prst="roundRect">
            <a:avLst>
              <a:gd name="adj" fmla="val 6306"/>
            </a:avLst>
          </a:prstGeom>
          <a:solidFill>
            <a:srgbClr val="000000">
              <a:alpha val="12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69" name="Shape 67"/>
          <p:cNvSpPr/>
          <p:nvPr/>
        </p:nvSpPr>
        <p:spPr>
          <a:xfrm>
            <a:off x="3181283" y="2169285"/>
            <a:ext cx="4296561" cy="1014720"/>
          </a:xfrm>
          <a:prstGeom prst="roundRect">
            <a:avLst>
              <a:gd name="adj" fmla="val 6306"/>
            </a:avLst>
          </a:prstGeom>
          <a:solidFill>
            <a:srgbClr val="091A0F"/>
          </a:solidFill>
          <a:ln w="9525">
            <a:solidFill>
              <a:srgbClr val="1C3D28"/>
            </a:solidFill>
            <a:prstDash val="solid"/>
          </a:ln>
        </p:spPr>
        <p:txBody>
          <a:bodyPr/>
          <a:lstStyle/>
          <a:p>
            <a:endParaRPr lang="en-US" sz="1100">
              <a:latin typeface="Candara" panose="020E0502030303020204" pitchFamily="34" charset="0"/>
            </a:endParaRPr>
          </a:p>
        </p:txBody>
      </p:sp>
      <p:sp>
        <p:nvSpPr>
          <p:cNvPr id="70" name="Shape 68"/>
          <p:cNvSpPr/>
          <p:nvPr/>
        </p:nvSpPr>
        <p:spPr>
          <a:xfrm>
            <a:off x="3181283" y="2169285"/>
            <a:ext cx="4296561" cy="237682"/>
          </a:xfrm>
          <a:prstGeom prst="roundRect">
            <a:avLst>
              <a:gd name="adj" fmla="val 26923"/>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71" name="Shape 69"/>
          <p:cNvSpPr/>
          <p:nvPr/>
        </p:nvSpPr>
        <p:spPr>
          <a:xfrm>
            <a:off x="3181283" y="2352117"/>
            <a:ext cx="4296561" cy="54850"/>
          </a:xfrm>
          <a:prstGeom prst="rect">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72" name="Text 70"/>
          <p:cNvSpPr/>
          <p:nvPr/>
        </p:nvSpPr>
        <p:spPr>
          <a:xfrm>
            <a:off x="3272699" y="2169285"/>
            <a:ext cx="4150295"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Sensor APIs</a:t>
            </a:r>
            <a:endParaRPr lang="en-US" sz="1100" dirty="0">
              <a:latin typeface="Candara" panose="020E0502030303020204" pitchFamily="34" charset="0"/>
            </a:endParaRPr>
          </a:p>
        </p:txBody>
      </p:sp>
      <p:sp>
        <p:nvSpPr>
          <p:cNvPr id="73" name="Shape 71"/>
          <p:cNvSpPr/>
          <p:nvPr/>
        </p:nvSpPr>
        <p:spPr>
          <a:xfrm>
            <a:off x="3236133" y="2406967"/>
            <a:ext cx="4186861" cy="0"/>
          </a:xfrm>
          <a:prstGeom prst="line">
            <a:avLst/>
          </a:prstGeom>
          <a:noFill/>
          <a:ln w="6350">
            <a:solidFill>
              <a:srgbClr val="1C3D28"/>
            </a:solidFill>
            <a:prstDash val="solid"/>
          </a:ln>
        </p:spPr>
        <p:txBody>
          <a:bodyPr/>
          <a:lstStyle/>
          <a:p>
            <a:endParaRPr lang="en-US" sz="1100">
              <a:latin typeface="Candara" panose="020E0502030303020204" pitchFamily="34" charset="0"/>
            </a:endParaRPr>
          </a:p>
        </p:txBody>
      </p:sp>
      <p:sp>
        <p:nvSpPr>
          <p:cNvPr id="74" name="Shape 72"/>
          <p:cNvSpPr/>
          <p:nvPr/>
        </p:nvSpPr>
        <p:spPr>
          <a:xfrm>
            <a:off x="3254416" y="2443534"/>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75" name="Text 73"/>
          <p:cNvSpPr/>
          <p:nvPr/>
        </p:nvSpPr>
        <p:spPr>
          <a:xfrm>
            <a:off x="3254416" y="2443534"/>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76" name="Text 74"/>
          <p:cNvSpPr/>
          <p:nvPr/>
        </p:nvSpPr>
        <p:spPr>
          <a:xfrm>
            <a:off x="3876046" y="2425251"/>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/sensors/devices/{deviceId}/sensors</a:t>
            </a:r>
            <a:endParaRPr lang="en-US" sz="1100" dirty="0">
              <a:latin typeface="Candara" panose="020E0502030303020204" pitchFamily="34" charset="0"/>
            </a:endParaRPr>
          </a:p>
        </p:txBody>
      </p:sp>
      <p:sp>
        <p:nvSpPr>
          <p:cNvPr id="77" name="Shape 75"/>
          <p:cNvSpPr/>
          <p:nvPr/>
        </p:nvSpPr>
        <p:spPr>
          <a:xfrm>
            <a:off x="3217849" y="2564204"/>
            <a:ext cx="4223428"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78" name="Shape 76"/>
          <p:cNvSpPr/>
          <p:nvPr/>
        </p:nvSpPr>
        <p:spPr>
          <a:xfrm>
            <a:off x="3254416" y="2582487"/>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79" name="Text 77"/>
          <p:cNvSpPr/>
          <p:nvPr/>
        </p:nvSpPr>
        <p:spPr>
          <a:xfrm>
            <a:off x="3254416" y="2582487"/>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80" name="Text 78"/>
          <p:cNvSpPr/>
          <p:nvPr/>
        </p:nvSpPr>
        <p:spPr>
          <a:xfrm>
            <a:off x="3876046" y="2564204"/>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/sensors/{id}</a:t>
            </a:r>
            <a:endParaRPr lang="en-US" sz="1100" dirty="0">
              <a:latin typeface="Candara" panose="020E0502030303020204" pitchFamily="34" charset="0"/>
            </a:endParaRPr>
          </a:p>
        </p:txBody>
      </p:sp>
      <p:sp>
        <p:nvSpPr>
          <p:cNvPr id="81" name="Shape 79"/>
          <p:cNvSpPr/>
          <p:nvPr/>
        </p:nvSpPr>
        <p:spPr>
          <a:xfrm>
            <a:off x="3254416" y="2721439"/>
            <a:ext cx="585064" cy="102386"/>
          </a:xfrm>
          <a:prstGeom prst="roundRect">
            <a:avLst>
              <a:gd name="adj" fmla="val 26786"/>
            </a:avLst>
          </a:prstGeom>
          <a:solidFill>
            <a:srgbClr val="091C26"/>
          </a:solidFill>
          <a:ln w="3810">
            <a:solidFill>
              <a:srgbClr val="7EC8E3">
                <a:alpha val="45000"/>
              </a:srgbClr>
            </a:solidFill>
            <a:prstDash val="solid"/>
          </a:ln>
        </p:spPr>
        <p:txBody>
          <a:bodyPr/>
          <a:lstStyle/>
          <a:p>
            <a:endParaRPr lang="en-US" sz="1100">
              <a:latin typeface="Candara" panose="020E0502030303020204" pitchFamily="34" charset="0"/>
            </a:endParaRPr>
          </a:p>
        </p:txBody>
      </p:sp>
      <p:sp>
        <p:nvSpPr>
          <p:cNvPr id="82" name="Text 80"/>
          <p:cNvSpPr/>
          <p:nvPr/>
        </p:nvSpPr>
        <p:spPr>
          <a:xfrm>
            <a:off x="3254416" y="2721439"/>
            <a:ext cx="585064" cy="102386"/>
          </a:xfrm>
          <a:prstGeom prst="rect">
            <a:avLst/>
          </a:prstGeom>
          <a:noFill/>
          <a:ln/>
        </p:spPr>
        <p:txBody>
          <a:bodyPr wrap="square" lIns="0" tIns="0" rIns="0" bIns="0" rtlCol="0" anchor="ctr"/>
          <a:lstStyle/>
          <a:p>
            <a:pPr algn="ctr"/>
            <a:r>
              <a:rPr lang="en-US" sz="1100" b="1" dirty="0">
                <a:solidFill>
                  <a:srgbClr val="7EC8E3"/>
                </a:solidFill>
                <a:latin typeface="Candara" panose="020E0502030303020204" pitchFamily="34" charset="0"/>
                <a:ea typeface="Calibri" pitchFamily="34" charset="-122"/>
                <a:cs typeface="Calibri" pitchFamily="34" charset="-120"/>
              </a:rPr>
              <a:t>POST</a:t>
            </a:r>
            <a:endParaRPr lang="en-US" sz="1100" dirty="0">
              <a:latin typeface="Candara" panose="020E0502030303020204" pitchFamily="34" charset="0"/>
            </a:endParaRPr>
          </a:p>
        </p:txBody>
      </p:sp>
      <p:sp>
        <p:nvSpPr>
          <p:cNvPr id="83" name="Text 81"/>
          <p:cNvSpPr/>
          <p:nvPr/>
        </p:nvSpPr>
        <p:spPr>
          <a:xfrm>
            <a:off x="3876046" y="2703155"/>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/sensors/devices/{deviceId}/sensors</a:t>
            </a:r>
            <a:endParaRPr lang="en-US" sz="1100" dirty="0">
              <a:latin typeface="Candara" panose="020E0502030303020204" pitchFamily="34" charset="0"/>
            </a:endParaRPr>
          </a:p>
        </p:txBody>
      </p:sp>
      <p:sp>
        <p:nvSpPr>
          <p:cNvPr id="84" name="Shape 82"/>
          <p:cNvSpPr/>
          <p:nvPr/>
        </p:nvSpPr>
        <p:spPr>
          <a:xfrm>
            <a:off x="3217849" y="2842108"/>
            <a:ext cx="4223428"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85" name="Shape 83"/>
          <p:cNvSpPr/>
          <p:nvPr/>
        </p:nvSpPr>
        <p:spPr>
          <a:xfrm>
            <a:off x="3254416" y="2860392"/>
            <a:ext cx="585064" cy="102386"/>
          </a:xfrm>
          <a:prstGeom prst="roundRect">
            <a:avLst>
              <a:gd name="adj" fmla="val 26786"/>
            </a:avLst>
          </a:prstGeom>
          <a:solidFill>
            <a:srgbClr val="201608"/>
          </a:solidFill>
          <a:ln w="3810">
            <a:solidFill>
              <a:srgbClr val="E8B87A">
                <a:alpha val="45000"/>
              </a:srgbClr>
            </a:solidFill>
            <a:prstDash val="solid"/>
          </a:ln>
        </p:spPr>
        <p:txBody>
          <a:bodyPr/>
          <a:lstStyle/>
          <a:p>
            <a:endParaRPr lang="en-US" sz="1100">
              <a:latin typeface="Candara" panose="020E0502030303020204" pitchFamily="34" charset="0"/>
            </a:endParaRPr>
          </a:p>
        </p:txBody>
      </p:sp>
      <p:sp>
        <p:nvSpPr>
          <p:cNvPr id="86" name="Text 84"/>
          <p:cNvSpPr/>
          <p:nvPr/>
        </p:nvSpPr>
        <p:spPr>
          <a:xfrm>
            <a:off x="3254416" y="2860392"/>
            <a:ext cx="585064" cy="102386"/>
          </a:xfrm>
          <a:prstGeom prst="rect">
            <a:avLst/>
          </a:prstGeom>
          <a:noFill/>
          <a:ln/>
        </p:spPr>
        <p:txBody>
          <a:bodyPr wrap="square" lIns="0" tIns="0" rIns="0" bIns="0" rtlCol="0" anchor="ctr"/>
          <a:lstStyle/>
          <a:p>
            <a:pPr algn="ctr"/>
            <a:r>
              <a:rPr lang="en-US" sz="1100" b="1" dirty="0">
                <a:solidFill>
                  <a:srgbClr val="E8B87A"/>
                </a:solidFill>
                <a:latin typeface="Candara" panose="020E0502030303020204" pitchFamily="34" charset="0"/>
                <a:ea typeface="Calibri" pitchFamily="34" charset="-122"/>
                <a:cs typeface="Calibri" pitchFamily="34" charset="-120"/>
              </a:rPr>
              <a:t>PUT</a:t>
            </a:r>
            <a:endParaRPr lang="en-US" sz="1100" dirty="0">
              <a:latin typeface="Candara" panose="020E0502030303020204" pitchFamily="34" charset="0"/>
            </a:endParaRPr>
          </a:p>
        </p:txBody>
      </p:sp>
      <p:sp>
        <p:nvSpPr>
          <p:cNvPr id="87" name="Text 85"/>
          <p:cNvSpPr/>
          <p:nvPr/>
        </p:nvSpPr>
        <p:spPr>
          <a:xfrm>
            <a:off x="3876046" y="2842108"/>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/sensors/{id}</a:t>
            </a:r>
            <a:endParaRPr lang="en-US" sz="1100" dirty="0">
              <a:latin typeface="Candara" panose="020E0502030303020204" pitchFamily="34" charset="0"/>
            </a:endParaRPr>
          </a:p>
        </p:txBody>
      </p:sp>
      <p:sp>
        <p:nvSpPr>
          <p:cNvPr id="88" name="Shape 86"/>
          <p:cNvSpPr/>
          <p:nvPr/>
        </p:nvSpPr>
        <p:spPr>
          <a:xfrm>
            <a:off x="3254416" y="2999345"/>
            <a:ext cx="585064" cy="102386"/>
          </a:xfrm>
          <a:prstGeom prst="roundRect">
            <a:avLst>
              <a:gd name="adj" fmla="val 26786"/>
            </a:avLst>
          </a:prstGeom>
          <a:solidFill>
            <a:srgbClr val="200A0A"/>
          </a:solidFill>
          <a:ln w="3810">
            <a:solidFill>
              <a:srgbClr val="E07070">
                <a:alpha val="45000"/>
              </a:srgbClr>
            </a:solidFill>
            <a:prstDash val="solid"/>
          </a:ln>
        </p:spPr>
        <p:txBody>
          <a:bodyPr/>
          <a:lstStyle/>
          <a:p>
            <a:endParaRPr lang="en-US" sz="1100">
              <a:latin typeface="Candara" panose="020E0502030303020204" pitchFamily="34" charset="0"/>
            </a:endParaRPr>
          </a:p>
        </p:txBody>
      </p:sp>
      <p:sp>
        <p:nvSpPr>
          <p:cNvPr id="89" name="Text 87"/>
          <p:cNvSpPr/>
          <p:nvPr/>
        </p:nvSpPr>
        <p:spPr>
          <a:xfrm>
            <a:off x="3254416" y="2999345"/>
            <a:ext cx="585064" cy="102386"/>
          </a:xfrm>
          <a:prstGeom prst="rect">
            <a:avLst/>
          </a:prstGeom>
          <a:noFill/>
          <a:ln/>
        </p:spPr>
        <p:txBody>
          <a:bodyPr wrap="square" lIns="0" tIns="0" rIns="0" bIns="0" rtlCol="0" anchor="ctr"/>
          <a:lstStyle/>
          <a:p>
            <a:pPr algn="ctr"/>
            <a:r>
              <a:rPr lang="en-US" sz="1100" b="1" dirty="0">
                <a:solidFill>
                  <a:srgbClr val="E07070"/>
                </a:solidFill>
                <a:latin typeface="Candara" panose="020E0502030303020204" pitchFamily="34" charset="0"/>
                <a:ea typeface="Calibri" pitchFamily="34" charset="-122"/>
                <a:cs typeface="Calibri" pitchFamily="34" charset="-120"/>
              </a:rPr>
              <a:t>DELETE</a:t>
            </a:r>
            <a:endParaRPr lang="en-US" sz="1100" dirty="0">
              <a:latin typeface="Candara" panose="020E0502030303020204" pitchFamily="34" charset="0"/>
            </a:endParaRPr>
          </a:p>
        </p:txBody>
      </p:sp>
      <p:sp>
        <p:nvSpPr>
          <p:cNvPr id="90" name="Text 88"/>
          <p:cNvSpPr/>
          <p:nvPr/>
        </p:nvSpPr>
        <p:spPr>
          <a:xfrm>
            <a:off x="3876046" y="2981061"/>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/sensors/{id}</a:t>
            </a:r>
            <a:endParaRPr lang="en-US" sz="1100" dirty="0">
              <a:latin typeface="Candara" panose="020E0502030303020204" pitchFamily="34" charset="0"/>
            </a:endParaRPr>
          </a:p>
        </p:txBody>
      </p:sp>
      <p:sp>
        <p:nvSpPr>
          <p:cNvPr id="91" name="Shape 89"/>
          <p:cNvSpPr/>
          <p:nvPr/>
        </p:nvSpPr>
        <p:spPr>
          <a:xfrm>
            <a:off x="3204137" y="3307417"/>
            <a:ext cx="4296561" cy="1153672"/>
          </a:xfrm>
          <a:prstGeom prst="roundRect">
            <a:avLst>
              <a:gd name="adj" fmla="val 5547"/>
            </a:avLst>
          </a:prstGeom>
          <a:solidFill>
            <a:srgbClr val="000000">
              <a:alpha val="12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92" name="Shape 90"/>
          <p:cNvSpPr/>
          <p:nvPr/>
        </p:nvSpPr>
        <p:spPr>
          <a:xfrm>
            <a:off x="3181283" y="3284563"/>
            <a:ext cx="4296561" cy="1153672"/>
          </a:xfrm>
          <a:prstGeom prst="roundRect">
            <a:avLst>
              <a:gd name="adj" fmla="val 5547"/>
            </a:avLst>
          </a:prstGeom>
          <a:solidFill>
            <a:srgbClr val="091A0F"/>
          </a:solidFill>
          <a:ln w="9525">
            <a:solidFill>
              <a:srgbClr val="1C3D28"/>
            </a:solidFill>
            <a:prstDash val="solid"/>
          </a:ln>
        </p:spPr>
        <p:txBody>
          <a:bodyPr/>
          <a:lstStyle/>
          <a:p>
            <a:endParaRPr lang="en-US" sz="1100">
              <a:latin typeface="Candara" panose="020E0502030303020204" pitchFamily="34" charset="0"/>
            </a:endParaRPr>
          </a:p>
        </p:txBody>
      </p:sp>
      <p:sp>
        <p:nvSpPr>
          <p:cNvPr id="93" name="Shape 91"/>
          <p:cNvSpPr/>
          <p:nvPr/>
        </p:nvSpPr>
        <p:spPr>
          <a:xfrm>
            <a:off x="3181283" y="3284563"/>
            <a:ext cx="4296561" cy="237682"/>
          </a:xfrm>
          <a:prstGeom prst="roundRect">
            <a:avLst>
              <a:gd name="adj" fmla="val 26923"/>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94" name="Shape 92"/>
          <p:cNvSpPr/>
          <p:nvPr/>
        </p:nvSpPr>
        <p:spPr>
          <a:xfrm>
            <a:off x="3181283" y="3467395"/>
            <a:ext cx="4296561" cy="54850"/>
          </a:xfrm>
          <a:prstGeom prst="rect">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95" name="Text 93"/>
          <p:cNvSpPr/>
          <p:nvPr/>
        </p:nvSpPr>
        <p:spPr>
          <a:xfrm>
            <a:off x="3272699" y="3284563"/>
            <a:ext cx="4150295"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Sensor Readings  —  Core IoT</a:t>
            </a:r>
            <a:endParaRPr lang="en-US" sz="1100" dirty="0">
              <a:latin typeface="Candara" panose="020E0502030303020204" pitchFamily="34" charset="0"/>
            </a:endParaRPr>
          </a:p>
        </p:txBody>
      </p:sp>
      <p:sp>
        <p:nvSpPr>
          <p:cNvPr id="96" name="Shape 94"/>
          <p:cNvSpPr/>
          <p:nvPr/>
        </p:nvSpPr>
        <p:spPr>
          <a:xfrm>
            <a:off x="3236133" y="3522245"/>
            <a:ext cx="4186861" cy="0"/>
          </a:xfrm>
          <a:prstGeom prst="line">
            <a:avLst/>
          </a:prstGeom>
          <a:noFill/>
          <a:ln w="6350">
            <a:solidFill>
              <a:srgbClr val="1C3D28"/>
            </a:solidFill>
            <a:prstDash val="solid"/>
          </a:ln>
        </p:spPr>
        <p:txBody>
          <a:bodyPr/>
          <a:lstStyle/>
          <a:p>
            <a:endParaRPr lang="en-US" sz="1100">
              <a:latin typeface="Candara" panose="020E0502030303020204" pitchFamily="34" charset="0"/>
            </a:endParaRPr>
          </a:p>
        </p:txBody>
      </p:sp>
      <p:sp>
        <p:nvSpPr>
          <p:cNvPr id="97" name="Shape 95"/>
          <p:cNvSpPr/>
          <p:nvPr/>
        </p:nvSpPr>
        <p:spPr>
          <a:xfrm>
            <a:off x="3254416" y="3558812"/>
            <a:ext cx="585064" cy="102386"/>
          </a:xfrm>
          <a:prstGeom prst="roundRect">
            <a:avLst>
              <a:gd name="adj" fmla="val 26786"/>
            </a:avLst>
          </a:prstGeom>
          <a:solidFill>
            <a:srgbClr val="091C26"/>
          </a:solidFill>
          <a:ln w="3810">
            <a:solidFill>
              <a:srgbClr val="7EC8E3">
                <a:alpha val="45000"/>
              </a:srgbClr>
            </a:solidFill>
            <a:prstDash val="solid"/>
          </a:ln>
        </p:spPr>
        <p:txBody>
          <a:bodyPr/>
          <a:lstStyle/>
          <a:p>
            <a:endParaRPr lang="en-US" sz="1100">
              <a:latin typeface="Candara" panose="020E0502030303020204" pitchFamily="34" charset="0"/>
            </a:endParaRPr>
          </a:p>
        </p:txBody>
      </p:sp>
      <p:sp>
        <p:nvSpPr>
          <p:cNvPr id="98" name="Text 96"/>
          <p:cNvSpPr/>
          <p:nvPr/>
        </p:nvSpPr>
        <p:spPr>
          <a:xfrm>
            <a:off x="3254416" y="3558812"/>
            <a:ext cx="585064" cy="102386"/>
          </a:xfrm>
          <a:prstGeom prst="rect">
            <a:avLst/>
          </a:prstGeom>
          <a:noFill/>
          <a:ln/>
        </p:spPr>
        <p:txBody>
          <a:bodyPr wrap="square" lIns="0" tIns="0" rIns="0" bIns="0" rtlCol="0" anchor="ctr"/>
          <a:lstStyle/>
          <a:p>
            <a:pPr algn="ctr"/>
            <a:r>
              <a:rPr lang="en-US" sz="1100" b="1" dirty="0">
                <a:solidFill>
                  <a:srgbClr val="7EC8E3"/>
                </a:solidFill>
                <a:latin typeface="Candara" panose="020E0502030303020204" pitchFamily="34" charset="0"/>
                <a:ea typeface="Calibri" pitchFamily="34" charset="-122"/>
                <a:cs typeface="Calibri" pitchFamily="34" charset="-120"/>
              </a:rPr>
              <a:t>POST</a:t>
            </a:r>
            <a:endParaRPr lang="en-US" sz="1100" dirty="0">
              <a:latin typeface="Candara" panose="020E0502030303020204" pitchFamily="34" charset="0"/>
            </a:endParaRPr>
          </a:p>
        </p:txBody>
      </p:sp>
      <p:sp>
        <p:nvSpPr>
          <p:cNvPr id="99" name="Text 97"/>
          <p:cNvSpPr/>
          <p:nvPr/>
        </p:nvSpPr>
        <p:spPr>
          <a:xfrm>
            <a:off x="3876046" y="3540528"/>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/sensorreadings</a:t>
            </a:r>
            <a:endParaRPr lang="en-US" sz="1100" dirty="0">
              <a:latin typeface="Candara" panose="020E0502030303020204" pitchFamily="34" charset="0"/>
            </a:endParaRPr>
          </a:p>
        </p:txBody>
      </p:sp>
      <p:sp>
        <p:nvSpPr>
          <p:cNvPr id="100" name="Shape 98"/>
          <p:cNvSpPr/>
          <p:nvPr/>
        </p:nvSpPr>
        <p:spPr>
          <a:xfrm>
            <a:off x="3217849" y="3679481"/>
            <a:ext cx="4223428"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01" name="Shape 99"/>
          <p:cNvSpPr/>
          <p:nvPr/>
        </p:nvSpPr>
        <p:spPr>
          <a:xfrm>
            <a:off x="3254416" y="3697765"/>
            <a:ext cx="585064" cy="102386"/>
          </a:xfrm>
          <a:prstGeom prst="roundRect">
            <a:avLst>
              <a:gd name="adj" fmla="val 26786"/>
            </a:avLst>
          </a:prstGeom>
          <a:solidFill>
            <a:srgbClr val="091C26"/>
          </a:solidFill>
          <a:ln w="3810">
            <a:solidFill>
              <a:srgbClr val="7EC8E3">
                <a:alpha val="45000"/>
              </a:srgbClr>
            </a:solidFill>
            <a:prstDash val="solid"/>
          </a:ln>
        </p:spPr>
        <p:txBody>
          <a:bodyPr/>
          <a:lstStyle/>
          <a:p>
            <a:endParaRPr lang="en-US" sz="1100">
              <a:latin typeface="Candara" panose="020E0502030303020204" pitchFamily="34" charset="0"/>
            </a:endParaRPr>
          </a:p>
        </p:txBody>
      </p:sp>
      <p:sp>
        <p:nvSpPr>
          <p:cNvPr id="102" name="Text 100"/>
          <p:cNvSpPr/>
          <p:nvPr/>
        </p:nvSpPr>
        <p:spPr>
          <a:xfrm>
            <a:off x="3254416" y="3697765"/>
            <a:ext cx="585064" cy="102386"/>
          </a:xfrm>
          <a:prstGeom prst="rect">
            <a:avLst/>
          </a:prstGeom>
          <a:noFill/>
          <a:ln/>
        </p:spPr>
        <p:txBody>
          <a:bodyPr wrap="square" lIns="0" tIns="0" rIns="0" bIns="0" rtlCol="0" anchor="ctr"/>
          <a:lstStyle/>
          <a:p>
            <a:pPr algn="ctr"/>
            <a:r>
              <a:rPr lang="en-US" sz="1100" b="1" dirty="0">
                <a:solidFill>
                  <a:srgbClr val="7EC8E3"/>
                </a:solidFill>
                <a:latin typeface="Candara" panose="020E0502030303020204" pitchFamily="34" charset="0"/>
                <a:ea typeface="Calibri" pitchFamily="34" charset="-122"/>
                <a:cs typeface="Calibri" pitchFamily="34" charset="-120"/>
              </a:rPr>
              <a:t>POST</a:t>
            </a:r>
            <a:endParaRPr lang="en-US" sz="1100" dirty="0">
              <a:latin typeface="Candara" panose="020E0502030303020204" pitchFamily="34" charset="0"/>
            </a:endParaRPr>
          </a:p>
        </p:txBody>
      </p:sp>
      <p:sp>
        <p:nvSpPr>
          <p:cNvPr id="103" name="Text 101"/>
          <p:cNvSpPr/>
          <p:nvPr/>
        </p:nvSpPr>
        <p:spPr>
          <a:xfrm>
            <a:off x="3876046" y="3679481"/>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/sensorreadings/batch</a:t>
            </a:r>
            <a:endParaRPr lang="en-US" sz="1100" dirty="0">
              <a:latin typeface="Candara" panose="020E0502030303020204" pitchFamily="34" charset="0"/>
            </a:endParaRPr>
          </a:p>
        </p:txBody>
      </p:sp>
      <p:sp>
        <p:nvSpPr>
          <p:cNvPr id="104" name="Shape 102"/>
          <p:cNvSpPr/>
          <p:nvPr/>
        </p:nvSpPr>
        <p:spPr>
          <a:xfrm>
            <a:off x="3254416" y="3836716"/>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05" name="Text 103"/>
          <p:cNvSpPr/>
          <p:nvPr/>
        </p:nvSpPr>
        <p:spPr>
          <a:xfrm>
            <a:off x="3254416" y="3836716"/>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06" name="Text 104"/>
          <p:cNvSpPr/>
          <p:nvPr/>
        </p:nvSpPr>
        <p:spPr>
          <a:xfrm>
            <a:off x="3876046" y="3818433"/>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/sensorreadings</a:t>
            </a:r>
            <a:endParaRPr lang="en-US" sz="1100" dirty="0">
              <a:latin typeface="Candara" panose="020E0502030303020204" pitchFamily="34" charset="0"/>
            </a:endParaRPr>
          </a:p>
        </p:txBody>
      </p:sp>
      <p:sp>
        <p:nvSpPr>
          <p:cNvPr id="107" name="Shape 105"/>
          <p:cNvSpPr/>
          <p:nvPr/>
        </p:nvSpPr>
        <p:spPr>
          <a:xfrm>
            <a:off x="3217849" y="3957386"/>
            <a:ext cx="4223428"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08" name="Shape 106"/>
          <p:cNvSpPr/>
          <p:nvPr/>
        </p:nvSpPr>
        <p:spPr>
          <a:xfrm>
            <a:off x="3254416" y="3975669"/>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09" name="Text 107"/>
          <p:cNvSpPr/>
          <p:nvPr/>
        </p:nvSpPr>
        <p:spPr>
          <a:xfrm>
            <a:off x="3254416" y="3975669"/>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10" name="Text 108"/>
          <p:cNvSpPr/>
          <p:nvPr/>
        </p:nvSpPr>
        <p:spPr>
          <a:xfrm>
            <a:off x="3876046" y="3957386"/>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/sensorreadings/{id}</a:t>
            </a:r>
            <a:endParaRPr lang="en-US" sz="1100" dirty="0">
              <a:latin typeface="Candara" panose="020E0502030303020204" pitchFamily="34" charset="0"/>
            </a:endParaRPr>
          </a:p>
        </p:txBody>
      </p:sp>
      <p:sp>
        <p:nvSpPr>
          <p:cNvPr id="111" name="Shape 109"/>
          <p:cNvSpPr/>
          <p:nvPr/>
        </p:nvSpPr>
        <p:spPr>
          <a:xfrm>
            <a:off x="3254416" y="4114622"/>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12" name="Text 110"/>
          <p:cNvSpPr/>
          <p:nvPr/>
        </p:nvSpPr>
        <p:spPr>
          <a:xfrm>
            <a:off x="3254416" y="4114622"/>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13" name="Text 111"/>
          <p:cNvSpPr/>
          <p:nvPr/>
        </p:nvSpPr>
        <p:spPr>
          <a:xfrm>
            <a:off x="3876046" y="4096339"/>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/sensorreadings/devices/{deviceId}/readings</a:t>
            </a:r>
            <a:endParaRPr lang="en-US" sz="1100" dirty="0">
              <a:latin typeface="Candara" panose="020E0502030303020204" pitchFamily="34" charset="0"/>
            </a:endParaRPr>
          </a:p>
        </p:txBody>
      </p:sp>
      <p:sp>
        <p:nvSpPr>
          <p:cNvPr id="114" name="Shape 112"/>
          <p:cNvSpPr/>
          <p:nvPr/>
        </p:nvSpPr>
        <p:spPr>
          <a:xfrm>
            <a:off x="3217849" y="4235291"/>
            <a:ext cx="4223428"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15" name="Shape 113"/>
          <p:cNvSpPr/>
          <p:nvPr/>
        </p:nvSpPr>
        <p:spPr>
          <a:xfrm>
            <a:off x="3254416" y="4253575"/>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16" name="Text 114"/>
          <p:cNvSpPr/>
          <p:nvPr/>
        </p:nvSpPr>
        <p:spPr>
          <a:xfrm>
            <a:off x="3254416" y="4253575"/>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17" name="Text 115"/>
          <p:cNvSpPr/>
          <p:nvPr/>
        </p:nvSpPr>
        <p:spPr>
          <a:xfrm>
            <a:off x="3876046" y="4235291"/>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/sensorreadings/sensors/{sensorId}/readings</a:t>
            </a:r>
            <a:endParaRPr lang="en-US" sz="1100" dirty="0">
              <a:latin typeface="Candara" panose="020E0502030303020204" pitchFamily="34" charset="0"/>
            </a:endParaRPr>
          </a:p>
        </p:txBody>
      </p:sp>
      <p:sp>
        <p:nvSpPr>
          <p:cNvPr id="118" name="Shape 116"/>
          <p:cNvSpPr/>
          <p:nvPr/>
        </p:nvSpPr>
        <p:spPr>
          <a:xfrm>
            <a:off x="3204137" y="4561647"/>
            <a:ext cx="4296561" cy="1014720"/>
          </a:xfrm>
          <a:prstGeom prst="roundRect">
            <a:avLst>
              <a:gd name="adj" fmla="val 6306"/>
            </a:avLst>
          </a:prstGeom>
          <a:solidFill>
            <a:srgbClr val="000000">
              <a:alpha val="12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19" name="Shape 117"/>
          <p:cNvSpPr/>
          <p:nvPr/>
        </p:nvSpPr>
        <p:spPr>
          <a:xfrm>
            <a:off x="3181283" y="4538793"/>
            <a:ext cx="4296561" cy="1014720"/>
          </a:xfrm>
          <a:prstGeom prst="roundRect">
            <a:avLst>
              <a:gd name="adj" fmla="val 6306"/>
            </a:avLst>
          </a:prstGeom>
          <a:solidFill>
            <a:srgbClr val="091A0F"/>
          </a:solidFill>
          <a:ln w="9525">
            <a:solidFill>
              <a:srgbClr val="1C3D28"/>
            </a:solidFill>
            <a:prstDash val="solid"/>
          </a:ln>
        </p:spPr>
        <p:txBody>
          <a:bodyPr/>
          <a:lstStyle/>
          <a:p>
            <a:endParaRPr lang="en-US" sz="1100">
              <a:latin typeface="Candara" panose="020E0502030303020204" pitchFamily="34" charset="0"/>
            </a:endParaRPr>
          </a:p>
        </p:txBody>
      </p:sp>
      <p:sp>
        <p:nvSpPr>
          <p:cNvPr id="120" name="Shape 118"/>
          <p:cNvSpPr/>
          <p:nvPr/>
        </p:nvSpPr>
        <p:spPr>
          <a:xfrm>
            <a:off x="3181283" y="4538793"/>
            <a:ext cx="4296561" cy="237682"/>
          </a:xfrm>
          <a:prstGeom prst="roundRect">
            <a:avLst>
              <a:gd name="adj" fmla="val 26923"/>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121" name="Shape 119"/>
          <p:cNvSpPr/>
          <p:nvPr/>
        </p:nvSpPr>
        <p:spPr>
          <a:xfrm>
            <a:off x="3181283" y="4721625"/>
            <a:ext cx="4296561" cy="54850"/>
          </a:xfrm>
          <a:prstGeom prst="rect">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122" name="Text 120"/>
          <p:cNvSpPr/>
          <p:nvPr/>
        </p:nvSpPr>
        <p:spPr>
          <a:xfrm>
            <a:off x="3272699" y="4538793"/>
            <a:ext cx="4150295"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Alert APIs</a:t>
            </a:r>
            <a:endParaRPr lang="en-US" sz="1100" dirty="0">
              <a:latin typeface="Candara" panose="020E0502030303020204" pitchFamily="34" charset="0"/>
            </a:endParaRPr>
          </a:p>
        </p:txBody>
      </p:sp>
      <p:sp>
        <p:nvSpPr>
          <p:cNvPr id="123" name="Shape 121"/>
          <p:cNvSpPr/>
          <p:nvPr/>
        </p:nvSpPr>
        <p:spPr>
          <a:xfrm>
            <a:off x="3236133" y="4776475"/>
            <a:ext cx="4186861" cy="0"/>
          </a:xfrm>
          <a:prstGeom prst="line">
            <a:avLst/>
          </a:prstGeom>
          <a:noFill/>
          <a:ln w="6350">
            <a:solidFill>
              <a:srgbClr val="1C3D28"/>
            </a:solidFill>
            <a:prstDash val="solid"/>
          </a:ln>
        </p:spPr>
        <p:txBody>
          <a:bodyPr/>
          <a:lstStyle/>
          <a:p>
            <a:endParaRPr lang="en-US" sz="1100">
              <a:latin typeface="Candara" panose="020E0502030303020204" pitchFamily="34" charset="0"/>
            </a:endParaRPr>
          </a:p>
        </p:txBody>
      </p:sp>
      <p:sp>
        <p:nvSpPr>
          <p:cNvPr id="124" name="Shape 122"/>
          <p:cNvSpPr/>
          <p:nvPr/>
        </p:nvSpPr>
        <p:spPr>
          <a:xfrm>
            <a:off x="3254416" y="4813042"/>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25" name="Text 123"/>
          <p:cNvSpPr/>
          <p:nvPr/>
        </p:nvSpPr>
        <p:spPr>
          <a:xfrm>
            <a:off x="3254416" y="4813042"/>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26" name="Text 124"/>
          <p:cNvSpPr/>
          <p:nvPr/>
        </p:nvSpPr>
        <p:spPr>
          <a:xfrm>
            <a:off x="3876046" y="4794759"/>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/alerts</a:t>
            </a:r>
            <a:endParaRPr lang="en-US" sz="1100" dirty="0">
              <a:latin typeface="Candara" panose="020E0502030303020204" pitchFamily="34" charset="0"/>
            </a:endParaRPr>
          </a:p>
        </p:txBody>
      </p:sp>
      <p:sp>
        <p:nvSpPr>
          <p:cNvPr id="127" name="Shape 125"/>
          <p:cNvSpPr/>
          <p:nvPr/>
        </p:nvSpPr>
        <p:spPr>
          <a:xfrm>
            <a:off x="3217849" y="4933710"/>
            <a:ext cx="4223428"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28" name="Shape 126"/>
          <p:cNvSpPr/>
          <p:nvPr/>
        </p:nvSpPr>
        <p:spPr>
          <a:xfrm>
            <a:off x="3254416" y="4951994"/>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29" name="Text 127"/>
          <p:cNvSpPr/>
          <p:nvPr/>
        </p:nvSpPr>
        <p:spPr>
          <a:xfrm>
            <a:off x="3254416" y="4951994"/>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30" name="Text 128"/>
          <p:cNvSpPr/>
          <p:nvPr/>
        </p:nvSpPr>
        <p:spPr>
          <a:xfrm>
            <a:off x="3876046" y="4933710"/>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/alerts/active</a:t>
            </a:r>
            <a:endParaRPr lang="en-US" sz="1100" dirty="0">
              <a:latin typeface="Candara" panose="020E0502030303020204" pitchFamily="34" charset="0"/>
            </a:endParaRPr>
          </a:p>
        </p:txBody>
      </p:sp>
      <p:sp>
        <p:nvSpPr>
          <p:cNvPr id="131" name="Shape 129"/>
          <p:cNvSpPr/>
          <p:nvPr/>
        </p:nvSpPr>
        <p:spPr>
          <a:xfrm>
            <a:off x="3254416" y="5090947"/>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32" name="Text 130"/>
          <p:cNvSpPr/>
          <p:nvPr/>
        </p:nvSpPr>
        <p:spPr>
          <a:xfrm>
            <a:off x="3254416" y="5090947"/>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33" name="Text 131"/>
          <p:cNvSpPr/>
          <p:nvPr/>
        </p:nvSpPr>
        <p:spPr>
          <a:xfrm>
            <a:off x="3876046" y="5072663"/>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/alerts/{id}</a:t>
            </a:r>
            <a:endParaRPr lang="en-US" sz="1100" dirty="0">
              <a:latin typeface="Candara" panose="020E0502030303020204" pitchFamily="34" charset="0"/>
            </a:endParaRPr>
          </a:p>
        </p:txBody>
      </p:sp>
      <p:sp>
        <p:nvSpPr>
          <p:cNvPr id="134" name="Shape 132"/>
          <p:cNvSpPr/>
          <p:nvPr/>
        </p:nvSpPr>
        <p:spPr>
          <a:xfrm>
            <a:off x="3217849" y="5211616"/>
            <a:ext cx="4223428"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35" name="Shape 133"/>
          <p:cNvSpPr/>
          <p:nvPr/>
        </p:nvSpPr>
        <p:spPr>
          <a:xfrm>
            <a:off x="3254416" y="5229900"/>
            <a:ext cx="585064" cy="102386"/>
          </a:xfrm>
          <a:prstGeom prst="roundRect">
            <a:avLst>
              <a:gd name="adj" fmla="val 26786"/>
            </a:avLst>
          </a:prstGeom>
          <a:solidFill>
            <a:srgbClr val="201608"/>
          </a:solidFill>
          <a:ln w="3810">
            <a:solidFill>
              <a:srgbClr val="E8B87A">
                <a:alpha val="45000"/>
              </a:srgbClr>
            </a:solidFill>
            <a:prstDash val="solid"/>
          </a:ln>
        </p:spPr>
        <p:txBody>
          <a:bodyPr/>
          <a:lstStyle/>
          <a:p>
            <a:endParaRPr lang="en-US" sz="1100">
              <a:latin typeface="Candara" panose="020E0502030303020204" pitchFamily="34" charset="0"/>
            </a:endParaRPr>
          </a:p>
        </p:txBody>
      </p:sp>
      <p:sp>
        <p:nvSpPr>
          <p:cNvPr id="136" name="Text 134"/>
          <p:cNvSpPr/>
          <p:nvPr/>
        </p:nvSpPr>
        <p:spPr>
          <a:xfrm>
            <a:off x="3254416" y="5229900"/>
            <a:ext cx="585064" cy="102386"/>
          </a:xfrm>
          <a:prstGeom prst="rect">
            <a:avLst/>
          </a:prstGeom>
          <a:noFill/>
          <a:ln/>
        </p:spPr>
        <p:txBody>
          <a:bodyPr wrap="square" lIns="0" tIns="0" rIns="0" bIns="0" rtlCol="0" anchor="ctr"/>
          <a:lstStyle/>
          <a:p>
            <a:pPr algn="ctr"/>
            <a:r>
              <a:rPr lang="en-US" sz="1100" b="1" dirty="0">
                <a:solidFill>
                  <a:srgbClr val="E8B87A"/>
                </a:solidFill>
                <a:latin typeface="Candara" panose="020E0502030303020204" pitchFamily="34" charset="0"/>
                <a:ea typeface="Calibri" pitchFamily="34" charset="-122"/>
                <a:cs typeface="Calibri" pitchFamily="34" charset="-120"/>
              </a:rPr>
              <a:t>PUT</a:t>
            </a:r>
            <a:endParaRPr lang="en-US" sz="1100" dirty="0">
              <a:latin typeface="Candara" panose="020E0502030303020204" pitchFamily="34" charset="0"/>
            </a:endParaRPr>
          </a:p>
        </p:txBody>
      </p:sp>
      <p:sp>
        <p:nvSpPr>
          <p:cNvPr id="137" name="Text 135"/>
          <p:cNvSpPr/>
          <p:nvPr/>
        </p:nvSpPr>
        <p:spPr>
          <a:xfrm>
            <a:off x="3876046" y="5211616"/>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/alerts/{id}/acknowledge</a:t>
            </a:r>
            <a:endParaRPr lang="en-US" sz="1100" dirty="0">
              <a:latin typeface="Candara" panose="020E0502030303020204" pitchFamily="34" charset="0"/>
            </a:endParaRPr>
          </a:p>
        </p:txBody>
      </p:sp>
      <p:sp>
        <p:nvSpPr>
          <p:cNvPr id="138" name="Shape 136"/>
          <p:cNvSpPr/>
          <p:nvPr/>
        </p:nvSpPr>
        <p:spPr>
          <a:xfrm>
            <a:off x="3254416" y="5368852"/>
            <a:ext cx="585064" cy="102386"/>
          </a:xfrm>
          <a:prstGeom prst="roundRect">
            <a:avLst>
              <a:gd name="adj" fmla="val 26786"/>
            </a:avLst>
          </a:prstGeom>
          <a:solidFill>
            <a:srgbClr val="201608"/>
          </a:solidFill>
          <a:ln w="3810">
            <a:solidFill>
              <a:srgbClr val="E8B87A">
                <a:alpha val="45000"/>
              </a:srgbClr>
            </a:solidFill>
            <a:prstDash val="solid"/>
          </a:ln>
        </p:spPr>
        <p:txBody>
          <a:bodyPr/>
          <a:lstStyle/>
          <a:p>
            <a:endParaRPr lang="en-US" sz="1100">
              <a:latin typeface="Candara" panose="020E0502030303020204" pitchFamily="34" charset="0"/>
            </a:endParaRPr>
          </a:p>
        </p:txBody>
      </p:sp>
      <p:sp>
        <p:nvSpPr>
          <p:cNvPr id="139" name="Text 137"/>
          <p:cNvSpPr/>
          <p:nvPr/>
        </p:nvSpPr>
        <p:spPr>
          <a:xfrm>
            <a:off x="3254416" y="5368852"/>
            <a:ext cx="585064" cy="102386"/>
          </a:xfrm>
          <a:prstGeom prst="rect">
            <a:avLst/>
          </a:prstGeom>
          <a:noFill/>
          <a:ln/>
        </p:spPr>
        <p:txBody>
          <a:bodyPr wrap="square" lIns="0" tIns="0" rIns="0" bIns="0" rtlCol="0" anchor="ctr"/>
          <a:lstStyle/>
          <a:p>
            <a:pPr algn="ctr"/>
            <a:r>
              <a:rPr lang="en-US" sz="1100" b="1" dirty="0">
                <a:solidFill>
                  <a:srgbClr val="E8B87A"/>
                </a:solidFill>
                <a:latin typeface="Candara" panose="020E0502030303020204" pitchFamily="34" charset="0"/>
                <a:ea typeface="Calibri" pitchFamily="34" charset="-122"/>
                <a:cs typeface="Calibri" pitchFamily="34" charset="-120"/>
              </a:rPr>
              <a:t>PUT</a:t>
            </a:r>
            <a:endParaRPr lang="en-US" sz="1100" dirty="0">
              <a:latin typeface="Candara" panose="020E0502030303020204" pitchFamily="34" charset="0"/>
            </a:endParaRPr>
          </a:p>
        </p:txBody>
      </p:sp>
      <p:sp>
        <p:nvSpPr>
          <p:cNvPr id="140" name="Text 138"/>
          <p:cNvSpPr/>
          <p:nvPr/>
        </p:nvSpPr>
        <p:spPr>
          <a:xfrm>
            <a:off x="3876046" y="5350569"/>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/alerts/{id}/resolve</a:t>
            </a:r>
            <a:endParaRPr lang="en-US" sz="1100" dirty="0">
              <a:latin typeface="Candara" panose="020E0502030303020204" pitchFamily="34" charset="0"/>
            </a:endParaRPr>
          </a:p>
        </p:txBody>
      </p:sp>
      <p:sp>
        <p:nvSpPr>
          <p:cNvPr id="141" name="Shape 139"/>
          <p:cNvSpPr/>
          <p:nvPr/>
        </p:nvSpPr>
        <p:spPr>
          <a:xfrm>
            <a:off x="7610397" y="937910"/>
            <a:ext cx="4433685" cy="1153672"/>
          </a:xfrm>
          <a:prstGeom prst="roundRect">
            <a:avLst>
              <a:gd name="adj" fmla="val 5547"/>
            </a:avLst>
          </a:prstGeom>
          <a:solidFill>
            <a:srgbClr val="000000">
              <a:alpha val="12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42" name="Shape 140"/>
          <p:cNvSpPr/>
          <p:nvPr/>
        </p:nvSpPr>
        <p:spPr>
          <a:xfrm>
            <a:off x="7587543" y="915056"/>
            <a:ext cx="4433685" cy="1153672"/>
          </a:xfrm>
          <a:prstGeom prst="roundRect">
            <a:avLst>
              <a:gd name="adj" fmla="val 5547"/>
            </a:avLst>
          </a:prstGeom>
          <a:solidFill>
            <a:srgbClr val="091A0F"/>
          </a:solidFill>
          <a:ln w="9525">
            <a:solidFill>
              <a:srgbClr val="1C3D28"/>
            </a:solidFill>
            <a:prstDash val="solid"/>
          </a:ln>
        </p:spPr>
        <p:txBody>
          <a:bodyPr/>
          <a:lstStyle/>
          <a:p>
            <a:endParaRPr lang="en-US" sz="1100">
              <a:latin typeface="Candara" panose="020E0502030303020204" pitchFamily="34" charset="0"/>
            </a:endParaRPr>
          </a:p>
        </p:txBody>
      </p:sp>
      <p:sp>
        <p:nvSpPr>
          <p:cNvPr id="143" name="Shape 141"/>
          <p:cNvSpPr/>
          <p:nvPr/>
        </p:nvSpPr>
        <p:spPr>
          <a:xfrm>
            <a:off x="7587543" y="915055"/>
            <a:ext cx="4433685" cy="237682"/>
          </a:xfrm>
          <a:prstGeom prst="roundRect">
            <a:avLst>
              <a:gd name="adj" fmla="val 26923"/>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144" name="Shape 142"/>
          <p:cNvSpPr/>
          <p:nvPr/>
        </p:nvSpPr>
        <p:spPr>
          <a:xfrm>
            <a:off x="7587543" y="1097887"/>
            <a:ext cx="4433685" cy="54850"/>
          </a:xfrm>
          <a:prstGeom prst="rect">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145" name="Text 143"/>
          <p:cNvSpPr/>
          <p:nvPr/>
        </p:nvSpPr>
        <p:spPr>
          <a:xfrm>
            <a:off x="7678959" y="915055"/>
            <a:ext cx="4287419"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Alert Rules</a:t>
            </a:r>
            <a:endParaRPr lang="en-US" sz="1100" dirty="0">
              <a:latin typeface="Candara" panose="020E0502030303020204" pitchFamily="34" charset="0"/>
            </a:endParaRPr>
          </a:p>
        </p:txBody>
      </p:sp>
      <p:sp>
        <p:nvSpPr>
          <p:cNvPr id="146" name="Shape 144"/>
          <p:cNvSpPr/>
          <p:nvPr/>
        </p:nvSpPr>
        <p:spPr>
          <a:xfrm>
            <a:off x="7642393" y="1152737"/>
            <a:ext cx="4323986" cy="0"/>
          </a:xfrm>
          <a:prstGeom prst="line">
            <a:avLst/>
          </a:prstGeom>
          <a:noFill/>
          <a:ln w="6350">
            <a:solidFill>
              <a:srgbClr val="1C3D28"/>
            </a:solidFill>
            <a:prstDash val="solid"/>
          </a:ln>
        </p:spPr>
        <p:txBody>
          <a:bodyPr/>
          <a:lstStyle/>
          <a:p>
            <a:endParaRPr lang="en-US" sz="1100">
              <a:latin typeface="Candara" panose="020E0502030303020204" pitchFamily="34" charset="0"/>
            </a:endParaRPr>
          </a:p>
        </p:txBody>
      </p:sp>
      <p:sp>
        <p:nvSpPr>
          <p:cNvPr id="147" name="Shape 145"/>
          <p:cNvSpPr/>
          <p:nvPr/>
        </p:nvSpPr>
        <p:spPr>
          <a:xfrm>
            <a:off x="7660676" y="1189304"/>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48" name="Text 146"/>
          <p:cNvSpPr/>
          <p:nvPr/>
        </p:nvSpPr>
        <p:spPr>
          <a:xfrm>
            <a:off x="7660676" y="1189304"/>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49" name="Text 147"/>
          <p:cNvSpPr/>
          <p:nvPr/>
        </p:nvSpPr>
        <p:spPr>
          <a:xfrm>
            <a:off x="8282306" y="1171021"/>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/alertrules</a:t>
            </a:r>
            <a:endParaRPr lang="en-US" sz="1100" dirty="0">
              <a:latin typeface="Candara" panose="020E0502030303020204" pitchFamily="34" charset="0"/>
            </a:endParaRPr>
          </a:p>
        </p:txBody>
      </p:sp>
      <p:sp>
        <p:nvSpPr>
          <p:cNvPr id="150" name="Shape 148"/>
          <p:cNvSpPr/>
          <p:nvPr/>
        </p:nvSpPr>
        <p:spPr>
          <a:xfrm>
            <a:off x="7624110" y="1309973"/>
            <a:ext cx="4360552"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51" name="Shape 149"/>
          <p:cNvSpPr/>
          <p:nvPr/>
        </p:nvSpPr>
        <p:spPr>
          <a:xfrm>
            <a:off x="7660676" y="1328257"/>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52" name="Text 150"/>
          <p:cNvSpPr/>
          <p:nvPr/>
        </p:nvSpPr>
        <p:spPr>
          <a:xfrm>
            <a:off x="7660676" y="1328257"/>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53" name="Text 151"/>
          <p:cNvSpPr/>
          <p:nvPr/>
        </p:nvSpPr>
        <p:spPr>
          <a:xfrm>
            <a:off x="8282306" y="1309973"/>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/alertrules/{id}</a:t>
            </a:r>
            <a:endParaRPr lang="en-US" sz="1100" dirty="0">
              <a:latin typeface="Candara" panose="020E0502030303020204" pitchFamily="34" charset="0"/>
            </a:endParaRPr>
          </a:p>
        </p:txBody>
      </p:sp>
      <p:sp>
        <p:nvSpPr>
          <p:cNvPr id="154" name="Shape 152"/>
          <p:cNvSpPr/>
          <p:nvPr/>
        </p:nvSpPr>
        <p:spPr>
          <a:xfrm>
            <a:off x="7660676" y="1467210"/>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55" name="Text 153"/>
          <p:cNvSpPr/>
          <p:nvPr/>
        </p:nvSpPr>
        <p:spPr>
          <a:xfrm>
            <a:off x="7660676" y="1467210"/>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56" name="Text 154"/>
          <p:cNvSpPr/>
          <p:nvPr/>
        </p:nvSpPr>
        <p:spPr>
          <a:xfrm>
            <a:off x="8282306" y="1448926"/>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/alertrules/devices/{deviceId}</a:t>
            </a:r>
            <a:endParaRPr lang="en-US" sz="1100" dirty="0">
              <a:latin typeface="Candara" panose="020E0502030303020204" pitchFamily="34" charset="0"/>
            </a:endParaRPr>
          </a:p>
        </p:txBody>
      </p:sp>
      <p:sp>
        <p:nvSpPr>
          <p:cNvPr id="157" name="Shape 155"/>
          <p:cNvSpPr/>
          <p:nvPr/>
        </p:nvSpPr>
        <p:spPr>
          <a:xfrm>
            <a:off x="7624110" y="1587878"/>
            <a:ext cx="4360552"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58" name="Shape 156"/>
          <p:cNvSpPr/>
          <p:nvPr/>
        </p:nvSpPr>
        <p:spPr>
          <a:xfrm>
            <a:off x="7660676" y="1606161"/>
            <a:ext cx="585064" cy="102386"/>
          </a:xfrm>
          <a:prstGeom prst="roundRect">
            <a:avLst>
              <a:gd name="adj" fmla="val 26786"/>
            </a:avLst>
          </a:prstGeom>
          <a:solidFill>
            <a:srgbClr val="091C26"/>
          </a:solidFill>
          <a:ln w="3810">
            <a:solidFill>
              <a:srgbClr val="7EC8E3">
                <a:alpha val="45000"/>
              </a:srgbClr>
            </a:solidFill>
            <a:prstDash val="solid"/>
          </a:ln>
        </p:spPr>
        <p:txBody>
          <a:bodyPr/>
          <a:lstStyle/>
          <a:p>
            <a:endParaRPr lang="en-US" sz="1100">
              <a:latin typeface="Candara" panose="020E0502030303020204" pitchFamily="34" charset="0"/>
            </a:endParaRPr>
          </a:p>
        </p:txBody>
      </p:sp>
      <p:sp>
        <p:nvSpPr>
          <p:cNvPr id="159" name="Text 157"/>
          <p:cNvSpPr/>
          <p:nvPr/>
        </p:nvSpPr>
        <p:spPr>
          <a:xfrm>
            <a:off x="7660676" y="1606161"/>
            <a:ext cx="585064" cy="102386"/>
          </a:xfrm>
          <a:prstGeom prst="rect">
            <a:avLst/>
          </a:prstGeom>
          <a:noFill/>
          <a:ln/>
        </p:spPr>
        <p:txBody>
          <a:bodyPr wrap="square" lIns="0" tIns="0" rIns="0" bIns="0" rtlCol="0" anchor="ctr"/>
          <a:lstStyle/>
          <a:p>
            <a:pPr algn="ctr"/>
            <a:r>
              <a:rPr lang="en-US" sz="1100" b="1" dirty="0">
                <a:solidFill>
                  <a:srgbClr val="7EC8E3"/>
                </a:solidFill>
                <a:latin typeface="Candara" panose="020E0502030303020204" pitchFamily="34" charset="0"/>
                <a:ea typeface="Calibri" pitchFamily="34" charset="-122"/>
                <a:cs typeface="Calibri" pitchFamily="34" charset="-120"/>
              </a:rPr>
              <a:t>POST</a:t>
            </a:r>
            <a:endParaRPr lang="en-US" sz="1100" dirty="0">
              <a:latin typeface="Candara" panose="020E0502030303020204" pitchFamily="34" charset="0"/>
            </a:endParaRPr>
          </a:p>
        </p:txBody>
      </p:sp>
      <p:sp>
        <p:nvSpPr>
          <p:cNvPr id="160" name="Text 158"/>
          <p:cNvSpPr/>
          <p:nvPr/>
        </p:nvSpPr>
        <p:spPr>
          <a:xfrm>
            <a:off x="8282306" y="1587878"/>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/alertrules</a:t>
            </a:r>
            <a:endParaRPr lang="en-US" sz="1100" dirty="0">
              <a:latin typeface="Candara" panose="020E0502030303020204" pitchFamily="34" charset="0"/>
            </a:endParaRPr>
          </a:p>
        </p:txBody>
      </p:sp>
      <p:sp>
        <p:nvSpPr>
          <p:cNvPr id="161" name="Shape 159"/>
          <p:cNvSpPr/>
          <p:nvPr/>
        </p:nvSpPr>
        <p:spPr>
          <a:xfrm>
            <a:off x="7660676" y="1745114"/>
            <a:ext cx="585064" cy="102386"/>
          </a:xfrm>
          <a:prstGeom prst="roundRect">
            <a:avLst>
              <a:gd name="adj" fmla="val 26786"/>
            </a:avLst>
          </a:prstGeom>
          <a:solidFill>
            <a:srgbClr val="201608"/>
          </a:solidFill>
          <a:ln w="3810">
            <a:solidFill>
              <a:srgbClr val="E8B87A">
                <a:alpha val="45000"/>
              </a:srgbClr>
            </a:solidFill>
            <a:prstDash val="solid"/>
          </a:ln>
        </p:spPr>
        <p:txBody>
          <a:bodyPr/>
          <a:lstStyle/>
          <a:p>
            <a:endParaRPr lang="en-US" sz="1100">
              <a:latin typeface="Candara" panose="020E0502030303020204" pitchFamily="34" charset="0"/>
            </a:endParaRPr>
          </a:p>
        </p:txBody>
      </p:sp>
      <p:sp>
        <p:nvSpPr>
          <p:cNvPr id="162" name="Text 160"/>
          <p:cNvSpPr/>
          <p:nvPr/>
        </p:nvSpPr>
        <p:spPr>
          <a:xfrm>
            <a:off x="7660676" y="1745114"/>
            <a:ext cx="585064" cy="102386"/>
          </a:xfrm>
          <a:prstGeom prst="rect">
            <a:avLst/>
          </a:prstGeom>
          <a:noFill/>
          <a:ln/>
        </p:spPr>
        <p:txBody>
          <a:bodyPr wrap="square" lIns="0" tIns="0" rIns="0" bIns="0" rtlCol="0" anchor="ctr"/>
          <a:lstStyle/>
          <a:p>
            <a:pPr algn="ctr"/>
            <a:r>
              <a:rPr lang="en-US" sz="1100" b="1" dirty="0">
                <a:solidFill>
                  <a:srgbClr val="E8B87A"/>
                </a:solidFill>
                <a:latin typeface="Candara" panose="020E0502030303020204" pitchFamily="34" charset="0"/>
                <a:ea typeface="Calibri" pitchFamily="34" charset="-122"/>
                <a:cs typeface="Calibri" pitchFamily="34" charset="-120"/>
              </a:rPr>
              <a:t>PUT</a:t>
            </a:r>
            <a:endParaRPr lang="en-US" sz="1100" dirty="0">
              <a:latin typeface="Candara" panose="020E0502030303020204" pitchFamily="34" charset="0"/>
            </a:endParaRPr>
          </a:p>
        </p:txBody>
      </p:sp>
      <p:sp>
        <p:nvSpPr>
          <p:cNvPr id="163" name="Text 161"/>
          <p:cNvSpPr/>
          <p:nvPr/>
        </p:nvSpPr>
        <p:spPr>
          <a:xfrm>
            <a:off x="8282306" y="1726831"/>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/alertrules/{id}</a:t>
            </a:r>
            <a:endParaRPr lang="en-US" sz="1100" dirty="0">
              <a:latin typeface="Candara" panose="020E0502030303020204" pitchFamily="34" charset="0"/>
            </a:endParaRPr>
          </a:p>
        </p:txBody>
      </p:sp>
      <p:sp>
        <p:nvSpPr>
          <p:cNvPr id="164" name="Shape 162"/>
          <p:cNvSpPr/>
          <p:nvPr/>
        </p:nvSpPr>
        <p:spPr>
          <a:xfrm>
            <a:off x="7624110" y="1865784"/>
            <a:ext cx="4360552"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65" name="Shape 163"/>
          <p:cNvSpPr/>
          <p:nvPr/>
        </p:nvSpPr>
        <p:spPr>
          <a:xfrm>
            <a:off x="7660676" y="1884067"/>
            <a:ext cx="585064" cy="102386"/>
          </a:xfrm>
          <a:prstGeom prst="roundRect">
            <a:avLst>
              <a:gd name="adj" fmla="val 26786"/>
            </a:avLst>
          </a:prstGeom>
          <a:solidFill>
            <a:srgbClr val="200A0A"/>
          </a:solidFill>
          <a:ln w="3810">
            <a:solidFill>
              <a:srgbClr val="E07070">
                <a:alpha val="45000"/>
              </a:srgbClr>
            </a:solidFill>
            <a:prstDash val="solid"/>
          </a:ln>
        </p:spPr>
        <p:txBody>
          <a:bodyPr/>
          <a:lstStyle/>
          <a:p>
            <a:endParaRPr lang="en-US" sz="1100">
              <a:latin typeface="Candara" panose="020E0502030303020204" pitchFamily="34" charset="0"/>
            </a:endParaRPr>
          </a:p>
        </p:txBody>
      </p:sp>
      <p:sp>
        <p:nvSpPr>
          <p:cNvPr id="166" name="Text 164"/>
          <p:cNvSpPr/>
          <p:nvPr/>
        </p:nvSpPr>
        <p:spPr>
          <a:xfrm>
            <a:off x="7660676" y="1884067"/>
            <a:ext cx="585064" cy="102386"/>
          </a:xfrm>
          <a:prstGeom prst="rect">
            <a:avLst/>
          </a:prstGeom>
          <a:noFill/>
          <a:ln/>
        </p:spPr>
        <p:txBody>
          <a:bodyPr wrap="square" lIns="0" tIns="0" rIns="0" bIns="0" rtlCol="0" anchor="ctr"/>
          <a:lstStyle/>
          <a:p>
            <a:pPr algn="ctr"/>
            <a:r>
              <a:rPr lang="en-US" sz="1100" b="1" dirty="0">
                <a:solidFill>
                  <a:srgbClr val="E07070"/>
                </a:solidFill>
                <a:latin typeface="Candara" panose="020E0502030303020204" pitchFamily="34" charset="0"/>
                <a:ea typeface="Calibri" pitchFamily="34" charset="-122"/>
                <a:cs typeface="Calibri" pitchFamily="34" charset="-120"/>
              </a:rPr>
              <a:t>DELETE</a:t>
            </a:r>
            <a:endParaRPr lang="en-US" sz="1100" dirty="0">
              <a:latin typeface="Candara" panose="020E0502030303020204" pitchFamily="34" charset="0"/>
            </a:endParaRPr>
          </a:p>
        </p:txBody>
      </p:sp>
      <p:sp>
        <p:nvSpPr>
          <p:cNvPr id="167" name="Text 165"/>
          <p:cNvSpPr/>
          <p:nvPr/>
        </p:nvSpPr>
        <p:spPr>
          <a:xfrm>
            <a:off x="8282306" y="1865784"/>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/alertrules/{id}</a:t>
            </a:r>
            <a:endParaRPr lang="en-US" sz="1100" dirty="0">
              <a:latin typeface="Candara" panose="020E0502030303020204" pitchFamily="34" charset="0"/>
            </a:endParaRPr>
          </a:p>
        </p:txBody>
      </p:sp>
      <p:sp>
        <p:nvSpPr>
          <p:cNvPr id="168" name="Shape 166"/>
          <p:cNvSpPr/>
          <p:nvPr/>
        </p:nvSpPr>
        <p:spPr>
          <a:xfrm>
            <a:off x="7610397" y="2192140"/>
            <a:ext cx="4433685" cy="1153672"/>
          </a:xfrm>
          <a:prstGeom prst="roundRect">
            <a:avLst>
              <a:gd name="adj" fmla="val 5547"/>
            </a:avLst>
          </a:prstGeom>
          <a:solidFill>
            <a:srgbClr val="000000">
              <a:alpha val="12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69" name="Shape 167"/>
          <p:cNvSpPr/>
          <p:nvPr/>
        </p:nvSpPr>
        <p:spPr>
          <a:xfrm>
            <a:off x="7587543" y="2169286"/>
            <a:ext cx="4433685" cy="1153672"/>
          </a:xfrm>
          <a:prstGeom prst="roundRect">
            <a:avLst>
              <a:gd name="adj" fmla="val 5547"/>
            </a:avLst>
          </a:prstGeom>
          <a:solidFill>
            <a:srgbClr val="091A0F"/>
          </a:solidFill>
          <a:ln w="9525">
            <a:solidFill>
              <a:srgbClr val="1C3D28"/>
            </a:solidFill>
            <a:prstDash val="solid"/>
          </a:ln>
        </p:spPr>
        <p:txBody>
          <a:bodyPr/>
          <a:lstStyle/>
          <a:p>
            <a:endParaRPr lang="en-US" sz="1100">
              <a:latin typeface="Candara" panose="020E0502030303020204" pitchFamily="34" charset="0"/>
            </a:endParaRPr>
          </a:p>
        </p:txBody>
      </p:sp>
      <p:sp>
        <p:nvSpPr>
          <p:cNvPr id="170" name="Shape 168"/>
          <p:cNvSpPr/>
          <p:nvPr/>
        </p:nvSpPr>
        <p:spPr>
          <a:xfrm>
            <a:off x="7587543" y="2169285"/>
            <a:ext cx="4433685" cy="237682"/>
          </a:xfrm>
          <a:prstGeom prst="roundRect">
            <a:avLst>
              <a:gd name="adj" fmla="val 26923"/>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171" name="Shape 169"/>
          <p:cNvSpPr/>
          <p:nvPr/>
        </p:nvSpPr>
        <p:spPr>
          <a:xfrm>
            <a:off x="7587543" y="2352117"/>
            <a:ext cx="4433685" cy="54850"/>
          </a:xfrm>
          <a:prstGeom prst="rect">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172" name="Text 170"/>
          <p:cNvSpPr/>
          <p:nvPr/>
        </p:nvSpPr>
        <p:spPr>
          <a:xfrm>
            <a:off x="7678959" y="2169285"/>
            <a:ext cx="4287419"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Actuators &amp; Commands</a:t>
            </a:r>
            <a:endParaRPr lang="en-US" sz="1100" dirty="0">
              <a:latin typeface="Candara" panose="020E0502030303020204" pitchFamily="34" charset="0"/>
            </a:endParaRPr>
          </a:p>
        </p:txBody>
      </p:sp>
      <p:sp>
        <p:nvSpPr>
          <p:cNvPr id="173" name="Shape 171"/>
          <p:cNvSpPr/>
          <p:nvPr/>
        </p:nvSpPr>
        <p:spPr>
          <a:xfrm>
            <a:off x="7642393" y="2406967"/>
            <a:ext cx="4323986" cy="0"/>
          </a:xfrm>
          <a:prstGeom prst="line">
            <a:avLst/>
          </a:prstGeom>
          <a:noFill/>
          <a:ln w="6350">
            <a:solidFill>
              <a:srgbClr val="1C3D28"/>
            </a:solidFill>
            <a:prstDash val="solid"/>
          </a:ln>
        </p:spPr>
        <p:txBody>
          <a:bodyPr/>
          <a:lstStyle/>
          <a:p>
            <a:endParaRPr lang="en-US" sz="1100">
              <a:latin typeface="Candara" panose="020E0502030303020204" pitchFamily="34" charset="0"/>
            </a:endParaRPr>
          </a:p>
        </p:txBody>
      </p:sp>
      <p:sp>
        <p:nvSpPr>
          <p:cNvPr id="174" name="Shape 172"/>
          <p:cNvSpPr/>
          <p:nvPr/>
        </p:nvSpPr>
        <p:spPr>
          <a:xfrm>
            <a:off x="7660676" y="2443534"/>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75" name="Text 173"/>
          <p:cNvSpPr/>
          <p:nvPr/>
        </p:nvSpPr>
        <p:spPr>
          <a:xfrm>
            <a:off x="7660676" y="2443534"/>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76" name="Text 174"/>
          <p:cNvSpPr/>
          <p:nvPr/>
        </p:nvSpPr>
        <p:spPr>
          <a:xfrm>
            <a:off x="8282306" y="2425251"/>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/actuators/devices/{deviceId}/actuators</a:t>
            </a:r>
            <a:endParaRPr lang="en-US" sz="1100" dirty="0">
              <a:latin typeface="Candara" panose="020E0502030303020204" pitchFamily="34" charset="0"/>
            </a:endParaRPr>
          </a:p>
        </p:txBody>
      </p:sp>
      <p:sp>
        <p:nvSpPr>
          <p:cNvPr id="177" name="Shape 175"/>
          <p:cNvSpPr/>
          <p:nvPr/>
        </p:nvSpPr>
        <p:spPr>
          <a:xfrm>
            <a:off x="7624110" y="2564204"/>
            <a:ext cx="4360552"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78" name="Shape 176"/>
          <p:cNvSpPr/>
          <p:nvPr/>
        </p:nvSpPr>
        <p:spPr>
          <a:xfrm>
            <a:off x="7660676" y="2582487"/>
            <a:ext cx="585064" cy="102386"/>
          </a:xfrm>
          <a:prstGeom prst="roundRect">
            <a:avLst>
              <a:gd name="adj" fmla="val 26786"/>
            </a:avLst>
          </a:prstGeom>
          <a:solidFill>
            <a:srgbClr val="091C26"/>
          </a:solidFill>
          <a:ln w="3810">
            <a:solidFill>
              <a:srgbClr val="7EC8E3">
                <a:alpha val="45000"/>
              </a:srgbClr>
            </a:solidFill>
            <a:prstDash val="solid"/>
          </a:ln>
        </p:spPr>
        <p:txBody>
          <a:bodyPr/>
          <a:lstStyle/>
          <a:p>
            <a:endParaRPr lang="en-US" sz="1100">
              <a:latin typeface="Candara" panose="020E0502030303020204" pitchFamily="34" charset="0"/>
            </a:endParaRPr>
          </a:p>
        </p:txBody>
      </p:sp>
      <p:sp>
        <p:nvSpPr>
          <p:cNvPr id="179" name="Text 177"/>
          <p:cNvSpPr/>
          <p:nvPr/>
        </p:nvSpPr>
        <p:spPr>
          <a:xfrm>
            <a:off x="7660676" y="2582487"/>
            <a:ext cx="585064" cy="102386"/>
          </a:xfrm>
          <a:prstGeom prst="rect">
            <a:avLst/>
          </a:prstGeom>
          <a:noFill/>
          <a:ln/>
        </p:spPr>
        <p:txBody>
          <a:bodyPr wrap="square" lIns="0" tIns="0" rIns="0" bIns="0" rtlCol="0" anchor="ctr"/>
          <a:lstStyle/>
          <a:p>
            <a:pPr algn="ctr"/>
            <a:r>
              <a:rPr lang="en-US" sz="1100" b="1" dirty="0">
                <a:solidFill>
                  <a:srgbClr val="7EC8E3"/>
                </a:solidFill>
                <a:latin typeface="Candara" panose="020E0502030303020204" pitchFamily="34" charset="0"/>
                <a:ea typeface="Calibri" pitchFamily="34" charset="-122"/>
                <a:cs typeface="Calibri" pitchFamily="34" charset="-120"/>
              </a:rPr>
              <a:t>POST</a:t>
            </a:r>
            <a:endParaRPr lang="en-US" sz="1100" dirty="0">
              <a:latin typeface="Candara" panose="020E0502030303020204" pitchFamily="34" charset="0"/>
            </a:endParaRPr>
          </a:p>
        </p:txBody>
      </p:sp>
      <p:sp>
        <p:nvSpPr>
          <p:cNvPr id="180" name="Text 178"/>
          <p:cNvSpPr/>
          <p:nvPr/>
        </p:nvSpPr>
        <p:spPr>
          <a:xfrm>
            <a:off x="8282306" y="2564204"/>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/actuators/devices/{deviceId}/actuators</a:t>
            </a:r>
            <a:endParaRPr lang="en-US" sz="1100" dirty="0">
              <a:latin typeface="Candara" panose="020E0502030303020204" pitchFamily="34" charset="0"/>
            </a:endParaRPr>
          </a:p>
        </p:txBody>
      </p:sp>
      <p:sp>
        <p:nvSpPr>
          <p:cNvPr id="181" name="Shape 179"/>
          <p:cNvSpPr/>
          <p:nvPr/>
        </p:nvSpPr>
        <p:spPr>
          <a:xfrm>
            <a:off x="7660676" y="2721439"/>
            <a:ext cx="585064" cy="102386"/>
          </a:xfrm>
          <a:prstGeom prst="roundRect">
            <a:avLst>
              <a:gd name="adj" fmla="val 26786"/>
            </a:avLst>
          </a:prstGeom>
          <a:solidFill>
            <a:srgbClr val="201608"/>
          </a:solidFill>
          <a:ln w="3810">
            <a:solidFill>
              <a:srgbClr val="E8B87A">
                <a:alpha val="45000"/>
              </a:srgbClr>
            </a:solidFill>
            <a:prstDash val="solid"/>
          </a:ln>
        </p:spPr>
        <p:txBody>
          <a:bodyPr/>
          <a:lstStyle/>
          <a:p>
            <a:endParaRPr lang="en-US" sz="1100">
              <a:latin typeface="Candara" panose="020E0502030303020204" pitchFamily="34" charset="0"/>
            </a:endParaRPr>
          </a:p>
        </p:txBody>
      </p:sp>
      <p:sp>
        <p:nvSpPr>
          <p:cNvPr id="182" name="Text 180"/>
          <p:cNvSpPr/>
          <p:nvPr/>
        </p:nvSpPr>
        <p:spPr>
          <a:xfrm>
            <a:off x="7660676" y="2721439"/>
            <a:ext cx="585064" cy="102386"/>
          </a:xfrm>
          <a:prstGeom prst="rect">
            <a:avLst/>
          </a:prstGeom>
          <a:noFill/>
          <a:ln/>
        </p:spPr>
        <p:txBody>
          <a:bodyPr wrap="square" lIns="0" tIns="0" rIns="0" bIns="0" rtlCol="0" anchor="ctr"/>
          <a:lstStyle/>
          <a:p>
            <a:pPr algn="ctr"/>
            <a:r>
              <a:rPr lang="en-US" sz="1100" b="1" dirty="0">
                <a:solidFill>
                  <a:srgbClr val="E8B87A"/>
                </a:solidFill>
                <a:latin typeface="Candara" panose="020E0502030303020204" pitchFamily="34" charset="0"/>
                <a:ea typeface="Calibri" pitchFamily="34" charset="-122"/>
                <a:cs typeface="Calibri" pitchFamily="34" charset="-120"/>
              </a:rPr>
              <a:t>PUT/DELETE</a:t>
            </a:r>
            <a:endParaRPr lang="en-US" sz="1100" dirty="0">
              <a:latin typeface="Candara" panose="020E0502030303020204" pitchFamily="34" charset="0"/>
            </a:endParaRPr>
          </a:p>
        </p:txBody>
      </p:sp>
      <p:sp>
        <p:nvSpPr>
          <p:cNvPr id="183" name="Text 181"/>
          <p:cNvSpPr/>
          <p:nvPr/>
        </p:nvSpPr>
        <p:spPr>
          <a:xfrm>
            <a:off x="8282306" y="2703155"/>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/actuators/devices/{deviceId}/actuators/{id}</a:t>
            </a:r>
            <a:endParaRPr lang="en-US" sz="1100" dirty="0">
              <a:latin typeface="Candara" panose="020E0502030303020204" pitchFamily="34" charset="0"/>
            </a:endParaRPr>
          </a:p>
        </p:txBody>
      </p:sp>
      <p:sp>
        <p:nvSpPr>
          <p:cNvPr id="184" name="Shape 182"/>
          <p:cNvSpPr/>
          <p:nvPr/>
        </p:nvSpPr>
        <p:spPr>
          <a:xfrm>
            <a:off x="7624110" y="2842108"/>
            <a:ext cx="4360552"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85" name="Shape 183"/>
          <p:cNvSpPr/>
          <p:nvPr/>
        </p:nvSpPr>
        <p:spPr>
          <a:xfrm>
            <a:off x="7660676" y="2860392"/>
            <a:ext cx="585064" cy="102386"/>
          </a:xfrm>
          <a:prstGeom prst="roundRect">
            <a:avLst>
              <a:gd name="adj" fmla="val 26786"/>
            </a:avLst>
          </a:prstGeom>
          <a:solidFill>
            <a:srgbClr val="091C26"/>
          </a:solidFill>
          <a:ln w="3810">
            <a:solidFill>
              <a:srgbClr val="7EC8E3">
                <a:alpha val="45000"/>
              </a:srgbClr>
            </a:solidFill>
            <a:prstDash val="solid"/>
          </a:ln>
        </p:spPr>
        <p:txBody>
          <a:bodyPr/>
          <a:lstStyle/>
          <a:p>
            <a:endParaRPr lang="en-US" sz="1100">
              <a:latin typeface="Candara" panose="020E0502030303020204" pitchFamily="34" charset="0"/>
            </a:endParaRPr>
          </a:p>
        </p:txBody>
      </p:sp>
      <p:sp>
        <p:nvSpPr>
          <p:cNvPr id="186" name="Text 184"/>
          <p:cNvSpPr/>
          <p:nvPr/>
        </p:nvSpPr>
        <p:spPr>
          <a:xfrm>
            <a:off x="7660676" y="2860392"/>
            <a:ext cx="585064" cy="102386"/>
          </a:xfrm>
          <a:prstGeom prst="rect">
            <a:avLst/>
          </a:prstGeom>
          <a:noFill/>
          <a:ln/>
        </p:spPr>
        <p:txBody>
          <a:bodyPr wrap="square" lIns="0" tIns="0" rIns="0" bIns="0" rtlCol="0" anchor="ctr"/>
          <a:lstStyle/>
          <a:p>
            <a:pPr algn="ctr"/>
            <a:r>
              <a:rPr lang="en-US" sz="1100" b="1" dirty="0">
                <a:solidFill>
                  <a:srgbClr val="7EC8E3"/>
                </a:solidFill>
                <a:latin typeface="Candara" panose="020E0502030303020204" pitchFamily="34" charset="0"/>
                <a:ea typeface="Calibri" pitchFamily="34" charset="-122"/>
                <a:cs typeface="Calibri" pitchFamily="34" charset="-120"/>
              </a:rPr>
              <a:t>POST</a:t>
            </a:r>
            <a:endParaRPr lang="en-US" sz="1100" dirty="0">
              <a:latin typeface="Candara" panose="020E0502030303020204" pitchFamily="34" charset="0"/>
            </a:endParaRPr>
          </a:p>
        </p:txBody>
      </p:sp>
      <p:sp>
        <p:nvSpPr>
          <p:cNvPr id="187" name="Text 185"/>
          <p:cNvSpPr/>
          <p:nvPr/>
        </p:nvSpPr>
        <p:spPr>
          <a:xfrm>
            <a:off x="8282306" y="2842108"/>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/devices/{deviceId}/commands</a:t>
            </a:r>
            <a:endParaRPr lang="en-US" sz="1100" dirty="0">
              <a:latin typeface="Candara" panose="020E0502030303020204" pitchFamily="34" charset="0"/>
            </a:endParaRPr>
          </a:p>
        </p:txBody>
      </p:sp>
      <p:sp>
        <p:nvSpPr>
          <p:cNvPr id="188" name="Shape 186"/>
          <p:cNvSpPr/>
          <p:nvPr/>
        </p:nvSpPr>
        <p:spPr>
          <a:xfrm>
            <a:off x="7660676" y="2999345"/>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89" name="Text 187"/>
          <p:cNvSpPr/>
          <p:nvPr/>
        </p:nvSpPr>
        <p:spPr>
          <a:xfrm>
            <a:off x="7660676" y="2999345"/>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90" name="Text 188"/>
          <p:cNvSpPr/>
          <p:nvPr/>
        </p:nvSpPr>
        <p:spPr>
          <a:xfrm>
            <a:off x="8282306" y="2981061"/>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/devices/{deviceId}/commands</a:t>
            </a:r>
            <a:endParaRPr lang="en-US" sz="1100" dirty="0">
              <a:latin typeface="Candara" panose="020E0502030303020204" pitchFamily="34" charset="0"/>
            </a:endParaRPr>
          </a:p>
        </p:txBody>
      </p:sp>
      <p:sp>
        <p:nvSpPr>
          <p:cNvPr id="191" name="Shape 189"/>
          <p:cNvSpPr/>
          <p:nvPr/>
        </p:nvSpPr>
        <p:spPr>
          <a:xfrm>
            <a:off x="7624110" y="3120014"/>
            <a:ext cx="4360552"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92" name="Shape 190"/>
          <p:cNvSpPr/>
          <p:nvPr/>
        </p:nvSpPr>
        <p:spPr>
          <a:xfrm>
            <a:off x="7660676" y="3138297"/>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93" name="Text 191"/>
          <p:cNvSpPr/>
          <p:nvPr/>
        </p:nvSpPr>
        <p:spPr>
          <a:xfrm>
            <a:off x="7660676" y="3138297"/>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94" name="Text 192"/>
          <p:cNvSpPr/>
          <p:nvPr/>
        </p:nvSpPr>
        <p:spPr>
          <a:xfrm>
            <a:off x="8282306" y="3120014"/>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/commands/{commandId}</a:t>
            </a:r>
            <a:endParaRPr lang="en-US" sz="1100" dirty="0">
              <a:latin typeface="Candara" panose="020E0502030303020204" pitchFamily="34" charset="0"/>
            </a:endParaRPr>
          </a:p>
        </p:txBody>
      </p:sp>
      <p:sp>
        <p:nvSpPr>
          <p:cNvPr id="195" name="Shape 193"/>
          <p:cNvSpPr/>
          <p:nvPr/>
        </p:nvSpPr>
        <p:spPr>
          <a:xfrm>
            <a:off x="7610397" y="3446370"/>
            <a:ext cx="4433685" cy="875767"/>
          </a:xfrm>
          <a:prstGeom prst="roundRect">
            <a:avLst>
              <a:gd name="adj" fmla="val 7307"/>
            </a:avLst>
          </a:prstGeom>
          <a:solidFill>
            <a:srgbClr val="000000">
              <a:alpha val="12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96" name="Shape 194"/>
          <p:cNvSpPr/>
          <p:nvPr/>
        </p:nvSpPr>
        <p:spPr>
          <a:xfrm>
            <a:off x="7587543" y="3423516"/>
            <a:ext cx="4433685" cy="875767"/>
          </a:xfrm>
          <a:prstGeom prst="roundRect">
            <a:avLst>
              <a:gd name="adj" fmla="val 7307"/>
            </a:avLst>
          </a:prstGeom>
          <a:solidFill>
            <a:srgbClr val="091A0F"/>
          </a:solidFill>
          <a:ln w="9525">
            <a:solidFill>
              <a:srgbClr val="1C3D28"/>
            </a:solidFill>
            <a:prstDash val="solid"/>
          </a:ln>
        </p:spPr>
        <p:txBody>
          <a:bodyPr/>
          <a:lstStyle/>
          <a:p>
            <a:endParaRPr lang="en-US" sz="1100">
              <a:latin typeface="Candara" panose="020E0502030303020204" pitchFamily="34" charset="0"/>
            </a:endParaRPr>
          </a:p>
        </p:txBody>
      </p:sp>
      <p:sp>
        <p:nvSpPr>
          <p:cNvPr id="197" name="Shape 195"/>
          <p:cNvSpPr/>
          <p:nvPr/>
        </p:nvSpPr>
        <p:spPr>
          <a:xfrm>
            <a:off x="7587543" y="3423515"/>
            <a:ext cx="4433685" cy="237682"/>
          </a:xfrm>
          <a:prstGeom prst="roundRect">
            <a:avLst>
              <a:gd name="adj" fmla="val 26923"/>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198" name="Shape 196"/>
          <p:cNvSpPr/>
          <p:nvPr/>
        </p:nvSpPr>
        <p:spPr>
          <a:xfrm>
            <a:off x="7587543" y="3606348"/>
            <a:ext cx="4433685" cy="54850"/>
          </a:xfrm>
          <a:prstGeom prst="rect">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199" name="Text 197"/>
          <p:cNvSpPr/>
          <p:nvPr/>
        </p:nvSpPr>
        <p:spPr>
          <a:xfrm>
            <a:off x="7678959" y="3423515"/>
            <a:ext cx="4287419"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Auth &amp; Health</a:t>
            </a:r>
            <a:endParaRPr lang="en-US" sz="1100" dirty="0">
              <a:latin typeface="Candara" panose="020E0502030303020204" pitchFamily="34" charset="0"/>
            </a:endParaRPr>
          </a:p>
        </p:txBody>
      </p:sp>
      <p:sp>
        <p:nvSpPr>
          <p:cNvPr id="200" name="Shape 198"/>
          <p:cNvSpPr/>
          <p:nvPr/>
        </p:nvSpPr>
        <p:spPr>
          <a:xfrm>
            <a:off x="7642393" y="3661198"/>
            <a:ext cx="4323986" cy="0"/>
          </a:xfrm>
          <a:prstGeom prst="line">
            <a:avLst/>
          </a:prstGeom>
          <a:noFill/>
          <a:ln w="6350">
            <a:solidFill>
              <a:srgbClr val="1C3D28"/>
            </a:solidFill>
            <a:prstDash val="solid"/>
          </a:ln>
        </p:spPr>
        <p:txBody>
          <a:bodyPr/>
          <a:lstStyle/>
          <a:p>
            <a:endParaRPr lang="en-US" sz="1100">
              <a:latin typeface="Candara" panose="020E0502030303020204" pitchFamily="34" charset="0"/>
            </a:endParaRPr>
          </a:p>
        </p:txBody>
      </p:sp>
      <p:sp>
        <p:nvSpPr>
          <p:cNvPr id="201" name="Shape 199"/>
          <p:cNvSpPr/>
          <p:nvPr/>
        </p:nvSpPr>
        <p:spPr>
          <a:xfrm>
            <a:off x="7660676" y="3697765"/>
            <a:ext cx="585064" cy="102386"/>
          </a:xfrm>
          <a:prstGeom prst="roundRect">
            <a:avLst>
              <a:gd name="adj" fmla="val 26786"/>
            </a:avLst>
          </a:prstGeom>
          <a:solidFill>
            <a:srgbClr val="091C26"/>
          </a:solidFill>
          <a:ln w="3810">
            <a:solidFill>
              <a:srgbClr val="7EC8E3">
                <a:alpha val="45000"/>
              </a:srgbClr>
            </a:solidFill>
            <a:prstDash val="solid"/>
          </a:ln>
        </p:spPr>
        <p:txBody>
          <a:bodyPr/>
          <a:lstStyle/>
          <a:p>
            <a:endParaRPr lang="en-US" sz="1100">
              <a:latin typeface="Candara" panose="020E0502030303020204" pitchFamily="34" charset="0"/>
            </a:endParaRPr>
          </a:p>
        </p:txBody>
      </p:sp>
      <p:sp>
        <p:nvSpPr>
          <p:cNvPr id="202" name="Text 200"/>
          <p:cNvSpPr/>
          <p:nvPr/>
        </p:nvSpPr>
        <p:spPr>
          <a:xfrm>
            <a:off x="7660676" y="3697765"/>
            <a:ext cx="585064" cy="102386"/>
          </a:xfrm>
          <a:prstGeom prst="rect">
            <a:avLst/>
          </a:prstGeom>
          <a:noFill/>
          <a:ln/>
        </p:spPr>
        <p:txBody>
          <a:bodyPr wrap="square" lIns="0" tIns="0" rIns="0" bIns="0" rtlCol="0" anchor="ctr"/>
          <a:lstStyle/>
          <a:p>
            <a:pPr algn="ctr"/>
            <a:r>
              <a:rPr lang="en-US" sz="1100" b="1" dirty="0">
                <a:solidFill>
                  <a:srgbClr val="7EC8E3"/>
                </a:solidFill>
                <a:latin typeface="Candara" panose="020E0502030303020204" pitchFamily="34" charset="0"/>
                <a:ea typeface="Calibri" pitchFamily="34" charset="-122"/>
                <a:cs typeface="Calibri" pitchFamily="34" charset="-120"/>
              </a:rPr>
              <a:t>POST</a:t>
            </a:r>
            <a:endParaRPr lang="en-US" sz="1100" dirty="0">
              <a:latin typeface="Candara" panose="020E0502030303020204" pitchFamily="34" charset="0"/>
            </a:endParaRPr>
          </a:p>
        </p:txBody>
      </p:sp>
      <p:sp>
        <p:nvSpPr>
          <p:cNvPr id="203" name="Text 201"/>
          <p:cNvSpPr/>
          <p:nvPr/>
        </p:nvSpPr>
        <p:spPr>
          <a:xfrm>
            <a:off x="8282306" y="3679481"/>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/auth/login</a:t>
            </a:r>
            <a:endParaRPr lang="en-US" sz="1100" dirty="0">
              <a:latin typeface="Candara" panose="020E0502030303020204" pitchFamily="34" charset="0"/>
            </a:endParaRPr>
          </a:p>
        </p:txBody>
      </p:sp>
      <p:sp>
        <p:nvSpPr>
          <p:cNvPr id="204" name="Shape 202"/>
          <p:cNvSpPr/>
          <p:nvPr/>
        </p:nvSpPr>
        <p:spPr>
          <a:xfrm>
            <a:off x="7624110" y="3818433"/>
            <a:ext cx="4360552"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205" name="Shape 203"/>
          <p:cNvSpPr/>
          <p:nvPr/>
        </p:nvSpPr>
        <p:spPr>
          <a:xfrm>
            <a:off x="7660676" y="3836716"/>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206" name="Text 204"/>
          <p:cNvSpPr/>
          <p:nvPr/>
        </p:nvSpPr>
        <p:spPr>
          <a:xfrm>
            <a:off x="7660676" y="3836716"/>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GET/POST</a:t>
            </a:r>
            <a:endParaRPr lang="en-US" sz="1100" dirty="0">
              <a:latin typeface="Candara" panose="020E0502030303020204" pitchFamily="34" charset="0"/>
            </a:endParaRPr>
          </a:p>
        </p:txBody>
      </p:sp>
      <p:sp>
        <p:nvSpPr>
          <p:cNvPr id="207" name="Text 205"/>
          <p:cNvSpPr/>
          <p:nvPr/>
        </p:nvSpPr>
        <p:spPr>
          <a:xfrm>
            <a:off x="8282306" y="3818433"/>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/auth/users  ·  /auth/change-password</a:t>
            </a:r>
            <a:endParaRPr lang="en-US" sz="1100" dirty="0">
              <a:latin typeface="Candara" panose="020E0502030303020204" pitchFamily="34" charset="0"/>
            </a:endParaRPr>
          </a:p>
        </p:txBody>
      </p:sp>
      <p:sp>
        <p:nvSpPr>
          <p:cNvPr id="208" name="Shape 206"/>
          <p:cNvSpPr/>
          <p:nvPr/>
        </p:nvSpPr>
        <p:spPr>
          <a:xfrm>
            <a:off x="7660676" y="3975669"/>
            <a:ext cx="585064" cy="102386"/>
          </a:xfrm>
          <a:prstGeom prst="roundRect">
            <a:avLst>
              <a:gd name="adj" fmla="val 26786"/>
            </a:avLst>
          </a:prstGeom>
          <a:solidFill>
            <a:srgbClr val="200A0A"/>
          </a:solidFill>
          <a:ln w="3810">
            <a:solidFill>
              <a:srgbClr val="E07070">
                <a:alpha val="45000"/>
              </a:srgbClr>
            </a:solidFill>
            <a:prstDash val="solid"/>
          </a:ln>
        </p:spPr>
        <p:txBody>
          <a:bodyPr/>
          <a:lstStyle/>
          <a:p>
            <a:endParaRPr lang="en-US" sz="1100">
              <a:latin typeface="Candara" panose="020E0502030303020204" pitchFamily="34" charset="0"/>
            </a:endParaRPr>
          </a:p>
        </p:txBody>
      </p:sp>
      <p:sp>
        <p:nvSpPr>
          <p:cNvPr id="209" name="Text 207"/>
          <p:cNvSpPr/>
          <p:nvPr/>
        </p:nvSpPr>
        <p:spPr>
          <a:xfrm>
            <a:off x="7660676" y="3975669"/>
            <a:ext cx="585064" cy="102386"/>
          </a:xfrm>
          <a:prstGeom prst="rect">
            <a:avLst/>
          </a:prstGeom>
          <a:noFill/>
          <a:ln/>
        </p:spPr>
        <p:txBody>
          <a:bodyPr wrap="square" lIns="0" tIns="0" rIns="0" bIns="0" rtlCol="0" anchor="ctr"/>
          <a:lstStyle/>
          <a:p>
            <a:pPr algn="ctr"/>
            <a:r>
              <a:rPr lang="en-US" sz="1100" b="1" dirty="0">
                <a:solidFill>
                  <a:srgbClr val="E07070"/>
                </a:solidFill>
                <a:latin typeface="Candara" panose="020E0502030303020204" pitchFamily="34" charset="0"/>
                <a:ea typeface="Calibri" pitchFamily="34" charset="-122"/>
                <a:cs typeface="Calibri" pitchFamily="34" charset="-120"/>
              </a:rPr>
              <a:t>DELETE</a:t>
            </a:r>
            <a:endParaRPr lang="en-US" sz="1100" dirty="0">
              <a:latin typeface="Candara" panose="020E0502030303020204" pitchFamily="34" charset="0"/>
            </a:endParaRPr>
          </a:p>
        </p:txBody>
      </p:sp>
      <p:sp>
        <p:nvSpPr>
          <p:cNvPr id="210" name="Text 208"/>
          <p:cNvSpPr/>
          <p:nvPr/>
        </p:nvSpPr>
        <p:spPr>
          <a:xfrm>
            <a:off x="8282306" y="3957386"/>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/auth/users</a:t>
            </a:r>
            <a:endParaRPr lang="en-US" sz="1100" dirty="0">
              <a:latin typeface="Candara" panose="020E0502030303020204" pitchFamily="34" charset="0"/>
            </a:endParaRPr>
          </a:p>
        </p:txBody>
      </p:sp>
      <p:sp>
        <p:nvSpPr>
          <p:cNvPr id="211" name="Shape 209"/>
          <p:cNvSpPr/>
          <p:nvPr/>
        </p:nvSpPr>
        <p:spPr>
          <a:xfrm>
            <a:off x="7624110" y="4096339"/>
            <a:ext cx="4360552"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212" name="Shape 210"/>
          <p:cNvSpPr/>
          <p:nvPr/>
        </p:nvSpPr>
        <p:spPr>
          <a:xfrm>
            <a:off x="7660676" y="4114622"/>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213" name="Text 211"/>
          <p:cNvSpPr/>
          <p:nvPr/>
        </p:nvSpPr>
        <p:spPr>
          <a:xfrm>
            <a:off x="7660676" y="4114622"/>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214" name="Text 212"/>
          <p:cNvSpPr/>
          <p:nvPr/>
        </p:nvSpPr>
        <p:spPr>
          <a:xfrm>
            <a:off x="8282306" y="4096339"/>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/health  ·  /health/mqtt</a:t>
            </a:r>
            <a:endParaRPr lang="en-US" sz="1100" dirty="0">
              <a:latin typeface="Candara" panose="020E0502030303020204" pitchFamily="34" charset="0"/>
            </a:endParaRPr>
          </a:p>
        </p:txBody>
      </p:sp>
      <p:sp>
        <p:nvSpPr>
          <p:cNvPr id="215" name="Shape 213"/>
          <p:cNvSpPr/>
          <p:nvPr/>
        </p:nvSpPr>
        <p:spPr>
          <a:xfrm>
            <a:off x="7610397" y="4422694"/>
            <a:ext cx="4433685" cy="597862"/>
          </a:xfrm>
          <a:prstGeom prst="roundRect">
            <a:avLst>
              <a:gd name="adj" fmla="val 10703"/>
            </a:avLst>
          </a:prstGeom>
          <a:solidFill>
            <a:srgbClr val="000000">
              <a:alpha val="12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216" name="Shape 214"/>
          <p:cNvSpPr/>
          <p:nvPr/>
        </p:nvSpPr>
        <p:spPr>
          <a:xfrm>
            <a:off x="7587543" y="4399840"/>
            <a:ext cx="4433685" cy="597862"/>
          </a:xfrm>
          <a:prstGeom prst="roundRect">
            <a:avLst>
              <a:gd name="adj" fmla="val 10703"/>
            </a:avLst>
          </a:prstGeom>
          <a:solidFill>
            <a:srgbClr val="091A0F"/>
          </a:solidFill>
          <a:ln w="9525">
            <a:solidFill>
              <a:srgbClr val="1C3D28"/>
            </a:solidFill>
            <a:prstDash val="solid"/>
          </a:ln>
        </p:spPr>
        <p:txBody>
          <a:bodyPr/>
          <a:lstStyle/>
          <a:p>
            <a:endParaRPr lang="en-US" sz="1100">
              <a:latin typeface="Candara" panose="020E0502030303020204" pitchFamily="34" charset="0"/>
            </a:endParaRPr>
          </a:p>
        </p:txBody>
      </p:sp>
      <p:sp>
        <p:nvSpPr>
          <p:cNvPr id="217" name="Shape 215"/>
          <p:cNvSpPr/>
          <p:nvPr/>
        </p:nvSpPr>
        <p:spPr>
          <a:xfrm>
            <a:off x="7587543" y="4399840"/>
            <a:ext cx="4433685" cy="237682"/>
          </a:xfrm>
          <a:prstGeom prst="roundRect">
            <a:avLst>
              <a:gd name="adj" fmla="val 26923"/>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218" name="Shape 216"/>
          <p:cNvSpPr/>
          <p:nvPr/>
        </p:nvSpPr>
        <p:spPr>
          <a:xfrm>
            <a:off x="7587543" y="4582672"/>
            <a:ext cx="4433685" cy="54850"/>
          </a:xfrm>
          <a:prstGeom prst="rect">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219" name="Text 217"/>
          <p:cNvSpPr/>
          <p:nvPr/>
        </p:nvSpPr>
        <p:spPr>
          <a:xfrm>
            <a:off x="7678959" y="4399840"/>
            <a:ext cx="4287419"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Device Configuration</a:t>
            </a:r>
            <a:endParaRPr lang="en-US" sz="1100" dirty="0">
              <a:latin typeface="Candara" panose="020E0502030303020204" pitchFamily="34" charset="0"/>
            </a:endParaRPr>
          </a:p>
        </p:txBody>
      </p:sp>
      <p:sp>
        <p:nvSpPr>
          <p:cNvPr id="220" name="Shape 218"/>
          <p:cNvSpPr/>
          <p:nvPr/>
        </p:nvSpPr>
        <p:spPr>
          <a:xfrm>
            <a:off x="7642393" y="4637522"/>
            <a:ext cx="4323986" cy="0"/>
          </a:xfrm>
          <a:prstGeom prst="line">
            <a:avLst/>
          </a:prstGeom>
          <a:noFill/>
          <a:ln w="6350">
            <a:solidFill>
              <a:srgbClr val="1C3D28"/>
            </a:solidFill>
            <a:prstDash val="solid"/>
          </a:ln>
        </p:spPr>
        <p:txBody>
          <a:bodyPr/>
          <a:lstStyle/>
          <a:p>
            <a:endParaRPr lang="en-US" sz="1100">
              <a:latin typeface="Candara" panose="020E0502030303020204" pitchFamily="34" charset="0"/>
            </a:endParaRPr>
          </a:p>
        </p:txBody>
      </p:sp>
      <p:sp>
        <p:nvSpPr>
          <p:cNvPr id="221" name="Shape 219"/>
          <p:cNvSpPr/>
          <p:nvPr/>
        </p:nvSpPr>
        <p:spPr>
          <a:xfrm>
            <a:off x="7660676" y="4674089"/>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222" name="Text 220"/>
          <p:cNvSpPr/>
          <p:nvPr/>
        </p:nvSpPr>
        <p:spPr>
          <a:xfrm>
            <a:off x="7660676" y="4674089"/>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223" name="Text 221"/>
          <p:cNvSpPr/>
          <p:nvPr/>
        </p:nvSpPr>
        <p:spPr>
          <a:xfrm>
            <a:off x="8282306" y="4655806"/>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/devices/{deviceId}/configurations</a:t>
            </a:r>
            <a:endParaRPr lang="en-US" sz="1100" dirty="0">
              <a:latin typeface="Candara" panose="020E0502030303020204" pitchFamily="34" charset="0"/>
            </a:endParaRPr>
          </a:p>
        </p:txBody>
      </p:sp>
      <p:sp>
        <p:nvSpPr>
          <p:cNvPr id="224" name="Shape 222"/>
          <p:cNvSpPr/>
          <p:nvPr/>
        </p:nvSpPr>
        <p:spPr>
          <a:xfrm>
            <a:off x="7624110" y="4794759"/>
            <a:ext cx="4360552"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225" name="Shape 223"/>
          <p:cNvSpPr/>
          <p:nvPr/>
        </p:nvSpPr>
        <p:spPr>
          <a:xfrm>
            <a:off x="7660676" y="4813042"/>
            <a:ext cx="585064" cy="102386"/>
          </a:xfrm>
          <a:prstGeom prst="roundRect">
            <a:avLst>
              <a:gd name="adj" fmla="val 26786"/>
            </a:avLst>
          </a:prstGeom>
          <a:solidFill>
            <a:srgbClr val="201608"/>
          </a:solidFill>
          <a:ln w="3810">
            <a:solidFill>
              <a:srgbClr val="E8B87A">
                <a:alpha val="45000"/>
              </a:srgbClr>
            </a:solidFill>
            <a:prstDash val="solid"/>
          </a:ln>
        </p:spPr>
        <p:txBody>
          <a:bodyPr/>
          <a:lstStyle/>
          <a:p>
            <a:endParaRPr lang="en-US" sz="1100">
              <a:latin typeface="Candara" panose="020E0502030303020204" pitchFamily="34" charset="0"/>
            </a:endParaRPr>
          </a:p>
        </p:txBody>
      </p:sp>
      <p:sp>
        <p:nvSpPr>
          <p:cNvPr id="226" name="Text 224"/>
          <p:cNvSpPr/>
          <p:nvPr/>
        </p:nvSpPr>
        <p:spPr>
          <a:xfrm>
            <a:off x="7660676" y="4813042"/>
            <a:ext cx="585064" cy="102386"/>
          </a:xfrm>
          <a:prstGeom prst="rect">
            <a:avLst/>
          </a:prstGeom>
          <a:noFill/>
          <a:ln/>
        </p:spPr>
        <p:txBody>
          <a:bodyPr wrap="square" lIns="0" tIns="0" rIns="0" bIns="0" rtlCol="0" anchor="ctr"/>
          <a:lstStyle/>
          <a:p>
            <a:pPr algn="ctr"/>
            <a:r>
              <a:rPr lang="en-US" sz="1100" b="1" dirty="0">
                <a:solidFill>
                  <a:srgbClr val="E8B87A"/>
                </a:solidFill>
                <a:latin typeface="Candara" panose="020E0502030303020204" pitchFamily="34" charset="0"/>
                <a:ea typeface="Calibri" pitchFamily="34" charset="-122"/>
                <a:cs typeface="Calibri" pitchFamily="34" charset="-120"/>
              </a:rPr>
              <a:t>PUT</a:t>
            </a:r>
            <a:endParaRPr lang="en-US" sz="1100" dirty="0">
              <a:latin typeface="Candara" panose="020E0502030303020204" pitchFamily="34" charset="0"/>
            </a:endParaRPr>
          </a:p>
        </p:txBody>
      </p:sp>
      <p:sp>
        <p:nvSpPr>
          <p:cNvPr id="227" name="Text 225"/>
          <p:cNvSpPr/>
          <p:nvPr/>
        </p:nvSpPr>
        <p:spPr>
          <a:xfrm>
            <a:off x="8282306" y="4794759"/>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/devices/{deviceId}/configurations</a:t>
            </a:r>
            <a:endParaRPr lang="en-US" sz="1100" dirty="0">
              <a:latin typeface="Candara" panose="020E0502030303020204" pitchFamily="34" charset="0"/>
            </a:endParaRPr>
          </a:p>
        </p:txBody>
      </p:sp>
      <p:sp>
        <p:nvSpPr>
          <p:cNvPr id="228" name="Shape 226"/>
          <p:cNvSpPr/>
          <p:nvPr/>
        </p:nvSpPr>
        <p:spPr>
          <a:xfrm>
            <a:off x="201115" y="6518867"/>
            <a:ext cx="11792688" cy="0"/>
          </a:xfrm>
          <a:prstGeom prst="line">
            <a:avLst/>
          </a:prstGeom>
          <a:noFill/>
          <a:ln w="6350">
            <a:solidFill>
              <a:srgbClr val="1C3D28"/>
            </a:solidFill>
            <a:prstDash val="solid"/>
          </a:ln>
        </p:spPr>
        <p:txBody>
          <a:bodyPr/>
          <a:lstStyle/>
          <a:p>
            <a:endParaRPr lang="en-US" sz="1200">
              <a:latin typeface="Candara" panose="020E0502030303020204" pitchFamily="34" charset="0"/>
            </a:endParaRPr>
          </a:p>
        </p:txBody>
      </p:sp>
      <p:sp>
        <p:nvSpPr>
          <p:cNvPr id="229" name="Text 227"/>
          <p:cNvSpPr/>
          <p:nvPr/>
        </p:nvSpPr>
        <p:spPr>
          <a:xfrm>
            <a:off x="201115" y="6564575"/>
            <a:ext cx="5027890" cy="219399"/>
          </a:xfrm>
          <a:prstGeom prst="rect">
            <a:avLst/>
          </a:prstGeom>
          <a:noFill/>
          <a:ln/>
        </p:spPr>
        <p:txBody>
          <a:bodyPr wrap="square" lIns="0" tIns="0" rIns="0" bIns="0" rtlCol="0" anchor="ctr"/>
          <a:lstStyle/>
          <a:p>
            <a:r>
              <a:rPr lang="en-US" sz="1200" b="1" dirty="0">
                <a:solidFill>
                  <a:srgbClr val="3ECF80"/>
                </a:solidFill>
                <a:latin typeface="Candara" panose="020E0502030303020204" pitchFamily="34" charset="0"/>
                <a:ea typeface="Calibri" pitchFamily="34" charset="-122"/>
                <a:cs typeface="Calibri" pitchFamily="34" charset="-120"/>
              </a:rPr>
              <a:t>⚡  MQTT → Broker → API → SignalR → Frontend</a:t>
            </a:r>
            <a:r>
              <a:rPr lang="en-US" sz="1200" dirty="0">
                <a:solidFill>
                  <a:srgbClr val="7AB896"/>
                </a:solidFill>
                <a:latin typeface="Candara" panose="020E0502030303020204" pitchFamily="34" charset="0"/>
                <a:ea typeface="Calibri" pitchFamily="34" charset="-122"/>
                <a:cs typeface="Calibri" pitchFamily="34" charset="-120"/>
              </a:rPr>
              <a:t>  (&lt;2s real-time updates)</a:t>
            </a:r>
            <a:endParaRPr lang="en-US" sz="1200" dirty="0">
              <a:latin typeface="Candara" panose="020E0502030303020204" pitchFamily="34" charset="0"/>
            </a:endParaRPr>
          </a:p>
        </p:txBody>
      </p:sp>
      <p:sp>
        <p:nvSpPr>
          <p:cNvPr id="230" name="Text 228"/>
          <p:cNvSpPr/>
          <p:nvPr/>
        </p:nvSpPr>
        <p:spPr>
          <a:xfrm>
            <a:off x="5302138" y="6564575"/>
            <a:ext cx="6719090" cy="219399"/>
          </a:xfrm>
          <a:prstGeom prst="rect">
            <a:avLst/>
          </a:prstGeom>
          <a:noFill/>
          <a:ln/>
        </p:spPr>
        <p:txBody>
          <a:bodyPr wrap="square" lIns="0" tIns="0" rIns="0" bIns="0" rtlCol="0" anchor="ctr"/>
          <a:lstStyle/>
          <a:p>
            <a:pPr algn="r"/>
            <a:r>
              <a:rPr lang="en-US" sz="1200" dirty="0">
                <a:solidFill>
                  <a:srgbClr val="7AB896"/>
                </a:solidFill>
                <a:latin typeface="Candara" panose="020E0502030303020204" pitchFamily="34" charset="0"/>
                <a:ea typeface="Calibri" pitchFamily="34" charset="-122"/>
                <a:cs typeface="Calibri" pitchFamily="34" charset="-120"/>
              </a:rPr>
              <a:t>🔐  Most endpoints [Authorize]  ·  Admin / Operator on writes  ·  JWT Bearer  ·  SignalR: ?access_token</a:t>
            </a:r>
            <a:endParaRPr lang="en-US" sz="1200" dirty="0">
              <a:latin typeface="Candara" panose="020E0502030303020204" pitchFamily="34" charset="0"/>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D2117"/>
        </a:solidFill>
        <a:effectLst/>
      </p:bgPr>
    </p:bg>
    <p:spTree>
      <p:nvGrpSpPr>
        <p:cNvPr id="1" name=""/>
        <p:cNvGrpSpPr/>
        <p:nvPr/>
      </p:nvGrpSpPr>
      <p:grpSpPr>
        <a:xfrm>
          <a:off x="0" y="0"/>
          <a:ext cx="0" cy="0"/>
          <a:chOff x="0" y="0"/>
          <a:chExt cx="0" cy="0"/>
        </a:xfrm>
      </p:grpSpPr>
      <p:sp>
        <p:nvSpPr>
          <p:cNvPr id="2" name="Text 0"/>
          <p:cNvSpPr/>
          <p:nvPr/>
        </p:nvSpPr>
        <p:spPr>
          <a:xfrm>
            <a:off x="296432" y="435122"/>
            <a:ext cx="11646422" cy="420514"/>
          </a:xfrm>
          <a:prstGeom prst="rect">
            <a:avLst/>
          </a:prstGeom>
          <a:noFill/>
          <a:ln/>
        </p:spPr>
        <p:txBody>
          <a:bodyPr wrap="square" lIns="0" tIns="0" rIns="0" bIns="0" rtlCol="0" anchor="ctr"/>
          <a:lstStyle/>
          <a:p>
            <a:pPr defTabSz="914126"/>
            <a:r>
              <a:rPr lang="en-US" sz="2800" b="1" dirty="0">
                <a:solidFill>
                  <a:srgbClr val="FFFFFF"/>
                </a:solidFill>
                <a:latin typeface="Candara" panose="020E0502030303020204" pitchFamily="34" charset="0"/>
                <a:ea typeface="Calibri" pitchFamily="34" charset="-122"/>
                <a:cs typeface="Calibri" pitchFamily="34" charset="-120"/>
              </a:rPr>
              <a:t>Frontend Design</a:t>
            </a:r>
            <a:r>
              <a:rPr lang="en-US" sz="2800" b="1" dirty="0">
                <a:solidFill>
                  <a:srgbClr val="3ECF80"/>
                </a:solidFill>
                <a:latin typeface="Candara" panose="020E0502030303020204" pitchFamily="34" charset="0"/>
                <a:ea typeface="Calibri" pitchFamily="34" charset="-122"/>
                <a:cs typeface="Calibri" pitchFamily="34" charset="-120"/>
              </a:rPr>
              <a:t> | Components &amp; Navigation</a:t>
            </a:r>
            <a:endParaRPr lang="en-US" sz="2800" dirty="0">
              <a:solidFill>
                <a:prstClr val="black"/>
              </a:solidFill>
              <a:latin typeface="Candara" panose="020E0502030303020204" pitchFamily="34" charset="0"/>
            </a:endParaRPr>
          </a:p>
        </p:txBody>
      </p:sp>
      <p:sp>
        <p:nvSpPr>
          <p:cNvPr id="3" name="Text 1"/>
          <p:cNvSpPr/>
          <p:nvPr/>
        </p:nvSpPr>
        <p:spPr>
          <a:xfrm>
            <a:off x="365664" y="836875"/>
            <a:ext cx="6668928" cy="228542"/>
          </a:xfrm>
          <a:prstGeom prst="rect">
            <a:avLst/>
          </a:prstGeom>
          <a:noFill/>
          <a:ln/>
        </p:spPr>
        <p:txBody>
          <a:bodyPr wrap="square" lIns="0" tIns="0" rIns="0" bIns="0" rtlCol="0" anchor="ctr"/>
          <a:lstStyle/>
          <a:p>
            <a:pPr defTabSz="914126"/>
            <a:r>
              <a:rPr lang="en-US" sz="1200" dirty="0">
                <a:solidFill>
                  <a:srgbClr val="7AB896"/>
                </a:solidFill>
                <a:latin typeface="Candara" panose="020E0502030303020204" pitchFamily="34" charset="0"/>
                <a:ea typeface="Calibri" pitchFamily="34" charset="-122"/>
                <a:cs typeface="Calibri" pitchFamily="34" charset="-120"/>
              </a:rPr>
              <a:t>App shell  ·  ProtectedRoute guard  ·  10 route-level pages  ·  JWT role-based routing</a:t>
            </a:r>
            <a:endParaRPr lang="en-US" sz="1200" dirty="0">
              <a:solidFill>
                <a:prstClr val="black"/>
              </a:solidFill>
              <a:latin typeface="Candara" panose="020E0502030303020204" pitchFamily="34" charset="0"/>
            </a:endParaRPr>
          </a:p>
        </p:txBody>
      </p:sp>
      <p:sp>
        <p:nvSpPr>
          <p:cNvPr id="4" name="Shape 2"/>
          <p:cNvSpPr/>
          <p:nvPr/>
        </p:nvSpPr>
        <p:spPr>
          <a:xfrm>
            <a:off x="255965" y="823639"/>
            <a:ext cx="11646422" cy="0"/>
          </a:xfrm>
          <a:prstGeom prst="line">
            <a:avLst/>
          </a:prstGeom>
          <a:noFill/>
          <a:ln w="6350">
            <a:solidFill>
              <a:srgbClr val="1C3D28"/>
            </a:solidFill>
            <a:prstDash val="solid"/>
          </a:ln>
        </p:spPr>
        <p:txBody>
          <a:bodyPr/>
          <a:lstStyle/>
          <a:p>
            <a:pPr defTabSz="914126"/>
            <a:endParaRPr lang="en-US" sz="1200">
              <a:solidFill>
                <a:prstClr val="black"/>
              </a:solidFill>
              <a:latin typeface="Candara" panose="020E0502030303020204" pitchFamily="34" charset="0"/>
            </a:endParaRPr>
          </a:p>
        </p:txBody>
      </p:sp>
      <p:sp>
        <p:nvSpPr>
          <p:cNvPr id="6" name="Shape 4"/>
          <p:cNvSpPr/>
          <p:nvPr/>
        </p:nvSpPr>
        <p:spPr>
          <a:xfrm>
            <a:off x="1462659" y="2789087"/>
            <a:ext cx="102843"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7" name="Shape 5"/>
          <p:cNvSpPr/>
          <p:nvPr/>
        </p:nvSpPr>
        <p:spPr>
          <a:xfrm>
            <a:off x="1565502" y="1417844"/>
            <a:ext cx="0" cy="2742486"/>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8" name="Shape 6"/>
          <p:cNvSpPr/>
          <p:nvPr/>
        </p:nvSpPr>
        <p:spPr>
          <a:xfrm>
            <a:off x="1565502" y="1417844"/>
            <a:ext cx="102843"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9" name="Shape 7"/>
          <p:cNvSpPr/>
          <p:nvPr/>
        </p:nvSpPr>
        <p:spPr>
          <a:xfrm>
            <a:off x="1565502" y="4160330"/>
            <a:ext cx="102843"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0" name="Shape 8"/>
          <p:cNvSpPr/>
          <p:nvPr/>
        </p:nvSpPr>
        <p:spPr>
          <a:xfrm>
            <a:off x="3085296" y="4160330"/>
            <a:ext cx="137124"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1" name="Shape 9"/>
          <p:cNvSpPr/>
          <p:nvPr/>
        </p:nvSpPr>
        <p:spPr>
          <a:xfrm>
            <a:off x="3222420" y="2103466"/>
            <a:ext cx="0" cy="4113728"/>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2" name="Shape 10"/>
          <p:cNvSpPr/>
          <p:nvPr/>
        </p:nvSpPr>
        <p:spPr>
          <a:xfrm>
            <a:off x="3222420" y="2103465"/>
            <a:ext cx="137124"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3" name="Shape 11"/>
          <p:cNvSpPr/>
          <p:nvPr/>
        </p:nvSpPr>
        <p:spPr>
          <a:xfrm>
            <a:off x="3222420" y="2560546"/>
            <a:ext cx="137124"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4" name="Shape 12"/>
          <p:cNvSpPr/>
          <p:nvPr/>
        </p:nvSpPr>
        <p:spPr>
          <a:xfrm>
            <a:off x="3222420" y="3017627"/>
            <a:ext cx="137124"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5" name="Shape 13"/>
          <p:cNvSpPr/>
          <p:nvPr/>
        </p:nvSpPr>
        <p:spPr>
          <a:xfrm>
            <a:off x="3222420" y="3474708"/>
            <a:ext cx="137124"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6" name="Shape 14"/>
          <p:cNvSpPr/>
          <p:nvPr/>
        </p:nvSpPr>
        <p:spPr>
          <a:xfrm>
            <a:off x="3222420" y="3931789"/>
            <a:ext cx="137124"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7" name="Shape 15"/>
          <p:cNvSpPr/>
          <p:nvPr/>
        </p:nvSpPr>
        <p:spPr>
          <a:xfrm>
            <a:off x="3222420" y="4388870"/>
            <a:ext cx="137124"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8" name="Shape 16"/>
          <p:cNvSpPr/>
          <p:nvPr/>
        </p:nvSpPr>
        <p:spPr>
          <a:xfrm>
            <a:off x="3222420" y="4845951"/>
            <a:ext cx="137124"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9" name="Shape 17"/>
          <p:cNvSpPr/>
          <p:nvPr/>
        </p:nvSpPr>
        <p:spPr>
          <a:xfrm>
            <a:off x="3222420" y="5303032"/>
            <a:ext cx="137124"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20" name="Shape 18"/>
          <p:cNvSpPr/>
          <p:nvPr/>
        </p:nvSpPr>
        <p:spPr>
          <a:xfrm>
            <a:off x="3222420" y="5760113"/>
            <a:ext cx="137124"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22" name="Shape 20"/>
          <p:cNvSpPr/>
          <p:nvPr/>
        </p:nvSpPr>
        <p:spPr>
          <a:xfrm>
            <a:off x="388518" y="2674816"/>
            <a:ext cx="1096994" cy="274249"/>
          </a:xfrm>
          <a:prstGeom prst="roundRect">
            <a:avLst>
              <a:gd name="adj" fmla="val 16667"/>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23" name="Shape 21"/>
          <p:cNvSpPr/>
          <p:nvPr/>
        </p:nvSpPr>
        <p:spPr>
          <a:xfrm>
            <a:off x="365664" y="2651962"/>
            <a:ext cx="1096994" cy="274249"/>
          </a:xfrm>
          <a:prstGeom prst="roundRect">
            <a:avLst>
              <a:gd name="adj" fmla="val 16667"/>
            </a:avLst>
          </a:prstGeom>
          <a:solidFill>
            <a:srgbClr val="0D3322"/>
          </a:solidFill>
          <a:ln w="9525">
            <a:solidFill>
              <a:srgbClr val="3ECF8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24" name="Text 22"/>
          <p:cNvSpPr/>
          <p:nvPr/>
        </p:nvSpPr>
        <p:spPr>
          <a:xfrm>
            <a:off x="438797" y="2651962"/>
            <a:ext cx="950728" cy="274249"/>
          </a:xfrm>
          <a:prstGeom prst="rect">
            <a:avLst/>
          </a:prstGeom>
          <a:noFill/>
          <a:ln/>
        </p:spPr>
        <p:txBody>
          <a:bodyPr wrap="square" lIns="0" tIns="0" rIns="0" bIns="0" rtlCol="0" anchor="ctr"/>
          <a:lstStyle/>
          <a:p>
            <a:pPr algn="ctr" defTabSz="914126"/>
            <a:r>
              <a:rPr lang="en-US" sz="1200" dirty="0">
                <a:solidFill>
                  <a:srgbClr val="FFFFFF"/>
                </a:solidFill>
                <a:latin typeface="Candara" panose="020E0502030303020204" pitchFamily="34" charset="0"/>
                <a:ea typeface="Consolas" pitchFamily="34" charset="-122"/>
                <a:cs typeface="Consolas" pitchFamily="34" charset="-120"/>
              </a:rPr>
              <a:t>App.tsx</a:t>
            </a:r>
            <a:endParaRPr lang="en-US" sz="1200" dirty="0">
              <a:solidFill>
                <a:prstClr val="black"/>
              </a:solidFill>
              <a:latin typeface="Candara" panose="020E0502030303020204" pitchFamily="34" charset="0"/>
            </a:endParaRPr>
          </a:p>
        </p:txBody>
      </p:sp>
      <p:sp>
        <p:nvSpPr>
          <p:cNvPr id="25" name="Shape 23"/>
          <p:cNvSpPr/>
          <p:nvPr/>
        </p:nvSpPr>
        <p:spPr>
          <a:xfrm>
            <a:off x="1691199" y="1303573"/>
            <a:ext cx="1416951" cy="274249"/>
          </a:xfrm>
          <a:prstGeom prst="roundRect">
            <a:avLst>
              <a:gd name="adj" fmla="val 16667"/>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26" name="Shape 24"/>
          <p:cNvSpPr/>
          <p:nvPr/>
        </p:nvSpPr>
        <p:spPr>
          <a:xfrm>
            <a:off x="1668345" y="1280719"/>
            <a:ext cx="1416951" cy="274249"/>
          </a:xfrm>
          <a:prstGeom prst="roundRect">
            <a:avLst>
              <a:gd name="adj" fmla="val 16667"/>
            </a:avLst>
          </a:prstGeom>
          <a:solidFill>
            <a:srgbClr val="0D1F3C"/>
          </a:solidFill>
          <a:ln w="9525">
            <a:solidFill>
              <a:srgbClr val="7EC8E3"/>
            </a:solidFill>
            <a:prstDash val="solid"/>
          </a:ln>
        </p:spPr>
        <p:txBody>
          <a:bodyPr/>
          <a:lstStyle/>
          <a:p>
            <a:pPr defTabSz="914126"/>
            <a:endParaRPr lang="en-US" sz="1200">
              <a:solidFill>
                <a:prstClr val="black"/>
              </a:solidFill>
              <a:latin typeface="Candara" panose="020E0502030303020204" pitchFamily="34" charset="0"/>
            </a:endParaRPr>
          </a:p>
        </p:txBody>
      </p:sp>
      <p:sp>
        <p:nvSpPr>
          <p:cNvPr id="27" name="Text 25"/>
          <p:cNvSpPr/>
          <p:nvPr/>
        </p:nvSpPr>
        <p:spPr>
          <a:xfrm>
            <a:off x="1741478" y="1280719"/>
            <a:ext cx="1270685" cy="274249"/>
          </a:xfrm>
          <a:prstGeom prst="rect">
            <a:avLst/>
          </a:prstGeom>
          <a:noFill/>
          <a:ln/>
        </p:spPr>
        <p:txBody>
          <a:bodyPr wrap="square" lIns="0" tIns="0" rIns="0" bIns="0" rtlCol="0" anchor="ctr"/>
          <a:lstStyle/>
          <a:p>
            <a:pPr algn="ctr" defTabSz="914126"/>
            <a:r>
              <a:rPr lang="en-US" sz="1200" dirty="0">
                <a:solidFill>
                  <a:srgbClr val="FFFFFF"/>
                </a:solidFill>
                <a:latin typeface="Candara" panose="020E0502030303020204" pitchFamily="34" charset="0"/>
                <a:ea typeface="Consolas" pitchFamily="34" charset="-122"/>
                <a:cs typeface="Consolas" pitchFamily="34" charset="-120"/>
              </a:rPr>
              <a:t>LoginPage</a:t>
            </a:r>
            <a:endParaRPr lang="en-US" sz="1200" dirty="0">
              <a:solidFill>
                <a:prstClr val="black"/>
              </a:solidFill>
              <a:latin typeface="Candara" panose="020E0502030303020204" pitchFamily="34" charset="0"/>
            </a:endParaRPr>
          </a:p>
        </p:txBody>
      </p:sp>
      <p:sp>
        <p:nvSpPr>
          <p:cNvPr id="28" name="Shape 26"/>
          <p:cNvSpPr/>
          <p:nvPr/>
        </p:nvSpPr>
        <p:spPr>
          <a:xfrm>
            <a:off x="1691199" y="4018635"/>
            <a:ext cx="1416951" cy="329098"/>
          </a:xfrm>
          <a:prstGeom prst="roundRect">
            <a:avLst>
              <a:gd name="adj" fmla="val 13889"/>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29" name="Shape 27"/>
          <p:cNvSpPr/>
          <p:nvPr/>
        </p:nvSpPr>
        <p:spPr>
          <a:xfrm>
            <a:off x="1668345" y="3995781"/>
            <a:ext cx="1416951" cy="329098"/>
          </a:xfrm>
          <a:prstGeom prst="roundRect">
            <a:avLst>
              <a:gd name="adj" fmla="val 13889"/>
            </a:avLst>
          </a:prstGeom>
          <a:solidFill>
            <a:srgbClr val="0D1F3C"/>
          </a:solidFill>
          <a:ln w="9525">
            <a:solidFill>
              <a:srgbClr val="3ECF8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30" name="Text 28"/>
          <p:cNvSpPr/>
          <p:nvPr/>
        </p:nvSpPr>
        <p:spPr>
          <a:xfrm>
            <a:off x="1741478" y="3995781"/>
            <a:ext cx="1270685" cy="329098"/>
          </a:xfrm>
          <a:prstGeom prst="rect">
            <a:avLst/>
          </a:prstGeom>
          <a:noFill/>
          <a:ln/>
        </p:spPr>
        <p:txBody>
          <a:bodyPr wrap="square" lIns="0" tIns="0" rIns="0" bIns="0" rtlCol="0" anchor="ctr"/>
          <a:lstStyle/>
          <a:p>
            <a:pPr algn="ctr" defTabSz="914126"/>
            <a:r>
              <a:rPr lang="en-US" sz="1200" dirty="0">
                <a:solidFill>
                  <a:srgbClr val="FFFFFF"/>
                </a:solidFill>
                <a:latin typeface="Candara" panose="020E0502030303020204" pitchFamily="34" charset="0"/>
                <a:ea typeface="Consolas" pitchFamily="34" charset="-122"/>
                <a:cs typeface="Consolas" pitchFamily="34" charset="-120"/>
              </a:rPr>
              <a:t>ProtectedRoute</a:t>
            </a:r>
            <a:endParaRPr lang="en-US" sz="1200" dirty="0">
              <a:solidFill>
                <a:prstClr val="black"/>
              </a:solidFill>
              <a:latin typeface="Candara" panose="020E0502030303020204" pitchFamily="34" charset="0"/>
            </a:endParaRPr>
          </a:p>
        </p:txBody>
      </p:sp>
      <p:sp>
        <p:nvSpPr>
          <p:cNvPr id="31" name="Shape 29"/>
          <p:cNvSpPr/>
          <p:nvPr/>
        </p:nvSpPr>
        <p:spPr>
          <a:xfrm>
            <a:off x="3382398" y="1989195"/>
            <a:ext cx="1416951" cy="274249"/>
          </a:xfrm>
          <a:prstGeom prst="roundRect">
            <a:avLst>
              <a:gd name="adj" fmla="val 16667"/>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32" name="Shape 30"/>
          <p:cNvSpPr/>
          <p:nvPr/>
        </p:nvSpPr>
        <p:spPr>
          <a:xfrm>
            <a:off x="3359544" y="1966341"/>
            <a:ext cx="1416951" cy="274249"/>
          </a:xfrm>
          <a:prstGeom prst="roundRect">
            <a:avLst>
              <a:gd name="adj" fmla="val 16667"/>
            </a:avLst>
          </a:prstGeom>
          <a:solidFill>
            <a:srgbClr val="1A2E1A"/>
          </a:solidFill>
          <a:ln w="9525">
            <a:solidFill>
              <a:srgbClr val="9B8FE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33" name="Text 31"/>
          <p:cNvSpPr/>
          <p:nvPr/>
        </p:nvSpPr>
        <p:spPr>
          <a:xfrm>
            <a:off x="3432678" y="1966341"/>
            <a:ext cx="758754" cy="274249"/>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Navigation</a:t>
            </a:r>
            <a:endParaRPr lang="en-US" sz="1200" dirty="0">
              <a:solidFill>
                <a:prstClr val="black"/>
              </a:solidFill>
              <a:latin typeface="Candara" panose="020E0502030303020204" pitchFamily="34" charset="0"/>
            </a:endParaRPr>
          </a:p>
        </p:txBody>
      </p:sp>
      <p:sp>
        <p:nvSpPr>
          <p:cNvPr id="34" name="Shape 32"/>
          <p:cNvSpPr/>
          <p:nvPr/>
        </p:nvSpPr>
        <p:spPr>
          <a:xfrm>
            <a:off x="4154865" y="2021191"/>
            <a:ext cx="566780" cy="164549"/>
          </a:xfrm>
          <a:prstGeom prst="roundRect">
            <a:avLst>
              <a:gd name="adj" fmla="val 16667"/>
            </a:avLst>
          </a:prstGeom>
          <a:solidFill>
            <a:srgbClr val="9B8FE0">
              <a:alpha val="13000"/>
            </a:srgbClr>
          </a:solidFill>
          <a:ln w="5080">
            <a:solidFill>
              <a:srgbClr val="9B8FE0">
                <a:alpha val="60000"/>
              </a:srgbClr>
            </a:solidFill>
            <a:prstDash val="solid"/>
          </a:ln>
        </p:spPr>
        <p:txBody>
          <a:bodyPr/>
          <a:lstStyle/>
          <a:p>
            <a:pPr defTabSz="914126"/>
            <a:endParaRPr lang="en-US" sz="1200">
              <a:solidFill>
                <a:prstClr val="black"/>
              </a:solidFill>
              <a:latin typeface="Candara" panose="020E0502030303020204" pitchFamily="34" charset="0"/>
            </a:endParaRPr>
          </a:p>
        </p:txBody>
      </p:sp>
      <p:sp>
        <p:nvSpPr>
          <p:cNvPr id="35" name="Text 33"/>
          <p:cNvSpPr/>
          <p:nvPr/>
        </p:nvSpPr>
        <p:spPr>
          <a:xfrm>
            <a:off x="4154865" y="2021191"/>
            <a:ext cx="566780" cy="164549"/>
          </a:xfrm>
          <a:prstGeom prst="rect">
            <a:avLst/>
          </a:prstGeom>
          <a:noFill/>
          <a:ln/>
        </p:spPr>
        <p:txBody>
          <a:bodyPr wrap="square" lIns="0" tIns="0" rIns="0" bIns="0" rtlCol="0" anchor="ctr"/>
          <a:lstStyle/>
          <a:p>
            <a:pPr algn="ctr" defTabSz="914126"/>
            <a:r>
              <a:rPr lang="en-US" sz="1200" b="1" dirty="0">
                <a:solidFill>
                  <a:srgbClr val="9B8FE0"/>
                </a:solidFill>
                <a:latin typeface="Candara" panose="020E0502030303020204" pitchFamily="34" charset="0"/>
                <a:ea typeface="Calibri" pitchFamily="34" charset="-122"/>
                <a:cs typeface="Calibri" pitchFamily="34" charset="-120"/>
              </a:rPr>
              <a:t>Shared</a:t>
            </a:r>
            <a:endParaRPr lang="en-US" sz="1200" dirty="0">
              <a:solidFill>
                <a:prstClr val="black"/>
              </a:solidFill>
              <a:latin typeface="Candara" panose="020E0502030303020204" pitchFamily="34" charset="0"/>
            </a:endParaRPr>
          </a:p>
        </p:txBody>
      </p:sp>
      <p:sp>
        <p:nvSpPr>
          <p:cNvPr id="36" name="Shape 34"/>
          <p:cNvSpPr/>
          <p:nvPr/>
        </p:nvSpPr>
        <p:spPr>
          <a:xfrm>
            <a:off x="3382398" y="2446276"/>
            <a:ext cx="1416951" cy="274249"/>
          </a:xfrm>
          <a:prstGeom prst="roundRect">
            <a:avLst>
              <a:gd name="adj" fmla="val 16667"/>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37" name="Shape 35"/>
          <p:cNvSpPr/>
          <p:nvPr/>
        </p:nvSpPr>
        <p:spPr>
          <a:xfrm>
            <a:off x="3359544" y="2423422"/>
            <a:ext cx="1416951" cy="274249"/>
          </a:xfrm>
          <a:prstGeom prst="roundRect">
            <a:avLst>
              <a:gd name="adj" fmla="val 16667"/>
            </a:avLst>
          </a:prstGeom>
          <a:solidFill>
            <a:srgbClr val="0D2117"/>
          </a:solidFill>
          <a:ln w="9525">
            <a:solidFill>
              <a:srgbClr val="1C3D28"/>
            </a:solidFill>
            <a:prstDash val="solid"/>
          </a:ln>
        </p:spPr>
        <p:txBody>
          <a:bodyPr/>
          <a:lstStyle/>
          <a:p>
            <a:pPr defTabSz="914126"/>
            <a:endParaRPr lang="en-US" sz="1200">
              <a:solidFill>
                <a:prstClr val="black"/>
              </a:solidFill>
              <a:latin typeface="Candara" panose="020E0502030303020204" pitchFamily="34" charset="0"/>
            </a:endParaRPr>
          </a:p>
        </p:txBody>
      </p:sp>
      <p:sp>
        <p:nvSpPr>
          <p:cNvPr id="38" name="Text 36"/>
          <p:cNvSpPr/>
          <p:nvPr/>
        </p:nvSpPr>
        <p:spPr>
          <a:xfrm>
            <a:off x="3432678" y="2423422"/>
            <a:ext cx="1307251" cy="274249"/>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Dashboard</a:t>
            </a:r>
            <a:endParaRPr lang="en-US" sz="1200" dirty="0">
              <a:solidFill>
                <a:prstClr val="black"/>
              </a:solidFill>
              <a:latin typeface="Candara" panose="020E0502030303020204" pitchFamily="34" charset="0"/>
            </a:endParaRPr>
          </a:p>
        </p:txBody>
      </p:sp>
      <p:sp>
        <p:nvSpPr>
          <p:cNvPr id="39" name="Shape 37"/>
          <p:cNvSpPr/>
          <p:nvPr/>
        </p:nvSpPr>
        <p:spPr>
          <a:xfrm>
            <a:off x="3382398" y="2903357"/>
            <a:ext cx="1416951" cy="274249"/>
          </a:xfrm>
          <a:prstGeom prst="roundRect">
            <a:avLst>
              <a:gd name="adj" fmla="val 16667"/>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40" name="Shape 38"/>
          <p:cNvSpPr/>
          <p:nvPr/>
        </p:nvSpPr>
        <p:spPr>
          <a:xfrm>
            <a:off x="3359544" y="2880503"/>
            <a:ext cx="1416951" cy="274249"/>
          </a:xfrm>
          <a:prstGeom prst="roundRect">
            <a:avLst>
              <a:gd name="adj" fmla="val 16667"/>
            </a:avLst>
          </a:prstGeom>
          <a:solidFill>
            <a:srgbClr val="0D2117"/>
          </a:solidFill>
          <a:ln w="9525">
            <a:solidFill>
              <a:srgbClr val="1C3D28"/>
            </a:solidFill>
            <a:prstDash val="solid"/>
          </a:ln>
        </p:spPr>
        <p:txBody>
          <a:bodyPr/>
          <a:lstStyle/>
          <a:p>
            <a:pPr defTabSz="914126"/>
            <a:endParaRPr lang="en-US" sz="1200">
              <a:solidFill>
                <a:prstClr val="black"/>
              </a:solidFill>
              <a:latin typeface="Candara" panose="020E0502030303020204" pitchFamily="34" charset="0"/>
            </a:endParaRPr>
          </a:p>
        </p:txBody>
      </p:sp>
      <p:sp>
        <p:nvSpPr>
          <p:cNvPr id="41" name="Text 39"/>
          <p:cNvSpPr/>
          <p:nvPr/>
        </p:nvSpPr>
        <p:spPr>
          <a:xfrm>
            <a:off x="3432678" y="2880503"/>
            <a:ext cx="1307251" cy="274249"/>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DevicesPage</a:t>
            </a:r>
            <a:endParaRPr lang="en-US" sz="1200" dirty="0">
              <a:solidFill>
                <a:prstClr val="black"/>
              </a:solidFill>
              <a:latin typeface="Candara" panose="020E0502030303020204" pitchFamily="34" charset="0"/>
            </a:endParaRPr>
          </a:p>
        </p:txBody>
      </p:sp>
      <p:sp>
        <p:nvSpPr>
          <p:cNvPr id="43" name="Shape 41"/>
          <p:cNvSpPr/>
          <p:nvPr/>
        </p:nvSpPr>
        <p:spPr>
          <a:xfrm>
            <a:off x="3382398" y="3360438"/>
            <a:ext cx="1416951" cy="274249"/>
          </a:xfrm>
          <a:prstGeom prst="roundRect">
            <a:avLst>
              <a:gd name="adj" fmla="val 16667"/>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44" name="Shape 42"/>
          <p:cNvSpPr/>
          <p:nvPr/>
        </p:nvSpPr>
        <p:spPr>
          <a:xfrm>
            <a:off x="3359544" y="3337584"/>
            <a:ext cx="1416951" cy="274249"/>
          </a:xfrm>
          <a:prstGeom prst="roundRect">
            <a:avLst>
              <a:gd name="adj" fmla="val 16667"/>
            </a:avLst>
          </a:prstGeom>
          <a:solidFill>
            <a:srgbClr val="0D2117"/>
          </a:solidFill>
          <a:ln w="9525">
            <a:solidFill>
              <a:srgbClr val="1C3D28"/>
            </a:solidFill>
            <a:prstDash val="solid"/>
          </a:ln>
        </p:spPr>
        <p:txBody>
          <a:bodyPr/>
          <a:lstStyle/>
          <a:p>
            <a:pPr defTabSz="914126"/>
            <a:endParaRPr lang="en-US" sz="1200">
              <a:solidFill>
                <a:prstClr val="black"/>
              </a:solidFill>
              <a:latin typeface="Candara" panose="020E0502030303020204" pitchFamily="34" charset="0"/>
            </a:endParaRPr>
          </a:p>
        </p:txBody>
      </p:sp>
      <p:sp>
        <p:nvSpPr>
          <p:cNvPr id="45" name="Text 43"/>
          <p:cNvSpPr/>
          <p:nvPr/>
        </p:nvSpPr>
        <p:spPr>
          <a:xfrm>
            <a:off x="3432678" y="3337584"/>
            <a:ext cx="1307251" cy="274249"/>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DeviceDetailPage</a:t>
            </a:r>
            <a:endParaRPr lang="en-US" sz="1200" dirty="0">
              <a:solidFill>
                <a:prstClr val="black"/>
              </a:solidFill>
              <a:latin typeface="Candara" panose="020E0502030303020204" pitchFamily="34" charset="0"/>
            </a:endParaRPr>
          </a:p>
        </p:txBody>
      </p:sp>
      <p:sp>
        <p:nvSpPr>
          <p:cNvPr id="47" name="Shape 45"/>
          <p:cNvSpPr/>
          <p:nvPr/>
        </p:nvSpPr>
        <p:spPr>
          <a:xfrm>
            <a:off x="3382398" y="3817519"/>
            <a:ext cx="1416951" cy="274249"/>
          </a:xfrm>
          <a:prstGeom prst="roundRect">
            <a:avLst>
              <a:gd name="adj" fmla="val 16667"/>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48" name="Shape 46"/>
          <p:cNvSpPr/>
          <p:nvPr/>
        </p:nvSpPr>
        <p:spPr>
          <a:xfrm>
            <a:off x="3359544" y="3794665"/>
            <a:ext cx="1416951" cy="274249"/>
          </a:xfrm>
          <a:prstGeom prst="roundRect">
            <a:avLst>
              <a:gd name="adj" fmla="val 16667"/>
            </a:avLst>
          </a:prstGeom>
          <a:solidFill>
            <a:srgbClr val="0D2117"/>
          </a:solidFill>
          <a:ln w="9525">
            <a:solidFill>
              <a:srgbClr val="1C3D28"/>
            </a:solidFill>
            <a:prstDash val="solid"/>
          </a:ln>
        </p:spPr>
        <p:txBody>
          <a:bodyPr/>
          <a:lstStyle/>
          <a:p>
            <a:pPr defTabSz="914126"/>
            <a:endParaRPr lang="en-US" sz="1200">
              <a:solidFill>
                <a:prstClr val="black"/>
              </a:solidFill>
              <a:latin typeface="Candara" panose="020E0502030303020204" pitchFamily="34" charset="0"/>
            </a:endParaRPr>
          </a:p>
        </p:txBody>
      </p:sp>
      <p:sp>
        <p:nvSpPr>
          <p:cNvPr id="49" name="Text 47"/>
          <p:cNvSpPr/>
          <p:nvPr/>
        </p:nvSpPr>
        <p:spPr>
          <a:xfrm>
            <a:off x="3432678" y="3794665"/>
            <a:ext cx="1307251" cy="274249"/>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SensorsPage</a:t>
            </a:r>
            <a:endParaRPr lang="en-US" sz="1200" dirty="0">
              <a:solidFill>
                <a:prstClr val="black"/>
              </a:solidFill>
              <a:latin typeface="Candara" panose="020E0502030303020204" pitchFamily="34" charset="0"/>
            </a:endParaRPr>
          </a:p>
        </p:txBody>
      </p:sp>
      <p:sp>
        <p:nvSpPr>
          <p:cNvPr id="51" name="Shape 49"/>
          <p:cNvSpPr/>
          <p:nvPr/>
        </p:nvSpPr>
        <p:spPr>
          <a:xfrm>
            <a:off x="3382398" y="4274600"/>
            <a:ext cx="1416951" cy="274249"/>
          </a:xfrm>
          <a:prstGeom prst="roundRect">
            <a:avLst>
              <a:gd name="adj" fmla="val 16667"/>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52" name="Shape 50"/>
          <p:cNvSpPr/>
          <p:nvPr/>
        </p:nvSpPr>
        <p:spPr>
          <a:xfrm>
            <a:off x="3359544" y="4251745"/>
            <a:ext cx="1416951" cy="274249"/>
          </a:xfrm>
          <a:prstGeom prst="roundRect">
            <a:avLst>
              <a:gd name="adj" fmla="val 16667"/>
            </a:avLst>
          </a:prstGeom>
          <a:solidFill>
            <a:srgbClr val="0D2117"/>
          </a:solidFill>
          <a:ln w="9525">
            <a:solidFill>
              <a:srgbClr val="1C3D28"/>
            </a:solidFill>
            <a:prstDash val="solid"/>
          </a:ln>
        </p:spPr>
        <p:txBody>
          <a:bodyPr/>
          <a:lstStyle/>
          <a:p>
            <a:pPr defTabSz="914126"/>
            <a:endParaRPr lang="en-US" sz="1200">
              <a:solidFill>
                <a:prstClr val="black"/>
              </a:solidFill>
              <a:latin typeface="Candara" panose="020E0502030303020204" pitchFamily="34" charset="0"/>
            </a:endParaRPr>
          </a:p>
        </p:txBody>
      </p:sp>
      <p:sp>
        <p:nvSpPr>
          <p:cNvPr id="53" name="Text 51"/>
          <p:cNvSpPr/>
          <p:nvPr/>
        </p:nvSpPr>
        <p:spPr>
          <a:xfrm>
            <a:off x="3432678" y="4251745"/>
            <a:ext cx="1307251" cy="274249"/>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ActuatorsPage</a:t>
            </a:r>
            <a:endParaRPr lang="en-US" sz="1200" dirty="0">
              <a:solidFill>
                <a:prstClr val="black"/>
              </a:solidFill>
              <a:latin typeface="Candara" panose="020E0502030303020204" pitchFamily="34" charset="0"/>
            </a:endParaRPr>
          </a:p>
        </p:txBody>
      </p:sp>
      <p:sp>
        <p:nvSpPr>
          <p:cNvPr id="55" name="Shape 53"/>
          <p:cNvSpPr/>
          <p:nvPr/>
        </p:nvSpPr>
        <p:spPr>
          <a:xfrm>
            <a:off x="3382398" y="4731680"/>
            <a:ext cx="1416951" cy="274249"/>
          </a:xfrm>
          <a:prstGeom prst="roundRect">
            <a:avLst>
              <a:gd name="adj" fmla="val 16667"/>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56" name="Shape 54"/>
          <p:cNvSpPr/>
          <p:nvPr/>
        </p:nvSpPr>
        <p:spPr>
          <a:xfrm>
            <a:off x="3359544" y="4708826"/>
            <a:ext cx="1416951" cy="274249"/>
          </a:xfrm>
          <a:prstGeom prst="roundRect">
            <a:avLst>
              <a:gd name="adj" fmla="val 16667"/>
            </a:avLst>
          </a:prstGeom>
          <a:solidFill>
            <a:srgbClr val="0D2117"/>
          </a:solidFill>
          <a:ln w="9525">
            <a:solidFill>
              <a:srgbClr val="1C3D28"/>
            </a:solidFill>
            <a:prstDash val="solid"/>
          </a:ln>
        </p:spPr>
        <p:txBody>
          <a:bodyPr/>
          <a:lstStyle/>
          <a:p>
            <a:pPr defTabSz="914126"/>
            <a:endParaRPr lang="en-US" sz="1200">
              <a:solidFill>
                <a:prstClr val="black"/>
              </a:solidFill>
              <a:latin typeface="Candara" panose="020E0502030303020204" pitchFamily="34" charset="0"/>
            </a:endParaRPr>
          </a:p>
        </p:txBody>
      </p:sp>
      <p:sp>
        <p:nvSpPr>
          <p:cNvPr id="57" name="Text 55"/>
          <p:cNvSpPr/>
          <p:nvPr/>
        </p:nvSpPr>
        <p:spPr>
          <a:xfrm>
            <a:off x="3432678" y="4708826"/>
            <a:ext cx="1307251" cy="274249"/>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AlertRulesPage</a:t>
            </a:r>
            <a:endParaRPr lang="en-US" sz="1200" dirty="0">
              <a:solidFill>
                <a:prstClr val="black"/>
              </a:solidFill>
              <a:latin typeface="Candara" panose="020E0502030303020204" pitchFamily="34" charset="0"/>
            </a:endParaRPr>
          </a:p>
        </p:txBody>
      </p:sp>
      <p:sp>
        <p:nvSpPr>
          <p:cNvPr id="59" name="Shape 57"/>
          <p:cNvSpPr/>
          <p:nvPr/>
        </p:nvSpPr>
        <p:spPr>
          <a:xfrm>
            <a:off x="3382398" y="5188761"/>
            <a:ext cx="1416951" cy="274249"/>
          </a:xfrm>
          <a:prstGeom prst="roundRect">
            <a:avLst>
              <a:gd name="adj" fmla="val 16667"/>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60" name="Shape 58"/>
          <p:cNvSpPr/>
          <p:nvPr/>
        </p:nvSpPr>
        <p:spPr>
          <a:xfrm>
            <a:off x="3359544" y="5165907"/>
            <a:ext cx="1416951" cy="274249"/>
          </a:xfrm>
          <a:prstGeom prst="roundRect">
            <a:avLst>
              <a:gd name="adj" fmla="val 16667"/>
            </a:avLst>
          </a:prstGeom>
          <a:solidFill>
            <a:srgbClr val="0D2117"/>
          </a:solidFill>
          <a:ln w="9525">
            <a:solidFill>
              <a:srgbClr val="1C3D28"/>
            </a:solidFill>
            <a:prstDash val="solid"/>
          </a:ln>
        </p:spPr>
        <p:txBody>
          <a:bodyPr/>
          <a:lstStyle/>
          <a:p>
            <a:pPr defTabSz="914126"/>
            <a:endParaRPr lang="en-US" sz="1200">
              <a:solidFill>
                <a:prstClr val="black"/>
              </a:solidFill>
              <a:latin typeface="Candara" panose="020E0502030303020204" pitchFamily="34" charset="0"/>
            </a:endParaRPr>
          </a:p>
        </p:txBody>
      </p:sp>
      <p:sp>
        <p:nvSpPr>
          <p:cNvPr id="61" name="Text 59"/>
          <p:cNvSpPr/>
          <p:nvPr/>
        </p:nvSpPr>
        <p:spPr>
          <a:xfrm>
            <a:off x="3432678" y="5165907"/>
            <a:ext cx="1307251" cy="274249"/>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AlertsPage</a:t>
            </a:r>
            <a:endParaRPr lang="en-US" sz="1200" dirty="0">
              <a:solidFill>
                <a:prstClr val="black"/>
              </a:solidFill>
              <a:latin typeface="Candara" panose="020E0502030303020204" pitchFamily="34" charset="0"/>
            </a:endParaRPr>
          </a:p>
        </p:txBody>
      </p:sp>
      <p:sp>
        <p:nvSpPr>
          <p:cNvPr id="62" name="Shape 60"/>
          <p:cNvSpPr/>
          <p:nvPr/>
        </p:nvSpPr>
        <p:spPr>
          <a:xfrm>
            <a:off x="3382398" y="5645842"/>
            <a:ext cx="1416951" cy="274249"/>
          </a:xfrm>
          <a:prstGeom prst="roundRect">
            <a:avLst>
              <a:gd name="adj" fmla="val 16667"/>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63" name="Shape 61"/>
          <p:cNvSpPr/>
          <p:nvPr/>
        </p:nvSpPr>
        <p:spPr>
          <a:xfrm>
            <a:off x="3359544" y="5622988"/>
            <a:ext cx="1416951" cy="274249"/>
          </a:xfrm>
          <a:prstGeom prst="roundRect">
            <a:avLst>
              <a:gd name="adj" fmla="val 16667"/>
            </a:avLst>
          </a:prstGeom>
          <a:solidFill>
            <a:srgbClr val="0D2117"/>
          </a:solidFill>
          <a:ln w="9525">
            <a:solidFill>
              <a:srgbClr val="1C3D28"/>
            </a:solidFill>
            <a:prstDash val="solid"/>
          </a:ln>
        </p:spPr>
        <p:txBody>
          <a:bodyPr/>
          <a:lstStyle/>
          <a:p>
            <a:pPr defTabSz="914126"/>
            <a:endParaRPr lang="en-US" sz="1200">
              <a:solidFill>
                <a:prstClr val="black"/>
              </a:solidFill>
              <a:latin typeface="Candara" panose="020E0502030303020204" pitchFamily="34" charset="0"/>
            </a:endParaRPr>
          </a:p>
        </p:txBody>
      </p:sp>
      <p:sp>
        <p:nvSpPr>
          <p:cNvPr id="64" name="Text 62"/>
          <p:cNvSpPr/>
          <p:nvPr/>
        </p:nvSpPr>
        <p:spPr>
          <a:xfrm>
            <a:off x="3432677" y="5622988"/>
            <a:ext cx="1643175" cy="274249"/>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CommandHistoryPage</a:t>
            </a:r>
            <a:endParaRPr lang="en-US" sz="1200" dirty="0">
              <a:solidFill>
                <a:prstClr val="black"/>
              </a:solidFill>
              <a:latin typeface="Candara" panose="020E0502030303020204" pitchFamily="34" charset="0"/>
            </a:endParaRPr>
          </a:p>
        </p:txBody>
      </p:sp>
      <p:sp>
        <p:nvSpPr>
          <p:cNvPr id="65" name="Shape 63"/>
          <p:cNvSpPr/>
          <p:nvPr/>
        </p:nvSpPr>
        <p:spPr>
          <a:xfrm>
            <a:off x="3382398" y="6102923"/>
            <a:ext cx="1416951" cy="274249"/>
          </a:xfrm>
          <a:prstGeom prst="roundRect">
            <a:avLst>
              <a:gd name="adj" fmla="val 16667"/>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66" name="Shape 64"/>
          <p:cNvSpPr/>
          <p:nvPr/>
        </p:nvSpPr>
        <p:spPr>
          <a:xfrm>
            <a:off x="3359544" y="6080069"/>
            <a:ext cx="1416951" cy="274249"/>
          </a:xfrm>
          <a:prstGeom prst="roundRect">
            <a:avLst>
              <a:gd name="adj" fmla="val 16667"/>
            </a:avLst>
          </a:prstGeom>
          <a:solidFill>
            <a:srgbClr val="2E1A00"/>
          </a:solidFill>
          <a:ln w="9525">
            <a:solidFill>
              <a:srgbClr val="E8B87A"/>
            </a:solidFill>
            <a:prstDash val="solid"/>
          </a:ln>
        </p:spPr>
        <p:txBody>
          <a:bodyPr/>
          <a:lstStyle/>
          <a:p>
            <a:pPr defTabSz="914126"/>
            <a:endParaRPr lang="en-US" sz="1200">
              <a:solidFill>
                <a:prstClr val="black"/>
              </a:solidFill>
              <a:latin typeface="Candara" panose="020E0502030303020204" pitchFamily="34" charset="0"/>
            </a:endParaRPr>
          </a:p>
        </p:txBody>
      </p:sp>
      <p:sp>
        <p:nvSpPr>
          <p:cNvPr id="67" name="Text 65"/>
          <p:cNvSpPr/>
          <p:nvPr/>
        </p:nvSpPr>
        <p:spPr>
          <a:xfrm>
            <a:off x="3432678" y="6080069"/>
            <a:ext cx="758754" cy="274249"/>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UsersPage</a:t>
            </a:r>
            <a:endParaRPr lang="en-US" sz="1200" dirty="0">
              <a:solidFill>
                <a:prstClr val="black"/>
              </a:solidFill>
              <a:latin typeface="Candara" panose="020E0502030303020204" pitchFamily="34" charset="0"/>
            </a:endParaRPr>
          </a:p>
        </p:txBody>
      </p:sp>
      <p:sp>
        <p:nvSpPr>
          <p:cNvPr id="68" name="Shape 66"/>
          <p:cNvSpPr/>
          <p:nvPr/>
        </p:nvSpPr>
        <p:spPr>
          <a:xfrm>
            <a:off x="4154865" y="6134919"/>
            <a:ext cx="566780" cy="164549"/>
          </a:xfrm>
          <a:prstGeom prst="roundRect">
            <a:avLst>
              <a:gd name="adj" fmla="val 16667"/>
            </a:avLst>
          </a:prstGeom>
          <a:solidFill>
            <a:srgbClr val="E8B87A">
              <a:alpha val="13000"/>
            </a:srgbClr>
          </a:solidFill>
          <a:ln w="5080">
            <a:solidFill>
              <a:srgbClr val="E8B87A">
                <a:alpha val="60000"/>
              </a:srgbClr>
            </a:solidFill>
            <a:prstDash val="solid"/>
          </a:ln>
        </p:spPr>
        <p:txBody>
          <a:bodyPr/>
          <a:lstStyle/>
          <a:p>
            <a:pPr defTabSz="914126"/>
            <a:endParaRPr lang="en-US" sz="1200">
              <a:solidFill>
                <a:prstClr val="black"/>
              </a:solidFill>
              <a:latin typeface="Candara" panose="020E0502030303020204" pitchFamily="34" charset="0"/>
            </a:endParaRPr>
          </a:p>
        </p:txBody>
      </p:sp>
      <p:sp>
        <p:nvSpPr>
          <p:cNvPr id="69" name="Text 67"/>
          <p:cNvSpPr/>
          <p:nvPr/>
        </p:nvSpPr>
        <p:spPr>
          <a:xfrm>
            <a:off x="4154865" y="6134919"/>
            <a:ext cx="566780" cy="164549"/>
          </a:xfrm>
          <a:prstGeom prst="rect">
            <a:avLst/>
          </a:prstGeom>
          <a:noFill/>
          <a:ln/>
        </p:spPr>
        <p:txBody>
          <a:bodyPr wrap="square" lIns="0" tIns="0" rIns="0" bIns="0" rtlCol="0" anchor="ctr"/>
          <a:lstStyle/>
          <a:p>
            <a:pPr algn="ctr" defTabSz="914126"/>
            <a:r>
              <a:rPr lang="en-US" sz="1200" b="1" dirty="0">
                <a:solidFill>
                  <a:srgbClr val="E8B87A"/>
                </a:solidFill>
                <a:latin typeface="Candara" panose="020E0502030303020204" pitchFamily="34" charset="0"/>
                <a:ea typeface="Calibri" pitchFamily="34" charset="-122"/>
                <a:cs typeface="Calibri" pitchFamily="34" charset="-120"/>
              </a:rPr>
              <a:t>Admin</a:t>
            </a:r>
            <a:endParaRPr lang="en-US" sz="1200" dirty="0">
              <a:solidFill>
                <a:prstClr val="black"/>
              </a:solidFill>
              <a:latin typeface="Candara" panose="020E0502030303020204" pitchFamily="34" charset="0"/>
            </a:endParaRPr>
          </a:p>
        </p:txBody>
      </p:sp>
      <p:sp>
        <p:nvSpPr>
          <p:cNvPr id="80" name="Text 78"/>
          <p:cNvSpPr/>
          <p:nvPr/>
        </p:nvSpPr>
        <p:spPr>
          <a:xfrm>
            <a:off x="6429422" y="1028851"/>
            <a:ext cx="4872483" cy="274249"/>
          </a:xfrm>
          <a:prstGeom prst="rect">
            <a:avLst/>
          </a:prstGeom>
          <a:noFill/>
          <a:ln/>
        </p:spPr>
        <p:txBody>
          <a:bodyPr wrap="square" lIns="0" tIns="0" rIns="0" bIns="0" rtlCol="0" anchor="ctr"/>
          <a:lstStyle/>
          <a:p>
            <a:pPr defTabSz="914126"/>
            <a:r>
              <a:rPr lang="en-US" sz="1200" b="1" dirty="0">
                <a:solidFill>
                  <a:srgbClr val="3ECF80"/>
                </a:solidFill>
                <a:latin typeface="Candara" panose="020E0502030303020204" pitchFamily="34" charset="0"/>
                <a:ea typeface="Calibri" pitchFamily="34" charset="-122"/>
                <a:cs typeface="Calibri" pitchFamily="34" charset="-120"/>
              </a:rPr>
              <a:t>Routes &amp; Navigation</a:t>
            </a:r>
            <a:endParaRPr lang="en-US" sz="1200" dirty="0">
              <a:solidFill>
                <a:prstClr val="black"/>
              </a:solidFill>
              <a:latin typeface="Candara" panose="020E0502030303020204" pitchFamily="34" charset="0"/>
            </a:endParaRPr>
          </a:p>
        </p:txBody>
      </p:sp>
      <p:sp>
        <p:nvSpPr>
          <p:cNvPr id="81" name="Shape 79"/>
          <p:cNvSpPr/>
          <p:nvPr/>
        </p:nvSpPr>
        <p:spPr>
          <a:xfrm>
            <a:off x="6429422" y="1321383"/>
            <a:ext cx="4872483" cy="0"/>
          </a:xfrm>
          <a:prstGeom prst="line">
            <a:avLst/>
          </a:prstGeom>
          <a:noFill/>
          <a:ln w="6350">
            <a:solidFill>
              <a:srgbClr val="1C3D28"/>
            </a:solidFill>
            <a:prstDash val="solid"/>
          </a:ln>
        </p:spPr>
        <p:txBody>
          <a:bodyPr/>
          <a:lstStyle/>
          <a:p>
            <a:pPr defTabSz="914126"/>
            <a:endParaRPr lang="en-US" sz="1200">
              <a:solidFill>
                <a:prstClr val="black"/>
              </a:solidFill>
              <a:latin typeface="Candara" panose="020E0502030303020204" pitchFamily="34" charset="0"/>
            </a:endParaRPr>
          </a:p>
        </p:txBody>
      </p:sp>
      <p:sp>
        <p:nvSpPr>
          <p:cNvPr id="82" name="Text 80"/>
          <p:cNvSpPr/>
          <p:nvPr/>
        </p:nvSpPr>
        <p:spPr>
          <a:xfrm>
            <a:off x="6022508" y="1357950"/>
            <a:ext cx="1147009" cy="255965"/>
          </a:xfrm>
          <a:prstGeom prst="rect">
            <a:avLst/>
          </a:prstGeom>
          <a:noFill/>
          <a:ln/>
        </p:spPr>
        <p:txBody>
          <a:bodyPr wrap="square" lIns="0" tIns="0" rIns="0" bIns="0" rtlCol="0" anchor="ctr"/>
          <a:lstStyle/>
          <a:p>
            <a:pPr defTabSz="914126"/>
            <a:r>
              <a:rPr lang="en-US" sz="1200" b="1" dirty="0">
                <a:solidFill>
                  <a:srgbClr val="7AB896"/>
                </a:solidFill>
                <a:latin typeface="Candara" panose="020E0502030303020204" pitchFamily="34" charset="0"/>
                <a:ea typeface="Calibri" pitchFamily="34" charset="-122"/>
                <a:cs typeface="Calibri" pitchFamily="34" charset="-120"/>
              </a:rPr>
              <a:t>Route</a:t>
            </a:r>
            <a:endParaRPr lang="en-US" sz="1200" dirty="0">
              <a:solidFill>
                <a:prstClr val="black"/>
              </a:solidFill>
              <a:latin typeface="Candara" panose="020E0502030303020204" pitchFamily="34" charset="0"/>
            </a:endParaRPr>
          </a:p>
        </p:txBody>
      </p:sp>
      <p:sp>
        <p:nvSpPr>
          <p:cNvPr id="83" name="Text 81"/>
          <p:cNvSpPr/>
          <p:nvPr/>
        </p:nvSpPr>
        <p:spPr>
          <a:xfrm>
            <a:off x="7034592" y="1357950"/>
            <a:ext cx="1554075" cy="255965"/>
          </a:xfrm>
          <a:prstGeom prst="rect">
            <a:avLst/>
          </a:prstGeom>
          <a:noFill/>
          <a:ln/>
        </p:spPr>
        <p:txBody>
          <a:bodyPr wrap="square" lIns="0" tIns="0" rIns="0" bIns="0" rtlCol="0" anchor="ctr"/>
          <a:lstStyle/>
          <a:p>
            <a:pPr defTabSz="914126"/>
            <a:r>
              <a:rPr lang="en-US" sz="1200" b="1" dirty="0">
                <a:solidFill>
                  <a:srgbClr val="7AB896"/>
                </a:solidFill>
                <a:latin typeface="Candara" panose="020E0502030303020204" pitchFamily="34" charset="0"/>
                <a:ea typeface="Calibri" pitchFamily="34" charset="-122"/>
                <a:cs typeface="Calibri" pitchFamily="34" charset="-120"/>
              </a:rPr>
              <a:t>Page</a:t>
            </a:r>
            <a:endParaRPr lang="en-US" sz="1200" b="1" dirty="0">
              <a:solidFill>
                <a:prstClr val="black"/>
              </a:solidFill>
              <a:latin typeface="Candara" panose="020E0502030303020204" pitchFamily="34" charset="0"/>
            </a:endParaRPr>
          </a:p>
        </p:txBody>
      </p:sp>
      <p:sp>
        <p:nvSpPr>
          <p:cNvPr id="84" name="Text 82"/>
          <p:cNvSpPr/>
          <p:nvPr/>
        </p:nvSpPr>
        <p:spPr>
          <a:xfrm>
            <a:off x="9409590" y="1357950"/>
            <a:ext cx="1892315" cy="255965"/>
          </a:xfrm>
          <a:prstGeom prst="rect">
            <a:avLst/>
          </a:prstGeom>
          <a:noFill/>
          <a:ln/>
        </p:spPr>
        <p:txBody>
          <a:bodyPr wrap="square" lIns="0" tIns="0" rIns="0" bIns="0" rtlCol="0" anchor="ctr"/>
          <a:lstStyle/>
          <a:p>
            <a:pPr defTabSz="914126"/>
            <a:r>
              <a:rPr lang="en-US" sz="1200" b="1" dirty="0">
                <a:solidFill>
                  <a:srgbClr val="FFFF00"/>
                </a:solidFill>
                <a:latin typeface="Candara" panose="020E0502030303020204" pitchFamily="34" charset="0"/>
                <a:ea typeface="Calibri" pitchFamily="34" charset="-122"/>
                <a:cs typeface="Calibri" pitchFamily="34" charset="-120"/>
              </a:rPr>
              <a:t>Note</a:t>
            </a:r>
            <a:endParaRPr lang="en-US" sz="1200" b="1" dirty="0">
              <a:solidFill>
                <a:srgbClr val="FFFF00"/>
              </a:solidFill>
              <a:latin typeface="Candara" panose="020E0502030303020204" pitchFamily="34" charset="0"/>
            </a:endParaRPr>
          </a:p>
        </p:txBody>
      </p:sp>
      <p:sp>
        <p:nvSpPr>
          <p:cNvPr id="85" name="Shape 83"/>
          <p:cNvSpPr/>
          <p:nvPr/>
        </p:nvSpPr>
        <p:spPr>
          <a:xfrm>
            <a:off x="6429422" y="1613915"/>
            <a:ext cx="4872483" cy="0"/>
          </a:xfrm>
          <a:prstGeom prst="line">
            <a:avLst/>
          </a:prstGeom>
          <a:noFill/>
          <a:ln w="6350">
            <a:solidFill>
              <a:srgbClr val="1C3D28"/>
            </a:solidFill>
            <a:prstDash val="solid"/>
          </a:ln>
        </p:spPr>
        <p:txBody>
          <a:bodyPr/>
          <a:lstStyle/>
          <a:p>
            <a:pPr defTabSz="914126"/>
            <a:endParaRPr lang="en-US" sz="1200">
              <a:solidFill>
                <a:prstClr val="black"/>
              </a:solidFill>
              <a:latin typeface="Candara" panose="020E0502030303020204" pitchFamily="34" charset="0"/>
            </a:endParaRPr>
          </a:p>
        </p:txBody>
      </p:sp>
      <p:sp>
        <p:nvSpPr>
          <p:cNvPr id="86" name="Shape 84"/>
          <p:cNvSpPr/>
          <p:nvPr/>
        </p:nvSpPr>
        <p:spPr>
          <a:xfrm>
            <a:off x="6411139" y="1650482"/>
            <a:ext cx="4890766" cy="420514"/>
          </a:xfrm>
          <a:prstGeom prst="rect">
            <a:avLst/>
          </a:prstGeom>
          <a:solidFill>
            <a:srgbClr val="FFFFFF">
              <a:alpha val="3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87" name="Text 85"/>
          <p:cNvSpPr/>
          <p:nvPr/>
        </p:nvSpPr>
        <p:spPr>
          <a:xfrm>
            <a:off x="6022508" y="1650482"/>
            <a:ext cx="1147009" cy="420514"/>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/login</a:t>
            </a:r>
            <a:endParaRPr lang="en-US" sz="1200" dirty="0">
              <a:solidFill>
                <a:prstClr val="black"/>
              </a:solidFill>
              <a:latin typeface="Candara" panose="020E0502030303020204" pitchFamily="34" charset="0"/>
            </a:endParaRPr>
          </a:p>
        </p:txBody>
      </p:sp>
      <p:sp>
        <p:nvSpPr>
          <p:cNvPr id="88" name="Text 86"/>
          <p:cNvSpPr/>
          <p:nvPr/>
        </p:nvSpPr>
        <p:spPr>
          <a:xfrm>
            <a:off x="7034128" y="1650482"/>
            <a:ext cx="1199106" cy="420514"/>
          </a:xfrm>
          <a:prstGeom prst="rect">
            <a:avLst/>
          </a:prstGeom>
          <a:noFill/>
          <a:ln/>
        </p:spPr>
        <p:txBody>
          <a:bodyPr wrap="square" lIns="0" tIns="0" rIns="0" bIns="0" rtlCol="0" anchor="ctr"/>
          <a:lstStyle/>
          <a:p>
            <a:pPr defTabSz="914126"/>
            <a:r>
              <a:rPr lang="en-US" sz="1200" b="1" dirty="0">
                <a:solidFill>
                  <a:srgbClr val="7AB896"/>
                </a:solidFill>
                <a:latin typeface="Candara" panose="020E0502030303020204" pitchFamily="34" charset="0"/>
                <a:ea typeface="Calibri" pitchFamily="34" charset="-122"/>
                <a:cs typeface="Calibri" pitchFamily="34" charset="-120"/>
              </a:rPr>
              <a:t>LoginPage</a:t>
            </a:r>
            <a:endParaRPr lang="en-US" sz="1200" b="1" dirty="0">
              <a:solidFill>
                <a:prstClr val="black"/>
              </a:solidFill>
              <a:latin typeface="Candara" panose="020E0502030303020204" pitchFamily="34" charset="0"/>
            </a:endParaRPr>
          </a:p>
        </p:txBody>
      </p:sp>
      <p:sp>
        <p:nvSpPr>
          <p:cNvPr id="89" name="Shape 87"/>
          <p:cNvSpPr/>
          <p:nvPr/>
        </p:nvSpPr>
        <p:spPr>
          <a:xfrm>
            <a:off x="8449639" y="1756083"/>
            <a:ext cx="718148" cy="241780"/>
          </a:xfrm>
          <a:prstGeom prst="roundRect">
            <a:avLst>
              <a:gd name="adj" fmla="val 10000"/>
            </a:avLst>
          </a:prstGeom>
          <a:solidFill>
            <a:srgbClr val="7EC8E3">
              <a:alpha val="13000"/>
            </a:srgbClr>
          </a:solidFill>
          <a:ln w="5080">
            <a:solidFill>
              <a:srgbClr val="7EC8E3">
                <a:alpha val="60000"/>
              </a:srgbClr>
            </a:solidFill>
            <a:prstDash val="solid"/>
          </a:ln>
        </p:spPr>
        <p:txBody>
          <a:bodyPr/>
          <a:lstStyle/>
          <a:p>
            <a:pPr defTabSz="914126"/>
            <a:endParaRPr lang="en-US" sz="1200" b="1">
              <a:solidFill>
                <a:prstClr val="black"/>
              </a:solidFill>
              <a:latin typeface="Candara" panose="020E0502030303020204" pitchFamily="34" charset="0"/>
            </a:endParaRPr>
          </a:p>
        </p:txBody>
      </p:sp>
      <p:sp>
        <p:nvSpPr>
          <p:cNvPr id="90" name="Text 88"/>
          <p:cNvSpPr/>
          <p:nvPr/>
        </p:nvSpPr>
        <p:spPr>
          <a:xfrm>
            <a:off x="8449639" y="1756083"/>
            <a:ext cx="718148" cy="241780"/>
          </a:xfrm>
          <a:prstGeom prst="rect">
            <a:avLst/>
          </a:prstGeom>
          <a:noFill/>
          <a:ln/>
        </p:spPr>
        <p:txBody>
          <a:bodyPr wrap="square" lIns="0" tIns="0" rIns="0" bIns="0" rtlCol="0" anchor="ctr"/>
          <a:lstStyle/>
          <a:p>
            <a:pPr algn="ctr" defTabSz="914126"/>
            <a:r>
              <a:rPr lang="en-US" sz="1200" b="1" dirty="0">
                <a:solidFill>
                  <a:srgbClr val="7EC8E3"/>
                </a:solidFill>
                <a:latin typeface="Candara" panose="020E0502030303020204" pitchFamily="34" charset="0"/>
                <a:ea typeface="Calibri" pitchFamily="34" charset="-122"/>
                <a:cs typeface="Calibri" pitchFamily="34" charset="-120"/>
              </a:rPr>
              <a:t>Public</a:t>
            </a:r>
            <a:endParaRPr lang="en-US" sz="1200" b="1" dirty="0">
              <a:solidFill>
                <a:prstClr val="black"/>
              </a:solidFill>
              <a:latin typeface="Candara" panose="020E0502030303020204" pitchFamily="34" charset="0"/>
            </a:endParaRPr>
          </a:p>
        </p:txBody>
      </p:sp>
      <p:sp>
        <p:nvSpPr>
          <p:cNvPr id="91" name="Text 89"/>
          <p:cNvSpPr/>
          <p:nvPr/>
        </p:nvSpPr>
        <p:spPr>
          <a:xfrm>
            <a:off x="9409590" y="1650482"/>
            <a:ext cx="1892315" cy="420514"/>
          </a:xfrm>
          <a:prstGeom prst="rect">
            <a:avLst/>
          </a:prstGeom>
          <a:noFill/>
          <a:ln/>
        </p:spPr>
        <p:txBody>
          <a:bodyPr wrap="square" lIns="0" tIns="0" rIns="0" bIns="0" rtlCol="0" anchor="ctr"/>
          <a:lstStyle/>
          <a:p>
            <a:pPr defTabSz="914126"/>
            <a:r>
              <a:rPr lang="en-US" sz="1200" b="1" dirty="0">
                <a:solidFill>
                  <a:srgbClr val="FFFF00"/>
                </a:solidFill>
                <a:latin typeface="Candara" panose="020E0502030303020204" pitchFamily="34" charset="0"/>
                <a:ea typeface="Calibri" pitchFamily="34" charset="-122"/>
                <a:cs typeface="Calibri" pitchFamily="34" charset="-120"/>
              </a:rPr>
              <a:t>JWT login · public</a:t>
            </a:r>
            <a:endParaRPr lang="en-US" sz="1200" b="1" dirty="0">
              <a:solidFill>
                <a:srgbClr val="FFFF00"/>
              </a:solidFill>
              <a:latin typeface="Candara" panose="020E0502030303020204" pitchFamily="34" charset="0"/>
            </a:endParaRPr>
          </a:p>
        </p:txBody>
      </p:sp>
      <p:sp>
        <p:nvSpPr>
          <p:cNvPr id="92" name="Text 90"/>
          <p:cNvSpPr/>
          <p:nvPr/>
        </p:nvSpPr>
        <p:spPr>
          <a:xfrm>
            <a:off x="6022508" y="2070996"/>
            <a:ext cx="1147009" cy="420514"/>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/dashboard</a:t>
            </a:r>
            <a:endParaRPr lang="en-US" sz="1200" dirty="0">
              <a:solidFill>
                <a:prstClr val="black"/>
              </a:solidFill>
              <a:latin typeface="Candara" panose="020E0502030303020204" pitchFamily="34" charset="0"/>
            </a:endParaRPr>
          </a:p>
        </p:txBody>
      </p:sp>
      <p:sp>
        <p:nvSpPr>
          <p:cNvPr id="93" name="Text 91"/>
          <p:cNvSpPr/>
          <p:nvPr/>
        </p:nvSpPr>
        <p:spPr>
          <a:xfrm>
            <a:off x="7034128" y="2070996"/>
            <a:ext cx="1199106" cy="420514"/>
          </a:xfrm>
          <a:prstGeom prst="rect">
            <a:avLst/>
          </a:prstGeom>
          <a:noFill/>
          <a:ln/>
        </p:spPr>
        <p:txBody>
          <a:bodyPr wrap="square" lIns="0" tIns="0" rIns="0" bIns="0" rtlCol="0" anchor="ctr"/>
          <a:lstStyle/>
          <a:p>
            <a:pPr defTabSz="914126"/>
            <a:r>
              <a:rPr lang="en-US" sz="1200" b="1" dirty="0">
                <a:solidFill>
                  <a:srgbClr val="7AB896"/>
                </a:solidFill>
                <a:latin typeface="Candara" panose="020E0502030303020204" pitchFamily="34" charset="0"/>
                <a:ea typeface="Calibri" pitchFamily="34" charset="-122"/>
                <a:cs typeface="Calibri" pitchFamily="34" charset="-120"/>
              </a:rPr>
              <a:t>Dashboard</a:t>
            </a:r>
            <a:endParaRPr lang="en-US" sz="1200" b="1" dirty="0">
              <a:solidFill>
                <a:prstClr val="black"/>
              </a:solidFill>
              <a:latin typeface="Candara" panose="020E0502030303020204" pitchFamily="34" charset="0"/>
            </a:endParaRPr>
          </a:p>
        </p:txBody>
      </p:sp>
      <p:sp>
        <p:nvSpPr>
          <p:cNvPr id="94" name="Shape 92"/>
          <p:cNvSpPr/>
          <p:nvPr/>
        </p:nvSpPr>
        <p:spPr>
          <a:xfrm>
            <a:off x="8449639" y="2176598"/>
            <a:ext cx="718148" cy="241780"/>
          </a:xfrm>
          <a:prstGeom prst="roundRect">
            <a:avLst>
              <a:gd name="adj" fmla="val 10000"/>
            </a:avLst>
          </a:prstGeom>
          <a:solidFill>
            <a:srgbClr val="3ECF80">
              <a:alpha val="13000"/>
            </a:srgbClr>
          </a:solidFill>
          <a:ln w="5080">
            <a:solidFill>
              <a:srgbClr val="3ECF80">
                <a:alpha val="60000"/>
              </a:srgbClr>
            </a:solidFill>
            <a:prstDash val="solid"/>
          </a:ln>
        </p:spPr>
        <p:txBody>
          <a:bodyPr/>
          <a:lstStyle/>
          <a:p>
            <a:pPr defTabSz="914126"/>
            <a:endParaRPr lang="en-US" sz="1200" b="1">
              <a:solidFill>
                <a:prstClr val="black"/>
              </a:solidFill>
              <a:latin typeface="Candara" panose="020E0502030303020204" pitchFamily="34" charset="0"/>
            </a:endParaRPr>
          </a:p>
        </p:txBody>
      </p:sp>
      <p:sp>
        <p:nvSpPr>
          <p:cNvPr id="95" name="Text 93"/>
          <p:cNvSpPr/>
          <p:nvPr/>
        </p:nvSpPr>
        <p:spPr>
          <a:xfrm>
            <a:off x="8449639" y="2176598"/>
            <a:ext cx="718148" cy="241780"/>
          </a:xfrm>
          <a:prstGeom prst="rect">
            <a:avLst/>
          </a:prstGeom>
          <a:noFill/>
          <a:ln/>
        </p:spPr>
        <p:txBody>
          <a:bodyPr wrap="square" lIns="0" tIns="0" rIns="0" bIns="0" rtlCol="0" anchor="ctr"/>
          <a:lstStyle/>
          <a:p>
            <a:pPr algn="ctr" defTabSz="914126"/>
            <a:r>
              <a:rPr lang="en-US" sz="1200" b="1" dirty="0">
                <a:solidFill>
                  <a:srgbClr val="3ECF80"/>
                </a:solidFill>
                <a:latin typeface="Candara" panose="020E0502030303020204" pitchFamily="34" charset="0"/>
                <a:ea typeface="Calibri" pitchFamily="34" charset="-122"/>
                <a:cs typeface="Calibri" pitchFamily="34" charset="-120"/>
              </a:rPr>
              <a:t>Protected</a:t>
            </a:r>
            <a:endParaRPr lang="en-US" sz="1200" b="1" dirty="0">
              <a:solidFill>
                <a:prstClr val="black"/>
              </a:solidFill>
              <a:latin typeface="Candara" panose="020E0502030303020204" pitchFamily="34" charset="0"/>
            </a:endParaRPr>
          </a:p>
        </p:txBody>
      </p:sp>
      <p:sp>
        <p:nvSpPr>
          <p:cNvPr id="96" name="Text 94"/>
          <p:cNvSpPr/>
          <p:nvPr/>
        </p:nvSpPr>
        <p:spPr>
          <a:xfrm>
            <a:off x="9409590" y="2070996"/>
            <a:ext cx="1892315" cy="420514"/>
          </a:xfrm>
          <a:prstGeom prst="rect">
            <a:avLst/>
          </a:prstGeom>
          <a:noFill/>
          <a:ln/>
        </p:spPr>
        <p:txBody>
          <a:bodyPr wrap="square" lIns="0" tIns="0" rIns="0" bIns="0" rtlCol="0" anchor="ctr"/>
          <a:lstStyle/>
          <a:p>
            <a:pPr defTabSz="914126"/>
            <a:r>
              <a:rPr lang="en-US" sz="1200" b="1" dirty="0">
                <a:solidFill>
                  <a:srgbClr val="FFFF00"/>
                </a:solidFill>
                <a:latin typeface="Candara" panose="020E0502030303020204" pitchFamily="34" charset="0"/>
                <a:ea typeface="Calibri" pitchFamily="34" charset="-122"/>
                <a:cs typeface="Calibri" pitchFamily="34" charset="-120"/>
              </a:rPr>
              <a:t>Live overview · SignalR charts</a:t>
            </a:r>
            <a:endParaRPr lang="en-US" sz="1200" b="1" dirty="0">
              <a:solidFill>
                <a:srgbClr val="FFFF00"/>
              </a:solidFill>
              <a:latin typeface="Candara" panose="020E0502030303020204" pitchFamily="34" charset="0"/>
            </a:endParaRPr>
          </a:p>
        </p:txBody>
      </p:sp>
      <p:sp>
        <p:nvSpPr>
          <p:cNvPr id="97" name="Shape 95"/>
          <p:cNvSpPr/>
          <p:nvPr/>
        </p:nvSpPr>
        <p:spPr>
          <a:xfrm>
            <a:off x="6411139" y="2491511"/>
            <a:ext cx="4890766" cy="420514"/>
          </a:xfrm>
          <a:prstGeom prst="rect">
            <a:avLst/>
          </a:prstGeom>
          <a:solidFill>
            <a:srgbClr val="FFFFFF">
              <a:alpha val="3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98" name="Text 96"/>
          <p:cNvSpPr/>
          <p:nvPr/>
        </p:nvSpPr>
        <p:spPr>
          <a:xfrm>
            <a:off x="6022508" y="2491511"/>
            <a:ext cx="1147009" cy="420514"/>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/devices</a:t>
            </a:r>
            <a:endParaRPr lang="en-US" sz="1200" dirty="0">
              <a:solidFill>
                <a:prstClr val="black"/>
              </a:solidFill>
              <a:latin typeface="Candara" panose="020E0502030303020204" pitchFamily="34" charset="0"/>
            </a:endParaRPr>
          </a:p>
        </p:txBody>
      </p:sp>
      <p:sp>
        <p:nvSpPr>
          <p:cNvPr id="99" name="Text 97"/>
          <p:cNvSpPr/>
          <p:nvPr/>
        </p:nvSpPr>
        <p:spPr>
          <a:xfrm>
            <a:off x="7034128" y="2491511"/>
            <a:ext cx="1199106" cy="420514"/>
          </a:xfrm>
          <a:prstGeom prst="rect">
            <a:avLst/>
          </a:prstGeom>
          <a:noFill/>
          <a:ln/>
        </p:spPr>
        <p:txBody>
          <a:bodyPr wrap="square" lIns="0" tIns="0" rIns="0" bIns="0" rtlCol="0" anchor="ctr"/>
          <a:lstStyle/>
          <a:p>
            <a:pPr defTabSz="914126"/>
            <a:r>
              <a:rPr lang="en-US" sz="1200" b="1" dirty="0">
                <a:solidFill>
                  <a:srgbClr val="7AB896"/>
                </a:solidFill>
                <a:latin typeface="Candara" panose="020E0502030303020204" pitchFamily="34" charset="0"/>
                <a:ea typeface="Calibri" pitchFamily="34" charset="-122"/>
                <a:cs typeface="Calibri" pitchFamily="34" charset="-120"/>
              </a:rPr>
              <a:t>DevicesPage</a:t>
            </a:r>
            <a:endParaRPr lang="en-US" sz="1200" b="1" dirty="0">
              <a:solidFill>
                <a:prstClr val="black"/>
              </a:solidFill>
              <a:latin typeface="Candara" panose="020E0502030303020204" pitchFamily="34" charset="0"/>
            </a:endParaRPr>
          </a:p>
        </p:txBody>
      </p:sp>
      <p:sp>
        <p:nvSpPr>
          <p:cNvPr id="100" name="Shape 98"/>
          <p:cNvSpPr/>
          <p:nvPr/>
        </p:nvSpPr>
        <p:spPr>
          <a:xfrm>
            <a:off x="8449639" y="2597112"/>
            <a:ext cx="718148" cy="241780"/>
          </a:xfrm>
          <a:prstGeom prst="roundRect">
            <a:avLst>
              <a:gd name="adj" fmla="val 10000"/>
            </a:avLst>
          </a:prstGeom>
          <a:solidFill>
            <a:srgbClr val="3ECF80">
              <a:alpha val="13000"/>
            </a:srgbClr>
          </a:solidFill>
          <a:ln w="5080">
            <a:solidFill>
              <a:srgbClr val="3ECF80">
                <a:alpha val="60000"/>
              </a:srgbClr>
            </a:solidFill>
            <a:prstDash val="solid"/>
          </a:ln>
        </p:spPr>
        <p:txBody>
          <a:bodyPr/>
          <a:lstStyle/>
          <a:p>
            <a:pPr defTabSz="914126"/>
            <a:endParaRPr lang="en-US" sz="1200" b="1">
              <a:solidFill>
                <a:prstClr val="black"/>
              </a:solidFill>
              <a:latin typeface="Candara" panose="020E0502030303020204" pitchFamily="34" charset="0"/>
            </a:endParaRPr>
          </a:p>
        </p:txBody>
      </p:sp>
      <p:sp>
        <p:nvSpPr>
          <p:cNvPr id="101" name="Text 99"/>
          <p:cNvSpPr/>
          <p:nvPr/>
        </p:nvSpPr>
        <p:spPr>
          <a:xfrm>
            <a:off x="8449639" y="2597112"/>
            <a:ext cx="718148" cy="241780"/>
          </a:xfrm>
          <a:prstGeom prst="rect">
            <a:avLst/>
          </a:prstGeom>
          <a:noFill/>
          <a:ln/>
        </p:spPr>
        <p:txBody>
          <a:bodyPr wrap="square" lIns="0" tIns="0" rIns="0" bIns="0" rtlCol="0" anchor="ctr"/>
          <a:lstStyle/>
          <a:p>
            <a:pPr algn="ctr" defTabSz="914126"/>
            <a:r>
              <a:rPr lang="en-US" sz="1200" b="1" dirty="0">
                <a:solidFill>
                  <a:srgbClr val="3ECF80"/>
                </a:solidFill>
                <a:latin typeface="Candara" panose="020E0502030303020204" pitchFamily="34" charset="0"/>
                <a:ea typeface="Calibri" pitchFamily="34" charset="-122"/>
                <a:cs typeface="Calibri" pitchFamily="34" charset="-120"/>
              </a:rPr>
              <a:t>Protected</a:t>
            </a:r>
            <a:endParaRPr lang="en-US" sz="1200" b="1" dirty="0">
              <a:solidFill>
                <a:prstClr val="black"/>
              </a:solidFill>
              <a:latin typeface="Candara" panose="020E0502030303020204" pitchFamily="34" charset="0"/>
            </a:endParaRPr>
          </a:p>
        </p:txBody>
      </p:sp>
      <p:sp>
        <p:nvSpPr>
          <p:cNvPr id="102" name="Text 100"/>
          <p:cNvSpPr/>
          <p:nvPr/>
        </p:nvSpPr>
        <p:spPr>
          <a:xfrm>
            <a:off x="9409590" y="2491511"/>
            <a:ext cx="1892315" cy="420514"/>
          </a:xfrm>
          <a:prstGeom prst="rect">
            <a:avLst/>
          </a:prstGeom>
          <a:noFill/>
          <a:ln/>
        </p:spPr>
        <p:txBody>
          <a:bodyPr wrap="square" lIns="0" tIns="0" rIns="0" bIns="0" rtlCol="0" anchor="ctr"/>
          <a:lstStyle/>
          <a:p>
            <a:pPr defTabSz="914126"/>
            <a:r>
              <a:rPr lang="en-US" sz="1200" b="1" dirty="0">
                <a:solidFill>
                  <a:srgbClr val="FFFF00"/>
                </a:solidFill>
                <a:latin typeface="Candara" panose="020E0502030303020204" pitchFamily="34" charset="0"/>
                <a:ea typeface="Calibri" pitchFamily="34" charset="-122"/>
                <a:cs typeface="Calibri" pitchFamily="34" charset="-120"/>
              </a:rPr>
              <a:t>Device CRUD</a:t>
            </a:r>
            <a:endParaRPr lang="en-US" sz="1200" b="1" dirty="0">
              <a:solidFill>
                <a:srgbClr val="FFFF00"/>
              </a:solidFill>
              <a:latin typeface="Candara" panose="020E0502030303020204" pitchFamily="34" charset="0"/>
            </a:endParaRPr>
          </a:p>
        </p:txBody>
      </p:sp>
      <p:sp>
        <p:nvSpPr>
          <p:cNvPr id="103" name="Text 101"/>
          <p:cNvSpPr/>
          <p:nvPr/>
        </p:nvSpPr>
        <p:spPr>
          <a:xfrm>
            <a:off x="6022508" y="2912025"/>
            <a:ext cx="1147009" cy="420514"/>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/devices/:id</a:t>
            </a:r>
            <a:endParaRPr lang="en-US" sz="1200" dirty="0">
              <a:solidFill>
                <a:prstClr val="black"/>
              </a:solidFill>
              <a:latin typeface="Candara" panose="020E0502030303020204" pitchFamily="34" charset="0"/>
            </a:endParaRPr>
          </a:p>
        </p:txBody>
      </p:sp>
      <p:sp>
        <p:nvSpPr>
          <p:cNvPr id="104" name="Text 102"/>
          <p:cNvSpPr/>
          <p:nvPr/>
        </p:nvSpPr>
        <p:spPr>
          <a:xfrm>
            <a:off x="7034128" y="2912025"/>
            <a:ext cx="1199106" cy="420514"/>
          </a:xfrm>
          <a:prstGeom prst="rect">
            <a:avLst/>
          </a:prstGeom>
          <a:noFill/>
          <a:ln/>
        </p:spPr>
        <p:txBody>
          <a:bodyPr wrap="square" lIns="0" tIns="0" rIns="0" bIns="0" rtlCol="0" anchor="ctr"/>
          <a:lstStyle/>
          <a:p>
            <a:pPr defTabSz="914126"/>
            <a:r>
              <a:rPr lang="en-US" sz="1200" b="1" dirty="0">
                <a:solidFill>
                  <a:srgbClr val="7AB896"/>
                </a:solidFill>
                <a:latin typeface="Candara" panose="020E0502030303020204" pitchFamily="34" charset="0"/>
                <a:ea typeface="Calibri" pitchFamily="34" charset="-122"/>
                <a:cs typeface="Calibri" pitchFamily="34" charset="-120"/>
              </a:rPr>
              <a:t>DeviceDetailPage</a:t>
            </a:r>
            <a:endParaRPr lang="en-US" sz="1200" b="1" dirty="0">
              <a:solidFill>
                <a:prstClr val="black"/>
              </a:solidFill>
              <a:latin typeface="Candara" panose="020E0502030303020204" pitchFamily="34" charset="0"/>
            </a:endParaRPr>
          </a:p>
        </p:txBody>
      </p:sp>
      <p:sp>
        <p:nvSpPr>
          <p:cNvPr id="105" name="Shape 103"/>
          <p:cNvSpPr/>
          <p:nvPr/>
        </p:nvSpPr>
        <p:spPr>
          <a:xfrm>
            <a:off x="8449639" y="3017627"/>
            <a:ext cx="718148" cy="241780"/>
          </a:xfrm>
          <a:prstGeom prst="roundRect">
            <a:avLst>
              <a:gd name="adj" fmla="val 10000"/>
            </a:avLst>
          </a:prstGeom>
          <a:solidFill>
            <a:srgbClr val="3ECF80">
              <a:alpha val="13000"/>
            </a:srgbClr>
          </a:solidFill>
          <a:ln w="5080">
            <a:solidFill>
              <a:srgbClr val="3ECF80">
                <a:alpha val="60000"/>
              </a:srgbClr>
            </a:solidFill>
            <a:prstDash val="solid"/>
          </a:ln>
        </p:spPr>
        <p:txBody>
          <a:bodyPr/>
          <a:lstStyle/>
          <a:p>
            <a:pPr defTabSz="914126"/>
            <a:endParaRPr lang="en-US" sz="1200" b="1">
              <a:solidFill>
                <a:prstClr val="black"/>
              </a:solidFill>
              <a:latin typeface="Candara" panose="020E0502030303020204" pitchFamily="34" charset="0"/>
            </a:endParaRPr>
          </a:p>
        </p:txBody>
      </p:sp>
      <p:sp>
        <p:nvSpPr>
          <p:cNvPr id="106" name="Text 104"/>
          <p:cNvSpPr/>
          <p:nvPr/>
        </p:nvSpPr>
        <p:spPr>
          <a:xfrm>
            <a:off x="8449639" y="3017627"/>
            <a:ext cx="718148" cy="241780"/>
          </a:xfrm>
          <a:prstGeom prst="rect">
            <a:avLst/>
          </a:prstGeom>
          <a:noFill/>
          <a:ln/>
        </p:spPr>
        <p:txBody>
          <a:bodyPr wrap="square" lIns="0" tIns="0" rIns="0" bIns="0" rtlCol="0" anchor="ctr"/>
          <a:lstStyle/>
          <a:p>
            <a:pPr algn="ctr" defTabSz="914126"/>
            <a:r>
              <a:rPr lang="en-US" sz="1200" b="1" dirty="0">
                <a:solidFill>
                  <a:srgbClr val="3ECF80"/>
                </a:solidFill>
                <a:latin typeface="Candara" panose="020E0502030303020204" pitchFamily="34" charset="0"/>
                <a:ea typeface="Calibri" pitchFamily="34" charset="-122"/>
                <a:cs typeface="Calibri" pitchFamily="34" charset="-120"/>
              </a:rPr>
              <a:t>Protected</a:t>
            </a:r>
            <a:endParaRPr lang="en-US" sz="1200" b="1" dirty="0">
              <a:solidFill>
                <a:prstClr val="black"/>
              </a:solidFill>
              <a:latin typeface="Candara" panose="020E0502030303020204" pitchFamily="34" charset="0"/>
            </a:endParaRPr>
          </a:p>
        </p:txBody>
      </p:sp>
      <p:sp>
        <p:nvSpPr>
          <p:cNvPr id="107" name="Text 105"/>
          <p:cNvSpPr/>
          <p:nvPr/>
        </p:nvSpPr>
        <p:spPr>
          <a:xfrm>
            <a:off x="9409590" y="2912025"/>
            <a:ext cx="1892315" cy="420514"/>
          </a:xfrm>
          <a:prstGeom prst="rect">
            <a:avLst/>
          </a:prstGeom>
          <a:noFill/>
          <a:ln/>
        </p:spPr>
        <p:txBody>
          <a:bodyPr wrap="square" lIns="0" tIns="0" rIns="0" bIns="0" rtlCol="0" anchor="ctr"/>
          <a:lstStyle/>
          <a:p>
            <a:pPr defTabSz="914126"/>
            <a:r>
              <a:rPr lang="en-US" sz="1200" b="1" dirty="0">
                <a:solidFill>
                  <a:srgbClr val="FFFF00"/>
                </a:solidFill>
                <a:latin typeface="Candara" panose="020E0502030303020204" pitchFamily="34" charset="0"/>
                <a:ea typeface="Calibri" pitchFamily="34" charset="-122"/>
                <a:cs typeface="Calibri" pitchFamily="34" charset="-120"/>
              </a:rPr>
              <a:t>Live chart + sensors + commands</a:t>
            </a:r>
            <a:endParaRPr lang="en-US" sz="1200" b="1" dirty="0">
              <a:solidFill>
                <a:srgbClr val="FFFF00"/>
              </a:solidFill>
              <a:latin typeface="Candara" panose="020E0502030303020204" pitchFamily="34" charset="0"/>
            </a:endParaRPr>
          </a:p>
        </p:txBody>
      </p:sp>
      <p:sp>
        <p:nvSpPr>
          <p:cNvPr id="108" name="Shape 106"/>
          <p:cNvSpPr/>
          <p:nvPr/>
        </p:nvSpPr>
        <p:spPr>
          <a:xfrm>
            <a:off x="6411139" y="3332540"/>
            <a:ext cx="4890766" cy="420514"/>
          </a:xfrm>
          <a:prstGeom prst="rect">
            <a:avLst/>
          </a:prstGeom>
          <a:solidFill>
            <a:srgbClr val="FFFFFF">
              <a:alpha val="3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09" name="Text 107"/>
          <p:cNvSpPr/>
          <p:nvPr/>
        </p:nvSpPr>
        <p:spPr>
          <a:xfrm>
            <a:off x="6022508" y="3332540"/>
            <a:ext cx="1147009" cy="420514"/>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/sensors</a:t>
            </a:r>
            <a:endParaRPr lang="en-US" sz="1200" dirty="0">
              <a:solidFill>
                <a:prstClr val="black"/>
              </a:solidFill>
              <a:latin typeface="Candara" panose="020E0502030303020204" pitchFamily="34" charset="0"/>
            </a:endParaRPr>
          </a:p>
        </p:txBody>
      </p:sp>
      <p:sp>
        <p:nvSpPr>
          <p:cNvPr id="110" name="Text 108"/>
          <p:cNvSpPr/>
          <p:nvPr/>
        </p:nvSpPr>
        <p:spPr>
          <a:xfrm>
            <a:off x="7034128" y="3332540"/>
            <a:ext cx="1199106" cy="420514"/>
          </a:xfrm>
          <a:prstGeom prst="rect">
            <a:avLst/>
          </a:prstGeom>
          <a:noFill/>
          <a:ln/>
        </p:spPr>
        <p:txBody>
          <a:bodyPr wrap="square" lIns="0" tIns="0" rIns="0" bIns="0" rtlCol="0" anchor="ctr"/>
          <a:lstStyle/>
          <a:p>
            <a:pPr defTabSz="914126"/>
            <a:r>
              <a:rPr lang="en-US" sz="1200" b="1" dirty="0">
                <a:solidFill>
                  <a:srgbClr val="7AB896"/>
                </a:solidFill>
                <a:latin typeface="Candara" panose="020E0502030303020204" pitchFamily="34" charset="0"/>
                <a:ea typeface="Calibri" pitchFamily="34" charset="-122"/>
                <a:cs typeface="Calibri" pitchFamily="34" charset="-120"/>
              </a:rPr>
              <a:t>SensorsPage</a:t>
            </a:r>
            <a:endParaRPr lang="en-US" sz="1200" b="1" dirty="0">
              <a:solidFill>
                <a:prstClr val="black"/>
              </a:solidFill>
              <a:latin typeface="Candara" panose="020E0502030303020204" pitchFamily="34" charset="0"/>
            </a:endParaRPr>
          </a:p>
        </p:txBody>
      </p:sp>
      <p:sp>
        <p:nvSpPr>
          <p:cNvPr id="111" name="Shape 109"/>
          <p:cNvSpPr/>
          <p:nvPr/>
        </p:nvSpPr>
        <p:spPr>
          <a:xfrm>
            <a:off x="8449639" y="3438141"/>
            <a:ext cx="718148" cy="241780"/>
          </a:xfrm>
          <a:prstGeom prst="roundRect">
            <a:avLst>
              <a:gd name="adj" fmla="val 10000"/>
            </a:avLst>
          </a:prstGeom>
          <a:solidFill>
            <a:srgbClr val="3ECF80">
              <a:alpha val="13000"/>
            </a:srgbClr>
          </a:solidFill>
          <a:ln w="5080">
            <a:solidFill>
              <a:srgbClr val="3ECF80">
                <a:alpha val="60000"/>
              </a:srgbClr>
            </a:solidFill>
            <a:prstDash val="solid"/>
          </a:ln>
        </p:spPr>
        <p:txBody>
          <a:bodyPr/>
          <a:lstStyle/>
          <a:p>
            <a:pPr defTabSz="914126"/>
            <a:endParaRPr lang="en-US" sz="1200" b="1">
              <a:solidFill>
                <a:prstClr val="black"/>
              </a:solidFill>
              <a:latin typeface="Candara" panose="020E0502030303020204" pitchFamily="34" charset="0"/>
            </a:endParaRPr>
          </a:p>
        </p:txBody>
      </p:sp>
      <p:sp>
        <p:nvSpPr>
          <p:cNvPr id="112" name="Text 110"/>
          <p:cNvSpPr/>
          <p:nvPr/>
        </p:nvSpPr>
        <p:spPr>
          <a:xfrm>
            <a:off x="8449639" y="3438141"/>
            <a:ext cx="718148" cy="241780"/>
          </a:xfrm>
          <a:prstGeom prst="rect">
            <a:avLst/>
          </a:prstGeom>
          <a:noFill/>
          <a:ln/>
        </p:spPr>
        <p:txBody>
          <a:bodyPr wrap="square" lIns="0" tIns="0" rIns="0" bIns="0" rtlCol="0" anchor="ctr"/>
          <a:lstStyle/>
          <a:p>
            <a:pPr algn="ctr" defTabSz="914126"/>
            <a:r>
              <a:rPr lang="en-US" sz="1200" b="1" dirty="0">
                <a:solidFill>
                  <a:srgbClr val="3ECF80"/>
                </a:solidFill>
                <a:latin typeface="Candara" panose="020E0502030303020204" pitchFamily="34" charset="0"/>
                <a:ea typeface="Calibri" pitchFamily="34" charset="-122"/>
                <a:cs typeface="Calibri" pitchFamily="34" charset="-120"/>
              </a:rPr>
              <a:t>Protected</a:t>
            </a:r>
            <a:endParaRPr lang="en-US" sz="1200" b="1" dirty="0">
              <a:solidFill>
                <a:prstClr val="black"/>
              </a:solidFill>
              <a:latin typeface="Candara" panose="020E0502030303020204" pitchFamily="34" charset="0"/>
            </a:endParaRPr>
          </a:p>
        </p:txBody>
      </p:sp>
      <p:sp>
        <p:nvSpPr>
          <p:cNvPr id="113" name="Text 111"/>
          <p:cNvSpPr/>
          <p:nvPr/>
        </p:nvSpPr>
        <p:spPr>
          <a:xfrm>
            <a:off x="9409590" y="3332540"/>
            <a:ext cx="1892315" cy="420514"/>
          </a:xfrm>
          <a:prstGeom prst="rect">
            <a:avLst/>
          </a:prstGeom>
          <a:noFill/>
          <a:ln/>
        </p:spPr>
        <p:txBody>
          <a:bodyPr wrap="square" lIns="0" tIns="0" rIns="0" bIns="0" rtlCol="0" anchor="ctr"/>
          <a:lstStyle/>
          <a:p>
            <a:pPr defTabSz="914126"/>
            <a:r>
              <a:rPr lang="en-US" sz="1200" b="1" dirty="0">
                <a:solidFill>
                  <a:srgbClr val="FFFF00"/>
                </a:solidFill>
                <a:latin typeface="Candara" panose="020E0502030303020204" pitchFamily="34" charset="0"/>
                <a:ea typeface="Calibri" pitchFamily="34" charset="-122"/>
                <a:cs typeface="Calibri" pitchFamily="34" charset="-120"/>
              </a:rPr>
              <a:t>All sensor inputs</a:t>
            </a:r>
            <a:endParaRPr lang="en-US" sz="1200" b="1" dirty="0">
              <a:solidFill>
                <a:srgbClr val="FFFF00"/>
              </a:solidFill>
              <a:latin typeface="Candara" panose="020E0502030303020204" pitchFamily="34" charset="0"/>
            </a:endParaRPr>
          </a:p>
        </p:txBody>
      </p:sp>
      <p:sp>
        <p:nvSpPr>
          <p:cNvPr id="114" name="Text 112"/>
          <p:cNvSpPr/>
          <p:nvPr/>
        </p:nvSpPr>
        <p:spPr>
          <a:xfrm>
            <a:off x="6022508" y="3753054"/>
            <a:ext cx="1147009" cy="420514"/>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/actuators</a:t>
            </a:r>
            <a:endParaRPr lang="en-US" sz="1200" dirty="0">
              <a:solidFill>
                <a:prstClr val="black"/>
              </a:solidFill>
              <a:latin typeface="Candara" panose="020E0502030303020204" pitchFamily="34" charset="0"/>
            </a:endParaRPr>
          </a:p>
        </p:txBody>
      </p:sp>
      <p:sp>
        <p:nvSpPr>
          <p:cNvPr id="115" name="Text 113"/>
          <p:cNvSpPr/>
          <p:nvPr/>
        </p:nvSpPr>
        <p:spPr>
          <a:xfrm>
            <a:off x="7034128" y="3753054"/>
            <a:ext cx="1199106" cy="420514"/>
          </a:xfrm>
          <a:prstGeom prst="rect">
            <a:avLst/>
          </a:prstGeom>
          <a:noFill/>
          <a:ln/>
        </p:spPr>
        <p:txBody>
          <a:bodyPr wrap="square" lIns="0" tIns="0" rIns="0" bIns="0" rtlCol="0" anchor="ctr"/>
          <a:lstStyle/>
          <a:p>
            <a:pPr defTabSz="914126"/>
            <a:r>
              <a:rPr lang="en-US" sz="1200" b="1" dirty="0">
                <a:solidFill>
                  <a:srgbClr val="7AB896"/>
                </a:solidFill>
                <a:latin typeface="Candara" panose="020E0502030303020204" pitchFamily="34" charset="0"/>
                <a:ea typeface="Calibri" pitchFamily="34" charset="-122"/>
                <a:cs typeface="Calibri" pitchFamily="34" charset="-120"/>
              </a:rPr>
              <a:t>ActuatorsPage</a:t>
            </a:r>
            <a:endParaRPr lang="en-US" sz="1200" b="1" dirty="0">
              <a:solidFill>
                <a:prstClr val="black"/>
              </a:solidFill>
              <a:latin typeface="Candara" panose="020E0502030303020204" pitchFamily="34" charset="0"/>
            </a:endParaRPr>
          </a:p>
        </p:txBody>
      </p:sp>
      <p:sp>
        <p:nvSpPr>
          <p:cNvPr id="116" name="Shape 114"/>
          <p:cNvSpPr/>
          <p:nvPr/>
        </p:nvSpPr>
        <p:spPr>
          <a:xfrm>
            <a:off x="8449639" y="3858656"/>
            <a:ext cx="718148" cy="241780"/>
          </a:xfrm>
          <a:prstGeom prst="roundRect">
            <a:avLst>
              <a:gd name="adj" fmla="val 10000"/>
            </a:avLst>
          </a:prstGeom>
          <a:solidFill>
            <a:srgbClr val="3ECF80">
              <a:alpha val="13000"/>
            </a:srgbClr>
          </a:solidFill>
          <a:ln w="5080">
            <a:solidFill>
              <a:srgbClr val="3ECF80">
                <a:alpha val="60000"/>
              </a:srgbClr>
            </a:solidFill>
            <a:prstDash val="solid"/>
          </a:ln>
        </p:spPr>
        <p:txBody>
          <a:bodyPr/>
          <a:lstStyle/>
          <a:p>
            <a:pPr defTabSz="914126"/>
            <a:endParaRPr lang="en-US" sz="1200" b="1">
              <a:solidFill>
                <a:prstClr val="black"/>
              </a:solidFill>
              <a:latin typeface="Candara" panose="020E0502030303020204" pitchFamily="34" charset="0"/>
            </a:endParaRPr>
          </a:p>
        </p:txBody>
      </p:sp>
      <p:sp>
        <p:nvSpPr>
          <p:cNvPr id="117" name="Text 115"/>
          <p:cNvSpPr/>
          <p:nvPr/>
        </p:nvSpPr>
        <p:spPr>
          <a:xfrm>
            <a:off x="8449639" y="3858656"/>
            <a:ext cx="718148" cy="241780"/>
          </a:xfrm>
          <a:prstGeom prst="rect">
            <a:avLst/>
          </a:prstGeom>
          <a:noFill/>
          <a:ln/>
        </p:spPr>
        <p:txBody>
          <a:bodyPr wrap="square" lIns="0" tIns="0" rIns="0" bIns="0" rtlCol="0" anchor="ctr"/>
          <a:lstStyle/>
          <a:p>
            <a:pPr algn="ctr" defTabSz="914126"/>
            <a:r>
              <a:rPr lang="en-US" sz="1200" b="1" dirty="0">
                <a:solidFill>
                  <a:srgbClr val="3ECF80"/>
                </a:solidFill>
                <a:latin typeface="Candara" panose="020E0502030303020204" pitchFamily="34" charset="0"/>
                <a:ea typeface="Calibri" pitchFamily="34" charset="-122"/>
                <a:cs typeface="Calibri" pitchFamily="34" charset="-120"/>
              </a:rPr>
              <a:t>Protected</a:t>
            </a:r>
            <a:endParaRPr lang="en-US" sz="1200" b="1" dirty="0">
              <a:solidFill>
                <a:prstClr val="black"/>
              </a:solidFill>
              <a:latin typeface="Candara" panose="020E0502030303020204" pitchFamily="34" charset="0"/>
            </a:endParaRPr>
          </a:p>
        </p:txBody>
      </p:sp>
      <p:sp>
        <p:nvSpPr>
          <p:cNvPr id="118" name="Text 116"/>
          <p:cNvSpPr/>
          <p:nvPr/>
        </p:nvSpPr>
        <p:spPr>
          <a:xfrm>
            <a:off x="9409590" y="3753054"/>
            <a:ext cx="1892315" cy="420514"/>
          </a:xfrm>
          <a:prstGeom prst="rect">
            <a:avLst/>
          </a:prstGeom>
          <a:noFill/>
          <a:ln/>
        </p:spPr>
        <p:txBody>
          <a:bodyPr wrap="square" lIns="0" tIns="0" rIns="0" bIns="0" rtlCol="0" anchor="ctr"/>
          <a:lstStyle/>
          <a:p>
            <a:pPr defTabSz="914126"/>
            <a:r>
              <a:rPr lang="en-US" sz="1200" b="1" dirty="0">
                <a:solidFill>
                  <a:srgbClr val="FFFF00"/>
                </a:solidFill>
                <a:latin typeface="Candara" panose="020E0502030303020204" pitchFamily="34" charset="0"/>
                <a:ea typeface="Calibri" pitchFamily="34" charset="-122"/>
                <a:cs typeface="Calibri" pitchFamily="34" charset="-120"/>
              </a:rPr>
              <a:t>Controllable outputs</a:t>
            </a:r>
            <a:endParaRPr lang="en-US" sz="1200" b="1" dirty="0">
              <a:solidFill>
                <a:srgbClr val="FFFF00"/>
              </a:solidFill>
              <a:latin typeface="Candara" panose="020E0502030303020204" pitchFamily="34" charset="0"/>
            </a:endParaRPr>
          </a:p>
        </p:txBody>
      </p:sp>
      <p:sp>
        <p:nvSpPr>
          <p:cNvPr id="119" name="Shape 117"/>
          <p:cNvSpPr/>
          <p:nvPr/>
        </p:nvSpPr>
        <p:spPr>
          <a:xfrm>
            <a:off x="6411139" y="4173569"/>
            <a:ext cx="4890766" cy="420514"/>
          </a:xfrm>
          <a:prstGeom prst="rect">
            <a:avLst/>
          </a:prstGeom>
          <a:solidFill>
            <a:srgbClr val="FFFFFF">
              <a:alpha val="3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20" name="Text 118"/>
          <p:cNvSpPr/>
          <p:nvPr/>
        </p:nvSpPr>
        <p:spPr>
          <a:xfrm>
            <a:off x="6022508" y="4173569"/>
            <a:ext cx="1147009" cy="420514"/>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/alert-rules</a:t>
            </a:r>
            <a:endParaRPr lang="en-US" sz="1200" dirty="0">
              <a:solidFill>
                <a:prstClr val="black"/>
              </a:solidFill>
              <a:latin typeface="Candara" panose="020E0502030303020204" pitchFamily="34" charset="0"/>
            </a:endParaRPr>
          </a:p>
        </p:txBody>
      </p:sp>
      <p:sp>
        <p:nvSpPr>
          <p:cNvPr id="121" name="Text 119"/>
          <p:cNvSpPr/>
          <p:nvPr/>
        </p:nvSpPr>
        <p:spPr>
          <a:xfrm>
            <a:off x="7034128" y="4173569"/>
            <a:ext cx="1199106" cy="420514"/>
          </a:xfrm>
          <a:prstGeom prst="rect">
            <a:avLst/>
          </a:prstGeom>
          <a:noFill/>
          <a:ln/>
        </p:spPr>
        <p:txBody>
          <a:bodyPr wrap="square" lIns="0" tIns="0" rIns="0" bIns="0" rtlCol="0" anchor="ctr"/>
          <a:lstStyle/>
          <a:p>
            <a:pPr defTabSz="914126"/>
            <a:r>
              <a:rPr lang="en-US" sz="1200" b="1" dirty="0">
                <a:solidFill>
                  <a:srgbClr val="7AB896"/>
                </a:solidFill>
                <a:latin typeface="Candara" panose="020E0502030303020204" pitchFamily="34" charset="0"/>
                <a:ea typeface="Calibri" pitchFamily="34" charset="-122"/>
                <a:cs typeface="Calibri" pitchFamily="34" charset="-120"/>
              </a:rPr>
              <a:t>AlertRulesPage</a:t>
            </a:r>
            <a:endParaRPr lang="en-US" sz="1200" b="1" dirty="0">
              <a:solidFill>
                <a:prstClr val="black"/>
              </a:solidFill>
              <a:latin typeface="Candara" panose="020E0502030303020204" pitchFamily="34" charset="0"/>
            </a:endParaRPr>
          </a:p>
        </p:txBody>
      </p:sp>
      <p:sp>
        <p:nvSpPr>
          <p:cNvPr id="122" name="Shape 120"/>
          <p:cNvSpPr/>
          <p:nvPr/>
        </p:nvSpPr>
        <p:spPr>
          <a:xfrm>
            <a:off x="8449639" y="4279170"/>
            <a:ext cx="718148" cy="241780"/>
          </a:xfrm>
          <a:prstGeom prst="roundRect">
            <a:avLst>
              <a:gd name="adj" fmla="val 10000"/>
            </a:avLst>
          </a:prstGeom>
          <a:solidFill>
            <a:srgbClr val="3ECF80">
              <a:alpha val="13000"/>
            </a:srgbClr>
          </a:solidFill>
          <a:ln w="5080">
            <a:solidFill>
              <a:srgbClr val="3ECF80">
                <a:alpha val="60000"/>
              </a:srgbClr>
            </a:solidFill>
            <a:prstDash val="solid"/>
          </a:ln>
        </p:spPr>
        <p:txBody>
          <a:bodyPr/>
          <a:lstStyle/>
          <a:p>
            <a:pPr defTabSz="914126"/>
            <a:endParaRPr lang="en-US" sz="1200" b="1">
              <a:solidFill>
                <a:prstClr val="black"/>
              </a:solidFill>
              <a:latin typeface="Candara" panose="020E0502030303020204" pitchFamily="34" charset="0"/>
            </a:endParaRPr>
          </a:p>
        </p:txBody>
      </p:sp>
      <p:sp>
        <p:nvSpPr>
          <p:cNvPr id="123" name="Text 121"/>
          <p:cNvSpPr/>
          <p:nvPr/>
        </p:nvSpPr>
        <p:spPr>
          <a:xfrm>
            <a:off x="8449639" y="4279170"/>
            <a:ext cx="718148" cy="241780"/>
          </a:xfrm>
          <a:prstGeom prst="rect">
            <a:avLst/>
          </a:prstGeom>
          <a:noFill/>
          <a:ln/>
        </p:spPr>
        <p:txBody>
          <a:bodyPr wrap="square" lIns="0" tIns="0" rIns="0" bIns="0" rtlCol="0" anchor="ctr"/>
          <a:lstStyle/>
          <a:p>
            <a:pPr algn="ctr" defTabSz="914126"/>
            <a:r>
              <a:rPr lang="en-US" sz="1200" b="1" dirty="0">
                <a:solidFill>
                  <a:srgbClr val="3ECF80"/>
                </a:solidFill>
                <a:latin typeface="Candara" panose="020E0502030303020204" pitchFamily="34" charset="0"/>
                <a:ea typeface="Calibri" pitchFamily="34" charset="-122"/>
                <a:cs typeface="Calibri" pitchFamily="34" charset="-120"/>
              </a:rPr>
              <a:t>Protected</a:t>
            </a:r>
            <a:endParaRPr lang="en-US" sz="1200" b="1" dirty="0">
              <a:solidFill>
                <a:prstClr val="black"/>
              </a:solidFill>
              <a:latin typeface="Candara" panose="020E0502030303020204" pitchFamily="34" charset="0"/>
            </a:endParaRPr>
          </a:p>
        </p:txBody>
      </p:sp>
      <p:sp>
        <p:nvSpPr>
          <p:cNvPr id="124" name="Text 122"/>
          <p:cNvSpPr/>
          <p:nvPr/>
        </p:nvSpPr>
        <p:spPr>
          <a:xfrm>
            <a:off x="9409590" y="4173569"/>
            <a:ext cx="1892315" cy="420514"/>
          </a:xfrm>
          <a:prstGeom prst="rect">
            <a:avLst/>
          </a:prstGeom>
          <a:noFill/>
          <a:ln/>
        </p:spPr>
        <p:txBody>
          <a:bodyPr wrap="square" lIns="0" tIns="0" rIns="0" bIns="0" rtlCol="0" anchor="ctr"/>
          <a:lstStyle/>
          <a:p>
            <a:pPr defTabSz="914126"/>
            <a:r>
              <a:rPr lang="en-US" sz="1200" b="1" dirty="0">
                <a:solidFill>
                  <a:srgbClr val="FFFF00"/>
                </a:solidFill>
                <a:latin typeface="Candara" panose="020E0502030303020204" pitchFamily="34" charset="0"/>
                <a:ea typeface="Calibri" pitchFamily="34" charset="-122"/>
                <a:cs typeface="Calibri" pitchFamily="34" charset="-120"/>
              </a:rPr>
              <a:t>Threshold rule config</a:t>
            </a:r>
            <a:endParaRPr lang="en-US" sz="1200" b="1" dirty="0">
              <a:solidFill>
                <a:srgbClr val="FFFF00"/>
              </a:solidFill>
              <a:latin typeface="Candara" panose="020E0502030303020204" pitchFamily="34" charset="0"/>
            </a:endParaRPr>
          </a:p>
        </p:txBody>
      </p:sp>
      <p:sp>
        <p:nvSpPr>
          <p:cNvPr id="125" name="Text 123"/>
          <p:cNvSpPr/>
          <p:nvPr/>
        </p:nvSpPr>
        <p:spPr>
          <a:xfrm>
            <a:off x="6022508" y="4594083"/>
            <a:ext cx="1147009" cy="420514"/>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/alerts</a:t>
            </a:r>
            <a:endParaRPr lang="en-US" sz="1200" dirty="0">
              <a:solidFill>
                <a:prstClr val="black"/>
              </a:solidFill>
              <a:latin typeface="Candara" panose="020E0502030303020204" pitchFamily="34" charset="0"/>
            </a:endParaRPr>
          </a:p>
        </p:txBody>
      </p:sp>
      <p:sp>
        <p:nvSpPr>
          <p:cNvPr id="126" name="Text 124"/>
          <p:cNvSpPr/>
          <p:nvPr/>
        </p:nvSpPr>
        <p:spPr>
          <a:xfrm>
            <a:off x="7034128" y="4594083"/>
            <a:ext cx="1199106" cy="420514"/>
          </a:xfrm>
          <a:prstGeom prst="rect">
            <a:avLst/>
          </a:prstGeom>
          <a:noFill/>
          <a:ln/>
        </p:spPr>
        <p:txBody>
          <a:bodyPr wrap="square" lIns="0" tIns="0" rIns="0" bIns="0" rtlCol="0" anchor="ctr"/>
          <a:lstStyle/>
          <a:p>
            <a:pPr defTabSz="914126"/>
            <a:r>
              <a:rPr lang="en-US" sz="1200" b="1" dirty="0">
                <a:solidFill>
                  <a:srgbClr val="7AB896"/>
                </a:solidFill>
                <a:latin typeface="Candara" panose="020E0502030303020204" pitchFamily="34" charset="0"/>
                <a:ea typeface="Calibri" pitchFamily="34" charset="-122"/>
                <a:cs typeface="Calibri" pitchFamily="34" charset="-120"/>
              </a:rPr>
              <a:t>AlertsPage</a:t>
            </a:r>
            <a:endParaRPr lang="en-US" sz="1200" b="1" dirty="0">
              <a:solidFill>
                <a:prstClr val="black"/>
              </a:solidFill>
              <a:latin typeface="Candara" panose="020E0502030303020204" pitchFamily="34" charset="0"/>
            </a:endParaRPr>
          </a:p>
        </p:txBody>
      </p:sp>
      <p:sp>
        <p:nvSpPr>
          <p:cNvPr id="127" name="Shape 125"/>
          <p:cNvSpPr/>
          <p:nvPr/>
        </p:nvSpPr>
        <p:spPr>
          <a:xfrm>
            <a:off x="8449639" y="4699685"/>
            <a:ext cx="718148" cy="241780"/>
          </a:xfrm>
          <a:prstGeom prst="roundRect">
            <a:avLst>
              <a:gd name="adj" fmla="val 10000"/>
            </a:avLst>
          </a:prstGeom>
          <a:solidFill>
            <a:srgbClr val="3ECF80">
              <a:alpha val="13000"/>
            </a:srgbClr>
          </a:solidFill>
          <a:ln w="5080">
            <a:solidFill>
              <a:srgbClr val="3ECF80">
                <a:alpha val="60000"/>
              </a:srgbClr>
            </a:solidFill>
            <a:prstDash val="solid"/>
          </a:ln>
        </p:spPr>
        <p:txBody>
          <a:bodyPr/>
          <a:lstStyle/>
          <a:p>
            <a:pPr defTabSz="914126"/>
            <a:endParaRPr lang="en-US" sz="1200" b="1">
              <a:solidFill>
                <a:prstClr val="black"/>
              </a:solidFill>
              <a:latin typeface="Candara" panose="020E0502030303020204" pitchFamily="34" charset="0"/>
            </a:endParaRPr>
          </a:p>
        </p:txBody>
      </p:sp>
      <p:sp>
        <p:nvSpPr>
          <p:cNvPr id="128" name="Text 126"/>
          <p:cNvSpPr/>
          <p:nvPr/>
        </p:nvSpPr>
        <p:spPr>
          <a:xfrm>
            <a:off x="8449639" y="4699685"/>
            <a:ext cx="718148" cy="241780"/>
          </a:xfrm>
          <a:prstGeom prst="rect">
            <a:avLst/>
          </a:prstGeom>
          <a:noFill/>
          <a:ln/>
        </p:spPr>
        <p:txBody>
          <a:bodyPr wrap="square" lIns="0" tIns="0" rIns="0" bIns="0" rtlCol="0" anchor="ctr"/>
          <a:lstStyle/>
          <a:p>
            <a:pPr algn="ctr" defTabSz="914126"/>
            <a:r>
              <a:rPr lang="en-US" sz="1200" b="1" dirty="0">
                <a:solidFill>
                  <a:srgbClr val="3ECF80"/>
                </a:solidFill>
                <a:latin typeface="Candara" panose="020E0502030303020204" pitchFamily="34" charset="0"/>
                <a:ea typeface="Calibri" pitchFamily="34" charset="-122"/>
                <a:cs typeface="Calibri" pitchFamily="34" charset="-120"/>
              </a:rPr>
              <a:t>Protected</a:t>
            </a:r>
            <a:endParaRPr lang="en-US" sz="1200" b="1" dirty="0">
              <a:solidFill>
                <a:prstClr val="black"/>
              </a:solidFill>
              <a:latin typeface="Candara" panose="020E0502030303020204" pitchFamily="34" charset="0"/>
            </a:endParaRPr>
          </a:p>
        </p:txBody>
      </p:sp>
      <p:sp>
        <p:nvSpPr>
          <p:cNvPr id="129" name="Text 127"/>
          <p:cNvSpPr/>
          <p:nvPr/>
        </p:nvSpPr>
        <p:spPr>
          <a:xfrm>
            <a:off x="9409590" y="4594083"/>
            <a:ext cx="1892315" cy="420514"/>
          </a:xfrm>
          <a:prstGeom prst="rect">
            <a:avLst/>
          </a:prstGeom>
          <a:noFill/>
          <a:ln/>
        </p:spPr>
        <p:txBody>
          <a:bodyPr wrap="square" lIns="0" tIns="0" rIns="0" bIns="0" rtlCol="0" anchor="ctr"/>
          <a:lstStyle/>
          <a:p>
            <a:pPr defTabSz="914126"/>
            <a:r>
              <a:rPr lang="en-US" sz="1200" b="1" dirty="0">
                <a:solidFill>
                  <a:srgbClr val="FFFF00"/>
                </a:solidFill>
                <a:latin typeface="Candara" panose="020E0502030303020204" pitchFamily="34" charset="0"/>
                <a:ea typeface="Calibri" pitchFamily="34" charset="-122"/>
                <a:cs typeface="Calibri" pitchFamily="34" charset="-120"/>
              </a:rPr>
              <a:t>View · acknowledge · resolve</a:t>
            </a:r>
            <a:endParaRPr lang="en-US" sz="1200" b="1" dirty="0">
              <a:solidFill>
                <a:srgbClr val="FFFF00"/>
              </a:solidFill>
              <a:latin typeface="Candara" panose="020E0502030303020204" pitchFamily="34" charset="0"/>
            </a:endParaRPr>
          </a:p>
        </p:txBody>
      </p:sp>
      <p:sp>
        <p:nvSpPr>
          <p:cNvPr id="130" name="Shape 128"/>
          <p:cNvSpPr/>
          <p:nvPr/>
        </p:nvSpPr>
        <p:spPr>
          <a:xfrm>
            <a:off x="6411139" y="5014598"/>
            <a:ext cx="4890766" cy="420514"/>
          </a:xfrm>
          <a:prstGeom prst="rect">
            <a:avLst/>
          </a:prstGeom>
          <a:solidFill>
            <a:srgbClr val="FFFFFF">
              <a:alpha val="3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31" name="Text 129"/>
          <p:cNvSpPr/>
          <p:nvPr/>
        </p:nvSpPr>
        <p:spPr>
          <a:xfrm>
            <a:off x="6022508" y="5014598"/>
            <a:ext cx="1147009" cy="420514"/>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/command-history</a:t>
            </a:r>
            <a:endParaRPr lang="en-US" sz="1200" dirty="0">
              <a:solidFill>
                <a:prstClr val="black"/>
              </a:solidFill>
              <a:latin typeface="Candara" panose="020E0502030303020204" pitchFamily="34" charset="0"/>
            </a:endParaRPr>
          </a:p>
        </p:txBody>
      </p:sp>
      <p:sp>
        <p:nvSpPr>
          <p:cNvPr id="132" name="Text 130"/>
          <p:cNvSpPr/>
          <p:nvPr/>
        </p:nvSpPr>
        <p:spPr>
          <a:xfrm>
            <a:off x="7034128" y="5014598"/>
            <a:ext cx="1199106" cy="420514"/>
          </a:xfrm>
          <a:prstGeom prst="rect">
            <a:avLst/>
          </a:prstGeom>
          <a:noFill/>
          <a:ln/>
        </p:spPr>
        <p:txBody>
          <a:bodyPr wrap="square" lIns="0" tIns="0" rIns="0" bIns="0" rtlCol="0" anchor="ctr"/>
          <a:lstStyle/>
          <a:p>
            <a:pPr defTabSz="914126"/>
            <a:r>
              <a:rPr lang="en-US" sz="1200" b="1" dirty="0">
                <a:solidFill>
                  <a:srgbClr val="7AB896"/>
                </a:solidFill>
                <a:latin typeface="Candara" panose="020E0502030303020204" pitchFamily="34" charset="0"/>
                <a:ea typeface="Calibri" pitchFamily="34" charset="-122"/>
                <a:cs typeface="Calibri" pitchFamily="34" charset="-120"/>
              </a:rPr>
              <a:t>CommandHistoryPage</a:t>
            </a:r>
            <a:endParaRPr lang="en-US" sz="1200" b="1" dirty="0">
              <a:solidFill>
                <a:prstClr val="black"/>
              </a:solidFill>
              <a:latin typeface="Candara" panose="020E0502030303020204" pitchFamily="34" charset="0"/>
            </a:endParaRPr>
          </a:p>
        </p:txBody>
      </p:sp>
      <p:sp>
        <p:nvSpPr>
          <p:cNvPr id="133" name="Shape 131"/>
          <p:cNvSpPr/>
          <p:nvPr/>
        </p:nvSpPr>
        <p:spPr>
          <a:xfrm>
            <a:off x="8449639" y="5120199"/>
            <a:ext cx="718148" cy="241780"/>
          </a:xfrm>
          <a:prstGeom prst="roundRect">
            <a:avLst>
              <a:gd name="adj" fmla="val 10000"/>
            </a:avLst>
          </a:prstGeom>
          <a:solidFill>
            <a:srgbClr val="3ECF80">
              <a:alpha val="13000"/>
            </a:srgbClr>
          </a:solidFill>
          <a:ln w="5080">
            <a:solidFill>
              <a:srgbClr val="3ECF80">
                <a:alpha val="60000"/>
              </a:srgbClr>
            </a:solidFill>
            <a:prstDash val="solid"/>
          </a:ln>
        </p:spPr>
        <p:txBody>
          <a:bodyPr/>
          <a:lstStyle/>
          <a:p>
            <a:pPr defTabSz="914126"/>
            <a:endParaRPr lang="en-US" sz="1200" b="1">
              <a:solidFill>
                <a:prstClr val="black"/>
              </a:solidFill>
              <a:latin typeface="Candara" panose="020E0502030303020204" pitchFamily="34" charset="0"/>
            </a:endParaRPr>
          </a:p>
        </p:txBody>
      </p:sp>
      <p:sp>
        <p:nvSpPr>
          <p:cNvPr id="134" name="Text 132"/>
          <p:cNvSpPr/>
          <p:nvPr/>
        </p:nvSpPr>
        <p:spPr>
          <a:xfrm>
            <a:off x="8449639" y="5120199"/>
            <a:ext cx="718148" cy="241780"/>
          </a:xfrm>
          <a:prstGeom prst="rect">
            <a:avLst/>
          </a:prstGeom>
          <a:noFill/>
          <a:ln/>
        </p:spPr>
        <p:txBody>
          <a:bodyPr wrap="square" lIns="0" tIns="0" rIns="0" bIns="0" rtlCol="0" anchor="ctr"/>
          <a:lstStyle/>
          <a:p>
            <a:pPr algn="ctr" defTabSz="914126"/>
            <a:r>
              <a:rPr lang="en-US" sz="1200" b="1" dirty="0">
                <a:solidFill>
                  <a:srgbClr val="3ECF80"/>
                </a:solidFill>
                <a:latin typeface="Candara" panose="020E0502030303020204" pitchFamily="34" charset="0"/>
                <a:ea typeface="Calibri" pitchFamily="34" charset="-122"/>
                <a:cs typeface="Calibri" pitchFamily="34" charset="-120"/>
              </a:rPr>
              <a:t>Protected</a:t>
            </a:r>
            <a:endParaRPr lang="en-US" sz="1200" b="1" dirty="0">
              <a:solidFill>
                <a:prstClr val="black"/>
              </a:solidFill>
              <a:latin typeface="Candara" panose="020E0502030303020204" pitchFamily="34" charset="0"/>
            </a:endParaRPr>
          </a:p>
        </p:txBody>
      </p:sp>
      <p:sp>
        <p:nvSpPr>
          <p:cNvPr id="135" name="Text 133"/>
          <p:cNvSpPr/>
          <p:nvPr/>
        </p:nvSpPr>
        <p:spPr>
          <a:xfrm>
            <a:off x="9409590" y="5014598"/>
            <a:ext cx="1892315" cy="420514"/>
          </a:xfrm>
          <a:prstGeom prst="rect">
            <a:avLst/>
          </a:prstGeom>
          <a:noFill/>
          <a:ln/>
        </p:spPr>
        <p:txBody>
          <a:bodyPr wrap="square" lIns="0" tIns="0" rIns="0" bIns="0" rtlCol="0" anchor="ctr"/>
          <a:lstStyle/>
          <a:p>
            <a:pPr defTabSz="914126"/>
            <a:r>
              <a:rPr lang="en-US" sz="1200" b="1" dirty="0">
                <a:solidFill>
                  <a:srgbClr val="FFFF00"/>
                </a:solidFill>
                <a:latin typeface="Candara" panose="020E0502030303020204" pitchFamily="34" charset="0"/>
                <a:ea typeface="Calibri" pitchFamily="34" charset="-122"/>
                <a:cs typeface="Calibri" pitchFamily="34" charset="-120"/>
              </a:rPr>
              <a:t>Pending → Sent → </a:t>
            </a:r>
            <a:r>
              <a:rPr lang="en-US" sz="1200" b="1" dirty="0" err="1">
                <a:solidFill>
                  <a:srgbClr val="FFFF00"/>
                </a:solidFill>
                <a:latin typeface="Candara" panose="020E0502030303020204" pitchFamily="34" charset="0"/>
                <a:ea typeface="Calibri" pitchFamily="34" charset="-122"/>
                <a:cs typeface="Calibri" pitchFamily="34" charset="-120"/>
              </a:rPr>
              <a:t>Acked</a:t>
            </a:r>
            <a:endParaRPr lang="en-US" sz="1200" b="1" dirty="0">
              <a:solidFill>
                <a:srgbClr val="FFFF00"/>
              </a:solidFill>
              <a:latin typeface="Candara" panose="020E0502030303020204" pitchFamily="34" charset="0"/>
            </a:endParaRPr>
          </a:p>
        </p:txBody>
      </p:sp>
      <p:sp>
        <p:nvSpPr>
          <p:cNvPr id="136" name="Text 134"/>
          <p:cNvSpPr/>
          <p:nvPr/>
        </p:nvSpPr>
        <p:spPr>
          <a:xfrm>
            <a:off x="6022508" y="5435112"/>
            <a:ext cx="1147009" cy="420514"/>
          </a:xfrm>
          <a:prstGeom prst="rect">
            <a:avLst/>
          </a:prstGeom>
          <a:noFill/>
          <a:ln/>
        </p:spPr>
        <p:txBody>
          <a:bodyPr wrap="square" lIns="0" tIns="0" rIns="0" bIns="0" rtlCol="0" anchor="ctr"/>
          <a:lstStyle/>
          <a:p>
            <a:pPr defTabSz="914126"/>
            <a:r>
              <a:rPr lang="en-US" sz="1200" dirty="0">
                <a:solidFill>
                  <a:srgbClr val="E8B87A"/>
                </a:solidFill>
                <a:latin typeface="Candara" panose="020E0502030303020204" pitchFamily="34" charset="0"/>
                <a:ea typeface="Consolas" pitchFamily="34" charset="-122"/>
                <a:cs typeface="Consolas" pitchFamily="34" charset="-120"/>
              </a:rPr>
              <a:t>/users</a:t>
            </a:r>
            <a:endParaRPr lang="en-US" sz="1200" dirty="0">
              <a:solidFill>
                <a:prstClr val="black"/>
              </a:solidFill>
              <a:latin typeface="Candara" panose="020E0502030303020204" pitchFamily="34" charset="0"/>
            </a:endParaRPr>
          </a:p>
        </p:txBody>
      </p:sp>
      <p:sp>
        <p:nvSpPr>
          <p:cNvPr id="137" name="Text 135"/>
          <p:cNvSpPr/>
          <p:nvPr/>
        </p:nvSpPr>
        <p:spPr>
          <a:xfrm>
            <a:off x="7034128" y="5435112"/>
            <a:ext cx="1199106" cy="420514"/>
          </a:xfrm>
          <a:prstGeom prst="rect">
            <a:avLst/>
          </a:prstGeom>
          <a:noFill/>
          <a:ln/>
        </p:spPr>
        <p:txBody>
          <a:bodyPr wrap="square" lIns="0" tIns="0" rIns="0" bIns="0" rtlCol="0" anchor="ctr"/>
          <a:lstStyle/>
          <a:p>
            <a:pPr defTabSz="914126"/>
            <a:r>
              <a:rPr lang="en-US" sz="1200" b="1" dirty="0">
                <a:solidFill>
                  <a:srgbClr val="7AB896"/>
                </a:solidFill>
                <a:latin typeface="Candara" panose="020E0502030303020204" pitchFamily="34" charset="0"/>
                <a:ea typeface="Calibri" pitchFamily="34" charset="-122"/>
                <a:cs typeface="Calibri" pitchFamily="34" charset="-120"/>
              </a:rPr>
              <a:t>UserManagementPage</a:t>
            </a:r>
            <a:endParaRPr lang="en-US" sz="1200" b="1" dirty="0">
              <a:solidFill>
                <a:prstClr val="black"/>
              </a:solidFill>
              <a:latin typeface="Candara" panose="020E0502030303020204" pitchFamily="34" charset="0"/>
            </a:endParaRPr>
          </a:p>
        </p:txBody>
      </p:sp>
      <p:sp>
        <p:nvSpPr>
          <p:cNvPr id="138" name="Shape 136"/>
          <p:cNvSpPr/>
          <p:nvPr/>
        </p:nvSpPr>
        <p:spPr>
          <a:xfrm>
            <a:off x="8449639" y="5540714"/>
            <a:ext cx="718148" cy="241780"/>
          </a:xfrm>
          <a:prstGeom prst="roundRect">
            <a:avLst>
              <a:gd name="adj" fmla="val 10000"/>
            </a:avLst>
          </a:prstGeom>
          <a:solidFill>
            <a:srgbClr val="E8B87A">
              <a:alpha val="13000"/>
            </a:srgbClr>
          </a:solidFill>
          <a:ln w="5080">
            <a:solidFill>
              <a:srgbClr val="E8B87A">
                <a:alpha val="60000"/>
              </a:srgbClr>
            </a:solidFill>
            <a:prstDash val="solid"/>
          </a:ln>
        </p:spPr>
        <p:txBody>
          <a:bodyPr/>
          <a:lstStyle/>
          <a:p>
            <a:pPr defTabSz="914126"/>
            <a:endParaRPr lang="en-US" sz="1200" b="1">
              <a:solidFill>
                <a:prstClr val="black"/>
              </a:solidFill>
              <a:latin typeface="Candara" panose="020E0502030303020204" pitchFamily="34" charset="0"/>
            </a:endParaRPr>
          </a:p>
        </p:txBody>
      </p:sp>
      <p:sp>
        <p:nvSpPr>
          <p:cNvPr id="139" name="Text 137"/>
          <p:cNvSpPr/>
          <p:nvPr/>
        </p:nvSpPr>
        <p:spPr>
          <a:xfrm>
            <a:off x="8449639" y="5540714"/>
            <a:ext cx="718148" cy="241780"/>
          </a:xfrm>
          <a:prstGeom prst="rect">
            <a:avLst/>
          </a:prstGeom>
          <a:noFill/>
          <a:ln/>
        </p:spPr>
        <p:txBody>
          <a:bodyPr wrap="square" lIns="0" tIns="0" rIns="0" bIns="0" rtlCol="0" anchor="ctr"/>
          <a:lstStyle/>
          <a:p>
            <a:pPr algn="ctr" defTabSz="914126"/>
            <a:r>
              <a:rPr lang="en-US" sz="1200" b="1" dirty="0">
                <a:solidFill>
                  <a:srgbClr val="E8B87A"/>
                </a:solidFill>
                <a:latin typeface="Candara" panose="020E0502030303020204" pitchFamily="34" charset="0"/>
                <a:ea typeface="Calibri" pitchFamily="34" charset="-122"/>
                <a:cs typeface="Calibri" pitchFamily="34" charset="-120"/>
              </a:rPr>
              <a:t>Admin</a:t>
            </a:r>
            <a:endParaRPr lang="en-US" sz="1200" b="1" dirty="0">
              <a:solidFill>
                <a:prstClr val="black"/>
              </a:solidFill>
              <a:latin typeface="Candara" panose="020E0502030303020204" pitchFamily="34" charset="0"/>
            </a:endParaRPr>
          </a:p>
        </p:txBody>
      </p:sp>
      <p:sp>
        <p:nvSpPr>
          <p:cNvPr id="140" name="Text 138"/>
          <p:cNvSpPr/>
          <p:nvPr/>
        </p:nvSpPr>
        <p:spPr>
          <a:xfrm>
            <a:off x="9409590" y="5435112"/>
            <a:ext cx="1892315" cy="420514"/>
          </a:xfrm>
          <a:prstGeom prst="rect">
            <a:avLst/>
          </a:prstGeom>
          <a:noFill/>
          <a:ln/>
        </p:spPr>
        <p:txBody>
          <a:bodyPr wrap="square" lIns="0" tIns="0" rIns="0" bIns="0" rtlCol="0" anchor="ctr"/>
          <a:lstStyle/>
          <a:p>
            <a:pPr defTabSz="914126"/>
            <a:r>
              <a:rPr lang="en-US" sz="1200" b="1" dirty="0">
                <a:solidFill>
                  <a:srgbClr val="FFFF00"/>
                </a:solidFill>
                <a:latin typeface="Candara" panose="020E0502030303020204" pitchFamily="34" charset="0"/>
                <a:ea typeface="Calibri" pitchFamily="34" charset="-122"/>
                <a:cs typeface="Calibri" pitchFamily="34" charset="-120"/>
              </a:rPr>
              <a:t>Admin: manage accounts</a:t>
            </a:r>
            <a:endParaRPr lang="en-US" sz="1200" b="1" dirty="0">
              <a:solidFill>
                <a:srgbClr val="FFFF00"/>
              </a:solidFill>
              <a:latin typeface="Candara" panose="020E0502030303020204" pitchFamily="34" charset="0"/>
            </a:endParaRPr>
          </a:p>
        </p:txBody>
      </p:sp>
      <p:sp>
        <p:nvSpPr>
          <p:cNvPr id="141" name="Shape 139"/>
          <p:cNvSpPr/>
          <p:nvPr/>
        </p:nvSpPr>
        <p:spPr>
          <a:xfrm>
            <a:off x="6215549" y="5947043"/>
            <a:ext cx="5086357" cy="685621"/>
          </a:xfrm>
          <a:prstGeom prst="roundRect">
            <a:avLst>
              <a:gd name="adj" fmla="val 9615"/>
            </a:avLst>
          </a:prstGeom>
          <a:solidFill>
            <a:srgbClr val="091A0F"/>
          </a:solidFill>
          <a:ln w="6350">
            <a:solidFill>
              <a:srgbClr val="1C3D28"/>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42" name="Shape 140"/>
          <p:cNvSpPr/>
          <p:nvPr/>
        </p:nvSpPr>
        <p:spPr>
          <a:xfrm>
            <a:off x="5916782" y="6041904"/>
            <a:ext cx="45707" cy="475364"/>
          </a:xfrm>
          <a:prstGeom prst="roundRect">
            <a:avLst/>
          </a:prstGeom>
          <a:solidFill>
            <a:srgbClr val="3A6B52"/>
          </a:solidFill>
          <a:ln w="12700">
            <a:solidFill>
              <a:srgbClr val="3A6B52"/>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43" name="Text 141"/>
          <p:cNvSpPr/>
          <p:nvPr/>
        </p:nvSpPr>
        <p:spPr>
          <a:xfrm>
            <a:off x="6323523" y="6087612"/>
            <a:ext cx="4726217" cy="402231"/>
          </a:xfrm>
          <a:prstGeom prst="rect">
            <a:avLst/>
          </a:prstGeom>
          <a:noFill/>
          <a:ln/>
        </p:spPr>
        <p:txBody>
          <a:bodyPr wrap="square" lIns="0" tIns="0" rIns="0" bIns="0" rtlCol="0" anchor="ctr"/>
          <a:lstStyle/>
          <a:p>
            <a:pPr defTabSz="914126"/>
            <a:r>
              <a:rPr lang="en-US" sz="1200" dirty="0">
                <a:solidFill>
                  <a:srgbClr val="FFFF00"/>
                </a:solidFill>
                <a:latin typeface="Candara" panose="020E0502030303020204" pitchFamily="34" charset="0"/>
                <a:ea typeface="Calibri" pitchFamily="34" charset="-122"/>
                <a:cs typeface="Calibri" pitchFamily="34" charset="-120"/>
              </a:rPr>
              <a:t>ProtectedRoute redirects to /login if localStorage has no valid JWT</a:t>
            </a:r>
            <a:endParaRPr lang="en-US" sz="1200" dirty="0">
              <a:solidFill>
                <a:srgbClr val="FFFF00"/>
              </a:solidFill>
              <a:latin typeface="Candara" panose="020E0502030303020204" pitchFamily="34" charset="0"/>
            </a:endParaRPr>
          </a:p>
          <a:p>
            <a:pPr defTabSz="914126"/>
            <a:r>
              <a:rPr lang="en-US" sz="1200" dirty="0">
                <a:solidFill>
                  <a:srgbClr val="FFFF00"/>
                </a:solidFill>
                <a:latin typeface="Candara" panose="020E0502030303020204" pitchFamily="34" charset="0"/>
                <a:ea typeface="Calibri" pitchFamily="34" charset="-122"/>
                <a:cs typeface="Calibri" pitchFamily="34" charset="-120"/>
              </a:rPr>
              <a:t>isAdmin() check gates /users — Navigation hides Users link for non-admin roles</a:t>
            </a:r>
            <a:endParaRPr lang="en-US" sz="1200" dirty="0">
              <a:solidFill>
                <a:srgbClr val="FFFF00"/>
              </a:solidFill>
              <a:latin typeface="Candara" panose="020E0502030303020204" pitchFamily="34"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D2318"/>
        </a:solidFill>
        <a:effectLst/>
      </p:bgPr>
    </p:bg>
    <p:spTree>
      <p:nvGrpSpPr>
        <p:cNvPr id="1" name=""/>
        <p:cNvGrpSpPr/>
        <p:nvPr/>
      </p:nvGrpSpPr>
      <p:grpSpPr>
        <a:xfrm>
          <a:off x="0" y="0"/>
          <a:ext cx="0" cy="0"/>
          <a:chOff x="0" y="0"/>
          <a:chExt cx="0" cy="0"/>
        </a:xfrm>
      </p:grpSpPr>
      <p:sp>
        <p:nvSpPr>
          <p:cNvPr id="2" name="Text 0"/>
          <p:cNvSpPr/>
          <p:nvPr/>
        </p:nvSpPr>
        <p:spPr>
          <a:xfrm>
            <a:off x="609441" y="244669"/>
            <a:ext cx="10969943" cy="633819"/>
          </a:xfrm>
          <a:prstGeom prst="rect">
            <a:avLst/>
          </a:prstGeom>
          <a:solidFill>
            <a:srgbClr val="0D2318"/>
          </a:solidFill>
          <a:ln>
            <a:noFill/>
          </a:ln>
        </p:spPr>
        <p:txBody>
          <a:bodyPr wrap="square" lIns="0" tIns="0" rIns="0" bIns="0" rtlCol="0" anchor="ctr"/>
          <a:lstStyle/>
          <a:p>
            <a:pPr defTabSz="1218895"/>
            <a:r>
              <a:rPr lang="en-US" sz="2800" b="1" dirty="0">
                <a:solidFill>
                  <a:srgbClr val="FFFFFF"/>
                </a:solidFill>
                <a:latin typeface="Candara" panose="020E0502030303020204" pitchFamily="34" charset="0"/>
                <a:ea typeface="Calibri" pitchFamily="34" charset="-122"/>
                <a:cs typeface="Times New Roman" panose="02020603050405020304" pitchFamily="18" charset="0"/>
              </a:rPr>
              <a:t>Key Features</a:t>
            </a:r>
            <a:endParaRPr lang="en-US" sz="2800" dirty="0">
              <a:solidFill>
                <a:prstClr val="black"/>
              </a:solidFill>
              <a:latin typeface="Candara" panose="020E0502030303020204" pitchFamily="34" charset="0"/>
              <a:cs typeface="Times New Roman" panose="02020603050405020304" pitchFamily="18" charset="0"/>
            </a:endParaRPr>
          </a:p>
        </p:txBody>
      </p:sp>
      <p:sp>
        <p:nvSpPr>
          <p:cNvPr id="3" name="Text 1"/>
          <p:cNvSpPr/>
          <p:nvPr/>
        </p:nvSpPr>
        <p:spPr>
          <a:xfrm>
            <a:off x="609441" y="878489"/>
            <a:ext cx="10969943" cy="316909"/>
          </a:xfrm>
          <a:prstGeom prst="rect">
            <a:avLst/>
          </a:prstGeom>
          <a:solidFill>
            <a:srgbClr val="0D2318"/>
          </a:solidFill>
          <a:ln>
            <a:noFill/>
          </a:ln>
        </p:spPr>
        <p:txBody>
          <a:bodyPr wrap="square" lIns="0" tIns="0" rIns="0" bIns="0" rtlCol="0" anchor="ctr"/>
          <a:lstStyle/>
          <a:p>
            <a:pPr defTabSz="1218895"/>
            <a:r>
              <a:rPr lang="en-US" sz="1600" dirty="0">
                <a:solidFill>
                  <a:srgbClr val="7DAE8E"/>
                </a:solidFill>
                <a:latin typeface="Candara" panose="020E0502030303020204" pitchFamily="34" charset="0"/>
                <a:ea typeface="Calibri" pitchFamily="34" charset="-122"/>
                <a:cs typeface="Times New Roman" panose="02020603050405020304" pitchFamily="18" charset="0"/>
              </a:rPr>
              <a:t>Core capabilities mapped directly to system architecture and real-world needs</a:t>
            </a:r>
            <a:endParaRPr lang="en-US" sz="1600" dirty="0">
              <a:solidFill>
                <a:prstClr val="black"/>
              </a:solidFill>
              <a:latin typeface="Candara" panose="020E0502030303020204" pitchFamily="34" charset="0"/>
              <a:cs typeface="Times New Roman" panose="02020603050405020304" pitchFamily="18" charset="0"/>
            </a:endParaRPr>
          </a:p>
        </p:txBody>
      </p:sp>
      <p:sp>
        <p:nvSpPr>
          <p:cNvPr id="61" name="Shape 39"/>
          <p:cNvSpPr/>
          <p:nvPr/>
        </p:nvSpPr>
        <p:spPr>
          <a:xfrm>
            <a:off x="-1" y="6217194"/>
            <a:ext cx="12188825" cy="0"/>
          </a:xfrm>
          <a:prstGeom prst="line">
            <a:avLst/>
          </a:prstGeom>
          <a:noFill/>
          <a:ln w="12700">
            <a:noFill/>
            <a:prstDash val="solid"/>
          </a:ln>
        </p:spPr>
        <p:txBody>
          <a:bodyPr/>
          <a:lstStyle/>
          <a:p>
            <a:pPr defTabSz="1218895"/>
            <a:endParaRPr lang="en-US" sz="1866">
              <a:solidFill>
                <a:prstClr val="black"/>
              </a:solidFill>
              <a:latin typeface="Candara" panose="020E0502030303020204" pitchFamily="34" charset="0"/>
              <a:cs typeface="Times New Roman" panose="02020603050405020304" pitchFamily="18" charset="0"/>
            </a:endParaRPr>
          </a:p>
        </p:txBody>
      </p:sp>
      <p:sp>
        <p:nvSpPr>
          <p:cNvPr id="4" name="TextBox 3">
            <a:extLst>
              <a:ext uri="{FF2B5EF4-FFF2-40B4-BE49-F238E27FC236}">
                <a16:creationId xmlns:a16="http://schemas.microsoft.com/office/drawing/2014/main" id="{4B4EE34A-9AA3-21C9-4983-A13F687E297F}"/>
              </a:ext>
            </a:extLst>
          </p:cNvPr>
          <p:cNvSpPr txBox="1"/>
          <p:nvPr/>
        </p:nvSpPr>
        <p:spPr>
          <a:xfrm>
            <a:off x="6644641" y="1680983"/>
            <a:ext cx="5059680" cy="2270109"/>
          </a:xfrm>
          <a:prstGeom prst="rect">
            <a:avLst/>
          </a:prstGeom>
          <a:noFill/>
        </p:spPr>
        <p:txBody>
          <a:bodyPr wrap="square" rtlCol="0">
            <a:spAutoFit/>
          </a:bodyPr>
          <a:lstStyle/>
          <a:p>
            <a:pPr>
              <a:lnSpc>
                <a:spcPct val="150000"/>
              </a:lnSpc>
            </a:pPr>
            <a:r>
              <a:rPr lang="en-US" sz="1600" b="1" dirty="0">
                <a:solidFill>
                  <a:srgbClr val="00B050"/>
                </a:solidFill>
                <a:latin typeface="Candara" panose="020E0502030303020204" pitchFamily="34" charset="0"/>
              </a:rPr>
              <a:t>Real-time streaming</a:t>
            </a:r>
            <a:endParaRPr lang="en-US" sz="1600" dirty="0">
              <a:solidFill>
                <a:srgbClr val="00B050"/>
              </a:solidFill>
              <a:latin typeface="Candara" panose="020E0502030303020204" pitchFamily="34" charset="0"/>
            </a:endParaRPr>
          </a:p>
          <a:p>
            <a:pPr marL="742950" lvl="1" indent="-285750">
              <a:lnSpc>
                <a:spcPct val="150000"/>
              </a:lnSpc>
              <a:buFont typeface="Wingdings" panose="05000000000000000000" pitchFamily="2" charset="2"/>
              <a:buChar char="ü"/>
            </a:pPr>
            <a:r>
              <a:rPr lang="en-US" sz="1600" dirty="0" err="1">
                <a:solidFill>
                  <a:schemeClr val="bg1"/>
                </a:solidFill>
                <a:latin typeface="Candara" panose="020E0502030303020204" pitchFamily="34" charset="0"/>
              </a:rPr>
              <a:t>SignalR</a:t>
            </a:r>
            <a:r>
              <a:rPr lang="en-US" sz="1600" dirty="0">
                <a:solidFill>
                  <a:schemeClr val="bg1"/>
                </a:solidFill>
                <a:latin typeface="Candara" panose="020E0502030303020204" pitchFamily="34" charset="0"/>
              </a:rPr>
              <a:t> push for readings and alerts</a:t>
            </a: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~1–2 s UI updates, no refresh</a:t>
            </a: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Multi-device hub subscriptions</a:t>
            </a: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Rolling live charts (2s–30m time windows)</a:t>
            </a:r>
          </a:p>
          <a:p>
            <a:pPr>
              <a:lnSpc>
                <a:spcPct val="150000"/>
              </a:lnSpc>
            </a:pPr>
            <a:endParaRPr lang="en-US" sz="1600" dirty="0">
              <a:solidFill>
                <a:schemeClr val="bg1"/>
              </a:solidFill>
              <a:latin typeface="Candara" panose="020E0502030303020204" pitchFamily="34" charset="0"/>
            </a:endParaRPr>
          </a:p>
        </p:txBody>
      </p:sp>
      <p:sp>
        <p:nvSpPr>
          <p:cNvPr id="5" name="TextBox 4">
            <a:extLst>
              <a:ext uri="{FF2B5EF4-FFF2-40B4-BE49-F238E27FC236}">
                <a16:creationId xmlns:a16="http://schemas.microsoft.com/office/drawing/2014/main" id="{C503D343-1047-676E-9DF6-F3C635A0B3D2}"/>
              </a:ext>
            </a:extLst>
          </p:cNvPr>
          <p:cNvSpPr txBox="1"/>
          <p:nvPr/>
        </p:nvSpPr>
        <p:spPr>
          <a:xfrm>
            <a:off x="904240" y="4502743"/>
            <a:ext cx="5059680" cy="2270109"/>
          </a:xfrm>
          <a:prstGeom prst="rect">
            <a:avLst/>
          </a:prstGeom>
          <a:noFill/>
        </p:spPr>
        <p:txBody>
          <a:bodyPr wrap="square" rtlCol="0">
            <a:spAutoFit/>
          </a:bodyPr>
          <a:lstStyle/>
          <a:p>
            <a:pPr>
              <a:lnSpc>
                <a:spcPct val="150000"/>
              </a:lnSpc>
            </a:pPr>
            <a:r>
              <a:rPr lang="en-US" sz="1600" b="1" dirty="0">
                <a:solidFill>
                  <a:srgbClr val="00B050"/>
                </a:solidFill>
                <a:latin typeface="Candara" panose="020E0502030303020204" pitchFamily="34" charset="0"/>
              </a:rPr>
              <a:t>Dashboard &amp; visualization</a:t>
            </a:r>
            <a:endParaRPr lang="en-US" sz="1600" dirty="0">
              <a:solidFill>
                <a:srgbClr val="00B050"/>
              </a:solidFill>
              <a:latin typeface="Candara" panose="020E0502030303020204" pitchFamily="34" charset="0"/>
            </a:endParaRP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Charts line trends and analog gauges</a:t>
            </a: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Discrete on/off sensor indicators</a:t>
            </a: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History: 10m, 1h, 24h, custom range</a:t>
            </a: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Responsive Material-UI dashboards</a:t>
            </a:r>
          </a:p>
          <a:p>
            <a:pPr>
              <a:lnSpc>
                <a:spcPct val="150000"/>
              </a:lnSpc>
            </a:pPr>
            <a:endParaRPr lang="en-US" sz="1600" dirty="0">
              <a:solidFill>
                <a:schemeClr val="bg1"/>
              </a:solidFill>
              <a:latin typeface="Candara" panose="020E0502030303020204" pitchFamily="34" charset="0"/>
            </a:endParaRPr>
          </a:p>
        </p:txBody>
      </p:sp>
      <p:sp>
        <p:nvSpPr>
          <p:cNvPr id="10" name="TextBox 9">
            <a:extLst>
              <a:ext uri="{FF2B5EF4-FFF2-40B4-BE49-F238E27FC236}">
                <a16:creationId xmlns:a16="http://schemas.microsoft.com/office/drawing/2014/main" id="{6381980C-46C0-C7C3-C4D6-2C4EB1C34D23}"/>
              </a:ext>
            </a:extLst>
          </p:cNvPr>
          <p:cNvSpPr txBox="1"/>
          <p:nvPr/>
        </p:nvSpPr>
        <p:spPr>
          <a:xfrm>
            <a:off x="6715761" y="4343222"/>
            <a:ext cx="5059680" cy="2270109"/>
          </a:xfrm>
          <a:prstGeom prst="rect">
            <a:avLst/>
          </a:prstGeom>
          <a:noFill/>
        </p:spPr>
        <p:txBody>
          <a:bodyPr wrap="square" rtlCol="0">
            <a:spAutoFit/>
          </a:bodyPr>
          <a:lstStyle/>
          <a:p>
            <a:pPr>
              <a:lnSpc>
                <a:spcPct val="150000"/>
              </a:lnSpc>
            </a:pPr>
            <a:r>
              <a:rPr lang="en-US" sz="1600" b="1" dirty="0">
                <a:solidFill>
                  <a:srgbClr val="00B050"/>
                </a:solidFill>
                <a:latin typeface="Candara" panose="020E0502030303020204" pitchFamily="34" charset="0"/>
              </a:rPr>
              <a:t>Alerting</a:t>
            </a:r>
            <a:endParaRPr lang="en-US" sz="1600" dirty="0">
              <a:solidFill>
                <a:srgbClr val="00B050"/>
              </a:solidFill>
              <a:latin typeface="Candara" panose="020E0502030303020204" pitchFamily="34" charset="0"/>
            </a:endParaRP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Threshold, range, and change rules</a:t>
            </a: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Live alert notifications via </a:t>
            </a:r>
            <a:r>
              <a:rPr lang="en-US" sz="1600" dirty="0" err="1">
                <a:solidFill>
                  <a:schemeClr val="bg1"/>
                </a:solidFill>
                <a:latin typeface="Candara" panose="020E0502030303020204" pitchFamily="34" charset="0"/>
              </a:rPr>
              <a:t>SignalR</a:t>
            </a:r>
            <a:endParaRPr lang="en-US" sz="1600" dirty="0">
              <a:solidFill>
                <a:schemeClr val="bg1"/>
              </a:solidFill>
              <a:latin typeface="Candara" panose="020E0502030303020204" pitchFamily="34" charset="0"/>
            </a:endParaRP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Acknowledge and resolve workflow</a:t>
            </a: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Alert history stored in database</a:t>
            </a:r>
          </a:p>
          <a:p>
            <a:pPr>
              <a:lnSpc>
                <a:spcPct val="150000"/>
              </a:lnSpc>
            </a:pPr>
            <a:endParaRPr lang="en-US" sz="1600" dirty="0">
              <a:solidFill>
                <a:schemeClr val="bg1"/>
              </a:solidFill>
              <a:latin typeface="Candara" panose="020E0502030303020204" pitchFamily="34" charset="0"/>
            </a:endParaRPr>
          </a:p>
        </p:txBody>
      </p:sp>
      <p:sp>
        <p:nvSpPr>
          <p:cNvPr id="12" name="TextBox 11">
            <a:extLst>
              <a:ext uri="{FF2B5EF4-FFF2-40B4-BE49-F238E27FC236}">
                <a16:creationId xmlns:a16="http://schemas.microsoft.com/office/drawing/2014/main" id="{898F056E-D1B2-79C5-3F6A-5729EE89E282}"/>
              </a:ext>
            </a:extLst>
          </p:cNvPr>
          <p:cNvSpPr txBox="1"/>
          <p:nvPr/>
        </p:nvSpPr>
        <p:spPr>
          <a:xfrm>
            <a:off x="904240" y="1725108"/>
            <a:ext cx="5059680" cy="2270109"/>
          </a:xfrm>
          <a:prstGeom prst="rect">
            <a:avLst/>
          </a:prstGeom>
          <a:noFill/>
        </p:spPr>
        <p:txBody>
          <a:bodyPr wrap="square" rtlCol="0">
            <a:spAutoFit/>
          </a:bodyPr>
          <a:lstStyle/>
          <a:p>
            <a:pPr>
              <a:lnSpc>
                <a:spcPct val="150000"/>
              </a:lnSpc>
            </a:pPr>
            <a:r>
              <a:rPr lang="en-US" sz="1600" b="1" dirty="0">
                <a:solidFill>
                  <a:srgbClr val="00B050"/>
                </a:solidFill>
                <a:latin typeface="Candara" panose="020E0502030303020204" pitchFamily="34" charset="0"/>
              </a:rPr>
              <a:t>Setup &amp; control</a:t>
            </a:r>
            <a:endParaRPr lang="en-US" sz="1600" dirty="0">
              <a:solidFill>
                <a:srgbClr val="00B050"/>
              </a:solidFill>
              <a:latin typeface="Candara" panose="020E0502030303020204" pitchFamily="34" charset="0"/>
            </a:endParaRP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Devices, sensors, and actuators</a:t>
            </a: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Online/offline from last device activity</a:t>
            </a: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Sensor setup: type, unit, limits, chart style</a:t>
            </a: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MQTT commands with command history</a:t>
            </a:r>
            <a:br>
              <a:rPr lang="en-US" sz="1600" dirty="0">
                <a:solidFill>
                  <a:schemeClr val="bg1"/>
                </a:solidFill>
                <a:latin typeface="Candara" panose="020E0502030303020204" pitchFamily="34" charset="0"/>
              </a:rPr>
            </a:br>
            <a:endParaRPr lang="en-US" sz="1600" dirty="0">
              <a:solidFill>
                <a:schemeClr val="bg1"/>
              </a:solidFill>
              <a:latin typeface="Candara" panose="020E0502030303020204" pitchFamily="34"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D2318"/>
        </a:solidFill>
        <a:effectLst/>
      </p:bgPr>
    </p:bg>
    <p:spTree>
      <p:nvGrpSpPr>
        <p:cNvPr id="1" name="">
          <a:extLst>
            <a:ext uri="{FF2B5EF4-FFF2-40B4-BE49-F238E27FC236}">
              <a16:creationId xmlns:a16="http://schemas.microsoft.com/office/drawing/2014/main" id="{65CC021A-72CE-05B3-F128-8961A57663A9}"/>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237E3973-C0D5-8B38-3C84-95C8DE2A8378}"/>
              </a:ext>
            </a:extLst>
          </p:cNvPr>
          <p:cNvSpPr/>
          <p:nvPr/>
        </p:nvSpPr>
        <p:spPr>
          <a:xfrm>
            <a:off x="609441" y="269047"/>
            <a:ext cx="10969943" cy="633819"/>
          </a:xfrm>
          <a:prstGeom prst="rect">
            <a:avLst/>
          </a:prstGeom>
          <a:noFill/>
          <a:ln/>
        </p:spPr>
        <p:txBody>
          <a:bodyPr wrap="square" lIns="0" tIns="0" rIns="0" bIns="0" rtlCol="0" anchor="ctr"/>
          <a:lstStyle/>
          <a:p>
            <a:pPr defTabSz="1218895"/>
            <a:r>
              <a:rPr lang="en-US" sz="3200" b="1" dirty="0">
                <a:solidFill>
                  <a:srgbClr val="FFFFFF"/>
                </a:solidFill>
                <a:latin typeface="Candara" panose="020E0502030303020204" pitchFamily="34" charset="0"/>
                <a:ea typeface="Calibri" pitchFamily="34" charset="-122"/>
                <a:cs typeface="Calibri" pitchFamily="34" charset="-120"/>
              </a:rPr>
              <a:t>Live Demo</a:t>
            </a:r>
            <a:endParaRPr lang="en-US" sz="3200" dirty="0">
              <a:solidFill>
                <a:prstClr val="black"/>
              </a:solidFill>
              <a:latin typeface="Candara" panose="020E0502030303020204" pitchFamily="34" charset="0"/>
            </a:endParaRPr>
          </a:p>
        </p:txBody>
      </p:sp>
      <p:sp>
        <p:nvSpPr>
          <p:cNvPr id="3" name="Text 1">
            <a:extLst>
              <a:ext uri="{FF2B5EF4-FFF2-40B4-BE49-F238E27FC236}">
                <a16:creationId xmlns:a16="http://schemas.microsoft.com/office/drawing/2014/main" id="{272AEF18-130E-3F69-26CA-C44381A5C292}"/>
              </a:ext>
            </a:extLst>
          </p:cNvPr>
          <p:cNvSpPr/>
          <p:nvPr/>
        </p:nvSpPr>
        <p:spPr>
          <a:xfrm>
            <a:off x="751680" y="815659"/>
            <a:ext cx="10969943" cy="341287"/>
          </a:xfrm>
          <a:prstGeom prst="rect">
            <a:avLst/>
          </a:prstGeom>
          <a:noFill/>
          <a:ln/>
        </p:spPr>
        <p:txBody>
          <a:bodyPr wrap="square" lIns="0" tIns="0" rIns="0" bIns="0" rtlCol="0" anchor="ctr"/>
          <a:lstStyle/>
          <a:p>
            <a:pPr defTabSz="1218895"/>
            <a:r>
              <a:rPr lang="en-US" sz="1866" i="1" dirty="0">
                <a:solidFill>
                  <a:srgbClr val="7DAE8E"/>
                </a:solidFill>
                <a:latin typeface="Candara" panose="020E0502030303020204" pitchFamily="34" charset="0"/>
                <a:ea typeface="Calibri" pitchFamily="34" charset="-122"/>
                <a:cs typeface="Calibri" pitchFamily="34" charset="-120"/>
              </a:rPr>
              <a:t>Watch one sensor reading travel the full stack — from edge device to dashboard — in real time.</a:t>
            </a:r>
            <a:endParaRPr lang="en-US" sz="1866" dirty="0">
              <a:solidFill>
                <a:prstClr val="black"/>
              </a:solidFill>
              <a:latin typeface="Candara" panose="020E0502030303020204" pitchFamily="34" charset="0"/>
            </a:endParaRPr>
          </a:p>
        </p:txBody>
      </p:sp>
      <p:sp>
        <p:nvSpPr>
          <p:cNvPr id="36" name="Text 25">
            <a:extLst>
              <a:ext uri="{FF2B5EF4-FFF2-40B4-BE49-F238E27FC236}">
                <a16:creationId xmlns:a16="http://schemas.microsoft.com/office/drawing/2014/main" id="{E7DDB44C-8339-48A6-1474-F1046F96E390}"/>
              </a:ext>
            </a:extLst>
          </p:cNvPr>
          <p:cNvSpPr/>
          <p:nvPr/>
        </p:nvSpPr>
        <p:spPr>
          <a:xfrm>
            <a:off x="751681" y="1282702"/>
            <a:ext cx="3656648" cy="292532"/>
          </a:xfrm>
          <a:prstGeom prst="rect">
            <a:avLst/>
          </a:prstGeom>
          <a:noFill/>
          <a:ln/>
        </p:spPr>
        <p:txBody>
          <a:bodyPr wrap="square" lIns="0" tIns="0" rIns="0" bIns="0" rtlCol="0" anchor="ctr"/>
          <a:lstStyle/>
          <a:p>
            <a:pPr defTabSz="1218895"/>
            <a:r>
              <a:rPr lang="en-US" sz="1600" b="1" kern="0" spc="267" dirty="0">
                <a:solidFill>
                  <a:srgbClr val="3DDB61"/>
                </a:solidFill>
                <a:latin typeface="Candara" panose="020E0502030303020204" pitchFamily="34" charset="0"/>
                <a:ea typeface="Calibri" pitchFamily="34" charset="-122"/>
                <a:cs typeface="Calibri" pitchFamily="34" charset="-120"/>
              </a:rPr>
              <a:t>DEMO CHECKLIST</a:t>
            </a:r>
            <a:endParaRPr lang="en-US" sz="1600" dirty="0">
              <a:solidFill>
                <a:prstClr val="black"/>
              </a:solidFill>
              <a:latin typeface="Candara" panose="020E0502030303020204" pitchFamily="34" charset="0"/>
            </a:endParaRPr>
          </a:p>
        </p:txBody>
      </p:sp>
      <p:sp>
        <p:nvSpPr>
          <p:cNvPr id="62" name="Text 51">
            <a:extLst>
              <a:ext uri="{FF2B5EF4-FFF2-40B4-BE49-F238E27FC236}">
                <a16:creationId xmlns:a16="http://schemas.microsoft.com/office/drawing/2014/main" id="{1435AD89-11A6-37AE-3085-064501179437}"/>
              </a:ext>
            </a:extLst>
          </p:cNvPr>
          <p:cNvSpPr/>
          <p:nvPr/>
        </p:nvSpPr>
        <p:spPr>
          <a:xfrm>
            <a:off x="10726166" y="6521914"/>
            <a:ext cx="1096994" cy="243777"/>
          </a:xfrm>
          <a:prstGeom prst="rect">
            <a:avLst/>
          </a:prstGeom>
          <a:noFill/>
          <a:ln/>
        </p:spPr>
        <p:txBody>
          <a:bodyPr wrap="square" lIns="0" tIns="0" rIns="0" bIns="0" rtlCol="0" anchor="ctr"/>
          <a:lstStyle/>
          <a:p>
            <a:pPr algn="r" defTabSz="1218895"/>
            <a:r>
              <a:rPr lang="en-US" sz="1866" dirty="0">
                <a:solidFill>
                  <a:srgbClr val="4A6A54"/>
                </a:solidFill>
                <a:latin typeface="Candara" panose="020E0502030303020204" pitchFamily="34" charset="0"/>
                <a:ea typeface="Calibri" pitchFamily="34" charset="-122"/>
                <a:cs typeface="Calibri" pitchFamily="34" charset="-120"/>
              </a:rPr>
              <a:t>11 / 14</a:t>
            </a:r>
            <a:endParaRPr lang="en-US" sz="1866" dirty="0">
              <a:solidFill>
                <a:prstClr val="black"/>
              </a:solidFill>
              <a:latin typeface="Candara" panose="020E0502030303020204" pitchFamily="34" charset="0"/>
            </a:endParaRPr>
          </a:p>
        </p:txBody>
      </p:sp>
      <p:graphicFrame>
        <p:nvGraphicFramePr>
          <p:cNvPr id="5" name="Table 4">
            <a:extLst>
              <a:ext uri="{FF2B5EF4-FFF2-40B4-BE49-F238E27FC236}">
                <a16:creationId xmlns:a16="http://schemas.microsoft.com/office/drawing/2014/main" id="{1727648E-3521-7726-9D70-1829D61253F1}"/>
              </a:ext>
            </a:extLst>
          </p:cNvPr>
          <p:cNvGraphicFramePr>
            <a:graphicFrameLocks noGrp="1"/>
          </p:cNvGraphicFramePr>
          <p:nvPr>
            <p:extLst>
              <p:ext uri="{D42A27DB-BD31-4B8C-83A1-F6EECF244321}">
                <p14:modId xmlns:p14="http://schemas.microsoft.com/office/powerpoint/2010/main" val="1975096064"/>
              </p:ext>
            </p:extLst>
          </p:nvPr>
        </p:nvGraphicFramePr>
        <p:xfrm>
          <a:off x="1073614" y="2075406"/>
          <a:ext cx="10041597" cy="3966935"/>
        </p:xfrm>
        <a:graphic>
          <a:graphicData uri="http://schemas.openxmlformats.org/drawingml/2006/table">
            <a:tbl>
              <a:tblPr>
                <a:tableStyleId>{ED083AE6-46FA-4A59-8FB0-9F97EB10719F}</a:tableStyleId>
              </a:tblPr>
              <a:tblGrid>
                <a:gridCol w="1202226">
                  <a:extLst>
                    <a:ext uri="{9D8B030D-6E8A-4147-A177-3AD203B41FA5}">
                      <a16:colId xmlns:a16="http://schemas.microsoft.com/office/drawing/2014/main" val="1731764252"/>
                    </a:ext>
                  </a:extLst>
                </a:gridCol>
                <a:gridCol w="4897120">
                  <a:extLst>
                    <a:ext uri="{9D8B030D-6E8A-4147-A177-3AD203B41FA5}">
                      <a16:colId xmlns:a16="http://schemas.microsoft.com/office/drawing/2014/main" val="3789202804"/>
                    </a:ext>
                  </a:extLst>
                </a:gridCol>
                <a:gridCol w="3942251">
                  <a:extLst>
                    <a:ext uri="{9D8B030D-6E8A-4147-A177-3AD203B41FA5}">
                      <a16:colId xmlns:a16="http://schemas.microsoft.com/office/drawing/2014/main" val="3423847706"/>
                    </a:ext>
                  </a:extLst>
                </a:gridCol>
              </a:tblGrid>
              <a:tr h="566705">
                <a:tc>
                  <a:txBody>
                    <a:bodyPr/>
                    <a:lstStyle/>
                    <a:p>
                      <a:pPr algn="ctr" fontAlgn="t">
                        <a:buNone/>
                      </a:pPr>
                      <a:r>
                        <a:rPr lang="en-US" sz="1800" b="1" dirty="0">
                          <a:solidFill>
                            <a:schemeClr val="bg1"/>
                          </a:solidFill>
                          <a:effectLst/>
                          <a:latin typeface="Candara" panose="020E0502030303020204" pitchFamily="34" charset="0"/>
                        </a:rPr>
                        <a:t>#</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a:buNone/>
                      </a:pPr>
                      <a:r>
                        <a:rPr lang="en-US" sz="1800" b="1" dirty="0">
                          <a:solidFill>
                            <a:schemeClr val="bg1"/>
                          </a:solidFill>
                          <a:effectLst/>
                          <a:latin typeface="Candara" panose="020E0502030303020204" pitchFamily="34" charset="0"/>
                        </a:rPr>
                        <a:t>Step</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a:buNone/>
                      </a:pPr>
                      <a:r>
                        <a:rPr lang="en-US" sz="1800" b="1" dirty="0">
                          <a:solidFill>
                            <a:schemeClr val="bg1"/>
                          </a:solidFill>
                          <a:effectLst/>
                          <a:latin typeface="Candara" panose="020E0502030303020204" pitchFamily="34" charset="0"/>
                        </a:rPr>
                        <a:t>Show</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523352069"/>
                  </a:ext>
                </a:extLst>
              </a:tr>
              <a:tr h="566705">
                <a:tc>
                  <a:txBody>
                    <a:bodyPr/>
                    <a:lstStyle/>
                    <a:p>
                      <a:pPr algn="ctr" fontAlgn="t" latinLnBrk="0">
                        <a:buNone/>
                      </a:pPr>
                      <a:r>
                        <a:rPr lang="en-US" sz="1800">
                          <a:solidFill>
                            <a:schemeClr val="bg1"/>
                          </a:solidFill>
                          <a:effectLst/>
                          <a:latin typeface="Candara" panose="020E0502030303020204" pitchFamily="34" charset="0"/>
                        </a:rPr>
                        <a:t>1</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latinLnBrk="0">
                        <a:buNone/>
                      </a:pPr>
                      <a:r>
                        <a:rPr lang="en-US" sz="1800" dirty="0">
                          <a:solidFill>
                            <a:schemeClr val="bg1"/>
                          </a:solidFill>
                          <a:effectLst/>
                          <a:latin typeface="Candara" panose="020E0502030303020204" pitchFamily="34" charset="0"/>
                        </a:rPr>
                        <a:t>Register device; add sensors/actuators; alert rule</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latinLnBrk="0">
                        <a:buNone/>
                      </a:pPr>
                      <a:r>
                        <a:rPr lang="en-US" sz="1800" dirty="0">
                          <a:solidFill>
                            <a:schemeClr val="bg1"/>
                          </a:solidFill>
                          <a:effectLst/>
                          <a:latin typeface="Candara" panose="020E0502030303020204" pitchFamily="34" charset="0"/>
                        </a:rPr>
                        <a:t>Dashboard configured</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218407679"/>
                  </a:ext>
                </a:extLst>
              </a:tr>
              <a:tr h="566705">
                <a:tc>
                  <a:txBody>
                    <a:bodyPr/>
                    <a:lstStyle/>
                    <a:p>
                      <a:pPr algn="ctr" fontAlgn="t" latinLnBrk="0">
                        <a:buNone/>
                      </a:pPr>
                      <a:r>
                        <a:rPr lang="en-US" sz="1800">
                          <a:solidFill>
                            <a:schemeClr val="bg1"/>
                          </a:solidFill>
                          <a:effectLst/>
                          <a:latin typeface="Candara" panose="020E0502030303020204" pitchFamily="34" charset="0"/>
                        </a:rPr>
                        <a:t>2</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latinLnBrk="0">
                        <a:buNone/>
                      </a:pPr>
                      <a:r>
                        <a:rPr lang="en-US" sz="1800">
                          <a:solidFill>
                            <a:schemeClr val="bg1"/>
                          </a:solidFill>
                          <a:effectLst/>
                          <a:latin typeface="Candara" panose="020E0502030303020204" pitchFamily="34" charset="0"/>
                        </a:rPr>
                        <a:t>Connect Arduino; run firmware (local MQTT)</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latinLnBrk="0">
                        <a:buNone/>
                      </a:pPr>
                      <a:r>
                        <a:rPr lang="en-US" sz="1800" dirty="0">
                          <a:solidFill>
                            <a:schemeClr val="bg1"/>
                          </a:solidFill>
                          <a:effectLst/>
                          <a:latin typeface="Candara" panose="020E0502030303020204" pitchFamily="34" charset="0"/>
                        </a:rPr>
                        <a:t>Serial + broker connected</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711115892"/>
                  </a:ext>
                </a:extLst>
              </a:tr>
              <a:tr h="566705">
                <a:tc>
                  <a:txBody>
                    <a:bodyPr/>
                    <a:lstStyle/>
                    <a:p>
                      <a:pPr algn="ctr" fontAlgn="t" latinLnBrk="0">
                        <a:buNone/>
                      </a:pPr>
                      <a:r>
                        <a:rPr lang="en-US" sz="1800">
                          <a:solidFill>
                            <a:schemeClr val="bg1"/>
                          </a:solidFill>
                          <a:effectLst/>
                          <a:latin typeface="Candara" panose="020E0502030303020204" pitchFamily="34" charset="0"/>
                        </a:rPr>
                        <a:t>3</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latinLnBrk="0">
                        <a:buNone/>
                      </a:pPr>
                      <a:r>
                        <a:rPr lang="en-US" sz="1800">
                          <a:solidFill>
                            <a:schemeClr val="bg1"/>
                          </a:solidFill>
                          <a:effectLst/>
                          <a:latin typeface="Candara" panose="020E0502030303020204" pitchFamily="34" charset="0"/>
                        </a:rPr>
                        <a:t>Open Live chart</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latinLnBrk="0">
                        <a:buNone/>
                      </a:pPr>
                      <a:r>
                        <a:rPr lang="en-US" sz="1800" dirty="0">
                          <a:solidFill>
                            <a:schemeClr val="bg1"/>
                          </a:solidFill>
                          <a:effectLst/>
                          <a:latin typeface="Candara" panose="020E0502030303020204" pitchFamily="34" charset="0"/>
                        </a:rPr>
                        <a:t>Line updates ~1/s</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529209600"/>
                  </a:ext>
                </a:extLst>
              </a:tr>
              <a:tr h="566705">
                <a:tc>
                  <a:txBody>
                    <a:bodyPr/>
                    <a:lstStyle/>
                    <a:p>
                      <a:pPr algn="ctr" fontAlgn="t" latinLnBrk="0">
                        <a:buNone/>
                      </a:pPr>
                      <a:r>
                        <a:rPr lang="en-US" sz="1800">
                          <a:solidFill>
                            <a:schemeClr val="bg1"/>
                          </a:solidFill>
                          <a:effectLst/>
                          <a:latin typeface="Candara" panose="020E0502030303020204" pitchFamily="34" charset="0"/>
                        </a:rPr>
                        <a:t>4</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latinLnBrk="0">
                        <a:buNone/>
                      </a:pPr>
                      <a:r>
                        <a:rPr lang="en-US" sz="1800">
                          <a:solidFill>
                            <a:schemeClr val="bg1"/>
                          </a:solidFill>
                          <a:effectLst/>
                          <a:latin typeface="Candara" panose="020E0502030303020204" pitchFamily="34" charset="0"/>
                        </a:rPr>
                        <a:t>Send actuator command</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latinLnBrk="0">
                        <a:buNone/>
                      </a:pPr>
                      <a:r>
                        <a:rPr lang="en-US" sz="1800" dirty="0">
                          <a:solidFill>
                            <a:schemeClr val="bg1"/>
                          </a:solidFill>
                          <a:effectLst/>
                          <a:latin typeface="Candara" panose="020E0502030303020204" pitchFamily="34" charset="0"/>
                        </a:rPr>
                        <a:t>LED on/off; command history</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244831086"/>
                  </a:ext>
                </a:extLst>
              </a:tr>
              <a:tr h="566705">
                <a:tc>
                  <a:txBody>
                    <a:bodyPr/>
                    <a:lstStyle/>
                    <a:p>
                      <a:pPr algn="ctr" fontAlgn="t" latinLnBrk="0">
                        <a:buNone/>
                      </a:pPr>
                      <a:r>
                        <a:rPr lang="en-US" sz="1800">
                          <a:solidFill>
                            <a:schemeClr val="bg1"/>
                          </a:solidFill>
                          <a:effectLst/>
                          <a:latin typeface="Candara" panose="020E0502030303020204" pitchFamily="34" charset="0"/>
                        </a:rPr>
                        <a:t>5</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latinLnBrk="0">
                        <a:buNone/>
                      </a:pPr>
                      <a:r>
                        <a:rPr lang="en-US" sz="1800">
                          <a:solidFill>
                            <a:schemeClr val="bg1"/>
                          </a:solidFill>
                          <a:effectLst/>
                          <a:latin typeface="Candara" panose="020E0502030303020204" pitchFamily="34" charset="0"/>
                        </a:rPr>
                        <a:t>Breach threshold</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latinLnBrk="0">
                        <a:buNone/>
                      </a:pPr>
                      <a:r>
                        <a:rPr lang="en-US" sz="1800" dirty="0">
                          <a:solidFill>
                            <a:schemeClr val="bg1"/>
                          </a:solidFill>
                          <a:effectLst/>
                          <a:latin typeface="Candara" panose="020E0502030303020204" pitchFamily="34" charset="0"/>
                        </a:rPr>
                        <a:t>Alert appears (</a:t>
                      </a:r>
                      <a:r>
                        <a:rPr lang="en-US" sz="1800" dirty="0" err="1">
                          <a:solidFill>
                            <a:schemeClr val="bg1"/>
                          </a:solidFill>
                          <a:effectLst/>
                          <a:latin typeface="Candara" panose="020E0502030303020204" pitchFamily="34" charset="0"/>
                        </a:rPr>
                        <a:t>SignalR</a:t>
                      </a:r>
                      <a:r>
                        <a:rPr lang="en-US" sz="1800" dirty="0">
                          <a:solidFill>
                            <a:schemeClr val="bg1"/>
                          </a:solidFill>
                          <a:effectLst/>
                          <a:latin typeface="Candara" panose="020E0502030303020204" pitchFamily="34" charset="0"/>
                        </a:rPr>
                        <a:t>)</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564469484"/>
                  </a:ext>
                </a:extLst>
              </a:tr>
              <a:tr h="566705">
                <a:tc>
                  <a:txBody>
                    <a:bodyPr/>
                    <a:lstStyle/>
                    <a:p>
                      <a:pPr algn="ctr" fontAlgn="t" latinLnBrk="0">
                        <a:buNone/>
                      </a:pPr>
                      <a:r>
                        <a:rPr lang="en-US" sz="1800" dirty="0">
                          <a:solidFill>
                            <a:schemeClr val="bg1"/>
                          </a:solidFill>
                          <a:effectLst/>
                          <a:latin typeface="Candara" panose="020E0502030303020204" pitchFamily="34" charset="0"/>
                        </a:rPr>
                        <a:t>6</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latinLnBrk="0">
                        <a:buNone/>
                      </a:pPr>
                      <a:r>
                        <a:rPr lang="en-US" sz="1800">
                          <a:solidFill>
                            <a:schemeClr val="bg1"/>
                          </a:solidFill>
                          <a:effectLst/>
                          <a:latin typeface="Candara" panose="020E0502030303020204" pitchFamily="34" charset="0"/>
                        </a:rPr>
                        <a:t>History range (e.g. 10m)</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latinLnBrk="0">
                        <a:buNone/>
                      </a:pPr>
                      <a:r>
                        <a:rPr lang="en-US" sz="1800" dirty="0">
                          <a:solidFill>
                            <a:schemeClr val="bg1"/>
                          </a:solidFill>
                          <a:effectLst/>
                          <a:latin typeface="Candara" panose="020E0502030303020204" pitchFamily="34" charset="0"/>
                        </a:rPr>
                        <a:t>Stored readings in chart</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321547026"/>
                  </a:ext>
                </a:extLst>
              </a:tr>
            </a:tbl>
          </a:graphicData>
        </a:graphic>
      </p:graphicFrame>
    </p:spTree>
    <p:extLst>
      <p:ext uri="{BB962C8B-B14F-4D97-AF65-F5344CB8AC3E}">
        <p14:creationId xmlns:p14="http://schemas.microsoft.com/office/powerpoint/2010/main" val="297329468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D2318"/>
        </a:solidFill>
        <a:effectLst/>
      </p:bgPr>
    </p:bg>
    <p:spTree>
      <p:nvGrpSpPr>
        <p:cNvPr id="1" name=""/>
        <p:cNvGrpSpPr/>
        <p:nvPr/>
      </p:nvGrpSpPr>
      <p:grpSpPr>
        <a:xfrm>
          <a:off x="0" y="0"/>
          <a:ext cx="0" cy="0"/>
          <a:chOff x="0" y="0"/>
          <a:chExt cx="0" cy="0"/>
        </a:xfrm>
      </p:grpSpPr>
      <p:sp>
        <p:nvSpPr>
          <p:cNvPr id="2" name="Text 0"/>
          <p:cNvSpPr/>
          <p:nvPr/>
        </p:nvSpPr>
        <p:spPr>
          <a:xfrm>
            <a:off x="609441" y="342180"/>
            <a:ext cx="10969943" cy="731330"/>
          </a:xfrm>
          <a:prstGeom prst="rect">
            <a:avLst/>
          </a:prstGeom>
          <a:solidFill>
            <a:srgbClr val="0D2318"/>
          </a:solidFill>
          <a:ln>
            <a:noFill/>
          </a:ln>
        </p:spPr>
        <p:txBody>
          <a:bodyPr wrap="square" lIns="0" tIns="0" rIns="0" bIns="0" rtlCol="0" anchor="ctr"/>
          <a:lstStyle/>
          <a:p>
            <a:pPr defTabSz="1218895"/>
            <a:r>
              <a:rPr lang="en-US" sz="3200" b="1" dirty="0">
                <a:solidFill>
                  <a:srgbClr val="FFFFFF"/>
                </a:solidFill>
                <a:latin typeface="Candara" panose="020E0502030303020204" pitchFamily="34" charset="0"/>
                <a:ea typeface="Calibri" pitchFamily="34" charset="-122"/>
                <a:cs typeface="Calibri" pitchFamily="34" charset="-120"/>
              </a:rPr>
              <a:t>Challenges &amp; Solutions</a:t>
            </a:r>
            <a:endParaRPr lang="en-US" sz="3200" dirty="0">
              <a:solidFill>
                <a:prstClr val="black"/>
              </a:solidFill>
              <a:latin typeface="Candara" panose="020E0502030303020204" pitchFamily="34" charset="0"/>
            </a:endParaRPr>
          </a:p>
        </p:txBody>
      </p:sp>
      <p:sp>
        <p:nvSpPr>
          <p:cNvPr id="3" name="Text 1"/>
          <p:cNvSpPr/>
          <p:nvPr/>
        </p:nvSpPr>
        <p:spPr>
          <a:xfrm>
            <a:off x="609440" y="1077862"/>
            <a:ext cx="10969943" cy="365665"/>
          </a:xfrm>
          <a:prstGeom prst="rect">
            <a:avLst/>
          </a:prstGeom>
          <a:solidFill>
            <a:srgbClr val="0D2318"/>
          </a:solidFill>
          <a:ln>
            <a:noFill/>
          </a:ln>
        </p:spPr>
        <p:txBody>
          <a:bodyPr wrap="square" lIns="0" tIns="0" rIns="0" bIns="0" rtlCol="0" anchor="ctr"/>
          <a:lstStyle/>
          <a:p>
            <a:pPr defTabSz="1218895"/>
            <a:r>
              <a:rPr lang="en-US" sz="1600" i="1" dirty="0">
                <a:solidFill>
                  <a:srgbClr val="7DAE8E"/>
                </a:solidFill>
                <a:latin typeface="Candara" panose="020E0502030303020204" pitchFamily="34" charset="0"/>
                <a:ea typeface="Calibri" pitchFamily="34" charset="-122"/>
                <a:cs typeface="Calibri" pitchFamily="34" charset="-120"/>
              </a:rPr>
              <a:t>Engineering decisions that address specific technical challenges.</a:t>
            </a:r>
            <a:endParaRPr lang="en-US" sz="1600" dirty="0">
              <a:solidFill>
                <a:prstClr val="black"/>
              </a:solidFill>
              <a:latin typeface="Candara" panose="020E0502030303020204" pitchFamily="34" charset="0"/>
            </a:endParaRPr>
          </a:p>
        </p:txBody>
      </p:sp>
      <p:sp>
        <p:nvSpPr>
          <p:cNvPr id="5" name="Shape 3"/>
          <p:cNvSpPr/>
          <p:nvPr/>
        </p:nvSpPr>
        <p:spPr>
          <a:xfrm>
            <a:off x="609441" y="1585440"/>
            <a:ext cx="5545915" cy="60944"/>
          </a:xfrm>
          <a:prstGeom prst="rect">
            <a:avLst/>
          </a:prstGeom>
          <a:solidFill>
            <a:srgbClr val="0D2318"/>
          </a:solidFill>
          <a:ln w="12700">
            <a:noFill/>
            <a:prstDash val="solid"/>
          </a:ln>
        </p:spPr>
        <p:txBody>
          <a:bodyPr/>
          <a:lstStyle/>
          <a:p>
            <a:pPr defTabSz="1218895"/>
            <a:endParaRPr lang="en-US" sz="1600">
              <a:solidFill>
                <a:prstClr val="black"/>
              </a:solidFill>
              <a:latin typeface="Candara" panose="020E0502030303020204" pitchFamily="34" charset="0"/>
            </a:endParaRPr>
          </a:p>
        </p:txBody>
      </p:sp>
      <p:pic>
        <p:nvPicPr>
          <p:cNvPr id="7" name="Image 0" descr="preencoded.png"/>
          <p:cNvPicPr>
            <a:picLocks noChangeAspect="1"/>
          </p:cNvPicPr>
          <p:nvPr/>
        </p:nvPicPr>
        <p:blipFill>
          <a:blip r:embed="rId3"/>
          <a:stretch>
            <a:fillRect/>
          </a:stretch>
        </p:blipFill>
        <p:spPr>
          <a:xfrm>
            <a:off x="828839" y="1756084"/>
            <a:ext cx="438798" cy="438798"/>
          </a:xfrm>
          <a:prstGeom prst="rect">
            <a:avLst/>
          </a:prstGeom>
          <a:solidFill>
            <a:srgbClr val="0D2318"/>
          </a:solidFill>
          <a:ln>
            <a:noFill/>
          </a:ln>
        </p:spPr>
      </p:pic>
      <p:sp>
        <p:nvSpPr>
          <p:cNvPr id="8" name="Text 5"/>
          <p:cNvSpPr/>
          <p:nvPr/>
        </p:nvSpPr>
        <p:spPr>
          <a:xfrm>
            <a:off x="1389525" y="1731706"/>
            <a:ext cx="4546432" cy="463175"/>
          </a:xfrm>
          <a:prstGeom prst="rect">
            <a:avLst/>
          </a:prstGeom>
          <a:solidFill>
            <a:srgbClr val="0D2318"/>
          </a:solidFill>
          <a:ln>
            <a:noFill/>
          </a:ln>
        </p:spPr>
        <p:txBody>
          <a:bodyPr wrap="square" lIns="0" tIns="0" rIns="0" bIns="0" rtlCol="0" anchor="ctr"/>
          <a:lstStyle/>
          <a:p>
            <a:pPr defTabSz="1218895"/>
            <a:r>
              <a:rPr lang="en-US" sz="1600" b="1" dirty="0">
                <a:solidFill>
                  <a:srgbClr val="FFFFFF"/>
                </a:solidFill>
                <a:latin typeface="Candara" panose="020E0502030303020204" pitchFamily="34" charset="0"/>
                <a:ea typeface="Calibri" pitchFamily="34" charset="-122"/>
                <a:cs typeface="Calibri" pitchFamily="34" charset="-120"/>
              </a:rPr>
              <a:t>Real-Time Data Synchronization</a:t>
            </a:r>
            <a:endParaRPr lang="en-US" sz="1600" dirty="0">
              <a:solidFill>
                <a:prstClr val="black"/>
              </a:solidFill>
              <a:latin typeface="Candara" panose="020E0502030303020204" pitchFamily="34" charset="0"/>
            </a:endParaRPr>
          </a:p>
        </p:txBody>
      </p:sp>
      <p:sp>
        <p:nvSpPr>
          <p:cNvPr id="9" name="Shape 6"/>
          <p:cNvSpPr/>
          <p:nvPr/>
        </p:nvSpPr>
        <p:spPr>
          <a:xfrm>
            <a:off x="828839" y="2268014"/>
            <a:ext cx="5107118" cy="0"/>
          </a:xfrm>
          <a:prstGeom prst="line">
            <a:avLst/>
          </a:prstGeom>
          <a:noFill/>
          <a:ln w="9525">
            <a:noFill/>
            <a:prstDash val="solid"/>
          </a:ln>
        </p:spPr>
        <p:txBody>
          <a:bodyPr/>
          <a:lstStyle/>
          <a:p>
            <a:pPr defTabSz="1218895"/>
            <a:endParaRPr lang="en-US" sz="1600">
              <a:solidFill>
                <a:prstClr val="black"/>
              </a:solidFill>
              <a:latin typeface="Candara" panose="020E0502030303020204" pitchFamily="34" charset="0"/>
            </a:endParaRPr>
          </a:p>
        </p:txBody>
      </p:sp>
      <p:sp>
        <p:nvSpPr>
          <p:cNvPr id="10" name="Text 7"/>
          <p:cNvSpPr/>
          <p:nvPr/>
        </p:nvSpPr>
        <p:spPr>
          <a:xfrm>
            <a:off x="828839" y="2353336"/>
            <a:ext cx="4974802" cy="428349"/>
          </a:xfrm>
          <a:prstGeom prst="rect">
            <a:avLst/>
          </a:prstGeom>
          <a:solidFill>
            <a:srgbClr val="0D2318"/>
          </a:solidFill>
          <a:ln>
            <a:noFill/>
          </a:ln>
        </p:spPr>
        <p:txBody>
          <a:bodyPr wrap="square" lIns="0" tIns="0" rIns="0" bIns="0" rtlCol="0" anchor="t"/>
          <a:lstStyle/>
          <a:p>
            <a:pPr defTabSz="1218895"/>
            <a:r>
              <a:rPr lang="en-US" sz="1600" b="1" dirty="0">
                <a:solidFill>
                  <a:srgbClr val="FF8A65"/>
                </a:solidFill>
                <a:latin typeface="Candara" panose="020E0502030303020204" pitchFamily="34" charset="0"/>
                <a:ea typeface="Calibri" pitchFamily="34" charset="-122"/>
                <a:cs typeface="Calibri" pitchFamily="34" charset="-120"/>
              </a:rPr>
              <a:t>Challenge  </a:t>
            </a:r>
            <a:r>
              <a:rPr lang="en-US" sz="1600" b="1" dirty="0">
                <a:solidFill>
                  <a:srgbClr val="A8C4B0"/>
                </a:solidFill>
                <a:latin typeface="Candara" panose="020E0502030303020204" pitchFamily="34" charset="0"/>
                <a:ea typeface="Calibri" pitchFamily="34" charset="-122"/>
                <a:cs typeface="Calibri" pitchFamily="34" charset="-120"/>
              </a:rPr>
              <a:t>Multi-client live sync without polling</a:t>
            </a:r>
            <a:r>
              <a:rPr lang="en-US" sz="1600" dirty="0">
                <a:solidFill>
                  <a:srgbClr val="A8C4B0"/>
                </a:solidFill>
                <a:latin typeface="Candara" panose="020E0502030303020204" pitchFamily="34" charset="0"/>
                <a:ea typeface="Calibri" pitchFamily="34" charset="-122"/>
                <a:cs typeface="Calibri" pitchFamily="34" charset="-120"/>
              </a:rPr>
              <a:t>.</a:t>
            </a:r>
            <a:endParaRPr lang="en-US" sz="1600" dirty="0">
              <a:solidFill>
                <a:prstClr val="black"/>
              </a:solidFill>
              <a:latin typeface="Candara" panose="020E0502030303020204" pitchFamily="34" charset="0"/>
            </a:endParaRPr>
          </a:p>
        </p:txBody>
      </p:sp>
      <p:sp>
        <p:nvSpPr>
          <p:cNvPr id="11" name="Text 8"/>
          <p:cNvSpPr/>
          <p:nvPr/>
        </p:nvSpPr>
        <p:spPr>
          <a:xfrm>
            <a:off x="828838" y="2752058"/>
            <a:ext cx="5326517" cy="463175"/>
          </a:xfrm>
          <a:prstGeom prst="rect">
            <a:avLst/>
          </a:prstGeom>
          <a:solidFill>
            <a:srgbClr val="0D2318"/>
          </a:solidFill>
          <a:ln>
            <a:noFill/>
          </a:ln>
        </p:spPr>
        <p:txBody>
          <a:bodyPr wrap="square" lIns="0" tIns="0" rIns="0" bIns="0" rtlCol="0" anchor="t"/>
          <a:lstStyle/>
          <a:p>
            <a:pPr defTabSz="1218895"/>
            <a:r>
              <a:rPr lang="en-US" sz="1600" b="1" dirty="0">
                <a:solidFill>
                  <a:srgbClr val="3DDB61"/>
                </a:solidFill>
                <a:latin typeface="Candara" panose="020E0502030303020204" pitchFamily="34" charset="0"/>
                <a:ea typeface="Calibri" pitchFamily="34" charset="-122"/>
                <a:cs typeface="Calibri" pitchFamily="34" charset="-120"/>
              </a:rPr>
              <a:t>Solution  </a:t>
            </a:r>
            <a:r>
              <a:rPr lang="en-US" sz="1600" dirty="0" err="1">
                <a:solidFill>
                  <a:srgbClr val="C8DDD0"/>
                </a:solidFill>
                <a:latin typeface="Candara" panose="020E0502030303020204" pitchFamily="34" charset="0"/>
                <a:ea typeface="Calibri" pitchFamily="34" charset="-122"/>
                <a:cs typeface="Calibri" pitchFamily="34" charset="-120"/>
              </a:rPr>
              <a:t>SignalR</a:t>
            </a:r>
            <a:r>
              <a:rPr lang="en-US" sz="1600" dirty="0">
                <a:solidFill>
                  <a:srgbClr val="C8DDD0"/>
                </a:solidFill>
                <a:latin typeface="Candara" panose="020E0502030303020204" pitchFamily="34" charset="0"/>
                <a:ea typeface="Calibri" pitchFamily="34" charset="-122"/>
                <a:cs typeface="Calibri" pitchFamily="34" charset="-120"/>
              </a:rPr>
              <a:t> groups; push after save.</a:t>
            </a:r>
            <a:endParaRPr lang="en-US" sz="1600" dirty="0">
              <a:solidFill>
                <a:prstClr val="black"/>
              </a:solidFill>
              <a:latin typeface="Candara" panose="020E0502030303020204" pitchFamily="34" charset="0"/>
            </a:endParaRPr>
          </a:p>
        </p:txBody>
      </p:sp>
      <p:sp>
        <p:nvSpPr>
          <p:cNvPr id="13" name="Shape 10"/>
          <p:cNvSpPr/>
          <p:nvPr/>
        </p:nvSpPr>
        <p:spPr>
          <a:xfrm>
            <a:off x="6399133" y="1585440"/>
            <a:ext cx="5545915" cy="60944"/>
          </a:xfrm>
          <a:prstGeom prst="rect">
            <a:avLst/>
          </a:prstGeom>
          <a:solidFill>
            <a:srgbClr val="0D2318"/>
          </a:solidFill>
          <a:ln w="12700">
            <a:noFill/>
            <a:prstDash val="solid"/>
          </a:ln>
        </p:spPr>
        <p:txBody>
          <a:bodyPr/>
          <a:lstStyle/>
          <a:p>
            <a:pPr defTabSz="1218895"/>
            <a:endParaRPr lang="en-US" sz="1600">
              <a:solidFill>
                <a:prstClr val="black"/>
              </a:solidFill>
              <a:latin typeface="Candara" panose="020E0502030303020204" pitchFamily="34" charset="0"/>
            </a:endParaRPr>
          </a:p>
        </p:txBody>
      </p:sp>
      <p:pic>
        <p:nvPicPr>
          <p:cNvPr id="15" name="Image 1" descr="preencoded.png"/>
          <p:cNvPicPr>
            <a:picLocks noChangeAspect="1"/>
          </p:cNvPicPr>
          <p:nvPr/>
        </p:nvPicPr>
        <p:blipFill>
          <a:blip r:embed="rId4"/>
          <a:stretch>
            <a:fillRect/>
          </a:stretch>
        </p:blipFill>
        <p:spPr>
          <a:xfrm>
            <a:off x="6618531" y="1756084"/>
            <a:ext cx="438798" cy="438798"/>
          </a:xfrm>
          <a:prstGeom prst="rect">
            <a:avLst/>
          </a:prstGeom>
          <a:solidFill>
            <a:srgbClr val="0D2318"/>
          </a:solidFill>
          <a:ln>
            <a:noFill/>
          </a:ln>
        </p:spPr>
      </p:pic>
      <p:sp>
        <p:nvSpPr>
          <p:cNvPr id="16" name="Text 12"/>
          <p:cNvSpPr/>
          <p:nvPr/>
        </p:nvSpPr>
        <p:spPr>
          <a:xfrm>
            <a:off x="7179217" y="1731706"/>
            <a:ext cx="4546432" cy="463175"/>
          </a:xfrm>
          <a:prstGeom prst="rect">
            <a:avLst/>
          </a:prstGeom>
          <a:solidFill>
            <a:srgbClr val="0D2318"/>
          </a:solidFill>
          <a:ln>
            <a:noFill/>
          </a:ln>
        </p:spPr>
        <p:txBody>
          <a:bodyPr wrap="square" lIns="0" tIns="0" rIns="0" bIns="0" rtlCol="0" anchor="ctr"/>
          <a:lstStyle/>
          <a:p>
            <a:pPr defTabSz="1218895"/>
            <a:r>
              <a:rPr lang="en-US" sz="1600" b="1" dirty="0">
                <a:solidFill>
                  <a:srgbClr val="FFFFFF"/>
                </a:solidFill>
                <a:latin typeface="Candara" panose="020E0502030303020204" pitchFamily="34" charset="0"/>
                <a:ea typeface="Calibri" pitchFamily="34" charset="-122"/>
                <a:cs typeface="Calibri" pitchFamily="34" charset="-120"/>
              </a:rPr>
              <a:t>High-Volume Time-Series Storage</a:t>
            </a:r>
            <a:endParaRPr lang="en-US" sz="1600" dirty="0">
              <a:solidFill>
                <a:prstClr val="black"/>
              </a:solidFill>
              <a:latin typeface="Candara" panose="020E0502030303020204" pitchFamily="34" charset="0"/>
            </a:endParaRPr>
          </a:p>
        </p:txBody>
      </p:sp>
      <p:sp>
        <p:nvSpPr>
          <p:cNvPr id="17" name="Shape 13"/>
          <p:cNvSpPr/>
          <p:nvPr/>
        </p:nvSpPr>
        <p:spPr>
          <a:xfrm>
            <a:off x="6618531" y="2268014"/>
            <a:ext cx="5107118" cy="0"/>
          </a:xfrm>
          <a:prstGeom prst="line">
            <a:avLst/>
          </a:prstGeom>
          <a:noFill/>
          <a:ln w="9525">
            <a:noFill/>
            <a:prstDash val="solid"/>
          </a:ln>
        </p:spPr>
        <p:txBody>
          <a:bodyPr/>
          <a:lstStyle/>
          <a:p>
            <a:pPr defTabSz="1218895"/>
            <a:endParaRPr lang="en-US" sz="1600">
              <a:solidFill>
                <a:prstClr val="black"/>
              </a:solidFill>
              <a:latin typeface="Candara" panose="020E0502030303020204" pitchFamily="34" charset="0"/>
            </a:endParaRPr>
          </a:p>
        </p:txBody>
      </p:sp>
      <p:sp>
        <p:nvSpPr>
          <p:cNvPr id="18" name="Text 14"/>
          <p:cNvSpPr/>
          <p:nvPr/>
        </p:nvSpPr>
        <p:spPr>
          <a:xfrm>
            <a:off x="6618531" y="2353336"/>
            <a:ext cx="5107118" cy="479718"/>
          </a:xfrm>
          <a:prstGeom prst="rect">
            <a:avLst/>
          </a:prstGeom>
          <a:solidFill>
            <a:srgbClr val="0D2318"/>
          </a:solidFill>
          <a:ln>
            <a:noFill/>
          </a:ln>
        </p:spPr>
        <p:txBody>
          <a:bodyPr wrap="square" lIns="0" tIns="0" rIns="0" bIns="0" rtlCol="0" anchor="t"/>
          <a:lstStyle/>
          <a:p>
            <a:pPr defTabSz="1218895"/>
            <a:r>
              <a:rPr lang="en-US" sz="1600" b="1" dirty="0">
                <a:solidFill>
                  <a:srgbClr val="FF8A65"/>
                </a:solidFill>
                <a:latin typeface="Candara" panose="020E0502030303020204" pitchFamily="34" charset="0"/>
                <a:ea typeface="Calibri" pitchFamily="34" charset="-122"/>
                <a:cs typeface="Calibri" pitchFamily="34" charset="-120"/>
              </a:rPr>
              <a:t>Challenge  </a:t>
            </a:r>
            <a:r>
              <a:rPr lang="en-US" sz="1600" b="1" dirty="0">
                <a:solidFill>
                  <a:srgbClr val="A8C4B0"/>
                </a:solidFill>
                <a:latin typeface="Candara" panose="020E0502030303020204" pitchFamily="34" charset="0"/>
                <a:ea typeface="Calibri" pitchFamily="34" charset="-122"/>
                <a:cs typeface="Calibri" pitchFamily="34" charset="-120"/>
              </a:rPr>
              <a:t>Fast queries on growing reading table</a:t>
            </a:r>
            <a:r>
              <a:rPr lang="en-US" sz="1600" dirty="0">
                <a:solidFill>
                  <a:srgbClr val="A8C4B0"/>
                </a:solidFill>
                <a:latin typeface="Candara" panose="020E0502030303020204" pitchFamily="34" charset="0"/>
                <a:ea typeface="Calibri" pitchFamily="34" charset="-122"/>
                <a:cs typeface="Calibri" pitchFamily="34" charset="-120"/>
              </a:rPr>
              <a:t>.</a:t>
            </a:r>
            <a:endParaRPr lang="en-US" sz="1600" dirty="0">
              <a:solidFill>
                <a:prstClr val="black"/>
              </a:solidFill>
              <a:latin typeface="Candara" panose="020E0502030303020204" pitchFamily="34" charset="0"/>
            </a:endParaRPr>
          </a:p>
        </p:txBody>
      </p:sp>
      <p:sp>
        <p:nvSpPr>
          <p:cNvPr id="19" name="Text 15"/>
          <p:cNvSpPr/>
          <p:nvPr/>
        </p:nvSpPr>
        <p:spPr>
          <a:xfrm>
            <a:off x="6618531" y="2734588"/>
            <a:ext cx="5107118" cy="463175"/>
          </a:xfrm>
          <a:prstGeom prst="rect">
            <a:avLst/>
          </a:prstGeom>
          <a:solidFill>
            <a:srgbClr val="0D2318"/>
          </a:solidFill>
          <a:ln>
            <a:noFill/>
          </a:ln>
        </p:spPr>
        <p:txBody>
          <a:bodyPr wrap="square" lIns="0" tIns="0" rIns="0" bIns="0" rtlCol="0" anchor="t"/>
          <a:lstStyle/>
          <a:p>
            <a:pPr defTabSz="1218895"/>
            <a:r>
              <a:rPr lang="en-US" sz="1600" b="1" dirty="0">
                <a:solidFill>
                  <a:srgbClr val="00BCD4"/>
                </a:solidFill>
                <a:latin typeface="Candara" panose="020E0502030303020204" pitchFamily="34" charset="0"/>
                <a:ea typeface="Calibri" pitchFamily="34" charset="-122"/>
                <a:cs typeface="Calibri" pitchFamily="34" charset="-120"/>
              </a:rPr>
              <a:t>Solution  </a:t>
            </a:r>
            <a:r>
              <a:rPr lang="en-US" sz="1600" dirty="0">
                <a:solidFill>
                  <a:srgbClr val="C8DDD0"/>
                </a:solidFill>
                <a:latin typeface="Candara" panose="020E0502030303020204" pitchFamily="34" charset="0"/>
                <a:ea typeface="Calibri" pitchFamily="34" charset="-122"/>
                <a:cs typeface="Calibri" pitchFamily="34" charset="-120"/>
              </a:rPr>
              <a:t>BIGINT key, indexes, paged date filters</a:t>
            </a:r>
            <a:endParaRPr lang="en-US" sz="1600" dirty="0">
              <a:solidFill>
                <a:prstClr val="black"/>
              </a:solidFill>
              <a:latin typeface="Candara" panose="020E0502030303020204" pitchFamily="34" charset="0"/>
            </a:endParaRPr>
          </a:p>
        </p:txBody>
      </p:sp>
      <p:pic>
        <p:nvPicPr>
          <p:cNvPr id="23" name="Image 2" descr="preencoded.png"/>
          <p:cNvPicPr>
            <a:picLocks noChangeAspect="1"/>
          </p:cNvPicPr>
          <p:nvPr/>
        </p:nvPicPr>
        <p:blipFill>
          <a:blip r:embed="rId5"/>
          <a:stretch>
            <a:fillRect/>
          </a:stretch>
        </p:blipFill>
        <p:spPr>
          <a:xfrm>
            <a:off x="828839" y="4301088"/>
            <a:ext cx="438798" cy="438798"/>
          </a:xfrm>
          <a:prstGeom prst="rect">
            <a:avLst/>
          </a:prstGeom>
          <a:solidFill>
            <a:srgbClr val="0D2318"/>
          </a:solidFill>
          <a:ln>
            <a:noFill/>
          </a:ln>
        </p:spPr>
      </p:pic>
      <p:sp>
        <p:nvSpPr>
          <p:cNvPr id="24" name="Text 19"/>
          <p:cNvSpPr/>
          <p:nvPr/>
        </p:nvSpPr>
        <p:spPr>
          <a:xfrm>
            <a:off x="1389525" y="4276711"/>
            <a:ext cx="4546432" cy="463175"/>
          </a:xfrm>
          <a:prstGeom prst="rect">
            <a:avLst/>
          </a:prstGeom>
          <a:solidFill>
            <a:srgbClr val="0D2318"/>
          </a:solidFill>
          <a:ln>
            <a:noFill/>
          </a:ln>
        </p:spPr>
        <p:txBody>
          <a:bodyPr wrap="square" lIns="0" tIns="0" rIns="0" bIns="0" rtlCol="0" anchor="ctr"/>
          <a:lstStyle/>
          <a:p>
            <a:pPr defTabSz="1218895"/>
            <a:r>
              <a:rPr lang="en-US" sz="1600" b="1" dirty="0">
                <a:solidFill>
                  <a:srgbClr val="FFFFFF"/>
                </a:solidFill>
                <a:latin typeface="Candara" panose="020E0502030303020204" pitchFamily="34" charset="0"/>
                <a:ea typeface="Calibri" pitchFamily="34" charset="-122"/>
                <a:cs typeface="Calibri" pitchFamily="34" charset="-120"/>
              </a:rPr>
              <a:t>Cross-Layer Data Flow Design</a:t>
            </a:r>
            <a:endParaRPr lang="en-US" sz="1600" dirty="0">
              <a:solidFill>
                <a:prstClr val="black"/>
              </a:solidFill>
              <a:latin typeface="Candara" panose="020E0502030303020204" pitchFamily="34" charset="0"/>
            </a:endParaRPr>
          </a:p>
        </p:txBody>
      </p:sp>
      <p:sp>
        <p:nvSpPr>
          <p:cNvPr id="25" name="Shape 20"/>
          <p:cNvSpPr/>
          <p:nvPr/>
        </p:nvSpPr>
        <p:spPr>
          <a:xfrm>
            <a:off x="828839" y="4813019"/>
            <a:ext cx="5107118" cy="0"/>
          </a:xfrm>
          <a:prstGeom prst="line">
            <a:avLst/>
          </a:prstGeom>
          <a:noFill/>
          <a:ln w="9525">
            <a:noFill/>
            <a:prstDash val="solid"/>
          </a:ln>
        </p:spPr>
        <p:txBody>
          <a:bodyPr/>
          <a:lstStyle/>
          <a:p>
            <a:pPr defTabSz="1218895"/>
            <a:endParaRPr lang="en-US" sz="1600">
              <a:solidFill>
                <a:prstClr val="black"/>
              </a:solidFill>
              <a:latin typeface="Candara" panose="020E0502030303020204" pitchFamily="34" charset="0"/>
            </a:endParaRPr>
          </a:p>
        </p:txBody>
      </p:sp>
      <p:sp>
        <p:nvSpPr>
          <p:cNvPr id="26" name="Text 21"/>
          <p:cNvSpPr/>
          <p:nvPr/>
        </p:nvSpPr>
        <p:spPr>
          <a:xfrm>
            <a:off x="828839" y="4898341"/>
            <a:ext cx="5107118" cy="345640"/>
          </a:xfrm>
          <a:prstGeom prst="rect">
            <a:avLst/>
          </a:prstGeom>
          <a:solidFill>
            <a:srgbClr val="0D2318"/>
          </a:solidFill>
          <a:ln>
            <a:noFill/>
          </a:ln>
        </p:spPr>
        <p:txBody>
          <a:bodyPr wrap="square" lIns="0" tIns="0" rIns="0" bIns="0" rtlCol="0" anchor="t"/>
          <a:lstStyle/>
          <a:p>
            <a:pPr defTabSz="1218895"/>
            <a:r>
              <a:rPr lang="en-US" sz="1600" b="1" dirty="0">
                <a:solidFill>
                  <a:srgbClr val="FF8A65"/>
                </a:solidFill>
                <a:latin typeface="Candara" panose="020E0502030303020204" pitchFamily="34" charset="0"/>
                <a:ea typeface="Calibri" pitchFamily="34" charset="-122"/>
                <a:cs typeface="Calibri" pitchFamily="34" charset="-120"/>
              </a:rPr>
              <a:t>Challenge  </a:t>
            </a:r>
            <a:r>
              <a:rPr lang="en-US" sz="1600" b="1" dirty="0">
                <a:solidFill>
                  <a:srgbClr val="A8C4B0"/>
                </a:solidFill>
                <a:latin typeface="Candara" panose="020E0502030303020204" pitchFamily="34" charset="0"/>
                <a:ea typeface="Calibri" pitchFamily="34" charset="-122"/>
                <a:cs typeface="Calibri" pitchFamily="34" charset="-120"/>
              </a:rPr>
              <a:t>Clean path from device to chart</a:t>
            </a:r>
            <a:endParaRPr lang="en-US" sz="1600" dirty="0">
              <a:solidFill>
                <a:prstClr val="black"/>
              </a:solidFill>
              <a:latin typeface="Candara" panose="020E0502030303020204" pitchFamily="34" charset="0"/>
            </a:endParaRPr>
          </a:p>
        </p:txBody>
      </p:sp>
      <p:sp>
        <p:nvSpPr>
          <p:cNvPr id="27" name="Text 22"/>
          <p:cNvSpPr/>
          <p:nvPr/>
        </p:nvSpPr>
        <p:spPr>
          <a:xfrm>
            <a:off x="828839" y="5271339"/>
            <a:ext cx="4498941" cy="413122"/>
          </a:xfrm>
          <a:prstGeom prst="rect">
            <a:avLst/>
          </a:prstGeom>
          <a:solidFill>
            <a:srgbClr val="0D2318"/>
          </a:solidFill>
          <a:ln>
            <a:noFill/>
          </a:ln>
        </p:spPr>
        <p:txBody>
          <a:bodyPr wrap="square" lIns="0" tIns="0" rIns="0" bIns="0" rtlCol="0" anchor="t"/>
          <a:lstStyle/>
          <a:p>
            <a:pPr defTabSz="1218895"/>
            <a:r>
              <a:rPr lang="en-US" sz="1600" b="1" dirty="0">
                <a:solidFill>
                  <a:srgbClr val="F59E0B"/>
                </a:solidFill>
                <a:latin typeface="Candara" panose="020E0502030303020204" pitchFamily="34" charset="0"/>
                <a:ea typeface="Calibri" pitchFamily="34" charset="-122"/>
                <a:cs typeface="Calibri" pitchFamily="34" charset="-120"/>
              </a:rPr>
              <a:t>Solution  </a:t>
            </a:r>
            <a:r>
              <a:rPr lang="en-US" sz="1600" b="1" dirty="0">
                <a:solidFill>
                  <a:srgbClr val="C8DDD0"/>
                </a:solidFill>
                <a:latin typeface="Candara" panose="020E0502030303020204" pitchFamily="34" charset="0"/>
                <a:ea typeface="Calibri" pitchFamily="34" charset="-122"/>
                <a:cs typeface="Calibri" pitchFamily="34" charset="-120"/>
              </a:rPr>
              <a:t>MQTT → API → DB → </a:t>
            </a:r>
            <a:r>
              <a:rPr lang="en-US" sz="1600" b="1" dirty="0" err="1">
                <a:solidFill>
                  <a:srgbClr val="C8DDD0"/>
                </a:solidFill>
                <a:latin typeface="Candara" panose="020E0502030303020204" pitchFamily="34" charset="0"/>
                <a:ea typeface="Calibri" pitchFamily="34" charset="-122"/>
                <a:cs typeface="Calibri" pitchFamily="34" charset="-120"/>
              </a:rPr>
              <a:t>SignalR</a:t>
            </a:r>
            <a:r>
              <a:rPr lang="en-US" sz="1600" b="1" dirty="0">
                <a:solidFill>
                  <a:srgbClr val="C8DDD0"/>
                </a:solidFill>
                <a:latin typeface="Candara" panose="020E0502030303020204" pitchFamily="34" charset="0"/>
                <a:ea typeface="Calibri" pitchFamily="34" charset="-122"/>
                <a:cs typeface="Calibri" pitchFamily="34" charset="-120"/>
              </a:rPr>
              <a:t> → React</a:t>
            </a:r>
            <a:endParaRPr lang="en-US" sz="1600" dirty="0">
              <a:solidFill>
                <a:prstClr val="black"/>
              </a:solidFill>
              <a:latin typeface="Candara" panose="020E0502030303020204" pitchFamily="34" charset="0"/>
            </a:endParaRPr>
          </a:p>
        </p:txBody>
      </p:sp>
      <p:sp>
        <p:nvSpPr>
          <p:cNvPr id="29" name="Shape 24"/>
          <p:cNvSpPr/>
          <p:nvPr/>
        </p:nvSpPr>
        <p:spPr>
          <a:xfrm>
            <a:off x="6399133" y="4005792"/>
            <a:ext cx="5545915" cy="60944"/>
          </a:xfrm>
          <a:prstGeom prst="rect">
            <a:avLst/>
          </a:prstGeom>
          <a:solidFill>
            <a:srgbClr val="0D2318"/>
          </a:solidFill>
          <a:ln w="12700">
            <a:noFill/>
            <a:prstDash val="solid"/>
          </a:ln>
        </p:spPr>
        <p:txBody>
          <a:bodyPr/>
          <a:lstStyle/>
          <a:p>
            <a:pPr defTabSz="1218895"/>
            <a:endParaRPr lang="en-US" sz="1600">
              <a:solidFill>
                <a:prstClr val="black"/>
              </a:solidFill>
              <a:latin typeface="Candara" panose="020E0502030303020204" pitchFamily="34" charset="0"/>
            </a:endParaRPr>
          </a:p>
        </p:txBody>
      </p:sp>
      <p:pic>
        <p:nvPicPr>
          <p:cNvPr id="31" name="Image 3" descr="preencoded.png"/>
          <p:cNvPicPr>
            <a:picLocks noChangeAspect="1"/>
          </p:cNvPicPr>
          <p:nvPr/>
        </p:nvPicPr>
        <p:blipFill>
          <a:blip r:embed="rId6"/>
          <a:stretch>
            <a:fillRect/>
          </a:stretch>
        </p:blipFill>
        <p:spPr>
          <a:xfrm>
            <a:off x="6618531" y="4176436"/>
            <a:ext cx="438798" cy="438798"/>
          </a:xfrm>
          <a:prstGeom prst="rect">
            <a:avLst/>
          </a:prstGeom>
          <a:solidFill>
            <a:srgbClr val="0D2318"/>
          </a:solidFill>
          <a:ln>
            <a:noFill/>
          </a:ln>
        </p:spPr>
      </p:pic>
      <p:sp>
        <p:nvSpPr>
          <p:cNvPr id="32" name="Text 26"/>
          <p:cNvSpPr/>
          <p:nvPr/>
        </p:nvSpPr>
        <p:spPr>
          <a:xfrm>
            <a:off x="7179217" y="4152058"/>
            <a:ext cx="4546432" cy="463175"/>
          </a:xfrm>
          <a:prstGeom prst="rect">
            <a:avLst/>
          </a:prstGeom>
          <a:solidFill>
            <a:srgbClr val="0D2318"/>
          </a:solidFill>
          <a:ln>
            <a:noFill/>
          </a:ln>
        </p:spPr>
        <p:txBody>
          <a:bodyPr wrap="square" lIns="0" tIns="0" rIns="0" bIns="0" rtlCol="0" anchor="ctr"/>
          <a:lstStyle/>
          <a:p>
            <a:pPr defTabSz="1218895"/>
            <a:r>
              <a:rPr lang="en-US" sz="1600" b="1" dirty="0">
                <a:solidFill>
                  <a:srgbClr val="FFFFFF"/>
                </a:solidFill>
                <a:latin typeface="Candara" panose="020E0502030303020204" pitchFamily="34" charset="0"/>
                <a:ea typeface="Calibri" pitchFamily="34" charset="-122"/>
                <a:cs typeface="Calibri" pitchFamily="34" charset="-120"/>
              </a:rPr>
              <a:t>Edge Device Compatibility</a:t>
            </a:r>
            <a:endParaRPr lang="en-US" sz="1600" dirty="0">
              <a:solidFill>
                <a:prstClr val="black"/>
              </a:solidFill>
              <a:latin typeface="Candara" panose="020E0502030303020204" pitchFamily="34" charset="0"/>
            </a:endParaRPr>
          </a:p>
        </p:txBody>
      </p:sp>
      <p:sp>
        <p:nvSpPr>
          <p:cNvPr id="33" name="Shape 27"/>
          <p:cNvSpPr/>
          <p:nvPr/>
        </p:nvSpPr>
        <p:spPr>
          <a:xfrm>
            <a:off x="6618531" y="4688367"/>
            <a:ext cx="5107118" cy="0"/>
          </a:xfrm>
          <a:prstGeom prst="line">
            <a:avLst/>
          </a:prstGeom>
          <a:noFill/>
          <a:ln w="9525">
            <a:noFill/>
            <a:prstDash val="solid"/>
          </a:ln>
        </p:spPr>
        <p:txBody>
          <a:bodyPr/>
          <a:lstStyle/>
          <a:p>
            <a:pPr defTabSz="1218895"/>
            <a:endParaRPr lang="en-US" sz="1600">
              <a:solidFill>
                <a:prstClr val="black"/>
              </a:solidFill>
              <a:latin typeface="Candara" panose="020E0502030303020204" pitchFamily="34" charset="0"/>
            </a:endParaRPr>
          </a:p>
        </p:txBody>
      </p:sp>
      <p:sp>
        <p:nvSpPr>
          <p:cNvPr id="34" name="Text 28"/>
          <p:cNvSpPr/>
          <p:nvPr/>
        </p:nvSpPr>
        <p:spPr>
          <a:xfrm>
            <a:off x="6618531" y="4773688"/>
            <a:ext cx="5107118" cy="376983"/>
          </a:xfrm>
          <a:prstGeom prst="rect">
            <a:avLst/>
          </a:prstGeom>
          <a:solidFill>
            <a:srgbClr val="0D2318"/>
          </a:solidFill>
          <a:ln>
            <a:noFill/>
          </a:ln>
        </p:spPr>
        <p:txBody>
          <a:bodyPr wrap="square" lIns="0" tIns="0" rIns="0" bIns="0" rtlCol="0" anchor="t"/>
          <a:lstStyle/>
          <a:p>
            <a:pPr defTabSz="1218895"/>
            <a:r>
              <a:rPr lang="en-US" sz="1600" b="1" dirty="0">
                <a:solidFill>
                  <a:srgbClr val="FF8A65"/>
                </a:solidFill>
                <a:latin typeface="Candara" panose="020E0502030303020204" pitchFamily="34" charset="0"/>
                <a:ea typeface="Calibri" pitchFamily="34" charset="-122"/>
                <a:cs typeface="Calibri" pitchFamily="34" charset="-120"/>
              </a:rPr>
              <a:t>Challenge  </a:t>
            </a:r>
            <a:r>
              <a:rPr lang="en-US" sz="1600" b="1" dirty="0">
                <a:solidFill>
                  <a:srgbClr val="A8C4B0"/>
                </a:solidFill>
                <a:latin typeface="Candara" panose="020E0502030303020204" pitchFamily="34" charset="0"/>
                <a:ea typeface="Calibri" pitchFamily="34" charset="-122"/>
                <a:cs typeface="Calibri" pitchFamily="34" charset="-120"/>
              </a:rPr>
              <a:t>Same backend API for multiple edge platform</a:t>
            </a:r>
            <a:endParaRPr lang="en-US" sz="1600" dirty="0">
              <a:solidFill>
                <a:prstClr val="black"/>
              </a:solidFill>
              <a:latin typeface="Candara" panose="020E0502030303020204" pitchFamily="34" charset="0"/>
            </a:endParaRPr>
          </a:p>
        </p:txBody>
      </p:sp>
      <p:sp>
        <p:nvSpPr>
          <p:cNvPr id="35" name="Text 29"/>
          <p:cNvSpPr/>
          <p:nvPr/>
        </p:nvSpPr>
        <p:spPr>
          <a:xfrm>
            <a:off x="6618531" y="5167138"/>
            <a:ext cx="5107118" cy="914162"/>
          </a:xfrm>
          <a:prstGeom prst="rect">
            <a:avLst/>
          </a:prstGeom>
          <a:solidFill>
            <a:srgbClr val="0D2318"/>
          </a:solidFill>
          <a:ln>
            <a:noFill/>
          </a:ln>
        </p:spPr>
        <p:txBody>
          <a:bodyPr wrap="square" lIns="0" tIns="0" rIns="0" bIns="0" rtlCol="0" anchor="t"/>
          <a:lstStyle/>
          <a:p>
            <a:pPr defTabSz="1218895"/>
            <a:r>
              <a:rPr lang="en-US" sz="1600" b="1" dirty="0">
                <a:solidFill>
                  <a:srgbClr val="A78BFA"/>
                </a:solidFill>
                <a:latin typeface="Candara" panose="020E0502030303020204" pitchFamily="34" charset="0"/>
                <a:ea typeface="Calibri" pitchFamily="34" charset="-122"/>
                <a:cs typeface="Calibri" pitchFamily="34" charset="-120"/>
              </a:rPr>
              <a:t>Solution  </a:t>
            </a:r>
            <a:r>
              <a:rPr lang="en-US" sz="1600" b="1" dirty="0">
                <a:solidFill>
                  <a:srgbClr val="C8DDD0"/>
                </a:solidFill>
                <a:latin typeface="Candara" panose="020E0502030303020204" pitchFamily="34" charset="0"/>
                <a:ea typeface="Calibri" pitchFamily="34" charset="-122"/>
                <a:cs typeface="Calibri" pitchFamily="34" charset="-120"/>
              </a:rPr>
              <a:t>MQTT + JSON, REST for tests, shared device model: device/sensor</a:t>
            </a:r>
            <a:endParaRPr lang="en-US" sz="1600" dirty="0">
              <a:solidFill>
                <a:prstClr val="black"/>
              </a:solidFill>
              <a:latin typeface="Candara" panose="020E0502030303020204" pitchFamily="34" charset="0"/>
            </a:endParaRPr>
          </a:p>
        </p:txBody>
      </p:sp>
      <p:sp>
        <p:nvSpPr>
          <p:cNvPr id="36" name="Text 30"/>
          <p:cNvSpPr/>
          <p:nvPr/>
        </p:nvSpPr>
        <p:spPr>
          <a:xfrm>
            <a:off x="10726166" y="6004760"/>
            <a:ext cx="1096994" cy="268154"/>
          </a:xfrm>
          <a:prstGeom prst="rect">
            <a:avLst/>
          </a:prstGeom>
          <a:solidFill>
            <a:srgbClr val="0D2318"/>
          </a:solidFill>
          <a:ln>
            <a:noFill/>
          </a:ln>
        </p:spPr>
        <p:txBody>
          <a:bodyPr wrap="square" lIns="0" tIns="0" rIns="0" bIns="0" rtlCol="0" anchor="ctr"/>
          <a:lstStyle/>
          <a:p>
            <a:pPr algn="r" defTabSz="1218895"/>
            <a:r>
              <a:rPr lang="en-US" sz="1600" dirty="0">
                <a:solidFill>
                  <a:srgbClr val="4A6A54"/>
                </a:solidFill>
                <a:latin typeface="Candara" panose="020E0502030303020204" pitchFamily="34" charset="0"/>
                <a:ea typeface="Calibri" pitchFamily="34" charset="-122"/>
                <a:cs typeface="Calibri" pitchFamily="34" charset="-120"/>
              </a:rPr>
              <a:t>12 / 14</a:t>
            </a:r>
            <a:endParaRPr lang="en-US" sz="1600" dirty="0">
              <a:solidFill>
                <a:prstClr val="black"/>
              </a:solidFill>
              <a:latin typeface="Candara" panose="020E0502030303020204" pitchFamily="34"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2018"/>
        </a:solidFill>
        <a:effectLst/>
      </p:bgPr>
    </p:bg>
    <p:spTree>
      <p:nvGrpSpPr>
        <p:cNvPr id="1" name=""/>
        <p:cNvGrpSpPr/>
        <p:nvPr/>
      </p:nvGrpSpPr>
      <p:grpSpPr>
        <a:xfrm>
          <a:off x="0" y="0"/>
          <a:ext cx="0" cy="0"/>
          <a:chOff x="0" y="0"/>
          <a:chExt cx="0" cy="0"/>
        </a:xfrm>
      </p:grpSpPr>
      <p:sp>
        <p:nvSpPr>
          <p:cNvPr id="2" name="Text 0"/>
          <p:cNvSpPr/>
          <p:nvPr/>
        </p:nvSpPr>
        <p:spPr>
          <a:xfrm>
            <a:off x="548497" y="269047"/>
            <a:ext cx="11091831" cy="731330"/>
          </a:xfrm>
          <a:prstGeom prst="rect">
            <a:avLst/>
          </a:prstGeom>
          <a:noFill/>
          <a:ln/>
        </p:spPr>
        <p:txBody>
          <a:bodyPr wrap="square" lIns="0" tIns="0" rIns="0" bIns="0" rtlCol="0" anchor="ctr"/>
          <a:lstStyle/>
          <a:p>
            <a:pPr defTabSz="1218895"/>
            <a:r>
              <a:rPr lang="en-US" sz="2800" b="1" dirty="0">
                <a:solidFill>
                  <a:srgbClr val="FFFFFF"/>
                </a:solidFill>
                <a:latin typeface="Candara" panose="020E0502030303020204" pitchFamily="34" charset="0"/>
                <a:ea typeface="Calibri" pitchFamily="34" charset="-122"/>
                <a:cs typeface="Calibri" pitchFamily="34" charset="-120"/>
              </a:rPr>
              <a:t>Conclusion &amp; Future Work</a:t>
            </a:r>
            <a:endParaRPr lang="en-US" sz="2800" dirty="0">
              <a:solidFill>
                <a:prstClr val="black"/>
              </a:solidFill>
              <a:latin typeface="Candara" panose="020E0502030303020204" pitchFamily="34" charset="0"/>
            </a:endParaRPr>
          </a:p>
        </p:txBody>
      </p:sp>
      <p:sp>
        <p:nvSpPr>
          <p:cNvPr id="3" name="Text 1"/>
          <p:cNvSpPr/>
          <p:nvPr/>
        </p:nvSpPr>
        <p:spPr>
          <a:xfrm>
            <a:off x="548497" y="1000377"/>
            <a:ext cx="11091831" cy="390042"/>
          </a:xfrm>
          <a:prstGeom prst="rect">
            <a:avLst/>
          </a:prstGeom>
          <a:noFill/>
          <a:ln/>
        </p:spPr>
        <p:txBody>
          <a:bodyPr wrap="square" lIns="0" tIns="0" rIns="0" bIns="0" rtlCol="0" anchor="ctr"/>
          <a:lstStyle/>
          <a:p>
            <a:pPr defTabSz="1218895"/>
            <a:r>
              <a:rPr lang="en-US" sz="1866" b="1" dirty="0">
                <a:solidFill>
                  <a:srgbClr val="FFE600"/>
                </a:solidFill>
                <a:latin typeface="Candara" panose="020E0502030303020204" pitchFamily="34" charset="0"/>
                <a:ea typeface="Calibri" pitchFamily="34" charset="-122"/>
                <a:cs typeface="Calibri" pitchFamily="34" charset="-120"/>
              </a:rPr>
              <a:t>What we delivered  →  What comes next</a:t>
            </a:r>
            <a:endParaRPr lang="en-US" sz="1866" dirty="0">
              <a:solidFill>
                <a:prstClr val="black"/>
              </a:solidFill>
              <a:latin typeface="Candara" panose="020E0502030303020204" pitchFamily="34" charset="0"/>
            </a:endParaRPr>
          </a:p>
        </p:txBody>
      </p:sp>
      <p:sp>
        <p:nvSpPr>
          <p:cNvPr id="4" name="Shape 2"/>
          <p:cNvSpPr/>
          <p:nvPr/>
        </p:nvSpPr>
        <p:spPr>
          <a:xfrm>
            <a:off x="548497" y="1439417"/>
            <a:ext cx="5484971" cy="4936474"/>
          </a:xfrm>
          <a:prstGeom prst="roundRect">
            <a:avLst>
              <a:gd name="adj" fmla="val 1975"/>
            </a:avLst>
          </a:prstGeom>
          <a:solidFill>
            <a:srgbClr val="112C1E"/>
          </a:solidFill>
          <a:ln w="9525">
            <a:solidFill>
              <a:srgbClr val="1F4533"/>
            </a:solidFill>
            <a:prstDash val="solid"/>
          </a:ln>
        </p:spPr>
        <p:txBody>
          <a:bodyPr/>
          <a:lstStyle/>
          <a:p>
            <a:pPr defTabSz="1218895"/>
            <a:endParaRPr lang="en-US" sz="1866">
              <a:solidFill>
                <a:prstClr val="black"/>
              </a:solidFill>
              <a:latin typeface="Candara" panose="020E0502030303020204" pitchFamily="34" charset="0"/>
            </a:endParaRPr>
          </a:p>
        </p:txBody>
      </p:sp>
      <p:sp>
        <p:nvSpPr>
          <p:cNvPr id="6" name="Shape 4"/>
          <p:cNvSpPr/>
          <p:nvPr/>
        </p:nvSpPr>
        <p:spPr>
          <a:xfrm>
            <a:off x="6204112" y="1439174"/>
            <a:ext cx="5484971" cy="4936474"/>
          </a:xfrm>
          <a:prstGeom prst="roundRect">
            <a:avLst>
              <a:gd name="adj" fmla="val 1975"/>
            </a:avLst>
          </a:prstGeom>
          <a:solidFill>
            <a:srgbClr val="112C1E"/>
          </a:solidFill>
          <a:ln w="9525">
            <a:solidFill>
              <a:srgbClr val="1F4533"/>
            </a:solidFill>
            <a:prstDash val="solid"/>
          </a:ln>
        </p:spPr>
        <p:txBody>
          <a:bodyPr/>
          <a:lstStyle/>
          <a:p>
            <a:pPr defTabSz="1218895"/>
            <a:endParaRPr lang="en-US" sz="1866">
              <a:solidFill>
                <a:prstClr val="black"/>
              </a:solidFill>
              <a:latin typeface="Candara" panose="020E0502030303020204" pitchFamily="34" charset="0"/>
            </a:endParaRPr>
          </a:p>
        </p:txBody>
      </p:sp>
      <p:sp>
        <p:nvSpPr>
          <p:cNvPr id="8" name="Text 6"/>
          <p:cNvSpPr/>
          <p:nvPr/>
        </p:nvSpPr>
        <p:spPr>
          <a:xfrm>
            <a:off x="1524611" y="1609818"/>
            <a:ext cx="3656648" cy="511931"/>
          </a:xfrm>
          <a:prstGeom prst="rect">
            <a:avLst/>
          </a:prstGeom>
          <a:noFill/>
          <a:ln/>
        </p:spPr>
        <p:txBody>
          <a:bodyPr wrap="square" lIns="0" tIns="0" rIns="0" bIns="0" rtlCol="0" anchor="ctr"/>
          <a:lstStyle/>
          <a:p>
            <a:pPr defTabSz="1218895"/>
            <a:r>
              <a:rPr lang="en-US" sz="1866" b="1" dirty="0">
                <a:solidFill>
                  <a:srgbClr val="FFFFFF"/>
                </a:solidFill>
                <a:latin typeface="Candara" panose="020E0502030303020204" pitchFamily="34" charset="0"/>
                <a:ea typeface="Calibri" pitchFamily="34" charset="-122"/>
                <a:cs typeface="Calibri" pitchFamily="34" charset="-120"/>
              </a:rPr>
              <a:t>What we achieved</a:t>
            </a:r>
            <a:endParaRPr lang="en-US" sz="1866" dirty="0">
              <a:solidFill>
                <a:prstClr val="black"/>
              </a:solidFill>
              <a:latin typeface="Candara" panose="020E0502030303020204" pitchFamily="34" charset="0"/>
            </a:endParaRPr>
          </a:p>
        </p:txBody>
      </p:sp>
      <p:pic>
        <p:nvPicPr>
          <p:cNvPr id="9" name="Image 0" descr="preencoded.png"/>
          <p:cNvPicPr>
            <a:picLocks noChangeAspect="1"/>
          </p:cNvPicPr>
          <p:nvPr/>
        </p:nvPicPr>
        <p:blipFill>
          <a:blip r:embed="rId3"/>
          <a:stretch>
            <a:fillRect/>
          </a:stretch>
        </p:blipFill>
        <p:spPr>
          <a:xfrm>
            <a:off x="951736" y="1729688"/>
            <a:ext cx="487553" cy="487553"/>
          </a:xfrm>
          <a:prstGeom prst="rect">
            <a:avLst/>
          </a:prstGeom>
        </p:spPr>
      </p:pic>
      <p:sp>
        <p:nvSpPr>
          <p:cNvPr id="10" name="Text 7"/>
          <p:cNvSpPr/>
          <p:nvPr/>
        </p:nvSpPr>
        <p:spPr>
          <a:xfrm>
            <a:off x="1060427" y="2300619"/>
            <a:ext cx="4875530" cy="3778536"/>
          </a:xfrm>
          <a:prstGeom prst="rect">
            <a:avLst/>
          </a:prstGeom>
          <a:noFill/>
          <a:ln/>
        </p:spPr>
        <p:txBody>
          <a:bodyPr wrap="square" lIns="0" tIns="0" rIns="0" bIns="0" rtlCol="0" anchor="t"/>
          <a:lstStyle/>
          <a:p>
            <a:pPr marL="457086" indent="-457086" defTabSz="1218895">
              <a:spcAft>
                <a:spcPts val="667"/>
              </a:spcAft>
              <a:buSzPct val="100000"/>
              <a:buFontTx/>
              <a:buChar char="●"/>
            </a:pPr>
            <a:r>
              <a:rPr lang="en-US" sz="1866" b="1" dirty="0">
                <a:solidFill>
                  <a:srgbClr val="4ADE80"/>
                </a:solidFill>
                <a:latin typeface="Candara" panose="020E0502030303020204" pitchFamily="34" charset="0"/>
                <a:ea typeface="Calibri" pitchFamily="34" charset="-122"/>
                <a:cs typeface="Calibri" pitchFamily="34" charset="-120"/>
              </a:rPr>
              <a:t>MQTT → API → SQL Server → SignalR → React</a:t>
            </a:r>
            <a:r>
              <a:rPr lang="en-US" sz="1866" dirty="0">
                <a:solidFill>
                  <a:srgbClr val="86C29A"/>
                </a:solidFill>
                <a:latin typeface="Candara" panose="020E0502030303020204" pitchFamily="34" charset="0"/>
                <a:ea typeface="Calibri" pitchFamily="34" charset="-122"/>
                <a:cs typeface="Calibri" pitchFamily="34" charset="-120"/>
              </a:rPr>
              <a:t> </a:t>
            </a:r>
            <a:r>
              <a:rPr lang="en-US" sz="1866" dirty="0">
                <a:solidFill>
                  <a:prstClr val="white"/>
                </a:solidFill>
                <a:latin typeface="Candara" panose="020E0502030303020204" pitchFamily="34" charset="0"/>
                <a:ea typeface="Calibri" pitchFamily="34" charset="-122"/>
                <a:cs typeface="Calibri" pitchFamily="34" charset="-120"/>
              </a:rPr>
              <a:t>end to end pipeline</a:t>
            </a:r>
            <a:endParaRPr lang="en-US" sz="1866" dirty="0">
              <a:solidFill>
                <a:prstClr val="white"/>
              </a:solidFill>
              <a:latin typeface="Candara" panose="020E0502030303020204" pitchFamily="34" charset="0"/>
            </a:endParaRPr>
          </a:p>
          <a:p>
            <a:pPr marL="457086" indent="-457086" defTabSz="1218895">
              <a:spcAft>
                <a:spcPts val="667"/>
              </a:spcAft>
              <a:buSzPct val="100000"/>
              <a:buFontTx/>
              <a:buChar char="●"/>
            </a:pPr>
            <a:r>
              <a:rPr lang="en-US" sz="1866" b="1" dirty="0">
                <a:solidFill>
                  <a:srgbClr val="4ADE80"/>
                </a:solidFill>
                <a:latin typeface="Candara" panose="020E0502030303020204" pitchFamily="34" charset="0"/>
                <a:ea typeface="Calibri" pitchFamily="34" charset="-122"/>
                <a:cs typeface="Calibri" pitchFamily="34" charset="-120"/>
              </a:rPr>
              <a:t>11-table</a:t>
            </a:r>
            <a:r>
              <a:rPr lang="en-US" sz="1866" dirty="0">
                <a:solidFill>
                  <a:srgbClr val="86C29A"/>
                </a:solidFill>
                <a:latin typeface="Candara" panose="020E0502030303020204" pitchFamily="34" charset="0"/>
                <a:ea typeface="Calibri" pitchFamily="34" charset="-122"/>
                <a:cs typeface="Calibri" pitchFamily="34" charset="-120"/>
              </a:rPr>
              <a:t> </a:t>
            </a:r>
            <a:r>
              <a:rPr lang="en-US" sz="1866" dirty="0">
                <a:solidFill>
                  <a:prstClr val="white"/>
                </a:solidFill>
                <a:latin typeface="Candara" panose="020E0502030303020204" pitchFamily="34" charset="0"/>
                <a:ea typeface="Calibri" pitchFamily="34" charset="-122"/>
                <a:cs typeface="Calibri" pitchFamily="34" charset="-120"/>
              </a:rPr>
              <a:t>SQL Server schema with EF </a:t>
            </a:r>
            <a:endParaRPr lang="en-US" sz="1866" dirty="0">
              <a:solidFill>
                <a:prstClr val="white"/>
              </a:solidFill>
              <a:latin typeface="Candara" panose="020E0502030303020204" pitchFamily="34" charset="0"/>
            </a:endParaRPr>
          </a:p>
          <a:p>
            <a:pPr marL="457086" indent="-457086" defTabSz="1218895">
              <a:spcAft>
                <a:spcPts val="667"/>
              </a:spcAft>
              <a:buSzPct val="100000"/>
              <a:buFontTx/>
              <a:buChar char="●"/>
            </a:pPr>
            <a:r>
              <a:rPr lang="en-US" sz="1866" b="1" dirty="0">
                <a:solidFill>
                  <a:srgbClr val="4ADE80"/>
                </a:solidFill>
                <a:latin typeface="Candara" panose="020E0502030303020204" pitchFamily="34" charset="0"/>
                <a:ea typeface="Calibri" pitchFamily="34" charset="-122"/>
                <a:cs typeface="Calibri" pitchFamily="34" charset="-120"/>
              </a:rPr>
              <a:t>ASP.NET Core 8</a:t>
            </a:r>
            <a:r>
              <a:rPr lang="en-US" sz="1866" dirty="0">
                <a:solidFill>
                  <a:srgbClr val="86C29A"/>
                </a:solidFill>
                <a:latin typeface="Candara" panose="020E0502030303020204" pitchFamily="34" charset="0"/>
                <a:ea typeface="Calibri" pitchFamily="34" charset="-122"/>
                <a:cs typeface="Calibri" pitchFamily="34" charset="-120"/>
              </a:rPr>
              <a:t> </a:t>
            </a:r>
            <a:r>
              <a:rPr lang="en-US" sz="1866" dirty="0">
                <a:solidFill>
                  <a:schemeClr val="bg1"/>
                </a:solidFill>
                <a:latin typeface="Candara" panose="020E0502030303020204" pitchFamily="34" charset="0"/>
                <a:ea typeface="Calibri" pitchFamily="34" charset="-122"/>
                <a:cs typeface="Calibri" pitchFamily="34" charset="-120"/>
              </a:rPr>
              <a:t>API: REST, JWT roles</a:t>
            </a:r>
            <a:endParaRPr lang="en-US" sz="1866" dirty="0">
              <a:solidFill>
                <a:schemeClr val="bg1"/>
              </a:solidFill>
              <a:latin typeface="Candara" panose="020E0502030303020204" pitchFamily="34" charset="0"/>
            </a:endParaRPr>
          </a:p>
          <a:p>
            <a:pPr marL="457086" indent="-457086" defTabSz="1218895">
              <a:spcAft>
                <a:spcPts val="667"/>
              </a:spcAft>
              <a:buSzPct val="100000"/>
              <a:buFontTx/>
              <a:buChar char="●"/>
            </a:pPr>
            <a:r>
              <a:rPr lang="en-US" sz="1866" b="1" dirty="0">
                <a:solidFill>
                  <a:srgbClr val="4ADE80"/>
                </a:solidFill>
                <a:latin typeface="Candara" panose="020E0502030303020204" pitchFamily="34" charset="0"/>
                <a:ea typeface="Calibri" pitchFamily="34" charset="-122"/>
                <a:cs typeface="Calibri" pitchFamily="34" charset="-120"/>
              </a:rPr>
              <a:t>SignalR</a:t>
            </a:r>
            <a:r>
              <a:rPr lang="en-US" sz="1866" dirty="0">
                <a:solidFill>
                  <a:srgbClr val="86C29A"/>
                </a:solidFill>
                <a:latin typeface="Candara" panose="020E0502030303020204" pitchFamily="34" charset="0"/>
                <a:ea typeface="Calibri" pitchFamily="34" charset="-122"/>
                <a:cs typeface="Calibri" pitchFamily="34" charset="-120"/>
              </a:rPr>
              <a:t> </a:t>
            </a:r>
            <a:r>
              <a:rPr lang="en-US" sz="1866" dirty="0">
                <a:solidFill>
                  <a:schemeClr val="bg1"/>
                </a:solidFill>
                <a:latin typeface="Candara" panose="020E0502030303020204" pitchFamily="34" charset="0"/>
                <a:ea typeface="Calibri" pitchFamily="34" charset="-122"/>
                <a:cs typeface="Calibri" pitchFamily="34" charset="-120"/>
              </a:rPr>
              <a:t>live readings, alerts, device status</a:t>
            </a:r>
            <a:endParaRPr lang="en-US" sz="1866" dirty="0">
              <a:solidFill>
                <a:schemeClr val="bg1"/>
              </a:solidFill>
              <a:latin typeface="Candara" panose="020E0502030303020204" pitchFamily="34" charset="0"/>
            </a:endParaRPr>
          </a:p>
          <a:p>
            <a:pPr marL="457086" indent="-457086" defTabSz="1218895">
              <a:spcAft>
                <a:spcPts val="667"/>
              </a:spcAft>
              <a:buSzPct val="100000"/>
              <a:buFontTx/>
              <a:buChar char="●"/>
            </a:pPr>
            <a:r>
              <a:rPr lang="en-US" sz="1866" b="1" dirty="0">
                <a:solidFill>
                  <a:srgbClr val="4ADE80"/>
                </a:solidFill>
                <a:latin typeface="Candara" panose="020E0502030303020204" pitchFamily="34" charset="0"/>
                <a:ea typeface="Calibri" pitchFamily="34" charset="-122"/>
                <a:cs typeface="Calibri" pitchFamily="34" charset="-120"/>
              </a:rPr>
              <a:t>React UI</a:t>
            </a:r>
            <a:r>
              <a:rPr lang="en-US" sz="1866" dirty="0">
                <a:solidFill>
                  <a:schemeClr val="bg1"/>
                </a:solidFill>
                <a:latin typeface="Candara" panose="020E0502030303020204" pitchFamily="34" charset="0"/>
                <a:ea typeface="Calibri" pitchFamily="34" charset="-122"/>
                <a:cs typeface="Calibri" pitchFamily="34" charset="-120"/>
              </a:rPr>
              <a:t>: dashboards, charts, gauges, actuators, command history</a:t>
            </a:r>
            <a:endParaRPr lang="en-US" sz="1866" dirty="0">
              <a:solidFill>
                <a:schemeClr val="bg1"/>
              </a:solidFill>
              <a:latin typeface="Candara" panose="020E0502030303020204" pitchFamily="34" charset="0"/>
            </a:endParaRPr>
          </a:p>
          <a:p>
            <a:pPr marL="457086" indent="-457086" defTabSz="1218895">
              <a:spcAft>
                <a:spcPts val="667"/>
              </a:spcAft>
              <a:buSzPct val="100000"/>
              <a:buFontTx/>
              <a:buChar char="●"/>
            </a:pPr>
            <a:r>
              <a:rPr lang="en-US" sz="1866" b="1" dirty="0">
                <a:solidFill>
                  <a:srgbClr val="4ADE80"/>
                </a:solidFill>
                <a:latin typeface="Candara" panose="020E0502030303020204" pitchFamily="34" charset="0"/>
                <a:ea typeface="Calibri" pitchFamily="34" charset="-122"/>
                <a:cs typeface="Calibri" pitchFamily="34" charset="-120"/>
              </a:rPr>
              <a:t>Arduino</a:t>
            </a:r>
            <a:r>
              <a:rPr lang="en-US" sz="1866" dirty="0">
                <a:solidFill>
                  <a:srgbClr val="86C29A"/>
                </a:solidFill>
                <a:latin typeface="Candara" panose="020E0502030303020204" pitchFamily="34" charset="0"/>
                <a:ea typeface="Calibri" pitchFamily="34" charset="-122"/>
                <a:cs typeface="Calibri" pitchFamily="34" charset="-120"/>
              </a:rPr>
              <a:t> </a:t>
            </a:r>
            <a:r>
              <a:rPr lang="en-US" sz="1866" dirty="0">
                <a:solidFill>
                  <a:schemeClr val="bg1"/>
                </a:solidFill>
                <a:latin typeface="Candara" panose="020E0502030303020204" pitchFamily="34" charset="0"/>
                <a:ea typeface="Calibri" pitchFamily="34" charset="-122"/>
                <a:cs typeface="Calibri" pitchFamily="34" charset="-120"/>
              </a:rPr>
              <a:t>firmware (local/cloud MQTT) with live demo</a:t>
            </a:r>
            <a:endParaRPr lang="en-US" sz="1866" dirty="0">
              <a:solidFill>
                <a:schemeClr val="bg1"/>
              </a:solidFill>
              <a:latin typeface="Candara" panose="020E0502030303020204" pitchFamily="34" charset="0"/>
            </a:endParaRPr>
          </a:p>
          <a:p>
            <a:pPr marL="457086" indent="-457086" defTabSz="1218895">
              <a:spcAft>
                <a:spcPts val="667"/>
              </a:spcAft>
              <a:buSzPct val="100000"/>
              <a:buFontTx/>
              <a:buChar char="●"/>
            </a:pPr>
            <a:r>
              <a:rPr lang="en-US" sz="1866" b="1" dirty="0">
                <a:solidFill>
                  <a:srgbClr val="4ADE80"/>
                </a:solidFill>
                <a:latin typeface="Candara" panose="020E0502030303020204" pitchFamily="34" charset="0"/>
                <a:ea typeface="Calibri" pitchFamily="34" charset="-122"/>
                <a:cs typeface="Calibri" pitchFamily="34" charset="-120"/>
              </a:rPr>
              <a:t>Git/GitHub</a:t>
            </a:r>
            <a:r>
              <a:rPr lang="en-US" sz="1866" dirty="0">
                <a:solidFill>
                  <a:srgbClr val="86C29A"/>
                </a:solidFill>
                <a:latin typeface="Candara" panose="020E0502030303020204" pitchFamily="34" charset="0"/>
                <a:ea typeface="Calibri" pitchFamily="34" charset="-122"/>
                <a:cs typeface="Calibri" pitchFamily="34" charset="-120"/>
              </a:rPr>
              <a:t> and </a:t>
            </a:r>
            <a:r>
              <a:rPr lang="en-US" sz="1866" b="1" dirty="0">
                <a:solidFill>
                  <a:srgbClr val="4ADE80"/>
                </a:solidFill>
                <a:latin typeface="Candara" panose="020E0502030303020204" pitchFamily="34" charset="0"/>
                <a:ea typeface="Calibri" pitchFamily="34" charset="-122"/>
                <a:cs typeface="Calibri" pitchFamily="34" charset="-120"/>
              </a:rPr>
              <a:t>Azure</a:t>
            </a:r>
            <a:r>
              <a:rPr lang="en-US" sz="1866" dirty="0">
                <a:solidFill>
                  <a:srgbClr val="86C29A"/>
                </a:solidFill>
                <a:latin typeface="Candara" panose="020E0502030303020204" pitchFamily="34" charset="0"/>
                <a:ea typeface="Calibri" pitchFamily="34" charset="-122"/>
                <a:cs typeface="Calibri" pitchFamily="34" charset="-120"/>
              </a:rPr>
              <a:t> </a:t>
            </a:r>
            <a:r>
              <a:rPr lang="en-US" sz="1866" dirty="0">
                <a:solidFill>
                  <a:schemeClr val="bg1"/>
                </a:solidFill>
                <a:latin typeface="Candara" panose="020E0502030303020204" pitchFamily="34" charset="0"/>
                <a:ea typeface="Calibri" pitchFamily="34" charset="-122"/>
                <a:cs typeface="Calibri" pitchFamily="34" charset="-120"/>
              </a:rPr>
              <a:t>deployment workflows</a:t>
            </a:r>
            <a:endParaRPr lang="en-US" sz="1866" dirty="0">
              <a:solidFill>
                <a:schemeClr val="bg1"/>
              </a:solidFill>
              <a:latin typeface="Candara" panose="020E0502030303020204" pitchFamily="34" charset="0"/>
            </a:endParaRPr>
          </a:p>
        </p:txBody>
      </p:sp>
      <p:sp>
        <p:nvSpPr>
          <p:cNvPr id="11" name="Text 8"/>
          <p:cNvSpPr/>
          <p:nvPr/>
        </p:nvSpPr>
        <p:spPr>
          <a:xfrm>
            <a:off x="7331577" y="1664707"/>
            <a:ext cx="4144201" cy="511931"/>
          </a:xfrm>
          <a:prstGeom prst="rect">
            <a:avLst/>
          </a:prstGeom>
          <a:noFill/>
          <a:ln/>
        </p:spPr>
        <p:txBody>
          <a:bodyPr wrap="square" lIns="0" tIns="0" rIns="0" bIns="0" rtlCol="0" anchor="ctr"/>
          <a:lstStyle/>
          <a:p>
            <a:pPr defTabSz="1218895"/>
            <a:r>
              <a:rPr lang="en-US" sz="1866" b="1" dirty="0">
                <a:solidFill>
                  <a:srgbClr val="FFFFFF"/>
                </a:solidFill>
                <a:latin typeface="Candara" panose="020E0502030303020204" pitchFamily="34" charset="0"/>
                <a:ea typeface="Calibri" pitchFamily="34" charset="-122"/>
                <a:cs typeface="Calibri" pitchFamily="34" charset="-120"/>
              </a:rPr>
              <a:t>Future enhancements</a:t>
            </a:r>
            <a:endParaRPr lang="en-US" sz="1866" dirty="0">
              <a:solidFill>
                <a:prstClr val="black"/>
              </a:solidFill>
              <a:latin typeface="Candara" panose="020E0502030303020204" pitchFamily="34" charset="0"/>
            </a:endParaRPr>
          </a:p>
        </p:txBody>
      </p:sp>
      <p:pic>
        <p:nvPicPr>
          <p:cNvPr id="12" name="Image 1" descr="preencoded.png"/>
          <p:cNvPicPr>
            <a:picLocks noChangeAspect="1"/>
          </p:cNvPicPr>
          <p:nvPr/>
        </p:nvPicPr>
        <p:blipFill>
          <a:blip r:embed="rId4"/>
          <a:stretch>
            <a:fillRect/>
          </a:stretch>
        </p:blipFill>
        <p:spPr>
          <a:xfrm>
            <a:off x="6656551" y="1773357"/>
            <a:ext cx="487553" cy="487553"/>
          </a:xfrm>
          <a:prstGeom prst="rect">
            <a:avLst/>
          </a:prstGeom>
        </p:spPr>
      </p:pic>
      <p:sp>
        <p:nvSpPr>
          <p:cNvPr id="13" name="Text 9"/>
          <p:cNvSpPr/>
          <p:nvPr/>
        </p:nvSpPr>
        <p:spPr>
          <a:xfrm>
            <a:off x="6813553" y="2285288"/>
            <a:ext cx="4400166" cy="3778536"/>
          </a:xfrm>
          <a:prstGeom prst="rect">
            <a:avLst/>
          </a:prstGeom>
          <a:noFill/>
          <a:ln/>
        </p:spPr>
        <p:txBody>
          <a:bodyPr wrap="square" lIns="0" tIns="0" rIns="0" bIns="0" rtlCol="0" anchor="t"/>
          <a:lstStyle/>
          <a:p>
            <a:pPr marL="457086" indent="-457086" defTabSz="1218895">
              <a:spcAft>
                <a:spcPts val="1066"/>
              </a:spcAft>
              <a:buSzPct val="100000"/>
              <a:buFontTx/>
              <a:buChar char="●"/>
            </a:pPr>
            <a:r>
              <a:rPr lang="en-US" sz="1866" dirty="0">
                <a:solidFill>
                  <a:srgbClr val="86C29A"/>
                </a:solidFill>
                <a:latin typeface="Candara" panose="020E0502030303020204" pitchFamily="34" charset="0"/>
                <a:ea typeface="Calibri" pitchFamily="34" charset="-122"/>
                <a:cs typeface="Calibri" pitchFamily="34" charset="-120"/>
              </a:rPr>
              <a:t>Automated </a:t>
            </a:r>
            <a:r>
              <a:rPr lang="en-US" sz="1866" b="1" dirty="0">
                <a:solidFill>
                  <a:srgbClr val="4ADE80"/>
                </a:solidFill>
                <a:latin typeface="Candara" panose="020E0502030303020204" pitchFamily="34" charset="0"/>
                <a:ea typeface="Calibri" pitchFamily="34" charset="-122"/>
                <a:cs typeface="Calibri" pitchFamily="34" charset="-120"/>
              </a:rPr>
              <a:t>data retention / archiving</a:t>
            </a:r>
            <a:r>
              <a:rPr lang="en-US" sz="1866" dirty="0">
                <a:solidFill>
                  <a:srgbClr val="86C29A"/>
                </a:solidFill>
                <a:latin typeface="Candara" panose="020E0502030303020204" pitchFamily="34" charset="0"/>
                <a:ea typeface="Calibri" pitchFamily="34" charset="-122"/>
                <a:cs typeface="Calibri" pitchFamily="34" charset="-120"/>
              </a:rPr>
              <a:t> for growing time-series data</a:t>
            </a:r>
            <a:endParaRPr lang="en-US" sz="1866" dirty="0">
              <a:solidFill>
                <a:prstClr val="black"/>
              </a:solidFill>
              <a:latin typeface="Candara" panose="020E0502030303020204" pitchFamily="34" charset="0"/>
            </a:endParaRPr>
          </a:p>
          <a:p>
            <a:pPr marL="457086" indent="-457086" defTabSz="1218895">
              <a:spcAft>
                <a:spcPts val="1066"/>
              </a:spcAft>
              <a:buSzPct val="100000"/>
              <a:buFontTx/>
              <a:buChar char="●"/>
            </a:pPr>
            <a:r>
              <a:rPr lang="en-US" sz="1866" b="1" dirty="0">
                <a:solidFill>
                  <a:srgbClr val="4ADE80"/>
                </a:solidFill>
                <a:latin typeface="Candara" panose="020E0502030303020204" pitchFamily="34" charset="0"/>
                <a:ea typeface="Calibri" pitchFamily="34" charset="-122"/>
                <a:cs typeface="Calibri" pitchFamily="34" charset="-120"/>
              </a:rPr>
              <a:t>Multi-tenant</a:t>
            </a:r>
            <a:r>
              <a:rPr lang="en-US" sz="1866" dirty="0">
                <a:solidFill>
                  <a:srgbClr val="86C29A"/>
                </a:solidFill>
                <a:latin typeface="Candara" panose="020E0502030303020204" pitchFamily="34" charset="0"/>
                <a:ea typeface="Calibri" pitchFamily="34" charset="-122"/>
                <a:cs typeface="Calibri" pitchFamily="34" charset="-120"/>
              </a:rPr>
              <a:t> or multi-site support</a:t>
            </a:r>
            <a:endParaRPr lang="en-US" sz="1866" dirty="0">
              <a:solidFill>
                <a:prstClr val="black"/>
              </a:solidFill>
              <a:latin typeface="Candara" panose="020E0502030303020204" pitchFamily="34" charset="0"/>
            </a:endParaRPr>
          </a:p>
          <a:p>
            <a:pPr marL="457086" indent="-457086" defTabSz="1218895">
              <a:spcAft>
                <a:spcPts val="1066"/>
              </a:spcAft>
              <a:buSzPct val="100000"/>
              <a:buFontTx/>
              <a:buChar char="●"/>
            </a:pPr>
            <a:r>
              <a:rPr lang="en-US" sz="1866" b="1" dirty="0">
                <a:solidFill>
                  <a:srgbClr val="4ADE80"/>
                </a:solidFill>
                <a:latin typeface="Candara" panose="020E0502030303020204" pitchFamily="34" charset="0"/>
                <a:ea typeface="Calibri" pitchFamily="34" charset="-122"/>
                <a:cs typeface="Calibri" pitchFamily="34" charset="-120"/>
              </a:rPr>
              <a:t>Mobile</a:t>
            </a:r>
            <a:r>
              <a:rPr lang="en-US" sz="1866" dirty="0">
                <a:solidFill>
                  <a:srgbClr val="86C29A"/>
                </a:solidFill>
                <a:latin typeface="Candara" panose="020E0502030303020204" pitchFamily="34" charset="0"/>
                <a:ea typeface="Calibri" pitchFamily="34" charset="-122"/>
                <a:cs typeface="Calibri" pitchFamily="34" charset="-120"/>
              </a:rPr>
              <a:t> app for field operators</a:t>
            </a:r>
            <a:endParaRPr lang="en-US" sz="1866" dirty="0">
              <a:solidFill>
                <a:prstClr val="black"/>
              </a:solidFill>
              <a:latin typeface="Candara" panose="020E0502030303020204" pitchFamily="34" charset="0"/>
            </a:endParaRPr>
          </a:p>
          <a:p>
            <a:pPr marL="457086" indent="-457086" defTabSz="1218895">
              <a:spcAft>
                <a:spcPts val="1066"/>
              </a:spcAft>
              <a:buSzPct val="100000"/>
              <a:buFontTx/>
              <a:buChar char="●"/>
            </a:pPr>
            <a:r>
              <a:rPr lang="en-US" sz="1866" b="1" dirty="0">
                <a:solidFill>
                  <a:srgbClr val="4ADE80"/>
                </a:solidFill>
                <a:latin typeface="Candara" panose="020E0502030303020204" pitchFamily="34" charset="0"/>
                <a:ea typeface="Calibri" pitchFamily="34" charset="-122"/>
                <a:cs typeface="Calibri" pitchFamily="34" charset="-120"/>
              </a:rPr>
              <a:t>ML</a:t>
            </a:r>
            <a:r>
              <a:rPr lang="en-US" sz="1866" dirty="0">
                <a:solidFill>
                  <a:srgbClr val="86C29A"/>
                </a:solidFill>
                <a:latin typeface="Candara" panose="020E0502030303020204" pitchFamily="34" charset="0"/>
                <a:ea typeface="Calibri" pitchFamily="34" charset="-122"/>
                <a:cs typeface="Calibri" pitchFamily="34" charset="-120"/>
              </a:rPr>
              <a:t> anomaly detection and predictive maintenance</a:t>
            </a:r>
            <a:endParaRPr lang="en-US" sz="1866" dirty="0">
              <a:solidFill>
                <a:prstClr val="black"/>
              </a:solidFill>
              <a:latin typeface="Candara" panose="020E0502030303020204" pitchFamily="34" charset="0"/>
            </a:endParaRPr>
          </a:p>
          <a:p>
            <a:pPr marL="457086" indent="-457086" defTabSz="1218895">
              <a:spcAft>
                <a:spcPts val="1066"/>
              </a:spcAft>
              <a:buSzPct val="100000"/>
              <a:buFontTx/>
              <a:buChar char="●"/>
            </a:pPr>
            <a:r>
              <a:rPr lang="en-US" sz="1866" dirty="0">
                <a:solidFill>
                  <a:srgbClr val="86C29A"/>
                </a:solidFill>
                <a:latin typeface="Candara" panose="020E0502030303020204" pitchFamily="34" charset="0"/>
                <a:ea typeface="Calibri" pitchFamily="34" charset="-122"/>
                <a:cs typeface="Calibri" pitchFamily="34" charset="-120"/>
              </a:rPr>
              <a:t>Broader </a:t>
            </a:r>
            <a:r>
              <a:rPr lang="en-US" sz="1866" b="1" dirty="0">
                <a:solidFill>
                  <a:srgbClr val="4ADE80"/>
                </a:solidFill>
                <a:latin typeface="Candara" panose="020E0502030303020204" pitchFamily="34" charset="0"/>
                <a:ea typeface="Calibri" pitchFamily="34" charset="-122"/>
                <a:cs typeface="Calibri" pitchFamily="34" charset="-120"/>
              </a:rPr>
              <a:t>edge integrations</a:t>
            </a:r>
            <a:r>
              <a:rPr lang="en-US" sz="1866" dirty="0">
                <a:solidFill>
                  <a:srgbClr val="86C29A"/>
                </a:solidFill>
                <a:latin typeface="Candara" panose="020E0502030303020204" pitchFamily="34" charset="0"/>
                <a:ea typeface="Calibri" pitchFamily="34" charset="-122"/>
                <a:cs typeface="Calibri" pitchFamily="34" charset="-120"/>
              </a:rPr>
              <a:t> (ESP32, Raspberry Pi)</a:t>
            </a:r>
            <a:endParaRPr lang="en-US" sz="1866" dirty="0">
              <a:solidFill>
                <a:prstClr val="black"/>
              </a:solidFill>
              <a:latin typeface="Candara" panose="020E0502030303020204" pitchFamily="34" charset="0"/>
            </a:endParaRPr>
          </a:p>
          <a:p>
            <a:pPr marL="457086" indent="-457086" defTabSz="1218895">
              <a:spcAft>
                <a:spcPts val="1066"/>
              </a:spcAft>
              <a:buSzPct val="100000"/>
              <a:buFontTx/>
              <a:buChar char="●"/>
            </a:pPr>
            <a:r>
              <a:rPr lang="en-US" sz="1866" b="1" dirty="0">
                <a:solidFill>
                  <a:srgbClr val="4ADE80"/>
                </a:solidFill>
                <a:latin typeface="Candara" panose="020E0502030303020204" pitchFamily="34" charset="0"/>
                <a:ea typeface="Calibri" pitchFamily="34" charset="-122"/>
                <a:cs typeface="Calibri" pitchFamily="34" charset="-120"/>
              </a:rPr>
              <a:t>Production hardening</a:t>
            </a:r>
            <a:r>
              <a:rPr lang="en-US" sz="1866" dirty="0">
                <a:solidFill>
                  <a:srgbClr val="86C29A"/>
                </a:solidFill>
                <a:latin typeface="Candara" panose="020E0502030303020204" pitchFamily="34" charset="0"/>
                <a:ea typeface="Calibri" pitchFamily="34" charset="-122"/>
                <a:cs typeface="Calibri" pitchFamily="34" charset="-120"/>
              </a:rPr>
              <a:t>: monitoring, scaling, and operations</a:t>
            </a:r>
            <a:endParaRPr lang="en-US" sz="1866" dirty="0">
              <a:solidFill>
                <a:prstClr val="black"/>
              </a:solidFill>
              <a:latin typeface="Candara" panose="020E0502030303020204" pitchFamily="34"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D2318"/>
        </a:solidFill>
        <a:effectLst/>
      </p:bgPr>
    </p:bg>
    <p:spTree>
      <p:nvGrpSpPr>
        <p:cNvPr id="1" name="">
          <a:extLst>
            <a:ext uri="{FF2B5EF4-FFF2-40B4-BE49-F238E27FC236}">
              <a16:creationId xmlns:a16="http://schemas.microsoft.com/office/drawing/2014/main" id="{75467E3A-105B-B56B-CDF3-EDA3FF5F00BF}"/>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C33A3327-609A-B095-600C-144E12DC0418}"/>
              </a:ext>
            </a:extLst>
          </p:cNvPr>
          <p:cNvSpPr/>
          <p:nvPr/>
        </p:nvSpPr>
        <p:spPr>
          <a:xfrm>
            <a:off x="2875634" y="4858141"/>
            <a:ext cx="4556117" cy="670385"/>
          </a:xfrm>
          <a:prstGeom prst="rect">
            <a:avLst/>
          </a:prstGeom>
          <a:solidFill>
            <a:srgbClr val="0A1F10"/>
          </a:solidFill>
          <a:ln>
            <a:noFill/>
          </a:ln>
        </p:spPr>
        <p:txBody>
          <a:bodyPr wrap="square" lIns="0" tIns="0" rIns="0" bIns="0" rtlCol="0" anchor="ctr"/>
          <a:lstStyle/>
          <a:p>
            <a:pPr marL="0" marR="0" lvl="0" indent="0" algn="l" defTabSz="1218895" rtl="0" eaLnBrk="1" fontAlgn="auto" latinLnBrk="0" hangingPunct="1">
              <a:lnSpc>
                <a:spcPct val="100000"/>
              </a:lnSpc>
              <a:spcBef>
                <a:spcPts val="0"/>
              </a:spcBef>
              <a:spcAft>
                <a:spcPts val="0"/>
              </a:spcAft>
              <a:buClrTx/>
              <a:buSzTx/>
              <a:buFontTx/>
              <a:buNone/>
              <a:tabLst/>
              <a:defRPr/>
            </a:pPr>
            <a:r>
              <a:rPr lang="en-US" sz="3200" b="1" dirty="0">
                <a:solidFill>
                  <a:srgbClr val="00B050"/>
                </a:solidFill>
                <a:latin typeface="Candara" panose="020E0502030303020204" pitchFamily="34" charset="0"/>
                <a:ea typeface="Calibri" pitchFamily="34" charset="-122"/>
                <a:cs typeface="Calibri" pitchFamily="34" charset="-120"/>
              </a:rPr>
              <a:t>End Of Presentation</a:t>
            </a:r>
            <a:endParaRPr kumimoji="0" lang="en-US" sz="3999" b="0" i="0" u="none" strike="noStrike" kern="1200" cap="none" spc="0" normalizeH="0" baseline="0" noProof="0" dirty="0">
              <a:ln>
                <a:noFill/>
              </a:ln>
              <a:solidFill>
                <a:srgbClr val="00B050"/>
              </a:solidFill>
              <a:effectLst/>
              <a:uLnTx/>
              <a:uFillTx/>
              <a:latin typeface="Candara" panose="020E0502030303020204" pitchFamily="34" charset="0"/>
            </a:endParaRPr>
          </a:p>
        </p:txBody>
      </p:sp>
      <p:sp>
        <p:nvSpPr>
          <p:cNvPr id="27" name="Shape 18">
            <a:extLst>
              <a:ext uri="{FF2B5EF4-FFF2-40B4-BE49-F238E27FC236}">
                <a16:creationId xmlns:a16="http://schemas.microsoft.com/office/drawing/2014/main" id="{95532980-9797-E3FD-4633-DDD3C702E0D3}"/>
              </a:ext>
            </a:extLst>
          </p:cNvPr>
          <p:cNvSpPr/>
          <p:nvPr/>
        </p:nvSpPr>
        <p:spPr>
          <a:xfrm>
            <a:off x="6435699" y="1073510"/>
            <a:ext cx="5143684" cy="463175"/>
          </a:xfrm>
          <a:prstGeom prst="rect">
            <a:avLst/>
          </a:prstGeom>
          <a:solidFill>
            <a:srgbClr val="0A1F10"/>
          </a:solidFill>
          <a:ln w="12700">
            <a:noFill/>
            <a:prstDash val="solid"/>
          </a:ln>
        </p:spPr>
        <p:txBody>
          <a:bodyPr/>
          <a:lstStyle/>
          <a:p>
            <a:pPr marL="0" marR="0" lvl="0" indent="0" algn="l" defTabSz="1218895" rtl="0" eaLnBrk="1" fontAlgn="auto" latinLnBrk="0" hangingPunct="1">
              <a:lnSpc>
                <a:spcPct val="100000"/>
              </a:lnSpc>
              <a:spcBef>
                <a:spcPts val="0"/>
              </a:spcBef>
              <a:spcAft>
                <a:spcPts val="0"/>
              </a:spcAft>
              <a:buClrTx/>
              <a:buSzTx/>
              <a:buFontTx/>
              <a:buNone/>
              <a:tabLst/>
              <a:defRPr/>
            </a:pPr>
            <a:endParaRPr kumimoji="0" lang="en-US" sz="1866" b="0" i="0" u="none" strike="noStrike" kern="1200" cap="none" spc="0" normalizeH="0" baseline="0" noProof="0">
              <a:ln>
                <a:noFill/>
              </a:ln>
              <a:solidFill>
                <a:prstClr val="black"/>
              </a:solidFill>
              <a:effectLst/>
              <a:uLnTx/>
              <a:uFillTx/>
              <a:latin typeface="Candara" panose="020E0502030303020204" pitchFamily="34" charset="0"/>
            </a:endParaRPr>
          </a:p>
        </p:txBody>
      </p:sp>
      <p:sp>
        <p:nvSpPr>
          <p:cNvPr id="57" name="Shape 40">
            <a:extLst>
              <a:ext uri="{FF2B5EF4-FFF2-40B4-BE49-F238E27FC236}">
                <a16:creationId xmlns:a16="http://schemas.microsoft.com/office/drawing/2014/main" id="{CF396CC6-B600-41B2-4EF1-7051D4646C13}"/>
              </a:ext>
            </a:extLst>
          </p:cNvPr>
          <p:cNvSpPr/>
          <p:nvPr/>
        </p:nvSpPr>
        <p:spPr>
          <a:xfrm>
            <a:off x="-1" y="6192816"/>
            <a:ext cx="12188825" cy="664291"/>
          </a:xfrm>
          <a:prstGeom prst="rect">
            <a:avLst/>
          </a:prstGeom>
          <a:solidFill>
            <a:srgbClr val="0A1F10"/>
          </a:solidFill>
          <a:ln w="12700">
            <a:noFill/>
            <a:prstDash val="solid"/>
          </a:ln>
        </p:spPr>
        <p:txBody>
          <a:bodyPr/>
          <a:lstStyle/>
          <a:p>
            <a:pPr marL="0" marR="0" lvl="0" indent="0" algn="l" defTabSz="1218895" rtl="0" eaLnBrk="1" fontAlgn="auto" latinLnBrk="0" hangingPunct="1">
              <a:lnSpc>
                <a:spcPct val="100000"/>
              </a:lnSpc>
              <a:spcBef>
                <a:spcPts val="0"/>
              </a:spcBef>
              <a:spcAft>
                <a:spcPts val="0"/>
              </a:spcAft>
              <a:buClrTx/>
              <a:buSzTx/>
              <a:buFontTx/>
              <a:buNone/>
              <a:tabLst/>
              <a:defRPr/>
            </a:pPr>
            <a:endParaRPr kumimoji="0" lang="en-US" sz="2399" b="0" i="0" u="none" strike="noStrike" kern="1200" cap="none" spc="0" normalizeH="0" baseline="0" noProof="0">
              <a:ln>
                <a:noFill/>
              </a:ln>
              <a:solidFill>
                <a:prstClr val="black"/>
              </a:solidFill>
              <a:effectLst/>
              <a:uLnTx/>
              <a:uFillTx/>
              <a:latin typeface="Candara" panose="020E0502030303020204" pitchFamily="34" charset="0"/>
            </a:endParaRPr>
          </a:p>
        </p:txBody>
      </p:sp>
      <p:sp>
        <p:nvSpPr>
          <p:cNvPr id="58" name="Shape 41">
            <a:extLst>
              <a:ext uri="{FF2B5EF4-FFF2-40B4-BE49-F238E27FC236}">
                <a16:creationId xmlns:a16="http://schemas.microsoft.com/office/drawing/2014/main" id="{168B0D01-34FC-C1A4-1B7B-B6EA82BB1769}"/>
              </a:ext>
            </a:extLst>
          </p:cNvPr>
          <p:cNvSpPr/>
          <p:nvPr/>
        </p:nvSpPr>
        <p:spPr>
          <a:xfrm>
            <a:off x="-1" y="6192816"/>
            <a:ext cx="12188825" cy="0"/>
          </a:xfrm>
          <a:prstGeom prst="line">
            <a:avLst/>
          </a:prstGeom>
          <a:noFill/>
          <a:ln w="12700">
            <a:noFill/>
            <a:prstDash val="solid"/>
          </a:ln>
        </p:spPr>
        <p:txBody>
          <a:bodyPr/>
          <a:lstStyle/>
          <a:p>
            <a:pPr marL="0" marR="0" lvl="0" indent="0" algn="l" defTabSz="1218895" rtl="0" eaLnBrk="1" fontAlgn="auto" latinLnBrk="0" hangingPunct="1">
              <a:lnSpc>
                <a:spcPct val="100000"/>
              </a:lnSpc>
              <a:spcBef>
                <a:spcPts val="0"/>
              </a:spcBef>
              <a:spcAft>
                <a:spcPts val="0"/>
              </a:spcAft>
              <a:buClrTx/>
              <a:buSzTx/>
              <a:buFontTx/>
              <a:buNone/>
              <a:tabLst/>
              <a:defRPr/>
            </a:pPr>
            <a:endParaRPr kumimoji="0" lang="en-US" sz="2399" b="0" i="0" u="none" strike="noStrike" kern="1200" cap="none" spc="0" normalizeH="0" baseline="0" noProof="0">
              <a:ln>
                <a:noFill/>
              </a:ln>
              <a:solidFill>
                <a:prstClr val="black"/>
              </a:solidFill>
              <a:effectLst/>
              <a:uLnTx/>
              <a:uFillTx/>
              <a:latin typeface="Candara" panose="020E0502030303020204" pitchFamily="34" charset="0"/>
            </a:endParaRPr>
          </a:p>
        </p:txBody>
      </p:sp>
      <p:sp>
        <p:nvSpPr>
          <p:cNvPr id="61" name="Text 0">
            <a:extLst>
              <a:ext uri="{FF2B5EF4-FFF2-40B4-BE49-F238E27FC236}">
                <a16:creationId xmlns:a16="http://schemas.microsoft.com/office/drawing/2014/main" id="{AD30FD62-10D8-9ACD-1BE5-A6F792843164}"/>
              </a:ext>
            </a:extLst>
          </p:cNvPr>
          <p:cNvSpPr/>
          <p:nvPr/>
        </p:nvSpPr>
        <p:spPr>
          <a:xfrm>
            <a:off x="2875634" y="2147498"/>
            <a:ext cx="6702550" cy="1631780"/>
          </a:xfrm>
          <a:prstGeom prst="rect">
            <a:avLst/>
          </a:prstGeom>
          <a:solidFill>
            <a:srgbClr val="0A1F10"/>
          </a:solidFill>
          <a:ln>
            <a:noFill/>
          </a:ln>
        </p:spPr>
        <p:txBody>
          <a:bodyPr wrap="square" lIns="0" tIns="0" rIns="0" bIns="0" rtlCol="0" anchor="ctr"/>
          <a:lstStyle/>
          <a:p>
            <a:pPr lvl="0" algn="just" defTabSz="1218895">
              <a:lnSpc>
                <a:spcPct val="150000"/>
              </a:lnSpc>
              <a:defRPr/>
            </a:pPr>
            <a:endParaRPr lang="en-US" sz="1600" dirty="0">
              <a:solidFill>
                <a:schemeClr val="bg1"/>
              </a:solidFill>
              <a:latin typeface="Candara" panose="020E0502030303020204" pitchFamily="34" charset="0"/>
            </a:endParaRPr>
          </a:p>
          <a:p>
            <a:pPr lvl="0" algn="just" defTabSz="1218895">
              <a:lnSpc>
                <a:spcPct val="150000"/>
              </a:lnSpc>
              <a:defRPr/>
            </a:pPr>
            <a:r>
              <a:rPr lang="en-US" sz="1600" dirty="0">
                <a:solidFill>
                  <a:schemeClr val="bg1"/>
                </a:solidFill>
                <a:latin typeface="Candara" panose="020E0502030303020204" pitchFamily="34" charset="0"/>
              </a:rPr>
              <a:t>I would like to take this opportunity to express my sincere gratitude to the instructors especially Naser Chowdhury who guided and supported us throughout the program over the past two years, to RTC School for giving me the opportunity to achieve my first educational milestone in the United States, and to my colleagues who worked hard to balance work and study at the same time so that we could achieve this goal together.</a:t>
            </a:r>
            <a:endParaRPr kumimoji="0" lang="en-US" sz="1600" b="0" u="none" strike="noStrike" kern="1200" cap="none" spc="0" normalizeH="0" baseline="0" noProof="0" dirty="0">
              <a:ln>
                <a:noFill/>
              </a:ln>
              <a:solidFill>
                <a:schemeClr val="bg1"/>
              </a:solidFill>
              <a:effectLst/>
              <a:uLnTx/>
              <a:uFillTx/>
              <a:latin typeface="Candara" panose="020E0502030303020204" pitchFamily="34" charset="0"/>
            </a:endParaRPr>
          </a:p>
        </p:txBody>
      </p:sp>
      <p:sp>
        <p:nvSpPr>
          <p:cNvPr id="3" name="TextBox 2">
            <a:extLst>
              <a:ext uri="{FF2B5EF4-FFF2-40B4-BE49-F238E27FC236}">
                <a16:creationId xmlns:a16="http://schemas.microsoft.com/office/drawing/2014/main" id="{8A007543-48F6-8493-80CF-D65E66082C51}"/>
              </a:ext>
            </a:extLst>
          </p:cNvPr>
          <p:cNvSpPr txBox="1"/>
          <p:nvPr/>
        </p:nvSpPr>
        <p:spPr>
          <a:xfrm>
            <a:off x="1530220" y="860041"/>
            <a:ext cx="5822302" cy="830997"/>
          </a:xfrm>
          <a:prstGeom prst="rect">
            <a:avLst/>
          </a:prstGeom>
          <a:noFill/>
        </p:spPr>
        <p:txBody>
          <a:bodyPr wrap="square" rtlCol="0">
            <a:spAutoFit/>
          </a:bodyPr>
          <a:lstStyle/>
          <a:p>
            <a:r>
              <a:rPr lang="en-US" sz="4800" i="1" dirty="0">
                <a:solidFill>
                  <a:schemeClr val="bg1"/>
                </a:solidFill>
                <a:latin typeface="Candara" panose="020E0502030303020204" pitchFamily="34" charset="0"/>
              </a:rPr>
              <a:t>Thank You</a:t>
            </a:r>
            <a:endParaRPr lang="en-US" sz="4800" i="1" dirty="0">
              <a:latin typeface="Candara" panose="020E0502030303020204" pitchFamily="34" charset="0"/>
            </a:endParaRPr>
          </a:p>
        </p:txBody>
      </p:sp>
    </p:spTree>
    <p:extLst>
      <p:ext uri="{BB962C8B-B14F-4D97-AF65-F5344CB8AC3E}">
        <p14:creationId xmlns:p14="http://schemas.microsoft.com/office/powerpoint/2010/main" val="100360331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2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4.xml><?xml version="1.0" encoding="utf-8"?>
<a:theme xmlns:a="http://schemas.openxmlformats.org/drawingml/2006/main" name="3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16266</TotalTime>
  <Words>3246</Words>
  <Application>Microsoft Office PowerPoint</Application>
  <PresentationFormat>Custom</PresentationFormat>
  <Paragraphs>651</Paragraphs>
  <Slides>14</Slides>
  <Notes>14</Notes>
  <HiddenSlides>0</HiddenSlides>
  <MMClips>1</MMClips>
  <ScaleCrop>false</ScaleCrop>
  <HeadingPairs>
    <vt:vector size="6" baseType="variant">
      <vt:variant>
        <vt:lpstr>Fonts Used</vt:lpstr>
      </vt:variant>
      <vt:variant>
        <vt:i4>5</vt:i4>
      </vt:variant>
      <vt:variant>
        <vt:lpstr>Theme</vt:lpstr>
      </vt:variant>
      <vt:variant>
        <vt:i4>4</vt:i4>
      </vt:variant>
      <vt:variant>
        <vt:lpstr>Slide Titles</vt:lpstr>
      </vt:variant>
      <vt:variant>
        <vt:i4>14</vt:i4>
      </vt:variant>
    </vt:vector>
  </HeadingPairs>
  <TitlesOfParts>
    <vt:vector size="23" baseType="lpstr">
      <vt:lpstr>Aptos</vt:lpstr>
      <vt:lpstr>Arial</vt:lpstr>
      <vt:lpstr>Calibri</vt:lpstr>
      <vt:lpstr>Candara</vt:lpstr>
      <vt:lpstr>Wingdings</vt:lpstr>
      <vt:lpstr>Office Theme</vt:lpstr>
      <vt:lpstr>1_Office Theme</vt:lpstr>
      <vt:lpstr>2_Office Theme</vt:lpstr>
      <vt:lpstr>3_Office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Quoc Bao Tran</dc:creator>
  <cp:keywords/>
  <dc:description>generated using python-pptx</dc:description>
  <cp:lastModifiedBy>Quoc Bao Tran</cp:lastModifiedBy>
  <cp:revision>286</cp:revision>
  <dcterms:created xsi:type="dcterms:W3CDTF">2013-01-27T09:14:16Z</dcterms:created>
  <dcterms:modified xsi:type="dcterms:W3CDTF">2026-05-30T15:12:29Z</dcterms:modified>
  <cp:category/>
</cp:coreProperties>
</file>