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878" autoAdjust="0"/>
    <p:restoredTop sz="66554" autoAdjust="0"/>
  </p:normalViewPr>
  <p:slideViewPr>
    <p:cSldViewPr snapToGrid="0" snapToObjects="1">
      <p:cViewPr varScale="1">
        <p:scale>
          <a:sx n="73" d="100"/>
          <a:sy n="73" d="100"/>
        </p:scale>
        <p:origin x="1236" y="78"/>
      </p:cViewPr>
      <p:guideLst>
        <p:guide orient="horz" pos="2160"/>
        <p:guide pos="2880"/>
      </p:guideLst>
    </p:cSldViewPr>
  </p:slideViewPr>
  <p:outlineViewPr>
    <p:cViewPr>
      <p:scale>
        <a:sx n="33" d="100"/>
        <a:sy n="33" d="100"/>
      </p:scale>
      <p:origin x="0" y="0"/>
    </p:cViewPr>
  </p:outlineViewPr>
  <p:notesTextViewPr>
    <p:cViewPr>
      <p:scale>
        <a:sx n="3" d="2"/>
        <a:sy n="3" d="2"/>
      </p:scale>
      <p:origin x="0" y="-126"/>
    </p:cViewPr>
  </p:notesTextViewPr>
  <p:sorterViewPr>
    <p:cViewPr>
      <p:scale>
        <a:sx n="100" d="100"/>
        <a:sy n="100" d="100"/>
      </p:scale>
      <p:origin x="0" y="0"/>
    </p:cViewPr>
  </p:sorterViewPr>
  <p:notesViewPr>
    <p:cSldViewPr snapToGrid="0" snapToObjects="1">
      <p:cViewPr>
        <p:scale>
          <a:sx n="150" d="100"/>
          <a:sy n="150" d="100"/>
        </p:scale>
        <p:origin x="2472" y="-18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Good evening, My name is </a:t>
            </a:r>
            <a:r>
              <a:rPr lang="en-US" sz="1200" b="1" i="0" kern="1200" dirty="0">
                <a:solidFill>
                  <a:schemeClr val="tx1"/>
                </a:solidFill>
                <a:effectLst/>
                <a:latin typeface="+mn-lt"/>
                <a:ea typeface="+mn-ea"/>
                <a:cs typeface="+mn-cs"/>
              </a:rPr>
              <a:t>Quoc Bao Tran</a:t>
            </a:r>
            <a:r>
              <a:rPr lang="en-US" sz="1200" b="0" i="0" kern="1200" dirty="0">
                <a:solidFill>
                  <a:schemeClr val="tx1"/>
                </a:solidFill>
                <a:effectLst/>
                <a:latin typeface="+mn-lt"/>
                <a:ea typeface="+mn-ea"/>
                <a:cs typeface="+mn-cs"/>
              </a:rPr>
              <a:t>, and this is my capstone project for the </a:t>
            </a:r>
            <a:r>
              <a:rPr lang="en-US" sz="1200" b="1" i="0" kern="1200" dirty="0">
                <a:solidFill>
                  <a:schemeClr val="tx1"/>
                </a:solidFill>
                <a:effectLst/>
                <a:latin typeface="+mn-lt"/>
                <a:ea typeface="+mn-ea"/>
                <a:cs typeface="+mn-cs"/>
              </a:rPr>
              <a:t>BAS Application Development</a:t>
            </a:r>
            <a:r>
              <a:rPr lang="en-US" sz="1200" b="0" i="0" kern="1200" dirty="0">
                <a:solidFill>
                  <a:schemeClr val="tx1"/>
                </a:solidFill>
                <a:effectLst/>
                <a:latin typeface="+mn-lt"/>
                <a:ea typeface="+mn-ea"/>
                <a:cs typeface="+mn-cs"/>
              </a:rPr>
              <a:t> program, under instructor </a:t>
            </a:r>
            <a:r>
              <a:rPr lang="en-US" sz="1200" b="1" i="0" kern="1200" dirty="0">
                <a:solidFill>
                  <a:schemeClr val="tx1"/>
                </a:solidFill>
                <a:effectLst/>
                <a:latin typeface="+mn-lt"/>
                <a:ea typeface="+mn-ea"/>
                <a:cs typeface="+mn-cs"/>
              </a:rPr>
              <a:t>Naser Chowdhury</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project is a </a:t>
            </a:r>
            <a:r>
              <a:rPr lang="en-US" sz="1200" b="1" i="0" kern="1200" dirty="0">
                <a:solidFill>
                  <a:schemeClr val="tx1"/>
                </a:solidFill>
                <a:effectLst/>
                <a:latin typeface="+mn-lt"/>
                <a:ea typeface="+mn-ea"/>
                <a:cs typeface="+mn-cs"/>
              </a:rPr>
              <a:t>Web-Based IoT Device Real-Time Monitoring System</a:t>
            </a:r>
            <a:r>
              <a:rPr lang="en-US" sz="1200" b="0" i="0" kern="1200" dirty="0">
                <a:solidFill>
                  <a:schemeClr val="tx1"/>
                </a:solidFill>
                <a:effectLst/>
                <a:latin typeface="+mn-lt"/>
                <a:ea typeface="+mn-ea"/>
                <a:cs typeface="+mn-cs"/>
              </a:rPr>
              <a:t>: a web application that monitors sensors in real time, stores historical data, raises alerts, and controls actuators remotely. It is aimed at sites that need equipment monitoring without the cost and lock-in of traditional SCADA (Supervisory Control and Data Acquisition) software</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roadmap for today’s presentation.</a:t>
            </a:r>
          </a:p>
          <a:p>
            <a:r>
              <a:rPr lang="en-US" dirty="0"/>
              <a:t>I will start with the problem statement, explaining why real-time IoT monitoring is important in industrial environments. Then, I will introduce the project goals and scope, including what the system is designed to achieve.</a:t>
            </a:r>
          </a:p>
          <a:p>
            <a:r>
              <a:rPr lang="en-US" dirty="0"/>
              <a:t>Next, I will cover the technology stack and system architecture, showing how data flows from the edge device through MQTT, the API, the database, </a:t>
            </a:r>
            <a:r>
              <a:rPr lang="en-US" dirty="0" err="1"/>
              <a:t>SignalR</a:t>
            </a:r>
            <a:r>
              <a:rPr lang="en-US" dirty="0"/>
              <a:t>, and finally to the React frontend.</a:t>
            </a:r>
          </a:p>
          <a:p>
            <a:r>
              <a:rPr lang="en-US" dirty="0"/>
              <a:t>After that, I will explain the database design, followed by an overview of the backend, API layer, and frontend design.</a:t>
            </a:r>
          </a:p>
          <a:p>
            <a:r>
              <a:rPr lang="en-US" dirty="0"/>
              <a:t>I will then highlight the key features and present a live demo, where you will see sensor data travel from the edge device to the dashboard in real time.</a:t>
            </a:r>
          </a:p>
          <a:p>
            <a:r>
              <a:rPr lang="en-US" dirty="0"/>
              <a:t>Finally, I will discuss the challenges we faced, the solutions we implemented, and conclude with future work.</a:t>
            </a:r>
          </a:p>
          <a:p>
            <a:r>
              <a:rPr lang="en-US" dirty="0"/>
              <a:t>Let’s begin with the problem statement.</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facilities, including hotels, hospitals, farms, warehouses, and manufacturing plants, need to continuously monitor equipment and sensor data.</a:t>
            </a:r>
          </a:p>
          <a:p>
            <a:r>
              <a:rPr lang="en-US" dirty="0"/>
              <a:t>Traditional monitoring systems can be expensive and often lock organizations into proprietary hardware and software.</a:t>
            </a:r>
          </a:p>
          <a:p>
            <a:r>
              <a:rPr lang="en-US" dirty="0"/>
              <a:t>To address this, this project provides a web-based dashboard that runs in any browser and uses common IoT devices together with technologies such as ASP.NET Core, React, MQTT, </a:t>
            </a:r>
            <a:r>
              <a:rPr lang="en-US" dirty="0" err="1"/>
              <a:t>SignalR</a:t>
            </a:r>
            <a:r>
              <a:rPr lang="en-US" dirty="0"/>
              <a:t>, and SQL Server.</a:t>
            </a:r>
          </a:p>
          <a:p>
            <a:r>
              <a:rPr lang="en-US" dirty="0"/>
              <a:t>The result is a practical and cost-effective solution for real-time monitoring and historical data storage.</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capabilities define the scope of the system and support the complete monitoring workflow.</a:t>
            </a:r>
          </a:p>
          <a:p>
            <a:r>
              <a:rPr lang="en-US" dirty="0"/>
              <a:t>The process begins with device and sensor setup, where users register IoT devices and configure sensors and actuators within the application.</a:t>
            </a:r>
          </a:p>
          <a:p>
            <a:r>
              <a:rPr lang="en-US" dirty="0"/>
              <a:t>Once connected, the system provides real-time monitoring, displaying live sensor readings and device online or offline status.</a:t>
            </a:r>
          </a:p>
          <a:p>
            <a:r>
              <a:rPr lang="en-US" dirty="0"/>
              <a:t>The collected data is stored and presented through live and history views, as well as dashboards and charts that help users track trends and monitor system performance over time.</a:t>
            </a:r>
          </a:p>
          <a:p>
            <a:r>
              <a:rPr lang="en-US" dirty="0"/>
              <a:t>When sensor values exceed predefined limits, the threshold alerting feature generates real-time notifications.</a:t>
            </a:r>
          </a:p>
          <a:p>
            <a:r>
              <a:rPr lang="en-US" dirty="0"/>
              <a:t>Finally, actuator commands allow users to remotely control devices while maintaining a command history for traceability.</a:t>
            </a:r>
          </a:p>
          <a:p>
            <a:r>
              <a:rPr lang="en-US" dirty="0"/>
              <a:t>Together, these capabilities enable users to configure, monitor, and respond from a single web application.</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4</a:t>
            </a:fld>
            <a:endParaRPr lang="en-US"/>
          </a:p>
        </p:txBody>
      </p:sp>
    </p:spTree>
    <p:extLst>
      <p:ext uri="{BB962C8B-B14F-4D97-AF65-F5344CB8AC3E}">
        <p14:creationId xmlns:p14="http://schemas.microsoft.com/office/powerpoint/2010/main" val="405458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main technologies used in the project.</a:t>
            </a:r>
          </a:p>
          <a:p>
            <a:r>
              <a:rPr lang="en-US" dirty="0"/>
              <a:t>The backend is built with ASP.NET Core, which provides REST APIs, MQTT data ingestion, and JWT-based authentication.</a:t>
            </a:r>
          </a:p>
          <a:p>
            <a:r>
              <a:rPr lang="en-US" dirty="0"/>
              <a:t>For device communication, the system uses MQTT with a </a:t>
            </a:r>
            <a:r>
              <a:rPr lang="en-US" dirty="0" err="1"/>
              <a:t>Mosquitto</a:t>
            </a:r>
            <a:r>
              <a:rPr lang="en-US" dirty="0"/>
              <a:t> broker. MQTT stands for Message Queuing Telemetry Transport, a lightweight messaging protocol commonly used in IoT systems. It enables devices and sensors to efficiently send data to the backend in real time.</a:t>
            </a:r>
          </a:p>
          <a:p>
            <a:r>
              <a:rPr lang="en-US" dirty="0"/>
              <a:t>Real-time updates are delivered through </a:t>
            </a:r>
            <a:r>
              <a:rPr lang="en-US" dirty="0" err="1"/>
              <a:t>SignalR</a:t>
            </a:r>
            <a:r>
              <a:rPr lang="en-US" dirty="0"/>
              <a:t>. </a:t>
            </a:r>
            <a:r>
              <a:rPr lang="en-US" dirty="0" err="1"/>
              <a:t>SignalR</a:t>
            </a:r>
            <a:r>
              <a:rPr lang="en-US" dirty="0"/>
              <a:t> allows the server to instantly push sensor readings and alerts to connected users without requiring the browser to refresh the page.</a:t>
            </a:r>
          </a:p>
          <a:p>
            <a:r>
              <a:rPr lang="en-US" dirty="0"/>
              <a:t>The frontend is developed using React and TypeScript, providing dashboards, charts, and device management interfaces.</a:t>
            </a:r>
          </a:p>
          <a:p>
            <a:r>
              <a:rPr lang="en-US" dirty="0"/>
              <a:t>SQL Server is used for data storage, while GitHub and Azure support version control, CI/CD, and cloud deployment.</a:t>
            </a:r>
          </a:p>
          <a:p>
            <a:r>
              <a:rPr lang="en-US" dirty="0"/>
              <a:t>Together, these technologies form a complete stack for real-time IoT monitoring.</a:t>
            </a:r>
          </a:p>
        </p:txBody>
      </p:sp>
      <p:sp>
        <p:nvSpPr>
          <p:cNvPr id="4" name="Slide Number Placeholder 3"/>
          <p:cNvSpPr>
            <a:spLocks noGrp="1"/>
          </p:cNvSpPr>
          <p:nvPr>
            <p:ph type="sldNum" sz="quarter" idx="5"/>
          </p:nvPr>
        </p:nvSpPr>
        <p:spPr/>
        <p:txBody>
          <a:bodyPr/>
          <a:lstStyle/>
          <a:p>
            <a:fld id="{DF1C98F2-B9F0-4148-8C0F-A19261494B1A}" type="slidenum">
              <a:rPr lang="en-US" smtClean="0"/>
              <a:t>5</a:t>
            </a:fld>
            <a:endParaRPr lang="en-US"/>
          </a:p>
        </p:txBody>
      </p:sp>
    </p:spTree>
    <p:extLst>
      <p:ext uri="{BB962C8B-B14F-4D97-AF65-F5344CB8AC3E}">
        <p14:creationId xmlns:p14="http://schemas.microsoft.com/office/powerpoint/2010/main" val="29752769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how the different components interact within the system.</a:t>
            </a:r>
          </a:p>
          <a:p>
            <a:r>
              <a:rPr lang="en-US" dirty="0"/>
              <a:t>IoT devices publish sensor readings to the MQTT broker. The MQTT service in the backend subscribes to these messages, processes the data, and forwards it to the application services.</a:t>
            </a:r>
          </a:p>
          <a:p>
            <a:r>
              <a:rPr lang="en-US" dirty="0"/>
              <a:t>The application services contain the core business logic and work with repositories to store and retrieve data from SQL Server through the </a:t>
            </a:r>
            <a:r>
              <a:rPr lang="en-US" dirty="0" err="1"/>
              <a:t>ApplicationDbContext</a:t>
            </a:r>
            <a:r>
              <a:rPr lang="en-US" dirty="0"/>
              <a:t>.</a:t>
            </a:r>
          </a:p>
          <a:p>
            <a:r>
              <a:rPr lang="en-US" dirty="0"/>
              <a:t>For client communication, REST controllers handle configuration, device management, and historical data requests, while </a:t>
            </a:r>
            <a:r>
              <a:rPr lang="en-US" dirty="0" err="1"/>
              <a:t>SignalR</a:t>
            </a:r>
            <a:r>
              <a:rPr lang="en-US" dirty="0"/>
              <a:t> delivers real-time updates to connected users.</a:t>
            </a:r>
          </a:p>
          <a:p>
            <a:r>
              <a:rPr lang="en-US" dirty="0"/>
              <a:t>On the frontend, the React application uses REST APIs for configuration and historical data, and </a:t>
            </a:r>
            <a:r>
              <a:rPr lang="en-US" dirty="0" err="1"/>
              <a:t>SignalR</a:t>
            </a:r>
            <a:r>
              <a:rPr lang="en-US" dirty="0"/>
              <a:t> for live sensor readings and alerts.</a:t>
            </a:r>
          </a:p>
          <a:p>
            <a:r>
              <a:rPr lang="en-US" dirty="0"/>
              <a:t>As a result, operators only need a web browser to monitor devices, view historical trends, receive alerts, and interact with the system in real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database schema used by the system.</a:t>
            </a:r>
          </a:p>
          <a:p>
            <a:r>
              <a:rPr lang="en-US" dirty="0"/>
              <a:t>The database consists of eleven normalized tables, with Devices serving as the central entity. Most other tables are connected to a device, allowing the system to manage multiple devices within a single platform.</a:t>
            </a:r>
          </a:p>
          <a:p>
            <a:r>
              <a:rPr lang="en-US" dirty="0"/>
              <a:t>Each device can have multiple sensors for data collection and multiple actuators for control actions. </a:t>
            </a:r>
            <a:r>
              <a:rPr lang="en-US" dirty="0" err="1"/>
              <a:t>SensorReadings</a:t>
            </a:r>
            <a:r>
              <a:rPr lang="en-US" dirty="0"/>
              <a:t> stores time-series sensor data, while </a:t>
            </a:r>
            <a:r>
              <a:rPr lang="en-US" dirty="0" err="1"/>
              <a:t>DeviceStatusHistories</a:t>
            </a:r>
            <a:r>
              <a:rPr lang="en-US" dirty="0"/>
              <a:t> records device connectivity and status changes over time.</a:t>
            </a:r>
          </a:p>
          <a:p>
            <a:r>
              <a:rPr lang="en-US" dirty="0"/>
              <a:t>For monitoring and control, </a:t>
            </a:r>
            <a:r>
              <a:rPr lang="en-US" dirty="0" err="1"/>
              <a:t>AlertRules</a:t>
            </a:r>
            <a:r>
              <a:rPr lang="en-US" dirty="0"/>
              <a:t> define alert conditions, Alerts store alert events, and </a:t>
            </a:r>
            <a:r>
              <a:rPr lang="en-US" dirty="0" err="1"/>
              <a:t>DeviceCommands</a:t>
            </a:r>
            <a:r>
              <a:rPr lang="en-US" dirty="0"/>
              <a:t> maintain a history of commands sent to actuators.</a:t>
            </a:r>
          </a:p>
          <a:p>
            <a:r>
              <a:rPr lang="en-US" dirty="0"/>
              <a:t>Additional tables, such as </a:t>
            </a:r>
            <a:r>
              <a:rPr lang="en-US" dirty="0" err="1"/>
              <a:t>DeviceConfigurations</a:t>
            </a:r>
            <a:r>
              <a:rPr lang="en-US" dirty="0"/>
              <a:t> and Users, support system configuration, authentication, and access control.</a:t>
            </a:r>
          </a:p>
          <a:p>
            <a:r>
              <a:rPr lang="en-US" dirty="0"/>
              <a:t>Overall, the schema is designed to support monitoring, alerting, and device control while maintaining clear relationships and data integrity.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backend architecture and the REST APIs exposed by the system.</a:t>
            </a:r>
          </a:p>
          <a:p>
            <a:r>
              <a:rPr lang="en-US" dirty="0"/>
              <a:t>The backend follows a layered architecture consisting of a presentation layer, service layer, data access layer, and database layer. This separation helps keep the application maintainable and scalable.</a:t>
            </a:r>
          </a:p>
          <a:p>
            <a:r>
              <a:rPr lang="en-US" dirty="0"/>
              <a:t>The APIs are organized into several functional groups. Device, Sensor, and Device Configuration APIs support system setup and management. Sensor Reading APIs handle data ingestion and historical queries. Alert Rule and Alert APIs manage alert configuration and alert processing. Actuator and Command APIs support remote device control and command tracking. Authentication and Health APIs provide security and system monitoring functions.</a:t>
            </a:r>
          </a:p>
          <a:p>
            <a:r>
              <a:rPr lang="en-US" dirty="0"/>
              <a:t>Most endpoints are protected using JWT authentication with role-based access control for Administrators, Operators, and Viewers. </a:t>
            </a:r>
            <a:r>
              <a:rPr lang="en-US" dirty="0" err="1"/>
              <a:t>SignalR</a:t>
            </a:r>
            <a:r>
              <a:rPr lang="en-US" dirty="0"/>
              <a:t> connections use the same authentication mechanism.</a:t>
            </a:r>
          </a:p>
          <a:p>
            <a:r>
              <a:rPr lang="en-US" dirty="0"/>
              <a:t>For real-time monitoring, sensor data travels from the device through MQTT and the broker to the API, where </a:t>
            </a:r>
            <a:r>
              <a:rPr lang="en-US" dirty="0" err="1"/>
              <a:t>SignalR</a:t>
            </a:r>
            <a:r>
              <a:rPr lang="en-US" dirty="0"/>
              <a:t> pushes updates to connected clients, typically within one to two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frontend application is structured and how users navigate through the system.</a:t>
            </a:r>
          </a:p>
          <a:p>
            <a:r>
              <a:rPr lang="en-US" dirty="0"/>
              <a:t>The application is built as a React single-page application, meaning users can move between features without reloading the page.</a:t>
            </a:r>
          </a:p>
          <a:p>
            <a:r>
              <a:rPr lang="en-US" dirty="0"/>
              <a:t>After authentication, users access the system through </a:t>
            </a:r>
            <a:r>
              <a:rPr lang="en-US" dirty="0" err="1"/>
              <a:t>ProtectedRoute</a:t>
            </a:r>
            <a:r>
              <a:rPr lang="en-US" dirty="0"/>
              <a:t>, which validates the JWT token and enforces role-based access control. Administrative functions, such as user management, are only available to authorized users.</a:t>
            </a:r>
          </a:p>
          <a:p>
            <a:r>
              <a:rPr lang="en-US" dirty="0"/>
              <a:t>Once authenticated, users navigate through a shared navigation layout that provides access to the main system functions, including dashboards, device management, sensors, actuators, alerts, and command history.</a:t>
            </a:r>
          </a:p>
          <a:p>
            <a:r>
              <a:rPr lang="en-US" dirty="0"/>
              <a:t>The dashboard provides a real-time overview using </a:t>
            </a:r>
            <a:r>
              <a:rPr lang="en-US" dirty="0" err="1"/>
              <a:t>SignalR</a:t>
            </a:r>
            <a:r>
              <a:rPr lang="en-US" dirty="0"/>
              <a:t> updates, while the other pages support monitoring, configuration, alert management, and device control.</a:t>
            </a:r>
          </a:p>
          <a:p>
            <a:r>
              <a:rPr lang="en-US" dirty="0"/>
              <a:t>Overall, the frontend delivers a consistent and secure user experience for monitoring and managing IoT devices from a single web application.</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key capabilities delivered by the system.</a:t>
            </a:r>
          </a:p>
          <a:p>
            <a:r>
              <a:rPr lang="en-US" dirty="0"/>
              <a:t>The first area is setup and control, where users can configure devices, sensors, and actuators, monitor device connectivity, and send commands with full command history tracking.</a:t>
            </a:r>
          </a:p>
          <a:p>
            <a:r>
              <a:rPr lang="en-US" dirty="0"/>
              <a:t>The second area is real-time monitoring. Sensor readings and alerts are streamed to the dashboard with near real-time updates, allowing users to monitor multiple devices without refreshing the page.</a:t>
            </a:r>
          </a:p>
          <a:p>
            <a:r>
              <a:rPr lang="en-US" dirty="0"/>
              <a:t>The third area is dashboard visualization. Users can view live charts, analog gauges, discrete status indicators, and historical data across multiple time ranges.</a:t>
            </a:r>
          </a:p>
          <a:p>
            <a:r>
              <a:rPr lang="en-US" dirty="0"/>
              <a:t>Finally, the alerting feature supports threshold, range, and change-based rules, with live notifications, acknowledgment workflows, and historical alert tracking.</a:t>
            </a:r>
          </a:p>
          <a:p>
            <a:r>
              <a:rPr lang="en-US" dirty="0"/>
              <a:t>Together, these features provide a complete solution for monitoring, alerting, and controlling IoT devices through a single web application.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r>
              <a:rPr lang="en-US" dirty="0"/>
              <a:t>I will now demonstrate the complete workflow of the system.</a:t>
            </a:r>
          </a:p>
          <a:p>
            <a:r>
              <a:rPr lang="en-US" dirty="0"/>
              <a:t>The demo will begin with a configured device connected through MQTT. I will then show live sensor readings updating on the dashboard, send a command to an actuator, trigger an alert condition, and finally review the historical data stored in the database.</a:t>
            </a:r>
          </a:p>
          <a:p>
            <a:r>
              <a:rPr lang="en-US" dirty="0"/>
              <a:t>This demonstrates the full path from the physical device to real-time visualization, alerting, and remote control within the application.</a:t>
            </a:r>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development, several technical challenges influenced the system design.</a:t>
            </a:r>
          </a:p>
          <a:p>
            <a:r>
              <a:rPr lang="en-US" dirty="0"/>
              <a:t>The first challenge was real-time synchronization. Multiple users may monitor the same devices at the same time, so the system needs to keep all clients updated without constant polling. This was addressed using </a:t>
            </a:r>
            <a:r>
              <a:rPr lang="en-US" dirty="0" err="1"/>
              <a:t>SignalR</a:t>
            </a:r>
            <a:r>
              <a:rPr lang="en-US" dirty="0"/>
              <a:t>, which pushes updates to connected clients whenever new data is received.</a:t>
            </a:r>
          </a:p>
          <a:p>
            <a:r>
              <a:rPr lang="en-US" dirty="0"/>
              <a:t>The second challenge was storing and querying large volumes of sensor data efficiently. To support historical analysis, the database was designed with appropriate indexing and query strategies to maintain performance as the number of readings grows.</a:t>
            </a:r>
          </a:p>
          <a:p>
            <a:r>
              <a:rPr lang="en-US" dirty="0"/>
              <a:t>Another challenge was maintaining a clear and reliable data flow across multiple layers of the system. A consistent pipeline from MQTT to the API, database, </a:t>
            </a:r>
            <a:r>
              <a:rPr lang="en-US" dirty="0" err="1"/>
              <a:t>SignalR</a:t>
            </a:r>
            <a:r>
              <a:rPr lang="en-US" dirty="0"/>
              <a:t>, and frontend helps keep the architecture organized and maintainable.</a:t>
            </a:r>
          </a:p>
          <a:p>
            <a:r>
              <a:rPr lang="en-US" dirty="0"/>
              <a:t>Finally, the system needed to support different edge platforms, including Arduino, ESP32, and Raspberry Pi. This was achieved through a shared communication model using MQTT and JSON, allowing different devices to interact with the same backend services.</a:t>
            </a:r>
          </a:p>
          <a:p>
            <a:r>
              <a:rPr lang="en-US" dirty="0"/>
              <a:t>Together, these design decisions improved scalability, maintainability, and interoperability across the platform.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successfully delivered a complete end-to-end IoT monitoring platform.</a:t>
            </a:r>
          </a:p>
          <a:p>
            <a:r>
              <a:rPr lang="en-US" dirty="0"/>
              <a:t>The solution supports the full data path from edge devices through MQTT, the backend API, SQL Server, </a:t>
            </a:r>
            <a:r>
              <a:rPr lang="en-US" dirty="0" err="1"/>
              <a:t>SignalR</a:t>
            </a:r>
            <a:r>
              <a:rPr lang="en-US" dirty="0"/>
              <a:t>, and finally to a web-based dashboard. It provides real-time monitoring, alerting, historical data storage, and remote device control through a single application.</a:t>
            </a:r>
          </a:p>
          <a:p>
            <a:r>
              <a:rPr lang="en-US" dirty="0"/>
              <a:t>In addition to the software platform, the project includes device integration, role-based security, and cloud deployment using GitHub and Azure.</a:t>
            </a:r>
          </a:p>
          <a:p>
            <a:r>
              <a:rPr lang="en-US" dirty="0"/>
              <a:t>Looking ahead, future enhancements could include automated data retention and archiving, multi-tenant support, a mobile application for field operators, machine-learning-based anomaly detection, and broader device integration.</a:t>
            </a:r>
          </a:p>
          <a:p>
            <a:r>
              <a:rPr lang="en-US" dirty="0"/>
              <a:t>Overall, this project demonstrates a complete full-stack solution that connects physical sensors to a real-time web application and applies the BAS Application Development program in a practical industrial IoT context.</a:t>
            </a:r>
          </a:p>
          <a:p>
            <a:r>
              <a:rPr lang="en-US" dirty="0"/>
              <a:t>Thank you. </a:t>
            </a:r>
            <a:r>
              <a:rPr lang="en-US"/>
              <a:t>I am happy to take any questions.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3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523220"/>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dirty="0">
                <a:solidFill>
                  <a:srgbClr val="00B8D4"/>
                </a:solidFill>
                <a:latin typeface="Candara" panose="020E0502030303020204" pitchFamily="34" charset="0"/>
                <a:ea typeface="Cambria Math" panose="02040503050406030204" pitchFamily="18" charset="0"/>
              </a:rPr>
              <a:t> | Web Service</a:t>
            </a:r>
            <a:r>
              <a:rPr lang="en-US" sz="1400" b="1" i="0" dirty="0">
                <a:solidFill>
                  <a:srgbClr val="00B8D4"/>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Hub</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9" y="2415632"/>
            <a:ext cx="1524342"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a:t>
            </a:r>
            <a:r>
              <a:rPr lang="en-US" sz="1400" b="1" dirty="0" err="1">
                <a:solidFill>
                  <a:srgbClr val="009A72"/>
                </a:solidFill>
                <a:latin typeface="Candara" panose="020E0502030303020204" pitchFamily="34" charset="0"/>
                <a:ea typeface="Cambria Math" panose="02040503050406030204" pitchFamily="18" charset="0"/>
              </a:rPr>
              <a:t>RESt</a:t>
            </a:r>
            <a:r>
              <a:rPr lang="en-US" sz="1400" b="1"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Broker</a:t>
            </a:r>
            <a:endParaRPr sz="1400" b="1" i="0" dirty="0">
              <a:solidFill>
                <a:srgbClr val="00B050"/>
              </a:solidFill>
              <a:latin typeface="Candara" panose="020E0502030303020204" pitchFamily="34" charset="0"/>
              <a:ea typeface="Cambria Math" panose="020405030504060302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2000" advTm="23957"/>
    </mc:Choice>
    <mc:Fallback xmlns="">
      <p:transition spd="slow" advTm="23957"/>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Edge</a:t>
            </a:r>
            <a:r>
              <a:rPr kumimoji="0" lang="en-US" sz="1400" b="0" i="0" u="none" strike="noStrike" kern="1200" cap="none" spc="0" normalizeH="0" baseline="0" noProof="0" dirty="0">
                <a:ln>
                  <a:noFill/>
                </a:ln>
                <a:solidFill>
                  <a:srgbClr val="7AAB8A"/>
                </a:solidFill>
                <a:effectLst/>
                <a:uLnTx/>
                <a:uFillTx/>
                <a:latin typeface="Candara"/>
                <a:ea typeface="+mn-ea"/>
                <a:cs typeface="+mn-cs"/>
              </a:rPr>
              <a:t> → MQTT</a:t>
            </a:r>
            <a:r>
              <a:rPr kumimoji="0" sz="1400" b="0" i="0" u="none" strike="noStrike" kern="1200" cap="none" spc="0" normalizeH="0" baseline="0" noProof="0" dirty="0">
                <a:ln>
                  <a:noFill/>
                </a:ln>
                <a:solidFill>
                  <a:srgbClr val="7AAB8A"/>
                </a:solidFill>
                <a:effectLst/>
                <a:uLnTx/>
                <a:uFillTx/>
                <a:latin typeface="Candara"/>
                <a:ea typeface="+mn-ea"/>
                <a:cs typeface="+mn-cs"/>
              </a:rPr>
              <a:t> → API → DB →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lock into proprietary hardware and software, cost.</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3"/>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4"/>
          <a:stretch>
            <a:fillRect/>
          </a:stretch>
        </p:blipFill>
        <p:spPr>
          <a:xfrm>
            <a:off x="6501383" y="2520484"/>
            <a:ext cx="420624" cy="420624"/>
          </a:xfrm>
          <a:prstGeom prst="rect">
            <a:avLst/>
          </a:prstGeom>
        </p:spPr>
      </p:pic>
      <p:sp>
        <p:nvSpPr>
          <p:cNvPr id="12" name="TextBox 11"/>
          <p:cNvSpPr txBox="1"/>
          <p:nvPr/>
        </p:nvSpPr>
        <p:spPr>
          <a:xfrm>
            <a:off x="7086599" y="2520484"/>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7086599" y="2776517"/>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6428231" y="2520484"/>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5"/>
          <a:stretch>
            <a:fillRect/>
          </a:stretch>
        </p:blipFill>
        <p:spPr>
          <a:xfrm>
            <a:off x="6501383" y="3915707"/>
            <a:ext cx="420624" cy="420624"/>
          </a:xfrm>
          <a:prstGeom prst="rect">
            <a:avLst/>
          </a:prstGeom>
        </p:spPr>
      </p:pic>
      <p:sp>
        <p:nvSpPr>
          <p:cNvPr id="16" name="TextBox 15"/>
          <p:cNvSpPr txBox="1"/>
          <p:nvPr/>
        </p:nvSpPr>
        <p:spPr>
          <a:xfrm>
            <a:off x="7086599" y="3915707"/>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7086599" y="4171739"/>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6428231" y="3915707"/>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6"/>
          <a:stretch>
            <a:fillRect/>
          </a:stretch>
        </p:blipFill>
        <p:spPr>
          <a:xfrm>
            <a:off x="1271016" y="3948460"/>
            <a:ext cx="420624" cy="420624"/>
          </a:xfrm>
          <a:prstGeom prst="rect">
            <a:avLst/>
          </a:prstGeom>
        </p:spPr>
      </p:pic>
      <p:sp>
        <p:nvSpPr>
          <p:cNvPr id="20" name="TextBox 19"/>
          <p:cNvSpPr txBox="1"/>
          <p:nvPr/>
        </p:nvSpPr>
        <p:spPr>
          <a:xfrm>
            <a:off x="1856231" y="394846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1856231" y="4204493"/>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1197864" y="394846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7"/>
          <a:stretch>
            <a:fillRect/>
          </a:stretch>
        </p:blipFill>
        <p:spPr>
          <a:xfrm>
            <a:off x="1289306" y="5357718"/>
            <a:ext cx="420624" cy="420624"/>
          </a:xfrm>
          <a:prstGeom prst="rect">
            <a:avLst/>
          </a:prstGeom>
        </p:spPr>
      </p:pic>
      <p:sp>
        <p:nvSpPr>
          <p:cNvPr id="24" name="TextBox 23"/>
          <p:cNvSpPr txBox="1"/>
          <p:nvPr/>
        </p:nvSpPr>
        <p:spPr>
          <a:xfrm>
            <a:off x="1874521" y="5357718"/>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1874521" y="5613751"/>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1216154" y="5357718"/>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8"/>
          <a:stretch>
            <a:fillRect/>
          </a:stretch>
        </p:blipFill>
        <p:spPr>
          <a:xfrm>
            <a:off x="6556249" y="5359400"/>
            <a:ext cx="420624" cy="420624"/>
          </a:xfrm>
          <a:prstGeom prst="rect">
            <a:avLst/>
          </a:prstGeom>
        </p:spPr>
      </p:pic>
      <p:sp>
        <p:nvSpPr>
          <p:cNvPr id="28" name="TextBox 27"/>
          <p:cNvSpPr txBox="1"/>
          <p:nvPr/>
        </p:nvSpPr>
        <p:spPr>
          <a:xfrm>
            <a:off x="7141464"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141464" y="5615432"/>
            <a:ext cx="4242817"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483097"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Device → MQTT → </a:t>
            </a:r>
            <a:r>
              <a:rPr lang="en-US" sz="1600" b="1" dirty="0">
                <a:solidFill>
                  <a:srgbClr val="FFFF00"/>
                </a:solidFill>
                <a:latin typeface="Candara" panose="020E0502030303020204" pitchFamily="34" charset="0"/>
              </a:rPr>
              <a:t>API → SQL Server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3"/>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4"/>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Mosquit</a:t>
            </a:r>
            <a:r>
              <a:rPr kumimoji="0" lang="en-US"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t</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o</a:t>
            </a: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6"/>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7"/>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8"/>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11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7" name="Shape 5"/>
          <p:cNvSpPr/>
          <p:nvPr/>
        </p:nvSpPr>
        <p:spPr>
          <a:xfrm flipV="1">
            <a:off x="7084754" y="3100816"/>
            <a:ext cx="2559653" cy="281562"/>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8" name="Shape 6"/>
          <p:cNvSpPr/>
          <p:nvPr/>
        </p:nvSpPr>
        <p:spPr>
          <a:xfrm>
            <a:off x="7084754" y="3704163"/>
            <a:ext cx="2559653" cy="53752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0" name="Shape 8"/>
          <p:cNvSpPr/>
          <p:nvPr/>
        </p:nvSpPr>
        <p:spPr>
          <a:xfrm flipV="1">
            <a:off x="4316367" y="4059772"/>
            <a:ext cx="114879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07" name="Shape 105"/>
          <p:cNvSpPr/>
          <p:nvPr/>
        </p:nvSpPr>
        <p:spPr>
          <a:xfrm>
            <a:off x="9671832" y="2450847"/>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08" name="Shape 106"/>
          <p:cNvSpPr/>
          <p:nvPr/>
        </p:nvSpPr>
        <p:spPr>
          <a:xfrm>
            <a:off x="9644407" y="2423422"/>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09" name="Shape 107"/>
          <p:cNvSpPr/>
          <p:nvPr/>
        </p:nvSpPr>
        <p:spPr>
          <a:xfrm>
            <a:off x="9644407" y="2496555"/>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0" name="Shape 108"/>
          <p:cNvSpPr/>
          <p:nvPr/>
        </p:nvSpPr>
        <p:spPr>
          <a:xfrm>
            <a:off x="9644407" y="2423422"/>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1" name="Text 109"/>
          <p:cNvSpPr/>
          <p:nvPr/>
        </p:nvSpPr>
        <p:spPr>
          <a:xfrm>
            <a:off x="9790673" y="2441705"/>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DeviceStatusHistories</a:t>
            </a:r>
            <a:endParaRPr lang="en-US" sz="1100" dirty="0">
              <a:latin typeface="Candara" panose="020E0502030303020204" pitchFamily="34" charset="0"/>
            </a:endParaRPr>
          </a:p>
        </p:txBody>
      </p:sp>
      <p:sp>
        <p:nvSpPr>
          <p:cNvPr id="112" name="Text 110"/>
          <p:cNvSpPr/>
          <p:nvPr/>
        </p:nvSpPr>
        <p:spPr>
          <a:xfrm>
            <a:off x="9790673" y="2715954"/>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Device status change log</a:t>
            </a:r>
            <a:endParaRPr lang="en-US" sz="850" dirty="0">
              <a:latin typeface="Candara" panose="020E0502030303020204" pitchFamily="34" charset="0"/>
            </a:endParaRPr>
          </a:p>
        </p:txBody>
      </p:sp>
      <p:sp>
        <p:nvSpPr>
          <p:cNvPr id="113" name="Shape 111"/>
          <p:cNvSpPr/>
          <p:nvPr/>
        </p:nvSpPr>
        <p:spPr>
          <a:xfrm>
            <a:off x="9772390" y="2898786"/>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14" name="Text 112"/>
          <p:cNvSpPr/>
          <p:nvPr/>
        </p:nvSpPr>
        <p:spPr>
          <a:xfrm>
            <a:off x="9790673" y="2935353"/>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15" name="Text 113"/>
          <p:cNvSpPr/>
          <p:nvPr/>
        </p:nvSpPr>
        <p:spPr>
          <a:xfrm>
            <a:off x="10083205" y="2935353"/>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StatusHistoryId</a:t>
            </a:r>
            <a:endParaRPr lang="en-US" sz="850" dirty="0">
              <a:latin typeface="Candara" panose="020E0502030303020204" pitchFamily="34" charset="0"/>
            </a:endParaRPr>
          </a:p>
        </p:txBody>
      </p:sp>
      <p:sp>
        <p:nvSpPr>
          <p:cNvPr id="116" name="Text 114"/>
          <p:cNvSpPr/>
          <p:nvPr/>
        </p:nvSpPr>
        <p:spPr>
          <a:xfrm>
            <a:off x="11088783" y="293535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17" name="Text 115"/>
          <p:cNvSpPr/>
          <p:nvPr/>
        </p:nvSpPr>
        <p:spPr>
          <a:xfrm>
            <a:off x="9790673" y="307704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18" name="Text 116"/>
          <p:cNvSpPr/>
          <p:nvPr/>
        </p:nvSpPr>
        <p:spPr>
          <a:xfrm>
            <a:off x="10083205" y="307704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19" name="Text 117"/>
          <p:cNvSpPr/>
          <p:nvPr/>
        </p:nvSpPr>
        <p:spPr>
          <a:xfrm>
            <a:off x="11088783" y="307704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20" name="Text 118"/>
          <p:cNvSpPr/>
          <p:nvPr/>
        </p:nvSpPr>
        <p:spPr>
          <a:xfrm>
            <a:off x="10083205" y="321874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Status</a:t>
            </a:r>
            <a:endParaRPr lang="en-US" sz="850" dirty="0">
              <a:latin typeface="Candara" panose="020E0502030303020204" pitchFamily="34" charset="0"/>
            </a:endParaRPr>
          </a:p>
        </p:txBody>
      </p:sp>
      <p:sp>
        <p:nvSpPr>
          <p:cNvPr id="121" name="Text 119"/>
          <p:cNvSpPr/>
          <p:nvPr/>
        </p:nvSpPr>
        <p:spPr>
          <a:xfrm>
            <a:off x="11088783" y="321874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22" name="Text 120"/>
          <p:cNvSpPr/>
          <p:nvPr/>
        </p:nvSpPr>
        <p:spPr>
          <a:xfrm>
            <a:off x="10083205" y="336043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Timestamp</a:t>
            </a:r>
            <a:endParaRPr lang="en-US" sz="850" dirty="0">
              <a:latin typeface="Candara" panose="020E0502030303020204" pitchFamily="34" charset="0"/>
            </a:endParaRPr>
          </a:p>
        </p:txBody>
      </p:sp>
      <p:sp>
        <p:nvSpPr>
          <p:cNvPr id="123" name="Text 121"/>
          <p:cNvSpPr/>
          <p:nvPr/>
        </p:nvSpPr>
        <p:spPr>
          <a:xfrm>
            <a:off x="11088783" y="336043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DateTime</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25" name="Shape 123"/>
          <p:cNvSpPr/>
          <p:nvPr/>
        </p:nvSpPr>
        <p:spPr>
          <a:xfrm>
            <a:off x="9644407" y="3886081"/>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26" name="Shape 124"/>
          <p:cNvSpPr/>
          <p:nvPr/>
        </p:nvSpPr>
        <p:spPr>
          <a:xfrm>
            <a:off x="9644407" y="3959214"/>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7" name="Shape 125"/>
          <p:cNvSpPr/>
          <p:nvPr/>
        </p:nvSpPr>
        <p:spPr>
          <a:xfrm>
            <a:off x="9644407" y="3886081"/>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8" name="Text 126"/>
          <p:cNvSpPr/>
          <p:nvPr/>
        </p:nvSpPr>
        <p:spPr>
          <a:xfrm>
            <a:off x="9790673" y="3904364"/>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OperationalMetrics</a:t>
            </a:r>
            <a:endParaRPr lang="en-US" sz="1100" dirty="0">
              <a:latin typeface="Candara" panose="020E0502030303020204" pitchFamily="34" charset="0"/>
            </a:endParaRPr>
          </a:p>
        </p:txBody>
      </p:sp>
      <p:sp>
        <p:nvSpPr>
          <p:cNvPr id="129" name="Text 127"/>
          <p:cNvSpPr/>
          <p:nvPr/>
        </p:nvSpPr>
        <p:spPr>
          <a:xfrm>
            <a:off x="9790673" y="417861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Calculated KPIs per device</a:t>
            </a:r>
            <a:endParaRPr lang="en-US" sz="850" dirty="0">
              <a:latin typeface="Candara" panose="020E0502030303020204" pitchFamily="34" charset="0"/>
            </a:endParaRPr>
          </a:p>
        </p:txBody>
      </p:sp>
      <p:sp>
        <p:nvSpPr>
          <p:cNvPr id="130" name="Shape 128"/>
          <p:cNvSpPr/>
          <p:nvPr/>
        </p:nvSpPr>
        <p:spPr>
          <a:xfrm>
            <a:off x="9772390" y="436144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31" name="Text 129"/>
          <p:cNvSpPr/>
          <p:nvPr/>
        </p:nvSpPr>
        <p:spPr>
          <a:xfrm>
            <a:off x="9790673" y="439801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32" name="Text 130"/>
          <p:cNvSpPr/>
          <p:nvPr/>
        </p:nvSpPr>
        <p:spPr>
          <a:xfrm>
            <a:off x="10083205" y="439801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MetricId</a:t>
            </a:r>
            <a:endParaRPr lang="en-US" sz="850" dirty="0">
              <a:latin typeface="Candara" panose="020E0502030303020204" pitchFamily="34" charset="0"/>
            </a:endParaRPr>
          </a:p>
        </p:txBody>
      </p:sp>
      <p:sp>
        <p:nvSpPr>
          <p:cNvPr id="133" name="Text 131"/>
          <p:cNvSpPr/>
          <p:nvPr/>
        </p:nvSpPr>
        <p:spPr>
          <a:xfrm>
            <a:off x="11088783" y="439801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34" name="Text 132"/>
          <p:cNvSpPr/>
          <p:nvPr/>
        </p:nvSpPr>
        <p:spPr>
          <a:xfrm>
            <a:off x="9790673" y="4539707"/>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35" name="Text 133"/>
          <p:cNvSpPr/>
          <p:nvPr/>
        </p:nvSpPr>
        <p:spPr>
          <a:xfrm>
            <a:off x="10083205" y="4539707"/>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36" name="Text 134"/>
          <p:cNvSpPr/>
          <p:nvPr/>
        </p:nvSpPr>
        <p:spPr>
          <a:xfrm>
            <a:off x="11088783" y="453970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37" name="Text 135"/>
          <p:cNvSpPr/>
          <p:nvPr/>
        </p:nvSpPr>
        <p:spPr>
          <a:xfrm>
            <a:off x="10083205" y="468140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MetricType</a:t>
            </a:r>
            <a:endParaRPr lang="en-US" sz="850" dirty="0">
              <a:latin typeface="Candara" panose="020E0502030303020204" pitchFamily="34" charset="0"/>
            </a:endParaRPr>
          </a:p>
        </p:txBody>
      </p:sp>
      <p:sp>
        <p:nvSpPr>
          <p:cNvPr id="138" name="Text 136"/>
          <p:cNvSpPr/>
          <p:nvPr/>
        </p:nvSpPr>
        <p:spPr>
          <a:xfrm>
            <a:off x="11088783" y="468140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39" name="Text 137"/>
          <p:cNvSpPr/>
          <p:nvPr/>
        </p:nvSpPr>
        <p:spPr>
          <a:xfrm>
            <a:off x="10083205" y="482309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MetricValue</a:t>
            </a:r>
            <a:endParaRPr lang="en-US" sz="850" dirty="0">
              <a:latin typeface="Candara" panose="020E0502030303020204" pitchFamily="34" charset="0"/>
            </a:endParaRPr>
          </a:p>
        </p:txBody>
      </p:sp>
      <p:sp>
        <p:nvSpPr>
          <p:cNvPr id="140" name="Text 138"/>
          <p:cNvSpPr/>
          <p:nvPr/>
        </p:nvSpPr>
        <p:spPr>
          <a:xfrm>
            <a:off x="11088783" y="482309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60" name="Shape 158"/>
          <p:cNvSpPr/>
          <p:nvPr/>
        </p:nvSpPr>
        <p:spPr>
          <a:xfrm>
            <a:off x="2724202"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61" name="Shape 159"/>
          <p:cNvSpPr/>
          <p:nvPr/>
        </p:nvSpPr>
        <p:spPr>
          <a:xfrm>
            <a:off x="2696777"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62" name="Shape 160"/>
          <p:cNvSpPr/>
          <p:nvPr/>
        </p:nvSpPr>
        <p:spPr>
          <a:xfrm>
            <a:off x="2696777"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3" name="Shape 161"/>
          <p:cNvSpPr/>
          <p:nvPr/>
        </p:nvSpPr>
        <p:spPr>
          <a:xfrm>
            <a:off x="2696777"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4" name="Text 162"/>
          <p:cNvSpPr/>
          <p:nvPr/>
        </p:nvSpPr>
        <p:spPr>
          <a:xfrm>
            <a:off x="2843043"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DeviceConfigurations</a:t>
            </a:r>
            <a:endParaRPr lang="en-US" sz="1100" dirty="0">
              <a:latin typeface="Candara" panose="020E0502030303020204" pitchFamily="34" charset="0"/>
            </a:endParaRPr>
          </a:p>
        </p:txBody>
      </p:sp>
      <p:sp>
        <p:nvSpPr>
          <p:cNvPr id="165" name="Text 163"/>
          <p:cNvSpPr/>
          <p:nvPr/>
        </p:nvSpPr>
        <p:spPr>
          <a:xfrm>
            <a:off x="2843043"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Per-device settings</a:t>
            </a:r>
            <a:endParaRPr lang="en-US" sz="850" dirty="0">
              <a:latin typeface="Candara" panose="020E0502030303020204" pitchFamily="34" charset="0"/>
            </a:endParaRPr>
          </a:p>
        </p:txBody>
      </p:sp>
      <p:sp>
        <p:nvSpPr>
          <p:cNvPr id="166" name="Shape 164"/>
          <p:cNvSpPr/>
          <p:nvPr/>
        </p:nvSpPr>
        <p:spPr>
          <a:xfrm>
            <a:off x="2824760"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67" name="Text 165"/>
          <p:cNvSpPr/>
          <p:nvPr/>
        </p:nvSpPr>
        <p:spPr>
          <a:xfrm>
            <a:off x="2843043"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68" name="Text 166"/>
          <p:cNvSpPr/>
          <p:nvPr/>
        </p:nvSpPr>
        <p:spPr>
          <a:xfrm>
            <a:off x="3135575"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ConfigurationId</a:t>
            </a:r>
            <a:endParaRPr lang="en-US" sz="850" dirty="0">
              <a:latin typeface="Candara" panose="020E0502030303020204" pitchFamily="34" charset="0"/>
            </a:endParaRPr>
          </a:p>
        </p:txBody>
      </p:sp>
      <p:sp>
        <p:nvSpPr>
          <p:cNvPr id="169" name="Text 167"/>
          <p:cNvSpPr/>
          <p:nvPr/>
        </p:nvSpPr>
        <p:spPr>
          <a:xfrm>
            <a:off x="4141153"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0" name="Text 168"/>
          <p:cNvSpPr/>
          <p:nvPr/>
        </p:nvSpPr>
        <p:spPr>
          <a:xfrm>
            <a:off x="2843043"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71" name="Text 169"/>
          <p:cNvSpPr/>
          <p:nvPr/>
        </p:nvSpPr>
        <p:spPr>
          <a:xfrm>
            <a:off x="3135575"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72" name="Text 170"/>
          <p:cNvSpPr/>
          <p:nvPr/>
        </p:nvSpPr>
        <p:spPr>
          <a:xfrm>
            <a:off x="4141153"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3" name="Text 171"/>
          <p:cNvSpPr/>
          <p:nvPr/>
        </p:nvSpPr>
        <p:spPr>
          <a:xfrm>
            <a:off x="3135575"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ConfigurationKey</a:t>
            </a:r>
            <a:endParaRPr lang="en-US" sz="850" dirty="0">
              <a:latin typeface="Candara" panose="020E0502030303020204" pitchFamily="34" charset="0"/>
            </a:endParaRPr>
          </a:p>
        </p:txBody>
      </p:sp>
      <p:sp>
        <p:nvSpPr>
          <p:cNvPr id="174" name="Text 172"/>
          <p:cNvSpPr/>
          <p:nvPr/>
        </p:nvSpPr>
        <p:spPr>
          <a:xfrm>
            <a:off x="4141153"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175" name="Text 173"/>
          <p:cNvSpPr/>
          <p:nvPr/>
        </p:nvSpPr>
        <p:spPr>
          <a:xfrm>
            <a:off x="3135575"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ConfigurationValue</a:t>
            </a:r>
            <a:endParaRPr lang="en-US" sz="850" dirty="0">
              <a:latin typeface="Candara" panose="020E0502030303020204" pitchFamily="34" charset="0"/>
            </a:endParaRPr>
          </a:p>
        </p:txBody>
      </p:sp>
      <p:sp>
        <p:nvSpPr>
          <p:cNvPr id="176" name="Text 174"/>
          <p:cNvSpPr/>
          <p:nvPr/>
        </p:nvSpPr>
        <p:spPr>
          <a:xfrm>
            <a:off x="4141153"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string(500)</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79" name="Shape 177"/>
          <p:cNvSpPr/>
          <p:nvPr/>
        </p:nvSpPr>
        <p:spPr>
          <a:xfrm>
            <a:off x="4936474" y="5193332"/>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0" name="Shape 178"/>
          <p:cNvSpPr/>
          <p:nvPr/>
        </p:nvSpPr>
        <p:spPr>
          <a:xfrm>
            <a:off x="4936474" y="512020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9" name="Text 217"/>
          <p:cNvSpPr/>
          <p:nvPr/>
        </p:nvSpPr>
        <p:spPr>
          <a:xfrm>
            <a:off x="7051054" y="33910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0" name="Text 218"/>
          <p:cNvSpPr/>
          <p:nvPr/>
        </p:nvSpPr>
        <p:spPr>
          <a:xfrm>
            <a:off x="9257593" y="290926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1" name="Text 219"/>
          <p:cNvSpPr/>
          <p:nvPr/>
        </p:nvSpPr>
        <p:spPr>
          <a:xfrm>
            <a:off x="7011109" y="37628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2" name="Text 220"/>
          <p:cNvSpPr/>
          <p:nvPr/>
        </p:nvSpPr>
        <p:spPr>
          <a:xfrm>
            <a:off x="9297538" y="400015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5" name="Text 223"/>
          <p:cNvSpPr/>
          <p:nvPr/>
        </p:nvSpPr>
        <p:spPr>
          <a:xfrm>
            <a:off x="5053388" y="399264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6" name="Text 224"/>
          <p:cNvSpPr/>
          <p:nvPr/>
        </p:nvSpPr>
        <p:spPr>
          <a:xfrm>
            <a:off x="4307629" y="50044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42" name="Text 240"/>
          <p:cNvSpPr/>
          <p:nvPr/>
        </p:nvSpPr>
        <p:spPr>
          <a:xfrm>
            <a:off x="4627567" y="494747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3" name="Shape 241"/>
          <p:cNvSpPr/>
          <p:nvPr/>
        </p:nvSpPr>
        <p:spPr>
          <a:xfrm>
            <a:off x="457080" y="6619425"/>
            <a:ext cx="50279" cy="164549"/>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4" name="Text 242"/>
          <p:cNvSpPr/>
          <p:nvPr/>
        </p:nvSpPr>
        <p:spPr>
          <a:xfrm>
            <a:off x="566780"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Hub (Devices)</a:t>
            </a:r>
            <a:endParaRPr lang="en-US" sz="900" dirty="0">
              <a:latin typeface="Candara" panose="020E0502030303020204" pitchFamily="34" charset="0"/>
            </a:endParaRPr>
          </a:p>
        </p:txBody>
      </p:sp>
      <p:sp>
        <p:nvSpPr>
          <p:cNvPr id="245" name="Shape 243"/>
          <p:cNvSpPr/>
          <p:nvPr/>
        </p:nvSpPr>
        <p:spPr>
          <a:xfrm>
            <a:off x="2056864" y="6619425"/>
            <a:ext cx="50279" cy="164549"/>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246" name="Text 244"/>
          <p:cNvSpPr/>
          <p:nvPr/>
        </p:nvSpPr>
        <p:spPr>
          <a:xfrm>
            <a:off x="216656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Primary entities</a:t>
            </a:r>
            <a:endParaRPr lang="en-US" sz="900" dirty="0">
              <a:latin typeface="Candara" panose="020E0502030303020204" pitchFamily="34" charset="0"/>
            </a:endParaRPr>
          </a:p>
        </p:txBody>
      </p:sp>
      <p:sp>
        <p:nvSpPr>
          <p:cNvPr id="247" name="Shape 245"/>
          <p:cNvSpPr/>
          <p:nvPr/>
        </p:nvSpPr>
        <p:spPr>
          <a:xfrm>
            <a:off x="3793771" y="6619425"/>
            <a:ext cx="50279" cy="164549"/>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248" name="Text 246"/>
          <p:cNvSpPr/>
          <p:nvPr/>
        </p:nvSpPr>
        <p:spPr>
          <a:xfrm>
            <a:off x="3903471"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Event / log tables</a:t>
            </a:r>
            <a:endParaRPr lang="en-US" sz="900" dirty="0">
              <a:latin typeface="Candara" panose="020E0502030303020204" pitchFamily="34" charset="0"/>
            </a:endParaRPr>
          </a:p>
        </p:txBody>
      </p:sp>
      <p:sp>
        <p:nvSpPr>
          <p:cNvPr id="249" name="Shape 247"/>
          <p:cNvSpPr/>
          <p:nvPr/>
        </p:nvSpPr>
        <p:spPr>
          <a:xfrm>
            <a:off x="5667803" y="6619425"/>
            <a:ext cx="50279" cy="164549"/>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250" name="Text 248"/>
          <p:cNvSpPr/>
          <p:nvPr/>
        </p:nvSpPr>
        <p:spPr>
          <a:xfrm>
            <a:off x="577750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Configuration</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2800" b="1" dirty="0">
                <a:solidFill>
                  <a:srgbClr val="FFFFFF"/>
                </a:solidFill>
                <a:latin typeface="Candara" panose="020E0502030303020204" pitchFamily="34" charset="0"/>
                <a:ea typeface="Calibri" pitchFamily="34" charset="-122"/>
                <a:cs typeface="Calibri" pitchFamily="34" charset="-120"/>
              </a:rPr>
              <a:t>Backend &amp; API Design</a:t>
            </a:r>
            <a:endParaRPr lang="en-US" sz="28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836875"/>
            <a:ext cx="6668928" cy="228542"/>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7" y="5622988"/>
            <a:ext cx="1643175"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a:t>
            </a:r>
            <a:r>
              <a:rPr lang="en-US" sz="1200" b="1" dirty="0" err="1">
                <a:solidFill>
                  <a:srgbClr val="FFFF00"/>
                </a:solidFill>
                <a:latin typeface="Candara" panose="020E0502030303020204" pitchFamily="34" charset="0"/>
                <a:ea typeface="Calibri" pitchFamily="34" charset="-122"/>
                <a:cs typeface="Calibri" pitchFamily="34" charset="-120"/>
              </a:rPr>
              <a:t>Acked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1975096064"/>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Connect Arduino; run firmware (local MQTT)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 (</a:t>
                      </a:r>
                      <a:r>
                        <a:rPr lang="en-US" sz="1800" dirty="0" err="1">
                          <a:solidFill>
                            <a:schemeClr val="bg1"/>
                          </a:solidFill>
                          <a:effectLst/>
                          <a:latin typeface="Candara" panose="020E0502030303020204" pitchFamily="34" charset="0"/>
                        </a:rPr>
                        <a:t>SignalR</a:t>
                      </a:r>
                      <a:r>
                        <a:rPr lang="en-US" sz="1800"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decisions that address specific technical challenges.</a:t>
            </a:r>
            <a:endParaRPr lang="en-US" sz="1600" dirty="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4974802" cy="428349"/>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Multi-client live sync without polling</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1" name="Text 8"/>
          <p:cNvSpPr/>
          <p:nvPr/>
        </p:nvSpPr>
        <p:spPr>
          <a:xfrm>
            <a:off x="828838" y="2752058"/>
            <a:ext cx="5326517" cy="463175"/>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err="1">
                <a:solidFill>
                  <a:srgbClr val="C8DDD0"/>
                </a:solidFill>
                <a:latin typeface="Candara" panose="020E0502030303020204" pitchFamily="34" charset="0"/>
                <a:ea typeface="Calibri" pitchFamily="34" charset="-122"/>
                <a:cs typeface="Calibri" pitchFamily="34" charset="-120"/>
              </a:rPr>
              <a:t>SignalR</a:t>
            </a:r>
            <a:r>
              <a:rPr lang="en-US" sz="1600" dirty="0">
                <a:solidFill>
                  <a:srgbClr val="C8DDD0"/>
                </a:solidFill>
                <a:latin typeface="Candara" panose="020E0502030303020204" pitchFamily="34" charset="0"/>
                <a:ea typeface="Calibri" pitchFamily="34" charset="-122"/>
                <a:cs typeface="Calibri" pitchFamily="34" charset="-120"/>
              </a:rPr>
              <a:t> groups; push after save.</a:t>
            </a:r>
            <a:endParaRPr lang="en-US" sz="1600" dirty="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479718"/>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Fast queries on growing reading table</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9" name="Text 15"/>
          <p:cNvSpPr/>
          <p:nvPr/>
        </p:nvSpPr>
        <p:spPr>
          <a:xfrm>
            <a:off x="6618531" y="2734588"/>
            <a:ext cx="5107118" cy="463175"/>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indexes, paged date filters</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301088"/>
            <a:ext cx="438798" cy="438798"/>
          </a:xfrm>
          <a:prstGeom prst="rect">
            <a:avLst/>
          </a:prstGeom>
          <a:solidFill>
            <a:srgbClr val="0D2318"/>
          </a:solidFill>
          <a:ln>
            <a:noFill/>
          </a:ln>
        </p:spPr>
      </p:pic>
      <p:sp>
        <p:nvSpPr>
          <p:cNvPr id="24" name="Text 19"/>
          <p:cNvSpPr/>
          <p:nvPr/>
        </p:nvSpPr>
        <p:spPr>
          <a:xfrm>
            <a:off x="1389525" y="427671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81301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98341"/>
            <a:ext cx="5107118" cy="345640"/>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Clean path from device to chart</a:t>
            </a:r>
            <a:endParaRPr lang="en-US" sz="1600" dirty="0">
              <a:solidFill>
                <a:prstClr val="black"/>
              </a:solidFill>
              <a:latin typeface="Candara" panose="020E0502030303020204" pitchFamily="34" charset="0"/>
            </a:endParaRPr>
          </a:p>
        </p:txBody>
      </p:sp>
      <p:sp>
        <p:nvSpPr>
          <p:cNvPr id="27" name="Text 22"/>
          <p:cNvSpPr/>
          <p:nvPr/>
        </p:nvSpPr>
        <p:spPr>
          <a:xfrm>
            <a:off x="828839" y="5271339"/>
            <a:ext cx="4498941" cy="41312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API → DB → </a:t>
            </a:r>
            <a:r>
              <a:rPr lang="en-US" sz="1600" b="1" dirty="0" err="1">
                <a:solidFill>
                  <a:srgbClr val="C8DDD0"/>
                </a:solidFill>
                <a:latin typeface="Candara" panose="020E0502030303020204" pitchFamily="34" charset="0"/>
                <a:ea typeface="Calibri" pitchFamily="34" charset="-122"/>
                <a:cs typeface="Calibri" pitchFamily="34" charset="-120"/>
              </a:rPr>
              <a:t>SignalR</a:t>
            </a:r>
            <a:r>
              <a:rPr lang="en-US" sz="1600" b="1" dirty="0">
                <a:solidFill>
                  <a:srgbClr val="C8DDD0"/>
                </a:solidFill>
                <a:latin typeface="Candara" panose="020E0502030303020204" pitchFamily="34" charset="0"/>
                <a:ea typeface="Calibri" pitchFamily="34" charset="-122"/>
                <a:cs typeface="Calibri" pitchFamily="34" charset="-120"/>
              </a:rPr>
              <a:t> → React</a:t>
            </a:r>
            <a:endParaRPr lang="en-US" sz="1600" dirty="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376983"/>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Same backend API for multiple edge platform</a:t>
            </a:r>
            <a:endParaRPr lang="en-US" sz="1600" dirty="0">
              <a:solidFill>
                <a:prstClr val="black"/>
              </a:solidFill>
              <a:latin typeface="Candara" panose="020E0502030303020204" pitchFamily="34" charset="0"/>
            </a:endParaRPr>
          </a:p>
        </p:txBody>
      </p:sp>
      <p:sp>
        <p:nvSpPr>
          <p:cNvPr id="35" name="Text 29"/>
          <p:cNvSpPr/>
          <p:nvPr/>
        </p:nvSpPr>
        <p:spPr>
          <a:xfrm>
            <a:off x="6618531" y="5167138"/>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JSON, REST for tests, shared device model: device/sensor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548497"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6" name="Shape 4"/>
          <p:cNvSpPr/>
          <p:nvPr/>
        </p:nvSpPr>
        <p:spPr>
          <a:xfrm>
            <a:off x="6204112" y="1439174"/>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060427" y="2300619"/>
            <a:ext cx="4875530" cy="3778536"/>
          </a:xfrm>
          <a:prstGeom prst="rect">
            <a:avLst/>
          </a:prstGeom>
          <a:noFill/>
          <a:ln/>
        </p:spPr>
        <p:txBody>
          <a:bodyPr wrap="square" lIns="0" tIns="0" rIns="0" bIns="0" rtlCol="0" anchor="t"/>
          <a:lstStyle/>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MQTT → API → SQL Server → SignalR → React</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end to end pipeline</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11-table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SQL Server schema with EF </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ASP.NET Core 8</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API: REST, JWT roles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SignalR</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live readings, alerts, device status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React UI</a:t>
            </a:r>
            <a:r>
              <a:rPr lang="en-US" sz="1866" dirty="0">
                <a:solidFill>
                  <a:schemeClr val="bg1"/>
                </a:solidFill>
                <a:latin typeface="Candara" panose="020E0502030303020204" pitchFamily="34" charset="0"/>
                <a:ea typeface="Calibri" pitchFamily="34" charset="-122"/>
                <a:cs typeface="Calibri" pitchFamily="34" charset="-120"/>
              </a:rPr>
              <a:t>: dashboards, charts, gauges, actuators, command history</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Arduino</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firmware (local/cloud MQTT) with live demo</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Git/GitHub</a:t>
            </a:r>
            <a:r>
              <a:rPr lang="en-US" sz="1866" dirty="0">
                <a:solidFill>
                  <a:srgbClr val="86C29A"/>
                </a:solidFill>
                <a:latin typeface="Candara" panose="020E0502030303020204" pitchFamily="34" charset="0"/>
                <a:ea typeface="Calibri" pitchFamily="34" charset="-122"/>
                <a:cs typeface="Calibri" pitchFamily="34" charset="-120"/>
              </a:rPr>
              <a:t> and </a:t>
            </a:r>
            <a:r>
              <a:rPr lang="en-US" sz="1866" b="1" dirty="0">
                <a:solidFill>
                  <a:srgbClr val="4ADE80"/>
                </a:solidFill>
                <a:latin typeface="Candara" panose="020E0502030303020204" pitchFamily="34" charset="0"/>
                <a:ea typeface="Calibri" pitchFamily="34" charset="-122"/>
                <a:cs typeface="Calibri" pitchFamily="34" charset="-120"/>
              </a:rPr>
              <a:t>Azure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deployment workflows</a:t>
            </a:r>
            <a:endParaRPr lang="en-US" sz="1866" dirty="0">
              <a:solidFill>
                <a:schemeClr val="bg1"/>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6813553" y="2285288"/>
            <a:ext cx="4400166" cy="3778536"/>
          </a:xfrm>
          <a:prstGeom prst="rect">
            <a:avLst/>
          </a:prstGeom>
          <a:noFill/>
          <a:ln/>
        </p:spPr>
        <p:txBody>
          <a:bodyPr wrap="square" lIns="0" tIns="0" rIns="0" bIns="0" rtlCol="0" anchor="t"/>
          <a:lstStyle/>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Automated </a:t>
            </a:r>
            <a:r>
              <a:rPr lang="en-US" sz="1866" b="1" dirty="0">
                <a:solidFill>
                  <a:srgbClr val="4ADE80"/>
                </a:solidFill>
                <a:latin typeface="Candara" panose="020E0502030303020204" pitchFamily="34" charset="0"/>
                <a:ea typeface="Calibri" pitchFamily="34" charset="-122"/>
                <a:cs typeface="Calibri" pitchFamily="34" charset="-120"/>
              </a:rPr>
              <a:t>data retention / archiving</a:t>
            </a:r>
            <a:r>
              <a:rPr lang="en-US" sz="1866" dirty="0">
                <a:solidFill>
                  <a:srgbClr val="86C29A"/>
                </a:solidFill>
                <a:latin typeface="Candara" panose="020E0502030303020204" pitchFamily="34" charset="0"/>
                <a:ea typeface="Calibri" pitchFamily="34" charset="-122"/>
                <a:cs typeface="Calibri" pitchFamily="34" charset="-120"/>
              </a:rPr>
              <a:t> for growing time-series data</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Multi-tenant</a:t>
            </a:r>
            <a:r>
              <a:rPr lang="en-US" sz="1866" dirty="0">
                <a:solidFill>
                  <a:srgbClr val="86C29A"/>
                </a:solidFill>
                <a:latin typeface="Candara" panose="020E0502030303020204" pitchFamily="34" charset="0"/>
                <a:ea typeface="Calibri" pitchFamily="34" charset="-122"/>
                <a:cs typeface="Calibri" pitchFamily="34" charset="-120"/>
              </a:rPr>
              <a:t> or multi-site support</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Mobile</a:t>
            </a:r>
            <a:r>
              <a:rPr lang="en-US" sz="1866" dirty="0">
                <a:solidFill>
                  <a:srgbClr val="86C29A"/>
                </a:solidFill>
                <a:latin typeface="Candara" panose="020E0502030303020204" pitchFamily="34" charset="0"/>
                <a:ea typeface="Calibri" pitchFamily="34" charset="-122"/>
                <a:cs typeface="Calibri" pitchFamily="34" charset="-120"/>
              </a:rPr>
              <a:t> app for field operators</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ML</a:t>
            </a:r>
            <a:r>
              <a:rPr lang="en-US" sz="1866" dirty="0">
                <a:solidFill>
                  <a:srgbClr val="86C29A"/>
                </a:solidFill>
                <a:latin typeface="Candara" panose="020E0502030303020204" pitchFamily="34" charset="0"/>
                <a:ea typeface="Calibri" pitchFamily="34" charset="-122"/>
                <a:cs typeface="Calibri" pitchFamily="34" charset="-120"/>
              </a:rPr>
              <a:t> anomaly detection and predictive maintenance</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Broader </a:t>
            </a:r>
            <a:r>
              <a:rPr lang="en-US" sz="1866" b="1" dirty="0">
                <a:solidFill>
                  <a:srgbClr val="4ADE80"/>
                </a:solidFill>
                <a:latin typeface="Candara" panose="020E0502030303020204" pitchFamily="34" charset="0"/>
                <a:ea typeface="Calibri" pitchFamily="34" charset="-122"/>
                <a:cs typeface="Calibri" pitchFamily="34" charset="-120"/>
              </a:rPr>
              <a:t>edge integrations</a:t>
            </a:r>
            <a:r>
              <a:rPr lang="en-US" sz="1866" dirty="0">
                <a:solidFill>
                  <a:srgbClr val="86C29A"/>
                </a:solidFill>
                <a:latin typeface="Candara" panose="020E0502030303020204" pitchFamily="34" charset="0"/>
                <a:ea typeface="Calibri" pitchFamily="34" charset="-122"/>
                <a:cs typeface="Calibri" pitchFamily="34" charset="-120"/>
              </a:rPr>
              <a:t> (ESP32, Raspberry Pi)</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Production hardening</a:t>
            </a:r>
            <a:r>
              <a:rPr lang="en-US" sz="1866" dirty="0">
                <a:solidFill>
                  <a:srgbClr val="86C29A"/>
                </a:solidFill>
                <a:latin typeface="Candara" panose="020E0502030303020204" pitchFamily="34" charset="0"/>
                <a:ea typeface="Calibri" pitchFamily="34" charset="-122"/>
                <a:cs typeface="Calibri" pitchFamily="34" charset="-120"/>
              </a:rPr>
              <a:t>: monitoring, scaling, and operations</a:t>
            </a:r>
            <a:endParaRPr lang="en-US" sz="1866" dirty="0">
              <a:solidFill>
                <a:prstClr val="black"/>
              </a:solidFill>
              <a:latin typeface="Candara" panose="020E0502030303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2875634" y="4858141"/>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2875634" y="2147498"/>
            <a:ext cx="6702550" cy="1631780"/>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600" dirty="0">
              <a:solidFill>
                <a:schemeClr val="bg1"/>
              </a:solidFill>
              <a:latin typeface="Candara" panose="020E0502030303020204" pitchFamily="34" charset="0"/>
            </a:endParaRPr>
          </a:p>
          <a:p>
            <a:pPr lvl="0" algn="just" defTabSz="1218895">
              <a:lnSpc>
                <a:spcPct val="150000"/>
              </a:lnSpc>
              <a:defRPr/>
            </a:pPr>
            <a:r>
              <a:rPr lang="en-US" sz="1600" dirty="0">
                <a:solidFill>
                  <a:schemeClr val="bg1"/>
                </a:solidFill>
                <a:latin typeface="Candara" panose="020E0502030303020204" pitchFamily="34" charset="0"/>
              </a:rPr>
              <a:t>I would like to take this opportunity to express my sincere gratitude to the instructors especially Naser Chowdhury who guided and supported us throughout the program over the past two years, to RTC School for giving me the opportunity to achieve my first educational milestone in the United States, and to my colleagues who worked hard to balance work and study at the same time so that we could achieve this goal together.</a:t>
            </a:r>
            <a:endParaRPr kumimoji="0" lang="en-US" sz="1600" b="0" u="none" strike="noStrike" kern="1200" cap="none" spc="0" normalizeH="0" baseline="0" noProof="0" dirty="0">
              <a:ln>
                <a:noFill/>
              </a:ln>
              <a:solidFill>
                <a:schemeClr val="bg1"/>
              </a:solidFill>
              <a:effectLst/>
              <a:uLnTx/>
              <a:uFillTx/>
              <a:latin typeface="Candara" panose="020E0502030303020204" pitchFamily="34" charset="0"/>
            </a:endParaRPr>
          </a:p>
        </p:txBody>
      </p:sp>
      <p:sp>
        <p:nvSpPr>
          <p:cNvPr id="3" name="TextBox 2">
            <a:extLst>
              <a:ext uri="{FF2B5EF4-FFF2-40B4-BE49-F238E27FC236}">
                <a16:creationId xmlns:a16="http://schemas.microsoft.com/office/drawing/2014/main" id="{8A007543-48F6-8493-80CF-D65E66082C51}"/>
              </a:ext>
            </a:extLst>
          </p:cNvPr>
          <p:cNvSpPr txBox="1"/>
          <p:nvPr/>
        </p:nvSpPr>
        <p:spPr>
          <a:xfrm>
            <a:off x="1530220" y="860041"/>
            <a:ext cx="5822302" cy="830997"/>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20332</TotalTime>
  <Words>3760</Words>
  <Application>Microsoft Office PowerPoint</Application>
  <PresentationFormat>Custom</PresentationFormat>
  <Paragraphs>660</Paragraphs>
  <Slides>14</Slides>
  <Notes>14</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Quoc Bao Tran</dc:creator>
  <cp:keywords/>
  <dc:description>generated using python-pptx</dc:description>
  <cp:lastModifiedBy>Quoc Bao Tran</cp:lastModifiedBy>
  <cp:revision>304</cp:revision>
  <dcterms:created xsi:type="dcterms:W3CDTF">2013-01-27T09:14:16Z</dcterms:created>
  <dcterms:modified xsi:type="dcterms:W3CDTF">2026-06-13T19:36:59Z</dcterms:modified>
  <cp:category/>
</cp:coreProperties>
</file>