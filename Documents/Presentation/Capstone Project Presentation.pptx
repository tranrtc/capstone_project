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72" r:id="rId3"/>
    <p:sldMasterId id="2147483684" r:id="rId4"/>
  </p:sldMasterIdLst>
  <p:notesMasterIdLst>
    <p:notesMasterId r:id="rId19"/>
  </p:notesMasterIdLst>
  <p:sldIdLst>
    <p:sldId id="256" r:id="rId5"/>
    <p:sldId id="289" r:id="rId6"/>
    <p:sldId id="287" r:id="rId7"/>
    <p:sldId id="286" r:id="rId8"/>
    <p:sldId id="288" r:id="rId9"/>
    <p:sldId id="297" r:id="rId10"/>
    <p:sldId id="296" r:id="rId11"/>
    <p:sldId id="298" r:id="rId12"/>
    <p:sldId id="299" r:id="rId13"/>
    <p:sldId id="284" r:id="rId14"/>
    <p:sldId id="301" r:id="rId15"/>
    <p:sldId id="281" r:id="rId16"/>
    <p:sldId id="302" r:id="rId17"/>
    <p:sldId id="300"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691" autoAdjust="0"/>
    <p:restoredTop sz="96247" autoAdjust="0"/>
  </p:normalViewPr>
  <p:slideViewPr>
    <p:cSldViewPr snapToGrid="0" snapToObjects="1">
      <p:cViewPr varScale="1">
        <p:scale>
          <a:sx n="103" d="100"/>
          <a:sy n="103" d="100"/>
        </p:scale>
        <p:origin x="126" y="2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DE3E3-4DC4-4033-AB14-8C688262196C}" type="datetimeFigureOut">
              <a:rPr lang="en-US" smtClean="0"/>
              <a:t>5/23/2026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1C98F2-B9F0-4148-8C0F-A19261494B1A}" type="slidenum">
              <a:rPr lang="en-US" smtClean="0"/>
              <a:t>‹#›</a:t>
            </a:fld>
            <a:endParaRPr lang="en-US"/>
          </a:p>
        </p:txBody>
      </p:sp>
    </p:spTree>
    <p:extLst>
      <p:ext uri="{BB962C8B-B14F-4D97-AF65-F5344CB8AC3E}">
        <p14:creationId xmlns:p14="http://schemas.microsoft.com/office/powerpoint/2010/main" val="4010328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1</a:t>
            </a:fld>
            <a:endParaRPr lang="en-US"/>
          </a:p>
        </p:txBody>
      </p:sp>
    </p:spTree>
    <p:extLst>
      <p:ext uri="{BB962C8B-B14F-4D97-AF65-F5344CB8AC3E}">
        <p14:creationId xmlns:p14="http://schemas.microsoft.com/office/powerpoint/2010/main" val="906081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2</a:t>
            </a:fld>
            <a:endParaRPr lang="en-US"/>
          </a:p>
        </p:txBody>
      </p:sp>
    </p:spTree>
    <p:extLst>
      <p:ext uri="{BB962C8B-B14F-4D97-AF65-F5344CB8AC3E}">
        <p14:creationId xmlns:p14="http://schemas.microsoft.com/office/powerpoint/2010/main" val="3691666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C74A3D-EE77-4EA1-8E36-75207C739CF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019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4A80-399B-01D8-B9E5-8EDE12643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5DEE9-7FFB-A78F-0322-095228672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987AD-CD64-C12D-E630-A409E1E748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94EE0E-FEA5-A27F-3ADB-94C212932B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1036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A8A8D-B0FA-D755-7559-F27DEF7D2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F4428-5CA6-130A-28C2-9AEB8F88D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24DCF-05B6-5955-DB21-709E16FB82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C824-3AE3-29E1-A1F2-27B17651C4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37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6"/>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5594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36691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833" y="4406901"/>
            <a:ext cx="10360501"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034517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441"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5986"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59829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441" y="1535113"/>
            <a:ext cx="538551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441" y="2174875"/>
            <a:ext cx="538551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1754" y="1535113"/>
            <a:ext cx="538763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1754" y="2174875"/>
            <a:ext cx="538763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7772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280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438930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2" y="273050"/>
            <a:ext cx="401003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5492" y="273051"/>
            <a:ext cx="681389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442" y="1435101"/>
            <a:ext cx="401003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01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095" y="612775"/>
            <a:ext cx="731329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095" y="5367338"/>
            <a:ext cx="731329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84978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4114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274639"/>
            <a:ext cx="274248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441" y="274639"/>
            <a:ext cx="802431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29823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37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71351" y="1775355"/>
            <a:ext cx="6475313" cy="1225021"/>
          </a:xfrm>
        </p:spPr>
        <p:txBody>
          <a:bodyPr/>
          <a:lstStyle/>
          <a:p>
            <a:r>
              <a:rPr lang="en-US"/>
              <a:t>Click to edit Master title style</a:t>
            </a:r>
          </a:p>
        </p:txBody>
      </p:sp>
      <p:sp>
        <p:nvSpPr>
          <p:cNvPr id="3" name="Subtitle 2"/>
          <p:cNvSpPr>
            <a:spLocks noGrp="1"/>
          </p:cNvSpPr>
          <p:nvPr>
            <p:ph type="subTitle" idx="1"/>
          </p:nvPr>
        </p:nvSpPr>
        <p:spPr>
          <a:xfrm>
            <a:off x="1142702" y="3238500"/>
            <a:ext cx="5332611" cy="1460500"/>
          </a:xfrm>
        </p:spPr>
        <p:txBody>
          <a:bodyPr/>
          <a:lstStyle>
            <a:lvl1pPr marL="0" indent="0" algn="ctr">
              <a:buNone/>
              <a:defRPr>
                <a:solidFill>
                  <a:schemeClr val="tx1">
                    <a:tint val="75000"/>
                  </a:schemeClr>
                </a:solidFill>
              </a:defRPr>
            </a:lvl1pPr>
            <a:lvl2pPr marL="380893" indent="0" algn="ctr">
              <a:buNone/>
              <a:defRPr>
                <a:solidFill>
                  <a:schemeClr val="tx1">
                    <a:tint val="75000"/>
                  </a:schemeClr>
                </a:solidFill>
              </a:defRPr>
            </a:lvl2pPr>
            <a:lvl3pPr marL="761787" indent="0" algn="ctr">
              <a:buNone/>
              <a:defRPr>
                <a:solidFill>
                  <a:schemeClr val="tx1">
                    <a:tint val="75000"/>
                  </a:schemeClr>
                </a:solidFill>
              </a:defRPr>
            </a:lvl3pPr>
            <a:lvl4pPr marL="1142680" indent="0" algn="ctr">
              <a:buNone/>
              <a:defRPr>
                <a:solidFill>
                  <a:schemeClr val="tx1">
                    <a:tint val="75000"/>
                  </a:schemeClr>
                </a:solidFill>
              </a:defRPr>
            </a:lvl4pPr>
            <a:lvl5pPr marL="1523573" indent="0" algn="ctr">
              <a:buNone/>
              <a:defRPr>
                <a:solidFill>
                  <a:schemeClr val="tx1">
                    <a:tint val="75000"/>
                  </a:schemeClr>
                </a:solidFill>
              </a:defRPr>
            </a:lvl5pPr>
            <a:lvl6pPr marL="1904467" indent="0" algn="ctr">
              <a:buNone/>
              <a:defRPr>
                <a:solidFill>
                  <a:schemeClr val="tx1">
                    <a:tint val="75000"/>
                  </a:schemeClr>
                </a:solidFill>
              </a:defRPr>
            </a:lvl6pPr>
            <a:lvl7pPr marL="2285360" indent="0" algn="ctr">
              <a:buNone/>
              <a:defRPr>
                <a:solidFill>
                  <a:schemeClr val="tx1">
                    <a:tint val="75000"/>
                  </a:schemeClr>
                </a:solidFill>
              </a:defRPr>
            </a:lvl7pPr>
            <a:lvl8pPr marL="2666253" indent="0" algn="ctr">
              <a:buNone/>
              <a:defRPr>
                <a:solidFill>
                  <a:schemeClr val="tx1">
                    <a:tint val="75000"/>
                  </a:schemeClr>
                </a:solidFill>
              </a:defRPr>
            </a:lvl8pPr>
            <a:lvl9pPr marL="304714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10725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50327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1771" y="3672417"/>
            <a:ext cx="6475313" cy="1135063"/>
          </a:xfrm>
        </p:spPr>
        <p:txBody>
          <a:bodyPr anchor="t"/>
          <a:lstStyle>
            <a:lvl1pPr algn="l">
              <a:defRPr sz="3332" b="1" cap="all"/>
            </a:lvl1pPr>
          </a:lstStyle>
          <a:p>
            <a:r>
              <a:rPr lang="en-US"/>
              <a:t>Click to edit Master title style</a:t>
            </a:r>
          </a:p>
        </p:txBody>
      </p:sp>
      <p:sp>
        <p:nvSpPr>
          <p:cNvPr id="3" name="Text Placeholder 2"/>
          <p:cNvSpPr>
            <a:spLocks noGrp="1"/>
          </p:cNvSpPr>
          <p:nvPr>
            <p:ph type="body" idx="1"/>
          </p:nvPr>
        </p:nvSpPr>
        <p:spPr>
          <a:xfrm>
            <a:off x="601771" y="2422261"/>
            <a:ext cx="6475313" cy="1250156"/>
          </a:xfrm>
        </p:spPr>
        <p:txBody>
          <a:bodyPr anchor="b"/>
          <a:lstStyle>
            <a:lvl1pPr marL="0" indent="0">
              <a:buNone/>
              <a:defRPr sz="1666">
                <a:solidFill>
                  <a:schemeClr val="tx1">
                    <a:tint val="75000"/>
                  </a:schemeClr>
                </a:solidFill>
              </a:defRPr>
            </a:lvl1pPr>
            <a:lvl2pPr marL="380893" indent="0">
              <a:buNone/>
              <a:defRPr sz="1500">
                <a:solidFill>
                  <a:schemeClr val="tx1">
                    <a:tint val="75000"/>
                  </a:schemeClr>
                </a:solidFill>
              </a:defRPr>
            </a:lvl2pPr>
            <a:lvl3pPr marL="761787" indent="0">
              <a:buNone/>
              <a:defRPr sz="1333">
                <a:solidFill>
                  <a:schemeClr val="tx1">
                    <a:tint val="75000"/>
                  </a:schemeClr>
                </a:solidFill>
              </a:defRPr>
            </a:lvl3pPr>
            <a:lvl4pPr marL="1142680" indent="0">
              <a:buNone/>
              <a:defRPr sz="1166">
                <a:solidFill>
                  <a:schemeClr val="tx1">
                    <a:tint val="75000"/>
                  </a:schemeClr>
                </a:solidFill>
              </a:defRPr>
            </a:lvl4pPr>
            <a:lvl5pPr marL="1523573" indent="0">
              <a:buNone/>
              <a:defRPr sz="1166">
                <a:solidFill>
                  <a:schemeClr val="tx1">
                    <a:tint val="75000"/>
                  </a:schemeClr>
                </a:solidFill>
              </a:defRPr>
            </a:lvl5pPr>
            <a:lvl6pPr marL="1904467" indent="0">
              <a:buNone/>
              <a:defRPr sz="1166">
                <a:solidFill>
                  <a:schemeClr val="tx1">
                    <a:tint val="75000"/>
                  </a:schemeClr>
                </a:solidFill>
              </a:defRPr>
            </a:lvl6pPr>
            <a:lvl7pPr marL="2285360" indent="0">
              <a:buNone/>
              <a:defRPr sz="1166">
                <a:solidFill>
                  <a:schemeClr val="tx1">
                    <a:tint val="75000"/>
                  </a:schemeClr>
                </a:solidFill>
              </a:defRPr>
            </a:lvl7pPr>
            <a:lvl8pPr marL="2666253" indent="0">
              <a:buNone/>
              <a:defRPr sz="1166">
                <a:solidFill>
                  <a:schemeClr val="tx1">
                    <a:tint val="75000"/>
                  </a:schemeClr>
                </a:solidFill>
              </a:defRPr>
            </a:lvl8pPr>
            <a:lvl9pPr marL="3047147" indent="0">
              <a:buNone/>
              <a:defRPr sz="116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736872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8090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87249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101084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80901" y="1279261"/>
            <a:ext cx="3365947"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4" name="Content Placeholder 3"/>
          <p:cNvSpPr>
            <a:spLocks noGrp="1"/>
          </p:cNvSpPr>
          <p:nvPr>
            <p:ph sz="half" idx="2"/>
          </p:nvPr>
        </p:nvSpPr>
        <p:spPr>
          <a:xfrm>
            <a:off x="380901" y="1812396"/>
            <a:ext cx="3365947"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869846" y="1279261"/>
            <a:ext cx="3367269"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6" name="Content Placeholder 5"/>
          <p:cNvSpPr>
            <a:spLocks noGrp="1"/>
          </p:cNvSpPr>
          <p:nvPr>
            <p:ph sz="quarter" idx="4"/>
          </p:nvPr>
        </p:nvSpPr>
        <p:spPr>
          <a:xfrm>
            <a:off x="3869846" y="1812396"/>
            <a:ext cx="3367269"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70488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94422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211529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80901" y="227542"/>
            <a:ext cx="2506275" cy="968375"/>
          </a:xfrm>
        </p:spPr>
        <p:txBody>
          <a:bodyPr anchor="b"/>
          <a:lstStyle>
            <a:lvl1pPr algn="l">
              <a:defRPr sz="1666" b="1"/>
            </a:lvl1pPr>
          </a:lstStyle>
          <a:p>
            <a:r>
              <a:rPr lang="en-US"/>
              <a:t>Click to edit Master title style</a:t>
            </a:r>
          </a:p>
        </p:txBody>
      </p:sp>
      <p:sp>
        <p:nvSpPr>
          <p:cNvPr id="3" name="Content Placeholder 2"/>
          <p:cNvSpPr>
            <a:spLocks noGrp="1"/>
          </p:cNvSpPr>
          <p:nvPr>
            <p:ph idx="1"/>
          </p:nvPr>
        </p:nvSpPr>
        <p:spPr>
          <a:xfrm>
            <a:off x="2978433" y="227542"/>
            <a:ext cx="4258682" cy="4877594"/>
          </a:xfrm>
        </p:spPr>
        <p:txBody>
          <a:bodyPr/>
          <a:lstStyle>
            <a:lvl1pPr>
              <a:defRPr sz="2666"/>
            </a:lvl1pPr>
            <a:lvl2pPr>
              <a:defRPr sz="2333"/>
            </a:lvl2pPr>
            <a:lvl3pPr>
              <a:defRPr sz="1999"/>
            </a:lvl3pPr>
            <a:lvl4pPr>
              <a:defRPr sz="1666"/>
            </a:lvl4pPr>
            <a:lvl5pPr>
              <a:defRPr sz="1666"/>
            </a:lvl5pPr>
            <a:lvl6pPr>
              <a:defRPr sz="1666"/>
            </a:lvl6pPr>
            <a:lvl7pPr>
              <a:defRPr sz="1666"/>
            </a:lvl7pPr>
            <a:lvl8pPr>
              <a:defRPr sz="1666"/>
            </a:lvl8pPr>
            <a:lvl9pPr>
              <a:defRPr sz="16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80901" y="1195917"/>
            <a:ext cx="2506275" cy="3909219"/>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9852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93185" y="4000500"/>
            <a:ext cx="4570809" cy="472282"/>
          </a:xfrm>
        </p:spPr>
        <p:txBody>
          <a:bodyPr anchor="b"/>
          <a:lstStyle>
            <a:lvl1pPr algn="l">
              <a:defRPr sz="1666" b="1"/>
            </a:lvl1pPr>
          </a:lstStyle>
          <a:p>
            <a:r>
              <a:rPr lang="en-US"/>
              <a:t>Click to edit Master title style</a:t>
            </a:r>
          </a:p>
        </p:txBody>
      </p:sp>
      <p:sp>
        <p:nvSpPr>
          <p:cNvPr id="3" name="Picture Placeholder 2"/>
          <p:cNvSpPr>
            <a:spLocks noGrp="1"/>
          </p:cNvSpPr>
          <p:nvPr>
            <p:ph type="pic" idx="1"/>
          </p:nvPr>
        </p:nvSpPr>
        <p:spPr>
          <a:xfrm>
            <a:off x="1493185" y="510646"/>
            <a:ext cx="4570809" cy="3429000"/>
          </a:xfrm>
        </p:spPr>
        <p:txBody>
          <a:bodyPr/>
          <a:lstStyle>
            <a:lvl1pPr marL="0" indent="0">
              <a:buNone/>
              <a:defRPr sz="2666"/>
            </a:lvl1pPr>
            <a:lvl2pPr marL="380893" indent="0">
              <a:buNone/>
              <a:defRPr sz="2333"/>
            </a:lvl2pPr>
            <a:lvl3pPr marL="761787" indent="0">
              <a:buNone/>
              <a:defRPr sz="1999"/>
            </a:lvl3pPr>
            <a:lvl4pPr marL="1142680" indent="0">
              <a:buNone/>
              <a:defRPr sz="1666"/>
            </a:lvl4pPr>
            <a:lvl5pPr marL="1523573" indent="0">
              <a:buNone/>
              <a:defRPr sz="1666"/>
            </a:lvl5pPr>
            <a:lvl6pPr marL="1904467" indent="0">
              <a:buNone/>
              <a:defRPr sz="1666"/>
            </a:lvl6pPr>
            <a:lvl7pPr marL="2285360" indent="0">
              <a:buNone/>
              <a:defRPr sz="1666"/>
            </a:lvl7pPr>
            <a:lvl8pPr marL="2666253" indent="0">
              <a:buNone/>
              <a:defRPr sz="1666"/>
            </a:lvl8pPr>
            <a:lvl9pPr marL="3047147" indent="0">
              <a:buNone/>
              <a:defRPr sz="1666"/>
            </a:lvl9pPr>
          </a:lstStyle>
          <a:p>
            <a:endParaRPr lang="en-US"/>
          </a:p>
        </p:txBody>
      </p:sp>
      <p:sp>
        <p:nvSpPr>
          <p:cNvPr id="4" name="Text Placeholder 3"/>
          <p:cNvSpPr>
            <a:spLocks noGrp="1"/>
          </p:cNvSpPr>
          <p:nvPr>
            <p:ph type="body" sz="half" idx="2"/>
          </p:nvPr>
        </p:nvSpPr>
        <p:spPr>
          <a:xfrm>
            <a:off x="1493185" y="4472782"/>
            <a:ext cx="4570809" cy="670718"/>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79072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477197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23061" y="228865"/>
            <a:ext cx="1714054" cy="487627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80901" y="228865"/>
            <a:ext cx="5015194" cy="48762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111853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70392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32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8"/>
            <a:ext cx="10969943"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441" y="1600201"/>
            <a:ext cx="10969943"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557121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6"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0901" y="228865"/>
            <a:ext cx="6856214"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80901" y="1333500"/>
            <a:ext cx="6856214"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80901" y="5296959"/>
            <a:ext cx="1777537" cy="304271"/>
          </a:xfrm>
          <a:prstGeom prst="rect">
            <a:avLst/>
          </a:prstGeom>
        </p:spPr>
        <p:txBody>
          <a:bodyPr vert="horz" lIns="91440" tIns="45720" rIns="91440" bIns="45720" rtlCol="0" anchor="ctr"/>
          <a:lstStyle>
            <a:lvl1pPr algn="l">
              <a:defRPr sz="10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2602822" y="5296959"/>
            <a:ext cx="2412372" cy="304271"/>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59578" y="5296959"/>
            <a:ext cx="1777537" cy="304271"/>
          </a:xfrm>
          <a:prstGeom prst="rect">
            <a:avLst/>
          </a:prstGeom>
        </p:spPr>
        <p:txBody>
          <a:bodyPr vert="horz" lIns="91440" tIns="45720" rIns="91440" bIns="45720" rtlCol="0" anchor="ctr"/>
          <a:lstStyle>
            <a:lvl1pPr algn="r">
              <a:defRPr sz="10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78603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7" r:id="rId12"/>
  </p:sldLayoutIdLst>
  <p:txStyles>
    <p:titleStyle>
      <a:lvl1pPr algn="ctr" defTabSz="380893" rtl="0" eaLnBrk="1" latinLnBrk="0" hangingPunct="1">
        <a:spcBef>
          <a:spcPct val="0"/>
        </a:spcBef>
        <a:buNone/>
        <a:defRPr sz="3666" kern="1200">
          <a:solidFill>
            <a:schemeClr val="tx1"/>
          </a:solidFill>
          <a:latin typeface="+mj-lt"/>
          <a:ea typeface="+mj-ea"/>
          <a:cs typeface="+mj-cs"/>
        </a:defRPr>
      </a:lvl1pPr>
    </p:titleStyle>
    <p:bodyStyle>
      <a:lvl1pPr marL="285670" indent="-285670" algn="l" defTabSz="380893" rtl="0" eaLnBrk="1" latinLnBrk="0" hangingPunct="1">
        <a:spcBef>
          <a:spcPct val="20000"/>
        </a:spcBef>
        <a:buFont typeface="Arial"/>
        <a:buChar char="•"/>
        <a:defRPr sz="2666" kern="1200">
          <a:solidFill>
            <a:schemeClr val="tx1"/>
          </a:solidFill>
          <a:latin typeface="+mn-lt"/>
          <a:ea typeface="+mn-ea"/>
          <a:cs typeface="+mn-cs"/>
        </a:defRPr>
      </a:lvl1pPr>
      <a:lvl2pPr marL="618952" indent="-238058" algn="l" defTabSz="380893" rtl="0" eaLnBrk="1" latinLnBrk="0" hangingPunct="1">
        <a:spcBef>
          <a:spcPct val="20000"/>
        </a:spcBef>
        <a:buFont typeface="Arial"/>
        <a:buChar char="–"/>
        <a:defRPr sz="2333" kern="1200">
          <a:solidFill>
            <a:schemeClr val="tx1"/>
          </a:solidFill>
          <a:latin typeface="+mn-lt"/>
          <a:ea typeface="+mn-ea"/>
          <a:cs typeface="+mn-cs"/>
        </a:defRPr>
      </a:lvl2pPr>
      <a:lvl3pPr marL="952233" indent="-190447" algn="l" defTabSz="380893" rtl="0" eaLnBrk="1" latinLnBrk="0" hangingPunct="1">
        <a:spcBef>
          <a:spcPct val="20000"/>
        </a:spcBef>
        <a:buFont typeface="Arial"/>
        <a:buChar char="•"/>
        <a:defRPr sz="1999" kern="1200">
          <a:solidFill>
            <a:schemeClr val="tx1"/>
          </a:solidFill>
          <a:latin typeface="+mn-lt"/>
          <a:ea typeface="+mn-ea"/>
          <a:cs typeface="+mn-cs"/>
        </a:defRPr>
      </a:lvl3pPr>
      <a:lvl4pPr marL="1333127" indent="-190447" algn="l" defTabSz="380893" rtl="0" eaLnBrk="1" latinLnBrk="0" hangingPunct="1">
        <a:spcBef>
          <a:spcPct val="20000"/>
        </a:spcBef>
        <a:buFont typeface="Arial"/>
        <a:buChar char="–"/>
        <a:defRPr sz="1666" kern="1200">
          <a:solidFill>
            <a:schemeClr val="tx1"/>
          </a:solidFill>
          <a:latin typeface="+mn-lt"/>
          <a:ea typeface="+mn-ea"/>
          <a:cs typeface="+mn-cs"/>
        </a:defRPr>
      </a:lvl4pPr>
      <a:lvl5pPr marL="1714020" indent="-190447" algn="l" defTabSz="380893" rtl="0" eaLnBrk="1" latinLnBrk="0" hangingPunct="1">
        <a:spcBef>
          <a:spcPct val="20000"/>
        </a:spcBef>
        <a:buFont typeface="Arial"/>
        <a:buChar char="»"/>
        <a:defRPr sz="1666" kern="1200">
          <a:solidFill>
            <a:schemeClr val="tx1"/>
          </a:solidFill>
          <a:latin typeface="+mn-lt"/>
          <a:ea typeface="+mn-ea"/>
          <a:cs typeface="+mn-cs"/>
        </a:defRPr>
      </a:lvl5pPr>
      <a:lvl6pPr marL="2094913" indent="-190447" algn="l" defTabSz="380893" rtl="0" eaLnBrk="1" latinLnBrk="0" hangingPunct="1">
        <a:spcBef>
          <a:spcPct val="20000"/>
        </a:spcBef>
        <a:buFont typeface="Arial"/>
        <a:buChar char="•"/>
        <a:defRPr sz="1666" kern="1200">
          <a:solidFill>
            <a:schemeClr val="tx1"/>
          </a:solidFill>
          <a:latin typeface="+mn-lt"/>
          <a:ea typeface="+mn-ea"/>
          <a:cs typeface="+mn-cs"/>
        </a:defRPr>
      </a:lvl6pPr>
      <a:lvl7pPr marL="2475807" indent="-190447" algn="l" defTabSz="380893" rtl="0" eaLnBrk="1" latinLnBrk="0" hangingPunct="1">
        <a:spcBef>
          <a:spcPct val="20000"/>
        </a:spcBef>
        <a:buFont typeface="Arial"/>
        <a:buChar char="•"/>
        <a:defRPr sz="1666" kern="1200">
          <a:solidFill>
            <a:schemeClr val="tx1"/>
          </a:solidFill>
          <a:latin typeface="+mn-lt"/>
          <a:ea typeface="+mn-ea"/>
          <a:cs typeface="+mn-cs"/>
        </a:defRPr>
      </a:lvl7pPr>
      <a:lvl8pPr marL="2856700" indent="-190447" algn="l" defTabSz="380893" rtl="0" eaLnBrk="1" latinLnBrk="0" hangingPunct="1">
        <a:spcBef>
          <a:spcPct val="20000"/>
        </a:spcBef>
        <a:buFont typeface="Arial"/>
        <a:buChar char="•"/>
        <a:defRPr sz="1666" kern="1200">
          <a:solidFill>
            <a:schemeClr val="tx1"/>
          </a:solidFill>
          <a:latin typeface="+mn-lt"/>
          <a:ea typeface="+mn-ea"/>
          <a:cs typeface="+mn-cs"/>
        </a:defRPr>
      </a:lvl8pPr>
      <a:lvl9pPr marL="3237593" indent="-190447" algn="l" defTabSz="380893" rtl="0" eaLnBrk="1" latinLnBrk="0" hangingPunct="1">
        <a:spcBef>
          <a:spcPct val="20000"/>
        </a:spcBef>
        <a:buFont typeface="Arial"/>
        <a:buChar char="•"/>
        <a:defRPr sz="1666" kern="1200">
          <a:solidFill>
            <a:schemeClr val="tx1"/>
          </a:solidFill>
          <a:latin typeface="+mn-lt"/>
          <a:ea typeface="+mn-ea"/>
          <a:cs typeface="+mn-cs"/>
        </a:defRPr>
      </a:lvl9pPr>
    </p:bodyStyle>
    <p:otherStyle>
      <a:defPPr>
        <a:defRPr lang="en-US"/>
      </a:defPPr>
      <a:lvl1pPr marL="0" algn="l" defTabSz="380893" rtl="0" eaLnBrk="1" latinLnBrk="0" hangingPunct="1">
        <a:defRPr sz="1500" kern="1200">
          <a:solidFill>
            <a:schemeClr val="tx1"/>
          </a:solidFill>
          <a:latin typeface="+mn-lt"/>
          <a:ea typeface="+mn-ea"/>
          <a:cs typeface="+mn-cs"/>
        </a:defRPr>
      </a:lvl1pPr>
      <a:lvl2pPr marL="380893" algn="l" defTabSz="380893" rtl="0" eaLnBrk="1" latinLnBrk="0" hangingPunct="1">
        <a:defRPr sz="1500" kern="1200">
          <a:solidFill>
            <a:schemeClr val="tx1"/>
          </a:solidFill>
          <a:latin typeface="+mn-lt"/>
          <a:ea typeface="+mn-ea"/>
          <a:cs typeface="+mn-cs"/>
        </a:defRPr>
      </a:lvl2pPr>
      <a:lvl3pPr marL="761787" algn="l" defTabSz="380893" rtl="0" eaLnBrk="1" latinLnBrk="0" hangingPunct="1">
        <a:defRPr sz="1500" kern="1200">
          <a:solidFill>
            <a:schemeClr val="tx1"/>
          </a:solidFill>
          <a:latin typeface="+mn-lt"/>
          <a:ea typeface="+mn-ea"/>
          <a:cs typeface="+mn-cs"/>
        </a:defRPr>
      </a:lvl3pPr>
      <a:lvl4pPr marL="1142680" algn="l" defTabSz="380893" rtl="0" eaLnBrk="1" latinLnBrk="0" hangingPunct="1">
        <a:defRPr sz="1500" kern="1200">
          <a:solidFill>
            <a:schemeClr val="tx1"/>
          </a:solidFill>
          <a:latin typeface="+mn-lt"/>
          <a:ea typeface="+mn-ea"/>
          <a:cs typeface="+mn-cs"/>
        </a:defRPr>
      </a:lvl4pPr>
      <a:lvl5pPr marL="1523573" algn="l" defTabSz="380893" rtl="0" eaLnBrk="1" latinLnBrk="0" hangingPunct="1">
        <a:defRPr sz="1500" kern="1200">
          <a:solidFill>
            <a:schemeClr val="tx1"/>
          </a:solidFill>
          <a:latin typeface="+mn-lt"/>
          <a:ea typeface="+mn-ea"/>
          <a:cs typeface="+mn-cs"/>
        </a:defRPr>
      </a:lvl5pPr>
      <a:lvl6pPr marL="1904467" algn="l" defTabSz="380893" rtl="0" eaLnBrk="1" latinLnBrk="0" hangingPunct="1">
        <a:defRPr sz="1500" kern="1200">
          <a:solidFill>
            <a:schemeClr val="tx1"/>
          </a:solidFill>
          <a:latin typeface="+mn-lt"/>
          <a:ea typeface="+mn-ea"/>
          <a:cs typeface="+mn-cs"/>
        </a:defRPr>
      </a:lvl6pPr>
      <a:lvl7pPr marL="2285360" algn="l" defTabSz="380893" rtl="0" eaLnBrk="1" latinLnBrk="0" hangingPunct="1">
        <a:defRPr sz="1500" kern="1200">
          <a:solidFill>
            <a:schemeClr val="tx1"/>
          </a:solidFill>
          <a:latin typeface="+mn-lt"/>
          <a:ea typeface="+mn-ea"/>
          <a:cs typeface="+mn-cs"/>
        </a:defRPr>
      </a:lvl7pPr>
      <a:lvl8pPr marL="2666253" algn="l" defTabSz="380893" rtl="0" eaLnBrk="1" latinLnBrk="0" hangingPunct="1">
        <a:defRPr sz="1500" kern="1200">
          <a:solidFill>
            <a:schemeClr val="tx1"/>
          </a:solidFill>
          <a:latin typeface="+mn-lt"/>
          <a:ea typeface="+mn-ea"/>
          <a:cs typeface="+mn-cs"/>
        </a:defRPr>
      </a:lvl8pPr>
      <a:lvl9pPr marL="3047147" algn="l" defTabSz="380893" rtl="0" eaLnBrk="1" latinLnBrk="0" hangingPunct="1">
        <a:defRPr sz="15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622721"/>
      </p:ext>
    </p:extLst>
  </p:cSld>
  <p:clrMap bg1="lt1" tx1="dk1" bg2="lt2" tx2="dk2" accent1="accent1" accent2="accent2" accent3="accent3" accent4="accent4" accent5="accent5" accent6="accent6" hlink="hlink" folHlink="folHlink"/>
  <p:sldLayoutIdLst>
    <p:sldLayoutId id="214748368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3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E1A"/>
        </a:solidFill>
        <a:effectLst/>
      </p:bgPr>
    </p:bg>
    <p:spTree>
      <p:nvGrpSpPr>
        <p:cNvPr id="1" name=""/>
        <p:cNvGrpSpPr/>
        <p:nvPr/>
      </p:nvGrpSpPr>
      <p:grpSpPr>
        <a:xfrm>
          <a:off x="0" y="0"/>
          <a:ext cx="0" cy="0"/>
          <a:chOff x="0" y="0"/>
          <a:chExt cx="0" cy="0"/>
        </a:xfrm>
      </p:grpSpPr>
      <p:sp>
        <p:nvSpPr>
          <p:cNvPr id="4" name="Rectangle 3"/>
          <p:cNvSpPr/>
          <p:nvPr/>
        </p:nvSpPr>
        <p:spPr>
          <a:xfrm>
            <a:off x="4754880" y="50292"/>
            <a:ext cx="45719" cy="6807708"/>
          </a:xfrm>
          <a:prstGeom prst="rect">
            <a:avLst/>
          </a:prstGeom>
          <a:solidFill>
            <a:srgbClr val="00C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5" name="TextBox 4"/>
          <p:cNvSpPr txBox="1"/>
          <p:nvPr/>
        </p:nvSpPr>
        <p:spPr>
          <a:xfrm>
            <a:off x="512941" y="2234881"/>
            <a:ext cx="2281556" cy="1569660"/>
          </a:xfrm>
          <a:prstGeom prst="rect">
            <a:avLst/>
          </a:prstGeom>
          <a:noFill/>
        </p:spPr>
        <p:txBody>
          <a:bodyPr wrap="square">
            <a:spAutoFit/>
          </a:bodyPr>
          <a:lstStyle/>
          <a:p>
            <a:pPr algn="ctr"/>
            <a:r>
              <a:rPr sz="9600" b="1" dirty="0">
                <a:solidFill>
                  <a:srgbClr val="00C896"/>
                </a:solidFill>
                <a:latin typeface="Candara" panose="020E0502030303020204" pitchFamily="34" charset="0"/>
              </a:rPr>
              <a:t>IoT</a:t>
            </a:r>
          </a:p>
        </p:txBody>
      </p:sp>
      <p:sp>
        <p:nvSpPr>
          <p:cNvPr id="12" name="TextBox 11"/>
          <p:cNvSpPr txBox="1"/>
          <p:nvPr/>
        </p:nvSpPr>
        <p:spPr>
          <a:xfrm>
            <a:off x="2685119" y="2119443"/>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Backend</a:t>
            </a:r>
          </a:p>
        </p:txBody>
      </p:sp>
      <p:sp>
        <p:nvSpPr>
          <p:cNvPr id="15" name="TextBox 14"/>
          <p:cNvSpPr txBox="1"/>
          <p:nvPr/>
        </p:nvSpPr>
        <p:spPr>
          <a:xfrm>
            <a:off x="2685119" y="1453537"/>
            <a:ext cx="1030756" cy="307777"/>
          </a:xfrm>
          <a:prstGeom prst="rect">
            <a:avLst/>
          </a:prstGeom>
          <a:noFill/>
        </p:spPr>
        <p:txBody>
          <a:bodyPr wrap="square">
            <a:spAutoFit/>
          </a:bodyPr>
          <a:lstStyle/>
          <a:p>
            <a:r>
              <a:rPr sz="1400" b="1" i="0" dirty="0">
                <a:solidFill>
                  <a:srgbClr val="009A72"/>
                </a:solidFill>
                <a:latin typeface="Candara" panose="020E0502030303020204" pitchFamily="34" charset="0"/>
                <a:ea typeface="Cambria Math" panose="02040503050406030204" pitchFamily="18" charset="0"/>
              </a:rPr>
              <a:t>React</a:t>
            </a:r>
            <a:r>
              <a:rPr lang="en-US" sz="1400" b="1" i="0"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SPA</a:t>
            </a:r>
            <a:endParaRPr sz="1400" b="1" i="0" dirty="0">
              <a:solidFill>
                <a:srgbClr val="009A72"/>
              </a:solidFill>
              <a:latin typeface="Candara" panose="020E0502030303020204" pitchFamily="34" charset="0"/>
              <a:ea typeface="Cambria Math" panose="02040503050406030204" pitchFamily="18" charset="0"/>
            </a:endParaRPr>
          </a:p>
        </p:txBody>
      </p:sp>
      <p:sp>
        <p:nvSpPr>
          <p:cNvPr id="16" name="TextBox 15"/>
          <p:cNvSpPr txBox="1"/>
          <p:nvPr/>
        </p:nvSpPr>
        <p:spPr>
          <a:xfrm>
            <a:off x="2685119" y="1151432"/>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Frontend</a:t>
            </a:r>
          </a:p>
        </p:txBody>
      </p:sp>
      <p:sp>
        <p:nvSpPr>
          <p:cNvPr id="19" name="TextBox 18"/>
          <p:cNvSpPr txBox="1"/>
          <p:nvPr/>
        </p:nvSpPr>
        <p:spPr>
          <a:xfrm>
            <a:off x="2685119" y="4313770"/>
            <a:ext cx="1943028" cy="523220"/>
          </a:xfrm>
          <a:prstGeom prst="rect">
            <a:avLst/>
          </a:prstGeom>
          <a:noFill/>
        </p:spPr>
        <p:txBody>
          <a:bodyPr wrap="square">
            <a:spAutoFit/>
          </a:bodyPr>
          <a:lstStyle/>
          <a:p>
            <a:r>
              <a:rPr sz="1400" b="1" i="0" dirty="0" err="1">
                <a:solidFill>
                  <a:srgbClr val="00B8D4"/>
                </a:solidFill>
                <a:latin typeface="Candara" panose="020E0502030303020204" pitchFamily="34" charset="0"/>
                <a:ea typeface="Cambria Math" panose="02040503050406030204" pitchFamily="18" charset="0"/>
              </a:rPr>
              <a:t>SignalR</a:t>
            </a:r>
            <a:r>
              <a:rPr lang="en-US" sz="1400" b="1" dirty="0">
                <a:solidFill>
                  <a:srgbClr val="00B8D4"/>
                </a:solidFill>
                <a:latin typeface="Candara" panose="020E0502030303020204" pitchFamily="34" charset="0"/>
                <a:ea typeface="Cambria Math" panose="02040503050406030204" pitchFamily="18" charset="0"/>
              </a:rPr>
              <a:t> | Web Service</a:t>
            </a:r>
            <a:r>
              <a:rPr lang="en-US" sz="1400" b="1" i="0" dirty="0">
                <a:solidFill>
                  <a:srgbClr val="00B8D4"/>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Hub</a:t>
            </a:r>
            <a:endParaRPr sz="1400" b="1" i="0" dirty="0">
              <a:solidFill>
                <a:srgbClr val="00B8D4"/>
              </a:solidFill>
              <a:latin typeface="Candara" panose="020E0502030303020204" pitchFamily="34" charset="0"/>
              <a:ea typeface="Cambria Math" panose="02040503050406030204" pitchFamily="18" charset="0"/>
            </a:endParaRPr>
          </a:p>
        </p:txBody>
      </p:sp>
      <p:sp>
        <p:nvSpPr>
          <p:cNvPr id="20" name="TextBox 19"/>
          <p:cNvSpPr txBox="1"/>
          <p:nvPr/>
        </p:nvSpPr>
        <p:spPr>
          <a:xfrm>
            <a:off x="2685119" y="4015828"/>
            <a:ext cx="1385909"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Real-Time</a:t>
            </a:r>
          </a:p>
        </p:txBody>
      </p:sp>
      <p:sp>
        <p:nvSpPr>
          <p:cNvPr id="23" name="TextBox 22"/>
          <p:cNvSpPr txBox="1"/>
          <p:nvPr/>
        </p:nvSpPr>
        <p:spPr>
          <a:xfrm>
            <a:off x="2685119" y="3487132"/>
            <a:ext cx="1227295" cy="307777"/>
          </a:xfrm>
          <a:prstGeom prst="rect">
            <a:avLst/>
          </a:prstGeom>
          <a:noFill/>
        </p:spPr>
        <p:txBody>
          <a:bodyPr wrap="square">
            <a:spAutoFit/>
          </a:bodyPr>
          <a:lstStyle/>
          <a:p>
            <a:r>
              <a:rPr sz="1400" b="1" i="0" dirty="0">
                <a:solidFill>
                  <a:srgbClr val="F0A500"/>
                </a:solidFill>
                <a:latin typeface="Candara" panose="020E0502030303020204" pitchFamily="34" charset="0"/>
                <a:ea typeface="Cambria Math" panose="02040503050406030204" pitchFamily="18" charset="0"/>
              </a:rPr>
              <a:t>SQL Server</a:t>
            </a:r>
          </a:p>
        </p:txBody>
      </p:sp>
      <p:sp>
        <p:nvSpPr>
          <p:cNvPr id="24" name="TextBox 23"/>
          <p:cNvSpPr txBox="1"/>
          <p:nvPr/>
        </p:nvSpPr>
        <p:spPr>
          <a:xfrm>
            <a:off x="2685119" y="3188398"/>
            <a:ext cx="1057760"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Database</a:t>
            </a:r>
          </a:p>
        </p:txBody>
      </p:sp>
      <p:sp>
        <p:nvSpPr>
          <p:cNvPr id="27" name="TextBox 26"/>
          <p:cNvSpPr txBox="1"/>
          <p:nvPr/>
        </p:nvSpPr>
        <p:spPr>
          <a:xfrm>
            <a:off x="4846320" y="1657779"/>
            <a:ext cx="7040880" cy="1077218"/>
          </a:xfrm>
          <a:prstGeom prst="rect">
            <a:avLst/>
          </a:prstGeom>
          <a:noFill/>
        </p:spPr>
        <p:txBody>
          <a:bodyPr wrap="square">
            <a:spAutoFit/>
          </a:bodyPr>
          <a:lstStyle/>
          <a:p>
            <a:pPr algn="r"/>
            <a:r>
              <a:rPr sz="3200" b="1" dirty="0">
                <a:solidFill>
                  <a:srgbClr val="E8F5EE"/>
                </a:solidFill>
                <a:latin typeface="Candara" panose="020E0502030303020204" pitchFamily="34" charset="0"/>
              </a:rPr>
              <a:t>Web-Based IoT Device</a:t>
            </a:r>
          </a:p>
          <a:p>
            <a:pPr algn="r"/>
            <a:r>
              <a:rPr sz="3200" b="1" dirty="0">
                <a:solidFill>
                  <a:srgbClr val="00C896"/>
                </a:solidFill>
                <a:latin typeface="Candara" panose="020E0502030303020204" pitchFamily="34" charset="0"/>
              </a:rPr>
              <a:t>Real-Time Monitoring</a:t>
            </a:r>
            <a:r>
              <a:rPr lang="en-US" sz="3200" b="1" dirty="0">
                <a:solidFill>
                  <a:srgbClr val="00C896"/>
                </a:solidFill>
                <a:latin typeface="Candara" panose="020E0502030303020204" pitchFamily="34" charset="0"/>
              </a:rPr>
              <a:t> </a:t>
            </a:r>
            <a:r>
              <a:rPr sz="3200" b="1" dirty="0">
                <a:solidFill>
                  <a:srgbClr val="00C896"/>
                </a:solidFill>
                <a:latin typeface="Candara" panose="020E0502030303020204" pitchFamily="34" charset="0"/>
              </a:rPr>
              <a:t>System</a:t>
            </a:r>
          </a:p>
        </p:txBody>
      </p:sp>
      <p:sp>
        <p:nvSpPr>
          <p:cNvPr id="32" name="TextBox 31"/>
          <p:cNvSpPr txBox="1"/>
          <p:nvPr/>
        </p:nvSpPr>
        <p:spPr>
          <a:xfrm>
            <a:off x="6675120" y="3583216"/>
            <a:ext cx="5120640" cy="1231106"/>
          </a:xfrm>
          <a:prstGeom prst="rect">
            <a:avLst/>
          </a:prstGeom>
          <a:noFill/>
          <a:ln>
            <a:noFill/>
          </a:ln>
        </p:spPr>
        <p:txBody>
          <a:bodyPr wrap="square">
            <a:spAutoFit/>
          </a:bodyPr>
          <a:lstStyle/>
          <a:p>
            <a:pPr algn="r"/>
            <a:r>
              <a:rPr lang="en-US" b="1" dirty="0">
                <a:solidFill>
                  <a:srgbClr val="00C896"/>
                </a:solidFill>
                <a:latin typeface="Candara" panose="020E0502030303020204" pitchFamily="34" charset="0"/>
              </a:rPr>
              <a:t>CAPSTONE PROJECT</a:t>
            </a:r>
          </a:p>
          <a:p>
            <a:pPr algn="r"/>
            <a:endParaRPr lang="en-US" sz="1400" b="0" i="0" dirty="0">
              <a:solidFill>
                <a:srgbClr val="FFC000"/>
              </a:solidFill>
              <a:latin typeface="Candara" panose="020E0502030303020204" pitchFamily="34" charset="0"/>
            </a:endParaRPr>
          </a:p>
          <a:p>
            <a:pPr algn="r"/>
            <a:r>
              <a:rPr sz="1400" b="0" i="0" dirty="0">
                <a:solidFill>
                  <a:srgbClr val="FFC000"/>
                </a:solidFill>
                <a:latin typeface="Candara" panose="020E0502030303020204" pitchFamily="34" charset="0"/>
              </a:rPr>
              <a:t>BAS — Application Development</a:t>
            </a:r>
            <a:endParaRPr lang="en-US" sz="1400" b="0" i="0" dirty="0">
              <a:solidFill>
                <a:srgbClr val="FFC000"/>
              </a:solidFill>
              <a:latin typeface="Candara" panose="020E0502030303020204" pitchFamily="34" charset="0"/>
            </a:endParaRPr>
          </a:p>
          <a:p>
            <a:pPr algn="r"/>
            <a:r>
              <a:rPr lang="en-US" sz="1400" b="0" i="0" dirty="0">
                <a:solidFill>
                  <a:srgbClr val="E8F5EE"/>
                </a:solidFill>
                <a:latin typeface="Candara" panose="020E0502030303020204" pitchFamily="34" charset="0"/>
              </a:rPr>
              <a:t>Instructor | </a:t>
            </a:r>
            <a:r>
              <a:rPr lang="en-US" sz="1400" b="0" i="1" dirty="0">
                <a:solidFill>
                  <a:srgbClr val="E8F5EE"/>
                </a:solidFill>
                <a:latin typeface="Candara" panose="020E0502030303020204" pitchFamily="34" charset="0"/>
              </a:rPr>
              <a:t> </a:t>
            </a:r>
            <a:r>
              <a:rPr lang="en-US" sz="1400" b="0" dirty="0">
                <a:solidFill>
                  <a:srgbClr val="E8F5EE"/>
                </a:solidFill>
                <a:latin typeface="Candara" panose="020E0502030303020204" pitchFamily="34" charset="0"/>
              </a:rPr>
              <a:t>Naser Chowdhury </a:t>
            </a:r>
            <a:endParaRPr lang="en-US" sz="1400" dirty="0">
              <a:solidFill>
                <a:srgbClr val="E8F5EE"/>
              </a:solidFill>
              <a:latin typeface="Candara" panose="020E0502030303020204" pitchFamily="34" charset="0"/>
            </a:endParaRPr>
          </a:p>
          <a:p>
            <a:pPr algn="r"/>
            <a:r>
              <a:rPr lang="en-US" sz="1400" dirty="0">
                <a:solidFill>
                  <a:srgbClr val="E8F5EE"/>
                </a:solidFill>
                <a:latin typeface="Candara" panose="020E0502030303020204" pitchFamily="34" charset="0"/>
              </a:rPr>
              <a:t>Student | Quoc Bao Tran </a:t>
            </a:r>
          </a:p>
        </p:txBody>
      </p:sp>
      <p:sp>
        <p:nvSpPr>
          <p:cNvPr id="45" name="Rectangle 44"/>
          <p:cNvSpPr/>
          <p:nvPr/>
        </p:nvSpPr>
        <p:spPr>
          <a:xfrm flipV="1">
            <a:off x="0" y="6857999"/>
            <a:ext cx="12188952" cy="45719"/>
          </a:xfrm>
          <a:prstGeom prst="rect">
            <a:avLst/>
          </a:prstGeom>
          <a:solidFill>
            <a:srgbClr val="0E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47" name="TextBox 46">
            <a:extLst>
              <a:ext uri="{FF2B5EF4-FFF2-40B4-BE49-F238E27FC236}">
                <a16:creationId xmlns:a16="http://schemas.microsoft.com/office/drawing/2014/main" id="{E71D83F4-9365-79B9-0BBD-C1AA74F11C60}"/>
              </a:ext>
            </a:extLst>
          </p:cNvPr>
          <p:cNvSpPr txBox="1"/>
          <p:nvPr/>
        </p:nvSpPr>
        <p:spPr>
          <a:xfrm>
            <a:off x="2685119" y="2415632"/>
            <a:ext cx="1524342" cy="523220"/>
          </a:xfrm>
          <a:prstGeom prst="rect">
            <a:avLst/>
          </a:prstGeom>
          <a:noFill/>
        </p:spPr>
        <p:txBody>
          <a:bodyPr wrap="square">
            <a:spAutoFit/>
          </a:bodyPr>
          <a:lstStyle/>
          <a:p>
            <a:r>
              <a:rPr lang="en-US" sz="1400" b="1" dirty="0">
                <a:solidFill>
                  <a:srgbClr val="009A72"/>
                </a:solidFill>
                <a:latin typeface="Candara" panose="020E0502030303020204" pitchFamily="34" charset="0"/>
                <a:ea typeface="Cambria Math" panose="02040503050406030204" pitchFamily="18" charset="0"/>
              </a:rPr>
              <a:t>C#, ASP.NET Core, </a:t>
            </a:r>
            <a:r>
              <a:rPr lang="en-US" sz="1400" b="1" dirty="0" err="1">
                <a:solidFill>
                  <a:srgbClr val="009A72"/>
                </a:solidFill>
                <a:latin typeface="Candara" panose="020E0502030303020204" pitchFamily="34" charset="0"/>
                <a:ea typeface="Cambria Math" panose="02040503050406030204" pitchFamily="18" charset="0"/>
              </a:rPr>
              <a:t>RESt</a:t>
            </a:r>
            <a:r>
              <a:rPr lang="en-US" sz="1400" b="1"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API</a:t>
            </a:r>
            <a:endParaRPr sz="1400" b="1" i="0" dirty="0">
              <a:solidFill>
                <a:srgbClr val="009A72"/>
              </a:solidFill>
              <a:latin typeface="Candara" panose="020E0502030303020204" pitchFamily="34" charset="0"/>
              <a:ea typeface="Cambria Math" panose="02040503050406030204" pitchFamily="18" charset="0"/>
            </a:endParaRPr>
          </a:p>
        </p:txBody>
      </p:sp>
      <p:sp>
        <p:nvSpPr>
          <p:cNvPr id="7" name="TextBox 6">
            <a:extLst>
              <a:ext uri="{FF2B5EF4-FFF2-40B4-BE49-F238E27FC236}">
                <a16:creationId xmlns:a16="http://schemas.microsoft.com/office/drawing/2014/main" id="{3E70D05B-0666-C083-EA65-9FF9DCECD86B}"/>
              </a:ext>
            </a:extLst>
          </p:cNvPr>
          <p:cNvSpPr txBox="1"/>
          <p:nvPr/>
        </p:nvSpPr>
        <p:spPr>
          <a:xfrm>
            <a:off x="2634833" y="4855136"/>
            <a:ext cx="1528909" cy="523220"/>
          </a:xfrm>
          <a:prstGeom prst="rect">
            <a:avLst/>
          </a:prstGeom>
          <a:noFill/>
        </p:spPr>
        <p:txBody>
          <a:bodyPr wrap="square">
            <a:spAutoFit/>
          </a:bodyPr>
          <a:lstStyle/>
          <a:p>
            <a:r>
              <a:rPr lang="en-US" sz="1400" b="1" dirty="0">
                <a:solidFill>
                  <a:srgbClr val="00B050"/>
                </a:solidFill>
                <a:latin typeface="Candara" panose="020E0502030303020204" pitchFamily="34" charset="0"/>
                <a:ea typeface="Cambria Math" panose="02040503050406030204" pitchFamily="18" charset="0"/>
              </a:rPr>
              <a:t>IoT messaging</a:t>
            </a:r>
          </a:p>
          <a:p>
            <a:r>
              <a:rPr lang="en-US" sz="1400" b="1" i="0" dirty="0">
                <a:solidFill>
                  <a:srgbClr val="00B050"/>
                </a:solidFill>
                <a:latin typeface="Candara" panose="020E0502030303020204" pitchFamily="34" charset="0"/>
                <a:ea typeface="Cambria Math" panose="02040503050406030204" pitchFamily="18" charset="0"/>
              </a:rPr>
              <a:t>MQTT Broker</a:t>
            </a:r>
            <a:endParaRPr sz="1400" b="1" i="0" dirty="0">
              <a:solidFill>
                <a:srgbClr val="00B050"/>
              </a:solidFill>
              <a:latin typeface="Candara" panose="020E0502030303020204" pitchFamily="34" charset="0"/>
              <a:ea typeface="Cambria Math"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88952" cy="6858000"/>
          </a:xfrm>
          <a:prstGeom prst="rect">
            <a:avLst/>
          </a:prstGeom>
        </p:spPr>
      </p:pic>
      <p:sp>
        <p:nvSpPr>
          <p:cNvPr id="3" name="TextBox 2"/>
          <p:cNvSpPr txBox="1"/>
          <p:nvPr/>
        </p:nvSpPr>
        <p:spPr>
          <a:xfrm>
            <a:off x="1215390" y="429547"/>
            <a:ext cx="6273546"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Presentation Agenda</a:t>
            </a:r>
          </a:p>
        </p:txBody>
      </p:sp>
      <p:sp>
        <p:nvSpPr>
          <p:cNvPr id="6" name="Rounded Rectangle 5"/>
          <p:cNvSpPr/>
          <p:nvPr/>
        </p:nvSpPr>
        <p:spPr>
          <a:xfrm>
            <a:off x="1353312" y="1408176"/>
            <a:ext cx="3182111"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Rounded Rectangle 7"/>
          <p:cNvSpPr/>
          <p:nvPr/>
        </p:nvSpPr>
        <p:spPr>
          <a:xfrm>
            <a:off x="1472184"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1472184"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01</a:t>
            </a:r>
          </a:p>
        </p:txBody>
      </p:sp>
      <p:sp>
        <p:nvSpPr>
          <p:cNvPr id="10" name="TextBox 9"/>
          <p:cNvSpPr txBox="1"/>
          <p:nvPr/>
        </p:nvSpPr>
        <p:spPr>
          <a:xfrm>
            <a:off x="1975104"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Problem Statement</a:t>
            </a:r>
          </a:p>
        </p:txBody>
      </p:sp>
      <p:sp>
        <p:nvSpPr>
          <p:cNvPr id="11" name="TextBox 10"/>
          <p:cNvSpPr txBox="1"/>
          <p:nvPr/>
        </p:nvSpPr>
        <p:spPr>
          <a:xfrm>
            <a:off x="1975104" y="1975104"/>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Why IoT monitoring matters in industrial settings</a:t>
            </a:r>
          </a:p>
        </p:txBody>
      </p:sp>
      <p:sp>
        <p:nvSpPr>
          <p:cNvPr id="12" name="Rounded Rectangle 11"/>
          <p:cNvSpPr/>
          <p:nvPr/>
        </p:nvSpPr>
        <p:spPr>
          <a:xfrm>
            <a:off x="1353312" y="2679192"/>
            <a:ext cx="3182111"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ounded Rectangle 13"/>
          <p:cNvSpPr/>
          <p:nvPr/>
        </p:nvSpPr>
        <p:spPr>
          <a:xfrm>
            <a:off x="1472184"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472184"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02</a:t>
            </a:r>
          </a:p>
        </p:txBody>
      </p:sp>
      <p:sp>
        <p:nvSpPr>
          <p:cNvPr id="16" name="TextBox 15"/>
          <p:cNvSpPr txBox="1"/>
          <p:nvPr/>
        </p:nvSpPr>
        <p:spPr>
          <a:xfrm>
            <a:off x="1975104"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Project Goals &amp; Scope</a:t>
            </a:r>
          </a:p>
        </p:txBody>
      </p:sp>
      <p:sp>
        <p:nvSpPr>
          <p:cNvPr id="17" name="TextBox 16"/>
          <p:cNvSpPr txBox="1"/>
          <p:nvPr/>
        </p:nvSpPr>
        <p:spPr>
          <a:xfrm>
            <a:off x="1975105" y="3246120"/>
            <a:ext cx="248716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Objectives, requirements, boundaries</a:t>
            </a:r>
          </a:p>
        </p:txBody>
      </p:sp>
      <p:sp>
        <p:nvSpPr>
          <p:cNvPr id="18" name="Rounded Rectangle 17"/>
          <p:cNvSpPr/>
          <p:nvPr/>
        </p:nvSpPr>
        <p:spPr>
          <a:xfrm>
            <a:off x="1353312" y="3950208"/>
            <a:ext cx="3163824" cy="1181587"/>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ounded Rectangle 19"/>
          <p:cNvSpPr/>
          <p:nvPr/>
        </p:nvSpPr>
        <p:spPr>
          <a:xfrm>
            <a:off x="1472184"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472184"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03</a:t>
            </a:r>
          </a:p>
        </p:txBody>
      </p:sp>
      <p:sp>
        <p:nvSpPr>
          <p:cNvPr id="22" name="TextBox 21"/>
          <p:cNvSpPr txBox="1"/>
          <p:nvPr/>
        </p:nvSpPr>
        <p:spPr>
          <a:xfrm>
            <a:off x="1975104" y="4133088"/>
            <a:ext cx="248716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Technology Stack</a:t>
            </a:r>
          </a:p>
        </p:txBody>
      </p:sp>
      <p:sp>
        <p:nvSpPr>
          <p:cNvPr id="23" name="TextBox 22"/>
          <p:cNvSpPr txBox="1"/>
          <p:nvPr/>
        </p:nvSpPr>
        <p:spPr>
          <a:xfrm>
            <a:off x="1975104" y="4517136"/>
            <a:ext cx="248716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C#, ASP.NET Core, React, SQL Server</a:t>
            </a:r>
          </a:p>
        </p:txBody>
      </p:sp>
      <p:sp>
        <p:nvSpPr>
          <p:cNvPr id="24" name="Rounded Rectangle 23"/>
          <p:cNvSpPr/>
          <p:nvPr/>
        </p:nvSpPr>
        <p:spPr>
          <a:xfrm>
            <a:off x="1353312" y="5212079"/>
            <a:ext cx="3182111"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ounded Rectangle 25"/>
          <p:cNvSpPr/>
          <p:nvPr/>
        </p:nvSpPr>
        <p:spPr>
          <a:xfrm>
            <a:off x="1472184"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1472184"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04</a:t>
            </a:r>
          </a:p>
        </p:txBody>
      </p:sp>
      <p:sp>
        <p:nvSpPr>
          <p:cNvPr id="28" name="TextBox 27"/>
          <p:cNvSpPr txBox="1"/>
          <p:nvPr/>
        </p:nvSpPr>
        <p:spPr>
          <a:xfrm>
            <a:off x="1975104" y="5394959"/>
            <a:ext cx="256031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System Architecture</a:t>
            </a:r>
          </a:p>
        </p:txBody>
      </p:sp>
      <p:sp>
        <p:nvSpPr>
          <p:cNvPr id="29" name="TextBox 28"/>
          <p:cNvSpPr txBox="1"/>
          <p:nvPr/>
        </p:nvSpPr>
        <p:spPr>
          <a:xfrm>
            <a:off x="1975104" y="5779007"/>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Edge</a:t>
            </a:r>
            <a:r>
              <a:rPr kumimoji="0" lang="en-US" sz="1400" b="0" i="0" u="none" strike="noStrike" kern="1200" cap="none" spc="0" normalizeH="0" baseline="0" noProof="0" dirty="0">
                <a:ln>
                  <a:noFill/>
                </a:ln>
                <a:solidFill>
                  <a:srgbClr val="7AAB8A"/>
                </a:solidFill>
                <a:effectLst/>
                <a:uLnTx/>
                <a:uFillTx/>
                <a:latin typeface="Candara"/>
                <a:ea typeface="+mn-ea"/>
                <a:cs typeface="+mn-cs"/>
              </a:rPr>
              <a:t> → MQTT</a:t>
            </a:r>
            <a:r>
              <a:rPr kumimoji="0" sz="1400" b="0" i="0" u="none" strike="noStrike" kern="1200" cap="none" spc="0" normalizeH="0" baseline="0" noProof="0" dirty="0">
                <a:ln>
                  <a:noFill/>
                </a:ln>
                <a:solidFill>
                  <a:srgbClr val="7AAB8A"/>
                </a:solidFill>
                <a:effectLst/>
                <a:uLnTx/>
                <a:uFillTx/>
                <a:latin typeface="Candara"/>
                <a:ea typeface="+mn-ea"/>
                <a:cs typeface="+mn-cs"/>
              </a:rPr>
              <a:t> → API → DB →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React</a:t>
            </a:r>
          </a:p>
        </p:txBody>
      </p:sp>
      <p:sp>
        <p:nvSpPr>
          <p:cNvPr id="30" name="Rounded Rectangle 29"/>
          <p:cNvSpPr/>
          <p:nvPr/>
        </p:nvSpPr>
        <p:spPr>
          <a:xfrm>
            <a:off x="4617720" y="1408176"/>
            <a:ext cx="3113532"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p:cNvSpPr/>
          <p:nvPr/>
        </p:nvSpPr>
        <p:spPr>
          <a:xfrm>
            <a:off x="4562856" y="1408176"/>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473659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73659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05</a:t>
            </a:r>
          </a:p>
        </p:txBody>
      </p:sp>
      <p:sp>
        <p:nvSpPr>
          <p:cNvPr id="34" name="TextBox 33"/>
          <p:cNvSpPr txBox="1"/>
          <p:nvPr/>
        </p:nvSpPr>
        <p:spPr>
          <a:xfrm>
            <a:off x="5239511"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Database Design</a:t>
            </a:r>
          </a:p>
        </p:txBody>
      </p:sp>
      <p:sp>
        <p:nvSpPr>
          <p:cNvPr id="35" name="TextBox 34"/>
          <p:cNvSpPr txBox="1"/>
          <p:nvPr/>
        </p:nvSpPr>
        <p:spPr>
          <a:xfrm>
            <a:off x="5239511" y="1975104"/>
            <a:ext cx="1993393"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Devices, sensors, readings, alerts</a:t>
            </a:r>
          </a:p>
        </p:txBody>
      </p:sp>
      <p:sp>
        <p:nvSpPr>
          <p:cNvPr id="36" name="Rounded Rectangle 35"/>
          <p:cNvSpPr/>
          <p:nvPr/>
        </p:nvSpPr>
        <p:spPr>
          <a:xfrm>
            <a:off x="4617720" y="2679192"/>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Rectangle 36"/>
          <p:cNvSpPr/>
          <p:nvPr/>
        </p:nvSpPr>
        <p:spPr>
          <a:xfrm>
            <a:off x="4562856" y="2679192"/>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Rounded Rectangle 37"/>
          <p:cNvSpPr/>
          <p:nvPr/>
        </p:nvSpPr>
        <p:spPr>
          <a:xfrm>
            <a:off x="473659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473659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06</a:t>
            </a:r>
          </a:p>
        </p:txBody>
      </p:sp>
      <p:sp>
        <p:nvSpPr>
          <p:cNvPr id="40" name="TextBox 39"/>
          <p:cNvSpPr txBox="1"/>
          <p:nvPr/>
        </p:nvSpPr>
        <p:spPr>
          <a:xfrm>
            <a:off x="5239511"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Backend &amp; API</a:t>
            </a:r>
          </a:p>
        </p:txBody>
      </p:sp>
      <p:sp>
        <p:nvSpPr>
          <p:cNvPr id="41" name="TextBox 40"/>
          <p:cNvSpPr txBox="1"/>
          <p:nvPr/>
        </p:nvSpPr>
        <p:spPr>
          <a:xfrm>
            <a:off x="5239511" y="3246120"/>
            <a:ext cx="2249425"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Services, repositories, DTOs</a:t>
            </a:r>
          </a:p>
        </p:txBody>
      </p:sp>
      <p:sp>
        <p:nvSpPr>
          <p:cNvPr id="42" name="Rounded Rectangle 41"/>
          <p:cNvSpPr/>
          <p:nvPr/>
        </p:nvSpPr>
        <p:spPr>
          <a:xfrm>
            <a:off x="4617720" y="3950208"/>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3" name="Rectangle 42"/>
          <p:cNvSpPr/>
          <p:nvPr/>
        </p:nvSpPr>
        <p:spPr>
          <a:xfrm>
            <a:off x="4562856" y="3950208"/>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4" name="Rounded Rectangle 43"/>
          <p:cNvSpPr/>
          <p:nvPr/>
        </p:nvSpPr>
        <p:spPr>
          <a:xfrm>
            <a:off x="473659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5" name="TextBox 44"/>
          <p:cNvSpPr txBox="1"/>
          <p:nvPr/>
        </p:nvSpPr>
        <p:spPr>
          <a:xfrm>
            <a:off x="473659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07</a:t>
            </a:r>
          </a:p>
        </p:txBody>
      </p:sp>
      <p:sp>
        <p:nvSpPr>
          <p:cNvPr id="46" name="TextBox 45"/>
          <p:cNvSpPr txBox="1"/>
          <p:nvPr/>
        </p:nvSpPr>
        <p:spPr>
          <a:xfrm>
            <a:off x="5239511" y="4133088"/>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Frontend Design</a:t>
            </a:r>
          </a:p>
        </p:txBody>
      </p:sp>
      <p:sp>
        <p:nvSpPr>
          <p:cNvPr id="47" name="TextBox 46"/>
          <p:cNvSpPr txBox="1"/>
          <p:nvPr/>
        </p:nvSpPr>
        <p:spPr>
          <a:xfrm>
            <a:off x="5239511" y="4517136"/>
            <a:ext cx="2057401"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React SPA, charts,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client</a:t>
            </a:r>
          </a:p>
        </p:txBody>
      </p:sp>
      <p:sp>
        <p:nvSpPr>
          <p:cNvPr id="48" name="Rounded Rectangle 47"/>
          <p:cNvSpPr/>
          <p:nvPr/>
        </p:nvSpPr>
        <p:spPr>
          <a:xfrm>
            <a:off x="4617720" y="5212079"/>
            <a:ext cx="3113532"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9" name="Rectangle 48"/>
          <p:cNvSpPr/>
          <p:nvPr/>
        </p:nvSpPr>
        <p:spPr>
          <a:xfrm>
            <a:off x="4562856" y="5212079"/>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Rounded Rectangle 49"/>
          <p:cNvSpPr/>
          <p:nvPr/>
        </p:nvSpPr>
        <p:spPr>
          <a:xfrm>
            <a:off x="4736592"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1" name="TextBox 50"/>
          <p:cNvSpPr txBox="1"/>
          <p:nvPr/>
        </p:nvSpPr>
        <p:spPr>
          <a:xfrm>
            <a:off x="4736592"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08</a:t>
            </a:r>
          </a:p>
        </p:txBody>
      </p:sp>
      <p:sp>
        <p:nvSpPr>
          <p:cNvPr id="52" name="TextBox 51"/>
          <p:cNvSpPr txBox="1"/>
          <p:nvPr/>
        </p:nvSpPr>
        <p:spPr>
          <a:xfrm>
            <a:off x="5239511" y="5394959"/>
            <a:ext cx="2761487" cy="29238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FFFFFF"/>
                </a:solidFill>
                <a:effectLst/>
                <a:uLnTx/>
                <a:uFillTx/>
                <a:latin typeface="Candara"/>
                <a:ea typeface="+mn-ea"/>
                <a:cs typeface="+mn-cs"/>
              </a:rPr>
              <a:t>Key Features</a:t>
            </a:r>
          </a:p>
        </p:txBody>
      </p:sp>
      <p:sp>
        <p:nvSpPr>
          <p:cNvPr id="53" name="TextBox 52"/>
          <p:cNvSpPr txBox="1"/>
          <p:nvPr/>
        </p:nvSpPr>
        <p:spPr>
          <a:xfrm>
            <a:off x="5239511" y="5779007"/>
            <a:ext cx="216712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Streaming, dashboards, alerts</a:t>
            </a:r>
          </a:p>
        </p:txBody>
      </p:sp>
      <p:sp>
        <p:nvSpPr>
          <p:cNvPr id="54" name="Rounded Rectangle 53"/>
          <p:cNvSpPr/>
          <p:nvPr/>
        </p:nvSpPr>
        <p:spPr>
          <a:xfrm>
            <a:off x="7863840" y="1408176"/>
            <a:ext cx="3154553" cy="115816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Rectangle 54"/>
          <p:cNvSpPr/>
          <p:nvPr/>
        </p:nvSpPr>
        <p:spPr>
          <a:xfrm>
            <a:off x="7772400" y="1408176"/>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Rounded Rectangle 55"/>
          <p:cNvSpPr/>
          <p:nvPr/>
        </p:nvSpPr>
        <p:spPr>
          <a:xfrm>
            <a:off x="798271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798271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09</a:t>
            </a:r>
          </a:p>
        </p:txBody>
      </p:sp>
      <p:sp>
        <p:nvSpPr>
          <p:cNvPr id="58" name="TextBox 57"/>
          <p:cNvSpPr txBox="1"/>
          <p:nvPr/>
        </p:nvSpPr>
        <p:spPr>
          <a:xfrm>
            <a:off x="8485633" y="1591056"/>
            <a:ext cx="224028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Live Demo</a:t>
            </a:r>
          </a:p>
        </p:txBody>
      </p:sp>
      <p:sp>
        <p:nvSpPr>
          <p:cNvPr id="59" name="TextBox 58"/>
          <p:cNvSpPr txBox="1"/>
          <p:nvPr/>
        </p:nvSpPr>
        <p:spPr>
          <a:xfrm>
            <a:off x="8485633" y="1975104"/>
            <a:ext cx="239572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SignalR → Dashboard</a:t>
            </a:r>
          </a:p>
        </p:txBody>
      </p:sp>
      <p:sp>
        <p:nvSpPr>
          <p:cNvPr id="60" name="Rounded Rectangle 59"/>
          <p:cNvSpPr/>
          <p:nvPr/>
        </p:nvSpPr>
        <p:spPr>
          <a:xfrm>
            <a:off x="7863840" y="2679192"/>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Rectangle 60"/>
          <p:cNvSpPr/>
          <p:nvPr/>
        </p:nvSpPr>
        <p:spPr>
          <a:xfrm>
            <a:off x="7772400" y="2679192"/>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2" name="Rounded Rectangle 61"/>
          <p:cNvSpPr/>
          <p:nvPr/>
        </p:nvSpPr>
        <p:spPr>
          <a:xfrm>
            <a:off x="798271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3" name="TextBox 62"/>
          <p:cNvSpPr txBox="1"/>
          <p:nvPr/>
        </p:nvSpPr>
        <p:spPr>
          <a:xfrm>
            <a:off x="798271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10</a:t>
            </a:r>
          </a:p>
        </p:txBody>
      </p:sp>
      <p:sp>
        <p:nvSpPr>
          <p:cNvPr id="64" name="TextBox 63"/>
          <p:cNvSpPr txBox="1"/>
          <p:nvPr/>
        </p:nvSpPr>
        <p:spPr>
          <a:xfrm>
            <a:off x="8485632" y="2862072"/>
            <a:ext cx="2240281"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Challenges &amp; Solutions</a:t>
            </a:r>
          </a:p>
        </p:txBody>
      </p:sp>
      <p:sp>
        <p:nvSpPr>
          <p:cNvPr id="65" name="TextBox 64"/>
          <p:cNvSpPr txBox="1"/>
          <p:nvPr/>
        </p:nvSpPr>
        <p:spPr>
          <a:xfrm>
            <a:off x="8485632" y="3246120"/>
            <a:ext cx="2240281"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Sync, data volume, design</a:t>
            </a:r>
          </a:p>
        </p:txBody>
      </p:sp>
      <p:sp>
        <p:nvSpPr>
          <p:cNvPr id="66" name="Rounded Rectangle 65"/>
          <p:cNvSpPr/>
          <p:nvPr/>
        </p:nvSpPr>
        <p:spPr>
          <a:xfrm>
            <a:off x="7863840" y="3950208"/>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Rectangle 66"/>
          <p:cNvSpPr/>
          <p:nvPr/>
        </p:nvSpPr>
        <p:spPr>
          <a:xfrm>
            <a:off x="7772400" y="3950208"/>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Rounded Rectangle 67"/>
          <p:cNvSpPr/>
          <p:nvPr/>
        </p:nvSpPr>
        <p:spPr>
          <a:xfrm>
            <a:off x="798271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9" name="TextBox 68"/>
          <p:cNvSpPr txBox="1"/>
          <p:nvPr/>
        </p:nvSpPr>
        <p:spPr>
          <a:xfrm>
            <a:off x="798271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11</a:t>
            </a:r>
          </a:p>
        </p:txBody>
      </p:sp>
      <p:sp>
        <p:nvSpPr>
          <p:cNvPr id="70" name="TextBox 69"/>
          <p:cNvSpPr txBox="1"/>
          <p:nvPr/>
        </p:nvSpPr>
        <p:spPr>
          <a:xfrm>
            <a:off x="8485633" y="4133088"/>
            <a:ext cx="210312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Conclusion &amp; Future</a:t>
            </a:r>
          </a:p>
        </p:txBody>
      </p:sp>
      <p:sp>
        <p:nvSpPr>
          <p:cNvPr id="74" name="Rounded Rectangle 65">
            <a:extLst>
              <a:ext uri="{FF2B5EF4-FFF2-40B4-BE49-F238E27FC236}">
                <a16:creationId xmlns:a16="http://schemas.microsoft.com/office/drawing/2014/main" id="{47AB4A4A-A8CE-FF32-418B-F6A5ECDEFA50}"/>
              </a:ext>
            </a:extLst>
          </p:cNvPr>
          <p:cNvSpPr/>
          <p:nvPr/>
        </p:nvSpPr>
        <p:spPr>
          <a:xfrm>
            <a:off x="7885937" y="5212079"/>
            <a:ext cx="3132456"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5" name="Rectangle 74">
            <a:extLst>
              <a:ext uri="{FF2B5EF4-FFF2-40B4-BE49-F238E27FC236}">
                <a16:creationId xmlns:a16="http://schemas.microsoft.com/office/drawing/2014/main" id="{B7DB0902-45A1-6AAA-C9B7-2054F58EC30E}"/>
              </a:ext>
            </a:extLst>
          </p:cNvPr>
          <p:cNvSpPr/>
          <p:nvPr/>
        </p:nvSpPr>
        <p:spPr>
          <a:xfrm>
            <a:off x="7772400" y="5212079"/>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TextBox 79">
            <a:extLst>
              <a:ext uri="{FF2B5EF4-FFF2-40B4-BE49-F238E27FC236}">
                <a16:creationId xmlns:a16="http://schemas.microsoft.com/office/drawing/2014/main" id="{89B7797C-7309-8EC4-1A4D-B8987CFB0555}"/>
              </a:ext>
            </a:extLst>
          </p:cNvPr>
          <p:cNvSpPr txBox="1"/>
          <p:nvPr/>
        </p:nvSpPr>
        <p:spPr>
          <a:xfrm>
            <a:off x="8517256" y="5409056"/>
            <a:ext cx="2071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ndara"/>
                <a:ea typeface="+mn-ea"/>
                <a:cs typeface="+mn-cs"/>
              </a:rPr>
              <a:t>End Of Presentation</a:t>
            </a:r>
            <a:endParaRPr kumimoji="0" sz="1600" b="1" i="0" u="none" strike="noStrike" kern="1200" cap="none" spc="0" normalizeH="0" baseline="0" noProof="0" dirty="0">
              <a:ln>
                <a:noFill/>
              </a:ln>
              <a:solidFill>
                <a:srgbClr val="FFFFFF"/>
              </a:solidFill>
              <a:effectLst/>
              <a:uLnTx/>
              <a:uFillTx/>
              <a:latin typeface="Candara"/>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58699" y="578072"/>
            <a:ext cx="4583888"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Project Statement</a:t>
            </a:r>
          </a:p>
        </p:txBody>
      </p:sp>
      <p:sp>
        <p:nvSpPr>
          <p:cNvPr id="6" name="Rectangle 5"/>
          <p:cNvSpPr/>
          <p:nvPr/>
        </p:nvSpPr>
        <p:spPr>
          <a:xfrm flipH="1">
            <a:off x="5495799" y="1298448"/>
            <a:ext cx="45719" cy="4352544"/>
          </a:xfrm>
          <a:prstGeom prst="rect">
            <a:avLst/>
          </a:prstGeom>
          <a:solidFill>
            <a:srgbClr val="255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descr="image.png"/>
          <p:cNvPicPr>
            <a:picLocks noChangeAspect="1"/>
          </p:cNvPicPr>
          <p:nvPr/>
        </p:nvPicPr>
        <p:blipFill>
          <a:blip r:embed="rId3"/>
          <a:stretch>
            <a:fillRect/>
          </a:stretch>
        </p:blipFill>
        <p:spPr>
          <a:xfrm>
            <a:off x="5752493" y="1298448"/>
            <a:ext cx="475488" cy="475488"/>
          </a:xfrm>
          <a:prstGeom prst="rect">
            <a:avLst/>
          </a:prstGeom>
        </p:spPr>
      </p:pic>
      <p:sp>
        <p:nvSpPr>
          <p:cNvPr id="8" name="TextBox 7"/>
          <p:cNvSpPr txBox="1"/>
          <p:nvPr/>
        </p:nvSpPr>
        <p:spPr>
          <a:xfrm>
            <a:off x="6374284"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Web-Based</a:t>
            </a:r>
          </a:p>
        </p:txBody>
      </p:sp>
      <p:sp>
        <p:nvSpPr>
          <p:cNvPr id="9" name="TextBox 8"/>
          <p:cNvSpPr txBox="1"/>
          <p:nvPr/>
        </p:nvSpPr>
        <p:spPr>
          <a:xfrm>
            <a:off x="6374284" y="1572768"/>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No proprietary hardware required</a:t>
            </a:r>
          </a:p>
        </p:txBody>
      </p:sp>
      <p:pic>
        <p:nvPicPr>
          <p:cNvPr id="10" name="Picture 9" descr="image.png"/>
          <p:cNvPicPr>
            <a:picLocks noChangeAspect="1"/>
          </p:cNvPicPr>
          <p:nvPr/>
        </p:nvPicPr>
        <p:blipFill>
          <a:blip r:embed="rId4"/>
          <a:stretch>
            <a:fillRect/>
          </a:stretch>
        </p:blipFill>
        <p:spPr>
          <a:xfrm>
            <a:off x="8632853" y="1298448"/>
            <a:ext cx="475488" cy="475488"/>
          </a:xfrm>
          <a:prstGeom prst="rect">
            <a:avLst/>
          </a:prstGeom>
        </p:spPr>
      </p:pic>
      <p:sp>
        <p:nvSpPr>
          <p:cNvPr id="11" name="TextBox 10"/>
          <p:cNvSpPr txBox="1"/>
          <p:nvPr/>
        </p:nvSpPr>
        <p:spPr>
          <a:xfrm>
            <a:off x="9254645"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Any Browser</a:t>
            </a:r>
          </a:p>
        </p:txBody>
      </p:sp>
      <p:sp>
        <p:nvSpPr>
          <p:cNvPr id="12" name="TextBox 11"/>
          <p:cNvSpPr txBox="1"/>
          <p:nvPr/>
        </p:nvSpPr>
        <p:spPr>
          <a:xfrm>
            <a:off x="9254645" y="1572768"/>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Accessible from any device</a:t>
            </a:r>
          </a:p>
        </p:txBody>
      </p:sp>
      <p:pic>
        <p:nvPicPr>
          <p:cNvPr id="13" name="Picture 12" descr="image.png"/>
          <p:cNvPicPr>
            <a:picLocks noChangeAspect="1"/>
          </p:cNvPicPr>
          <p:nvPr/>
        </p:nvPicPr>
        <p:blipFill>
          <a:blip r:embed="rId5"/>
          <a:stretch>
            <a:fillRect/>
          </a:stretch>
        </p:blipFill>
        <p:spPr>
          <a:xfrm>
            <a:off x="5752493" y="3236976"/>
            <a:ext cx="475488" cy="475488"/>
          </a:xfrm>
          <a:prstGeom prst="rect">
            <a:avLst/>
          </a:prstGeom>
        </p:spPr>
      </p:pic>
      <p:sp>
        <p:nvSpPr>
          <p:cNvPr id="14" name="TextBox 13"/>
          <p:cNvSpPr txBox="1"/>
          <p:nvPr/>
        </p:nvSpPr>
        <p:spPr>
          <a:xfrm>
            <a:off x="6374284"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Real-Time</a:t>
            </a:r>
          </a:p>
        </p:txBody>
      </p:sp>
      <p:sp>
        <p:nvSpPr>
          <p:cNvPr id="15" name="TextBox 14"/>
          <p:cNvSpPr txBox="1"/>
          <p:nvPr/>
        </p:nvSpPr>
        <p:spPr>
          <a:xfrm>
            <a:off x="6374284" y="3511296"/>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WebSocket </a:t>
            </a:r>
            <a:endParaRPr kumimoji="0" lang="en-US" sz="1400" b="0" i="0" u="none" strike="noStrike" kern="1200" cap="none" spc="0" normalizeH="0" baseline="0" noProof="0" dirty="0">
              <a:ln>
                <a:noFill/>
              </a:ln>
              <a:solidFill>
                <a:srgbClr val="7AAB8A"/>
              </a:solidFill>
              <a:effectLst/>
              <a:uLnTx/>
              <a:uFillTx/>
              <a:latin typeface="Candara"/>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a:rPr>
              <a:t>Realtime Update</a:t>
            </a:r>
            <a:endParaRPr kumimoji="0" sz="1400" b="0" i="0" u="none" strike="noStrike" kern="1200" cap="none" spc="0" normalizeH="0" baseline="0" noProof="0" dirty="0">
              <a:ln>
                <a:noFill/>
              </a:ln>
              <a:solidFill>
                <a:srgbClr val="7AAB8A"/>
              </a:solidFill>
              <a:effectLst/>
              <a:uLnTx/>
              <a:uFillTx/>
              <a:latin typeface="Candara"/>
              <a:ea typeface="+mn-ea"/>
              <a:cs typeface="+mn-cs"/>
            </a:endParaRPr>
          </a:p>
        </p:txBody>
      </p:sp>
      <p:pic>
        <p:nvPicPr>
          <p:cNvPr id="16" name="Picture 15" descr="image.png"/>
          <p:cNvPicPr>
            <a:picLocks noChangeAspect="1"/>
          </p:cNvPicPr>
          <p:nvPr/>
        </p:nvPicPr>
        <p:blipFill>
          <a:blip r:embed="rId6"/>
          <a:stretch>
            <a:fillRect/>
          </a:stretch>
        </p:blipFill>
        <p:spPr>
          <a:xfrm>
            <a:off x="8632853" y="3236976"/>
            <a:ext cx="475488" cy="475488"/>
          </a:xfrm>
          <a:prstGeom prst="rect">
            <a:avLst/>
          </a:prstGeom>
        </p:spPr>
      </p:pic>
      <p:sp>
        <p:nvSpPr>
          <p:cNvPr id="17" name="TextBox 16"/>
          <p:cNvSpPr txBox="1"/>
          <p:nvPr/>
        </p:nvSpPr>
        <p:spPr>
          <a:xfrm>
            <a:off x="9254645"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Cost-Effective</a:t>
            </a:r>
          </a:p>
        </p:txBody>
      </p:sp>
      <p:sp>
        <p:nvSpPr>
          <p:cNvPr id="18" name="TextBox 17"/>
          <p:cNvSpPr txBox="1"/>
          <p:nvPr/>
        </p:nvSpPr>
        <p:spPr>
          <a:xfrm>
            <a:off x="9254645" y="3511296"/>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Open-source technology stack</a:t>
            </a:r>
          </a:p>
        </p:txBody>
      </p:sp>
      <p:pic>
        <p:nvPicPr>
          <p:cNvPr id="19" name="Picture 18" descr="image.png"/>
          <p:cNvPicPr>
            <a:picLocks noChangeAspect="1"/>
          </p:cNvPicPr>
          <p:nvPr/>
        </p:nvPicPr>
        <p:blipFill>
          <a:blip r:embed="rId7"/>
          <a:stretch>
            <a:fillRect/>
          </a:stretch>
        </p:blipFill>
        <p:spPr>
          <a:xfrm>
            <a:off x="5752493" y="5175504"/>
            <a:ext cx="475488" cy="475488"/>
          </a:xfrm>
          <a:prstGeom prst="rect">
            <a:avLst/>
          </a:prstGeom>
        </p:spPr>
      </p:pic>
      <p:sp>
        <p:nvSpPr>
          <p:cNvPr id="20" name="TextBox 19"/>
          <p:cNvSpPr txBox="1"/>
          <p:nvPr/>
        </p:nvSpPr>
        <p:spPr>
          <a:xfrm>
            <a:off x="6374284"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SQL Server</a:t>
            </a:r>
          </a:p>
        </p:txBody>
      </p:sp>
      <p:sp>
        <p:nvSpPr>
          <p:cNvPr id="21" name="TextBox 20"/>
          <p:cNvSpPr txBox="1"/>
          <p:nvPr/>
        </p:nvSpPr>
        <p:spPr>
          <a:xfrm>
            <a:off x="6374284"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Full historical data storage</a:t>
            </a:r>
          </a:p>
        </p:txBody>
      </p:sp>
      <p:pic>
        <p:nvPicPr>
          <p:cNvPr id="22" name="Picture 21" descr="image.png"/>
          <p:cNvPicPr>
            <a:picLocks noChangeAspect="1"/>
          </p:cNvPicPr>
          <p:nvPr/>
        </p:nvPicPr>
        <p:blipFill>
          <a:blip r:embed="rId8"/>
          <a:stretch>
            <a:fillRect/>
          </a:stretch>
        </p:blipFill>
        <p:spPr>
          <a:xfrm>
            <a:off x="8632853" y="5175504"/>
            <a:ext cx="475488" cy="475488"/>
          </a:xfrm>
          <a:prstGeom prst="rect">
            <a:avLst/>
          </a:prstGeom>
        </p:spPr>
      </p:pic>
      <p:sp>
        <p:nvSpPr>
          <p:cNvPr id="23" name="TextBox 22"/>
          <p:cNvSpPr txBox="1"/>
          <p:nvPr/>
        </p:nvSpPr>
        <p:spPr>
          <a:xfrm>
            <a:off x="9254645"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Hardware</a:t>
            </a:r>
          </a:p>
        </p:txBody>
      </p:sp>
      <p:sp>
        <p:nvSpPr>
          <p:cNvPr id="24" name="TextBox 23"/>
          <p:cNvSpPr txBox="1"/>
          <p:nvPr/>
        </p:nvSpPr>
        <p:spPr>
          <a:xfrm>
            <a:off x="9254645"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Arduino, ESP32, Raspberry Pi</a:t>
            </a:r>
          </a:p>
        </p:txBody>
      </p:sp>
      <p:sp>
        <p:nvSpPr>
          <p:cNvPr id="28" name="Rounded Rectangle 65">
            <a:extLst>
              <a:ext uri="{FF2B5EF4-FFF2-40B4-BE49-F238E27FC236}">
                <a16:creationId xmlns:a16="http://schemas.microsoft.com/office/drawing/2014/main" id="{E4CE1A21-D746-DD58-B8A0-0DF310D360A3}"/>
              </a:ext>
            </a:extLst>
          </p:cNvPr>
          <p:cNvSpPr/>
          <p:nvPr/>
        </p:nvSpPr>
        <p:spPr>
          <a:xfrm>
            <a:off x="431924" y="1374402"/>
            <a:ext cx="4813075" cy="4276590"/>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67">
            <a:extLst>
              <a:ext uri="{FF2B5EF4-FFF2-40B4-BE49-F238E27FC236}">
                <a16:creationId xmlns:a16="http://schemas.microsoft.com/office/drawing/2014/main" id="{3F563196-068C-1563-C9CE-D3B78948976C}"/>
              </a:ext>
            </a:extLst>
          </p:cNvPr>
          <p:cNvSpPr/>
          <p:nvPr/>
        </p:nvSpPr>
        <p:spPr>
          <a:xfrm>
            <a:off x="873492" y="206795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dirty="0">
              <a:ln>
                <a:noFill/>
              </a:ln>
              <a:solidFill>
                <a:prstClr val="white"/>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71E26511-B6EC-D7A9-0C81-5004617CB2DE}"/>
              </a:ext>
            </a:extLst>
          </p:cNvPr>
          <p:cNvSpPr txBox="1"/>
          <p:nvPr/>
        </p:nvSpPr>
        <p:spPr>
          <a:xfrm>
            <a:off x="1782075" y="1681440"/>
            <a:ext cx="3231123" cy="1508105"/>
          </a:xfrm>
          <a:prstGeom prst="rect">
            <a:avLst/>
          </a:prstGeom>
          <a:noFill/>
        </p:spPr>
        <p:txBody>
          <a:bodyPr wrap="square">
            <a:spAutoFit/>
          </a:bodyPr>
          <a:lstStyle/>
          <a:p>
            <a:r>
              <a:rPr lang="en-US" sz="2000" b="1" dirty="0">
                <a:solidFill>
                  <a:srgbClr val="00B050"/>
                </a:solidFill>
              </a:rPr>
              <a:t>Need</a:t>
            </a:r>
          </a:p>
          <a:p>
            <a:r>
              <a:rPr lang="en-US" dirty="0">
                <a:solidFill>
                  <a:schemeClr val="bg1"/>
                </a:solidFill>
              </a:rPr>
              <a:t>Sites need continuous equipment monitoring.</a:t>
            </a:r>
          </a:p>
          <a:p>
            <a:br>
              <a:rPr lang="en-US" dirty="0">
                <a:solidFill>
                  <a:schemeClr val="bg1"/>
                </a:solidFill>
              </a:rPr>
            </a:b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1" name="Rounded Rectangle 67">
            <a:extLst>
              <a:ext uri="{FF2B5EF4-FFF2-40B4-BE49-F238E27FC236}">
                <a16:creationId xmlns:a16="http://schemas.microsoft.com/office/drawing/2014/main" id="{81705BD6-A901-B965-EEFF-0BC3D56B1487}"/>
              </a:ext>
            </a:extLst>
          </p:cNvPr>
          <p:cNvSpPr/>
          <p:nvPr/>
        </p:nvSpPr>
        <p:spPr>
          <a:xfrm>
            <a:off x="877288" y="3395472"/>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2" name="TextBox 31">
            <a:extLst>
              <a:ext uri="{FF2B5EF4-FFF2-40B4-BE49-F238E27FC236}">
                <a16:creationId xmlns:a16="http://schemas.microsoft.com/office/drawing/2014/main" id="{748A9D6F-6515-79FE-000D-C26143FEE0E9}"/>
              </a:ext>
            </a:extLst>
          </p:cNvPr>
          <p:cNvSpPr txBox="1"/>
          <p:nvPr/>
        </p:nvSpPr>
        <p:spPr>
          <a:xfrm>
            <a:off x="1782075" y="3058667"/>
            <a:ext cx="3298050" cy="954107"/>
          </a:xfrm>
          <a:prstGeom prst="rect">
            <a:avLst/>
          </a:prstGeom>
          <a:noFill/>
        </p:spPr>
        <p:txBody>
          <a:bodyPr wrap="square">
            <a:spAutoFit/>
          </a:bodyPr>
          <a:lstStyle/>
          <a:p>
            <a:pPr lvl="0">
              <a:defRPr/>
            </a:pPr>
            <a:r>
              <a:rPr lang="en-US" sz="2000" b="1" dirty="0">
                <a:solidFill>
                  <a:srgbClr val="00B050"/>
                </a:solidFill>
              </a:rPr>
              <a:t>Issue</a:t>
            </a:r>
          </a:p>
          <a:p>
            <a:pPr lvl="0">
              <a:defRPr/>
            </a:pPr>
            <a:r>
              <a:rPr lang="en-US" dirty="0">
                <a:solidFill>
                  <a:schemeClr val="bg1"/>
                </a:solidFill>
              </a:rPr>
              <a:t>Traditional lock into proprietary hardware and software, cost.</a:t>
            </a: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3" name="Rounded Rectangle 67">
            <a:extLst>
              <a:ext uri="{FF2B5EF4-FFF2-40B4-BE49-F238E27FC236}">
                <a16:creationId xmlns:a16="http://schemas.microsoft.com/office/drawing/2014/main" id="{B108914F-BA29-3DA7-E8A2-2CA1CD1D024A}"/>
              </a:ext>
            </a:extLst>
          </p:cNvPr>
          <p:cNvSpPr/>
          <p:nvPr/>
        </p:nvSpPr>
        <p:spPr>
          <a:xfrm>
            <a:off x="877288" y="471193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6586F3FA-5B2E-FF03-B3D3-DA3781B93554}"/>
              </a:ext>
            </a:extLst>
          </p:cNvPr>
          <p:cNvSpPr txBox="1"/>
          <p:nvPr/>
        </p:nvSpPr>
        <p:spPr>
          <a:xfrm>
            <a:off x="1782074" y="4341334"/>
            <a:ext cx="3417205" cy="1231106"/>
          </a:xfrm>
          <a:prstGeom prst="rect">
            <a:avLst/>
          </a:prstGeom>
          <a:noFill/>
        </p:spPr>
        <p:txBody>
          <a:bodyPr wrap="square">
            <a:spAutoFit/>
          </a:bodyPr>
          <a:lstStyle/>
          <a:p>
            <a:r>
              <a:rPr lang="en-US" sz="2000" b="1" dirty="0">
                <a:solidFill>
                  <a:srgbClr val="00B050"/>
                </a:solidFill>
              </a:rPr>
              <a:t>Approach</a:t>
            </a:r>
            <a:br>
              <a:rPr lang="en-US" dirty="0">
                <a:solidFill>
                  <a:schemeClr val="bg1"/>
                </a:solidFill>
              </a:rPr>
            </a:br>
            <a:r>
              <a:rPr lang="en-US" dirty="0">
                <a:solidFill>
                  <a:schemeClr val="bg1"/>
                </a:solidFill>
              </a:rPr>
              <a:t>A web dashboard with real-time data, historical storage, and standard IoT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89788" y="733419"/>
            <a:ext cx="5838444"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Project Goals &amp; Scope</a:t>
            </a:r>
          </a:p>
        </p:txBody>
      </p:sp>
      <p:sp>
        <p:nvSpPr>
          <p:cNvPr id="5" name="TextBox 4"/>
          <p:cNvSpPr txBox="1"/>
          <p:nvPr/>
        </p:nvSpPr>
        <p:spPr>
          <a:xfrm>
            <a:off x="1088136" y="1740312"/>
            <a:ext cx="2679352"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CORE SYSTEM CAPABILITIES</a:t>
            </a:r>
          </a:p>
        </p:txBody>
      </p:sp>
      <p:pic>
        <p:nvPicPr>
          <p:cNvPr id="7" name="Picture 6" descr="image.png"/>
          <p:cNvPicPr>
            <a:picLocks noChangeAspect="1"/>
          </p:cNvPicPr>
          <p:nvPr/>
        </p:nvPicPr>
        <p:blipFill>
          <a:blip r:embed="rId2"/>
          <a:stretch>
            <a:fillRect/>
          </a:stretch>
        </p:blipFill>
        <p:spPr>
          <a:xfrm>
            <a:off x="1271016" y="2524759"/>
            <a:ext cx="420624" cy="420624"/>
          </a:xfrm>
          <a:prstGeom prst="rect">
            <a:avLst/>
          </a:prstGeom>
        </p:spPr>
      </p:pic>
      <p:sp>
        <p:nvSpPr>
          <p:cNvPr id="8" name="TextBox 7"/>
          <p:cNvSpPr txBox="1"/>
          <p:nvPr/>
        </p:nvSpPr>
        <p:spPr>
          <a:xfrm>
            <a:off x="1856232"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Devices &amp; Sensors Setup</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9" name="TextBox 8"/>
          <p:cNvSpPr txBox="1"/>
          <p:nvPr/>
        </p:nvSpPr>
        <p:spPr>
          <a:xfrm>
            <a:off x="1856232" y="2898723"/>
            <a:ext cx="4572000"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Register and configure IoT Devices</a:t>
            </a:r>
            <a:endParaRPr sz="1400" dirty="0">
              <a:solidFill>
                <a:srgbClr val="7AAB8A"/>
              </a:solidFill>
              <a:latin typeface="Candara" panose="020E0502030303020204" pitchFamily="34" charset="0"/>
            </a:endParaRPr>
          </a:p>
        </p:txBody>
      </p:sp>
      <p:sp>
        <p:nvSpPr>
          <p:cNvPr id="10" name="Rectangle 9"/>
          <p:cNvSpPr/>
          <p:nvPr/>
        </p:nvSpPr>
        <p:spPr>
          <a:xfrm>
            <a:off x="1197864"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1" name="Picture 10" descr="image.png"/>
          <p:cNvPicPr>
            <a:picLocks noChangeAspect="1"/>
          </p:cNvPicPr>
          <p:nvPr/>
        </p:nvPicPr>
        <p:blipFill>
          <a:blip r:embed="rId3"/>
          <a:stretch>
            <a:fillRect/>
          </a:stretch>
        </p:blipFill>
        <p:spPr>
          <a:xfrm>
            <a:off x="1271016" y="3942079"/>
            <a:ext cx="420624" cy="420624"/>
          </a:xfrm>
          <a:prstGeom prst="rect">
            <a:avLst/>
          </a:prstGeom>
        </p:spPr>
      </p:pic>
      <p:sp>
        <p:nvSpPr>
          <p:cNvPr id="12" name="TextBox 11"/>
          <p:cNvSpPr txBox="1"/>
          <p:nvPr/>
        </p:nvSpPr>
        <p:spPr>
          <a:xfrm>
            <a:off x="1856232" y="394207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Dashboard</a:t>
            </a:r>
            <a:r>
              <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 &amp; Charts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3" name="TextBox 12"/>
          <p:cNvSpPr txBox="1"/>
          <p:nvPr/>
        </p:nvSpPr>
        <p:spPr>
          <a:xfrm>
            <a:off x="1856232" y="419811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Gauge, line trends, discrete indicator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4" name="Rectangle 13"/>
          <p:cNvSpPr/>
          <p:nvPr/>
        </p:nvSpPr>
        <p:spPr>
          <a:xfrm>
            <a:off x="1197864" y="394207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5" name="Picture 14" descr="image.png"/>
          <p:cNvPicPr>
            <a:picLocks noChangeAspect="1"/>
          </p:cNvPicPr>
          <p:nvPr/>
        </p:nvPicPr>
        <p:blipFill>
          <a:blip r:embed="rId4"/>
          <a:stretch>
            <a:fillRect/>
          </a:stretch>
        </p:blipFill>
        <p:spPr>
          <a:xfrm>
            <a:off x="1271016" y="5359400"/>
            <a:ext cx="420624" cy="420624"/>
          </a:xfrm>
          <a:prstGeom prst="rect">
            <a:avLst/>
          </a:prstGeom>
        </p:spPr>
      </p:pic>
      <p:sp>
        <p:nvSpPr>
          <p:cNvPr id="16" name="TextBox 15"/>
          <p:cNvSpPr txBox="1"/>
          <p:nvPr/>
        </p:nvSpPr>
        <p:spPr>
          <a:xfrm>
            <a:off x="1856232" y="5359400"/>
            <a:ext cx="4572000" cy="923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Threshold Alerting</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7" name="TextBox 16"/>
          <p:cNvSpPr txBox="1"/>
          <p:nvPr/>
        </p:nvSpPr>
        <p:spPr>
          <a:xfrm>
            <a:off x="1856232" y="5615432"/>
            <a:ext cx="3745992"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Rule-based alerts with real-time notifications</a:t>
            </a:r>
            <a:endParaRPr sz="1400" dirty="0">
              <a:solidFill>
                <a:srgbClr val="7AAB8A"/>
              </a:solidFill>
              <a:latin typeface="Candara" panose="020E0502030303020204" pitchFamily="34" charset="0"/>
            </a:endParaRPr>
          </a:p>
        </p:txBody>
      </p:sp>
      <p:sp>
        <p:nvSpPr>
          <p:cNvPr id="18" name="Rectangle 17"/>
          <p:cNvSpPr/>
          <p:nvPr/>
        </p:nvSpPr>
        <p:spPr>
          <a:xfrm>
            <a:off x="1197864"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5"/>
          <a:stretch>
            <a:fillRect/>
          </a:stretch>
        </p:blipFill>
        <p:spPr>
          <a:xfrm>
            <a:off x="6793992" y="2524759"/>
            <a:ext cx="420624" cy="420624"/>
          </a:xfrm>
          <a:prstGeom prst="rect">
            <a:avLst/>
          </a:prstGeom>
        </p:spPr>
      </p:pic>
      <p:sp>
        <p:nvSpPr>
          <p:cNvPr id="20" name="TextBox 19"/>
          <p:cNvSpPr txBox="1"/>
          <p:nvPr/>
        </p:nvSpPr>
        <p:spPr>
          <a:xfrm>
            <a:off x="7379207"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Real-Time Monitoring</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1" name="TextBox 20"/>
          <p:cNvSpPr txBox="1"/>
          <p:nvPr/>
        </p:nvSpPr>
        <p:spPr>
          <a:xfrm>
            <a:off x="7379207" y="278079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Live sensor reading &amp; Device on/off-line status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2" name="Rectangle 21"/>
          <p:cNvSpPr/>
          <p:nvPr/>
        </p:nvSpPr>
        <p:spPr>
          <a:xfrm>
            <a:off x="6720840"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3" name="Picture 22" descr="image.png"/>
          <p:cNvPicPr>
            <a:picLocks noChangeAspect="1"/>
          </p:cNvPicPr>
          <p:nvPr/>
        </p:nvPicPr>
        <p:blipFill>
          <a:blip r:embed="rId6"/>
          <a:stretch>
            <a:fillRect/>
          </a:stretch>
        </p:blipFill>
        <p:spPr>
          <a:xfrm>
            <a:off x="6793992" y="3942079"/>
            <a:ext cx="420624" cy="420624"/>
          </a:xfrm>
          <a:prstGeom prst="rect">
            <a:avLst/>
          </a:prstGeom>
        </p:spPr>
      </p:pic>
      <p:sp>
        <p:nvSpPr>
          <p:cNvPr id="24" name="TextBox 23"/>
          <p:cNvSpPr txBox="1"/>
          <p:nvPr/>
        </p:nvSpPr>
        <p:spPr>
          <a:xfrm>
            <a:off x="7379207" y="394207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Live &amp; History Window</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5" name="TextBox 24"/>
          <p:cNvSpPr txBox="1"/>
          <p:nvPr/>
        </p:nvSpPr>
        <p:spPr>
          <a:xfrm>
            <a:off x="7379207" y="419811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Store readings &amp; rolling time windows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6" name="Rectangle 25"/>
          <p:cNvSpPr/>
          <p:nvPr/>
        </p:nvSpPr>
        <p:spPr>
          <a:xfrm>
            <a:off x="6720840" y="394207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7" name="Picture 26" descr="image.png"/>
          <p:cNvPicPr>
            <a:picLocks noChangeAspect="1"/>
          </p:cNvPicPr>
          <p:nvPr/>
        </p:nvPicPr>
        <p:blipFill>
          <a:blip r:embed="rId7"/>
          <a:stretch>
            <a:fillRect/>
          </a:stretch>
        </p:blipFill>
        <p:spPr>
          <a:xfrm>
            <a:off x="6793992" y="5359400"/>
            <a:ext cx="420624" cy="420624"/>
          </a:xfrm>
          <a:prstGeom prst="rect">
            <a:avLst/>
          </a:prstGeom>
        </p:spPr>
      </p:pic>
      <p:sp>
        <p:nvSpPr>
          <p:cNvPr id="28" name="TextBox 27"/>
          <p:cNvSpPr txBox="1"/>
          <p:nvPr/>
        </p:nvSpPr>
        <p:spPr>
          <a:xfrm>
            <a:off x="7379207" y="535940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Actuator Commands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9" name="TextBox 28"/>
          <p:cNvSpPr txBox="1"/>
          <p:nvPr/>
        </p:nvSpPr>
        <p:spPr>
          <a:xfrm>
            <a:off x="7379207" y="561543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Remote output control with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0" name="Rectangle 29"/>
          <p:cNvSpPr/>
          <p:nvPr/>
        </p:nvSpPr>
        <p:spPr>
          <a:xfrm>
            <a:off x="6720840"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457200" y="702147"/>
            <a:ext cx="5831305"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Technology Stack</a:t>
            </a:r>
          </a:p>
        </p:txBody>
      </p:sp>
      <p:sp>
        <p:nvSpPr>
          <p:cNvPr id="3" name="TextBox 2"/>
          <p:cNvSpPr txBox="1"/>
          <p:nvPr/>
        </p:nvSpPr>
        <p:spPr>
          <a:xfrm>
            <a:off x="457200" y="1216543"/>
            <a:ext cx="6270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Device → MQTT → </a:t>
            </a:r>
            <a:r>
              <a:rPr lang="en-US" sz="1600" b="1" dirty="0">
                <a:solidFill>
                  <a:srgbClr val="FFFF00"/>
                </a:solidFill>
                <a:latin typeface="Candara" panose="020E0502030303020204" pitchFamily="34" charset="0"/>
              </a:rPr>
              <a:t>API → SQL Server . </a:t>
            </a:r>
            <a:r>
              <a:rPr kumimoji="0" sz="1600" b="1" i="0" u="none" strike="noStrike" kern="1200" cap="none" spc="0" normalizeH="0" baseline="0" noProof="0" dirty="0" err="1">
                <a:ln>
                  <a:noFill/>
                </a:ln>
                <a:solidFill>
                  <a:srgbClr val="FFFF00"/>
                </a:solidFill>
                <a:effectLst/>
                <a:uLnTx/>
                <a:uFillTx/>
                <a:latin typeface="Candara" panose="020E0502030303020204" pitchFamily="34" charset="0"/>
                <a:ea typeface="+mn-ea"/>
                <a:cs typeface="+mn-cs"/>
              </a:rPr>
              <a:t>SignalR</a:t>
            </a: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 → UI</a:t>
            </a:r>
          </a:p>
        </p:txBody>
      </p:sp>
      <p:sp>
        <p:nvSpPr>
          <p:cNvPr id="5" name="Rounded Rectangle 4"/>
          <p:cNvSpPr/>
          <p:nvPr/>
        </p:nvSpPr>
        <p:spPr>
          <a:xfrm>
            <a:off x="457200"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7" name="Picture 6" descr="image.png"/>
          <p:cNvPicPr>
            <a:picLocks noChangeAspect="1"/>
          </p:cNvPicPr>
          <p:nvPr/>
        </p:nvPicPr>
        <p:blipFill>
          <a:blip r:embed="rId2"/>
          <a:stretch>
            <a:fillRect/>
          </a:stretch>
        </p:blipFill>
        <p:spPr>
          <a:xfrm>
            <a:off x="3090672" y="2586131"/>
            <a:ext cx="804672" cy="804672"/>
          </a:xfrm>
          <a:prstGeom prst="rect">
            <a:avLst/>
          </a:prstGeom>
        </p:spPr>
      </p:pic>
      <p:sp>
        <p:nvSpPr>
          <p:cNvPr id="8" name="TextBox 7"/>
          <p:cNvSpPr txBox="1"/>
          <p:nvPr/>
        </p:nvSpPr>
        <p:spPr>
          <a:xfrm>
            <a:off x="640080"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Backend</a:t>
            </a:r>
          </a:p>
        </p:txBody>
      </p:sp>
      <p:sp>
        <p:nvSpPr>
          <p:cNvPr id="9" name="TextBox 8"/>
          <p:cNvSpPr txBox="1"/>
          <p:nvPr/>
        </p:nvSpPr>
        <p:spPr>
          <a:xfrm>
            <a:off x="640080"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C# / ASP.NET Core</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8</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10" name="TextBox 9"/>
          <p:cNvSpPr txBox="1"/>
          <p:nvPr/>
        </p:nvSpPr>
        <p:spPr>
          <a:xfrm>
            <a:off x="640080"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Rest</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APIs</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MQTT Ingest, JWT Authentication</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1" name="Rounded Rectangle 10"/>
          <p:cNvSpPr/>
          <p:nvPr/>
        </p:nvSpPr>
        <p:spPr>
          <a:xfrm>
            <a:off x="4219956"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2" name="Rectangle 11"/>
          <p:cNvSpPr/>
          <p:nvPr/>
        </p:nvSpPr>
        <p:spPr>
          <a:xfrm>
            <a:off x="4091940" y="1964791"/>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3" name="Picture 12" descr="image.png"/>
          <p:cNvPicPr>
            <a:picLocks noChangeAspect="1"/>
          </p:cNvPicPr>
          <p:nvPr/>
        </p:nvPicPr>
        <p:blipFill>
          <a:blip r:embed="rId3"/>
          <a:stretch>
            <a:fillRect/>
          </a:stretch>
        </p:blipFill>
        <p:spPr>
          <a:xfrm>
            <a:off x="6853428" y="2586131"/>
            <a:ext cx="804672" cy="804672"/>
          </a:xfrm>
          <a:prstGeom prst="rect">
            <a:avLst/>
          </a:prstGeom>
        </p:spPr>
      </p:pic>
      <p:sp>
        <p:nvSpPr>
          <p:cNvPr id="14" name="TextBox 13"/>
          <p:cNvSpPr txBox="1"/>
          <p:nvPr/>
        </p:nvSpPr>
        <p:spPr>
          <a:xfrm>
            <a:off x="4402836"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IoT Messaging</a:t>
            </a:r>
          </a:p>
        </p:txBody>
      </p:sp>
      <p:sp>
        <p:nvSpPr>
          <p:cNvPr id="15" name="TextBox 14"/>
          <p:cNvSpPr txBox="1"/>
          <p:nvPr/>
        </p:nvSpPr>
        <p:spPr>
          <a:xfrm>
            <a:off x="4402836" y="2503835"/>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MQTT + Broker (</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Mosquit</a:t>
            </a:r>
            <a:r>
              <a:rPr kumimoji="0" lang="en-US"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t</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o</a:t>
            </a: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/EMQX)</a:t>
            </a:r>
          </a:p>
        </p:txBody>
      </p:sp>
      <p:sp>
        <p:nvSpPr>
          <p:cNvPr id="16" name="TextBox 15"/>
          <p:cNvSpPr txBox="1"/>
          <p:nvPr/>
        </p:nvSpPr>
        <p:spPr>
          <a:xfrm>
            <a:off x="4350258" y="3027055"/>
            <a:ext cx="2759202"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Device → Broker → Backend</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Command to Actuator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7" name="Rounded Rectangle 16"/>
          <p:cNvSpPr/>
          <p:nvPr/>
        </p:nvSpPr>
        <p:spPr>
          <a:xfrm>
            <a:off x="7982712"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8" name="Rectangle 17"/>
          <p:cNvSpPr/>
          <p:nvPr/>
        </p:nvSpPr>
        <p:spPr>
          <a:xfrm>
            <a:off x="7863840" y="2014744"/>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4"/>
          <a:stretch>
            <a:fillRect/>
          </a:stretch>
        </p:blipFill>
        <p:spPr>
          <a:xfrm>
            <a:off x="10616184" y="2586131"/>
            <a:ext cx="804672" cy="804672"/>
          </a:xfrm>
          <a:prstGeom prst="rect">
            <a:avLst/>
          </a:prstGeom>
        </p:spPr>
      </p:pic>
      <p:sp>
        <p:nvSpPr>
          <p:cNvPr id="20" name="TextBox 19"/>
          <p:cNvSpPr txBox="1"/>
          <p:nvPr/>
        </p:nvSpPr>
        <p:spPr>
          <a:xfrm>
            <a:off x="8165592"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Real-Time</a:t>
            </a:r>
          </a:p>
        </p:txBody>
      </p:sp>
      <p:sp>
        <p:nvSpPr>
          <p:cNvPr id="21" name="TextBox 20"/>
          <p:cNvSpPr txBox="1"/>
          <p:nvPr/>
        </p:nvSpPr>
        <p:spPr>
          <a:xfrm>
            <a:off x="8165592"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SignalR</a:t>
            </a:r>
          </a:p>
        </p:txBody>
      </p:sp>
      <p:sp>
        <p:nvSpPr>
          <p:cNvPr id="22" name="TextBox 21"/>
          <p:cNvSpPr txBox="1"/>
          <p:nvPr/>
        </p:nvSpPr>
        <p:spPr>
          <a:xfrm>
            <a:off x="8165592"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Server-to-client live </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sensor and alert </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updates</a:t>
            </a:r>
          </a:p>
        </p:txBody>
      </p:sp>
      <p:sp>
        <p:nvSpPr>
          <p:cNvPr id="23" name="Rounded Rectangle 22"/>
          <p:cNvSpPr/>
          <p:nvPr/>
        </p:nvSpPr>
        <p:spPr>
          <a:xfrm>
            <a:off x="457200"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5" name="Picture 24" descr="image.png"/>
          <p:cNvPicPr>
            <a:picLocks noChangeAspect="1"/>
          </p:cNvPicPr>
          <p:nvPr/>
        </p:nvPicPr>
        <p:blipFill>
          <a:blip r:embed="rId5"/>
          <a:stretch>
            <a:fillRect/>
          </a:stretch>
        </p:blipFill>
        <p:spPr>
          <a:xfrm>
            <a:off x="3090672" y="4808123"/>
            <a:ext cx="804672" cy="804672"/>
          </a:xfrm>
          <a:prstGeom prst="rect">
            <a:avLst/>
          </a:prstGeom>
        </p:spPr>
      </p:pic>
      <p:sp>
        <p:nvSpPr>
          <p:cNvPr id="26" name="TextBox 25"/>
          <p:cNvSpPr txBox="1"/>
          <p:nvPr/>
        </p:nvSpPr>
        <p:spPr>
          <a:xfrm>
            <a:off x="640080"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Frontend</a:t>
            </a:r>
          </a:p>
        </p:txBody>
      </p:sp>
      <p:sp>
        <p:nvSpPr>
          <p:cNvPr id="27" name="TextBox 26"/>
          <p:cNvSpPr txBox="1"/>
          <p:nvPr/>
        </p:nvSpPr>
        <p:spPr>
          <a:xfrm>
            <a:off x="640080"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React + TypeScript</a:t>
            </a:r>
          </a:p>
        </p:txBody>
      </p:sp>
      <p:sp>
        <p:nvSpPr>
          <p:cNvPr id="28" name="Rounded Rectangle 27"/>
          <p:cNvSpPr/>
          <p:nvPr/>
        </p:nvSpPr>
        <p:spPr>
          <a:xfrm>
            <a:off x="4219956"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29" name="Rectangle 28"/>
          <p:cNvSpPr/>
          <p:nvPr/>
        </p:nvSpPr>
        <p:spPr>
          <a:xfrm>
            <a:off x="4107942" y="4213763"/>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0" name="Picture 29" descr="image.png"/>
          <p:cNvPicPr>
            <a:picLocks noChangeAspect="1"/>
          </p:cNvPicPr>
          <p:nvPr/>
        </p:nvPicPr>
        <p:blipFill>
          <a:blip r:embed="rId6"/>
          <a:stretch>
            <a:fillRect/>
          </a:stretch>
        </p:blipFill>
        <p:spPr>
          <a:xfrm>
            <a:off x="6853428" y="4808123"/>
            <a:ext cx="804672" cy="804672"/>
          </a:xfrm>
          <a:prstGeom prst="rect">
            <a:avLst/>
          </a:prstGeom>
        </p:spPr>
      </p:pic>
      <p:sp>
        <p:nvSpPr>
          <p:cNvPr id="31" name="TextBox 30"/>
          <p:cNvSpPr txBox="1"/>
          <p:nvPr/>
        </p:nvSpPr>
        <p:spPr>
          <a:xfrm>
            <a:off x="4402836"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Database</a:t>
            </a:r>
          </a:p>
        </p:txBody>
      </p:sp>
      <p:sp>
        <p:nvSpPr>
          <p:cNvPr id="32" name="TextBox 31"/>
          <p:cNvSpPr txBox="1"/>
          <p:nvPr/>
        </p:nvSpPr>
        <p:spPr>
          <a:xfrm>
            <a:off x="4402836"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SQL Server + EF Core</a:t>
            </a:r>
          </a:p>
        </p:txBody>
      </p:sp>
      <p:sp>
        <p:nvSpPr>
          <p:cNvPr id="33" name="Rounded Rectangle 32"/>
          <p:cNvSpPr/>
          <p:nvPr/>
        </p:nvSpPr>
        <p:spPr>
          <a:xfrm>
            <a:off x="7982712"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34" name="Rectangle 33"/>
          <p:cNvSpPr/>
          <p:nvPr/>
        </p:nvSpPr>
        <p:spPr>
          <a:xfrm>
            <a:off x="7863840" y="4204619"/>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5" name="Picture 34" descr="image.png"/>
          <p:cNvPicPr>
            <a:picLocks noChangeAspect="1"/>
          </p:cNvPicPr>
          <p:nvPr/>
        </p:nvPicPr>
        <p:blipFill>
          <a:blip r:embed="rId7"/>
          <a:stretch>
            <a:fillRect/>
          </a:stretch>
        </p:blipFill>
        <p:spPr>
          <a:xfrm>
            <a:off x="10616184" y="4808123"/>
            <a:ext cx="804672" cy="804672"/>
          </a:xfrm>
          <a:prstGeom prst="rect">
            <a:avLst/>
          </a:prstGeom>
        </p:spPr>
      </p:pic>
      <p:sp>
        <p:nvSpPr>
          <p:cNvPr id="36" name="TextBox 35"/>
          <p:cNvSpPr txBox="1"/>
          <p:nvPr/>
        </p:nvSpPr>
        <p:spPr>
          <a:xfrm>
            <a:off x="8165592"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DevOps</a:t>
            </a:r>
          </a:p>
        </p:txBody>
      </p:sp>
      <p:sp>
        <p:nvSpPr>
          <p:cNvPr id="37" name="TextBox 36"/>
          <p:cNvSpPr txBox="1"/>
          <p:nvPr/>
        </p:nvSpPr>
        <p:spPr>
          <a:xfrm>
            <a:off x="8165592"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Git + GitHub</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 Azure</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6" name="TextBox 5">
            <a:extLst>
              <a:ext uri="{FF2B5EF4-FFF2-40B4-BE49-F238E27FC236}">
                <a16:creationId xmlns:a16="http://schemas.microsoft.com/office/drawing/2014/main" id="{B3AB9396-4401-9411-228D-360974B3A709}"/>
              </a:ext>
            </a:extLst>
          </p:cNvPr>
          <p:cNvSpPr txBox="1"/>
          <p:nvPr/>
        </p:nvSpPr>
        <p:spPr>
          <a:xfrm>
            <a:off x="670941" y="5196646"/>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Dashboard, live chart, gauge, device management UI</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4" name="TextBox 23">
            <a:extLst>
              <a:ext uri="{FF2B5EF4-FFF2-40B4-BE49-F238E27FC236}">
                <a16:creationId xmlns:a16="http://schemas.microsoft.com/office/drawing/2014/main" id="{40DB0B09-998E-0007-29E6-E282B550F991}"/>
              </a:ext>
            </a:extLst>
          </p:cNvPr>
          <p:cNvSpPr txBox="1"/>
          <p:nvPr/>
        </p:nvSpPr>
        <p:spPr>
          <a:xfrm>
            <a:off x="4475988" y="5210459"/>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Sensor readings, devices, alerts,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8" name="TextBox 37">
            <a:extLst>
              <a:ext uri="{FF2B5EF4-FFF2-40B4-BE49-F238E27FC236}">
                <a16:creationId xmlns:a16="http://schemas.microsoft.com/office/drawing/2014/main" id="{2FA83AE0-6E7E-9387-397F-A238EB405207}"/>
              </a:ext>
            </a:extLst>
          </p:cNvPr>
          <p:cNvSpPr txBox="1"/>
          <p:nvPr/>
        </p:nvSpPr>
        <p:spPr>
          <a:xfrm>
            <a:off x="8202168" y="5205622"/>
            <a:ext cx="2377440" cy="523220"/>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CI/CD: API (Azure Web App) + SPA (Static Web Apps)</a:t>
            </a:r>
            <a:endParaRPr sz="1400" dirty="0">
              <a:solidFill>
                <a:srgbClr val="7AAB8A"/>
              </a:solidFill>
              <a:latin typeface="Candara" panose="020E0502030303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164549" y="272165"/>
            <a:ext cx="11518440" cy="457081"/>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System Architecture </a:t>
            </a:r>
            <a:r>
              <a:rPr lang="en-US" sz="3200" b="1" dirty="0">
                <a:solidFill>
                  <a:srgbClr val="3ECF80"/>
                </a:solidFill>
                <a:latin typeface="Candara" panose="020E0502030303020204" pitchFamily="34" charset="0"/>
                <a:ea typeface="Calibri" pitchFamily="34" charset="-122"/>
                <a:cs typeface="Calibri" pitchFamily="34" charset="-120"/>
              </a:rPr>
              <a:t>Overview</a:t>
            </a:r>
            <a:endParaRPr lang="en-US" sz="3200" dirty="0">
              <a:latin typeface="Candara" panose="020E0502030303020204" pitchFamily="34" charset="0"/>
            </a:endParaRPr>
          </a:p>
        </p:txBody>
      </p:sp>
      <p:sp>
        <p:nvSpPr>
          <p:cNvPr id="3" name="Shape 1"/>
          <p:cNvSpPr/>
          <p:nvPr/>
        </p:nvSpPr>
        <p:spPr>
          <a:xfrm>
            <a:off x="164549" y="904875"/>
            <a:ext cx="1874032" cy="5842532"/>
          </a:xfrm>
          <a:prstGeom prst="roundRect">
            <a:avLst>
              <a:gd name="adj" fmla="val 3902"/>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4" name="Text 2"/>
          <p:cNvSpPr/>
          <p:nvPr/>
        </p:nvSpPr>
        <p:spPr>
          <a:xfrm>
            <a:off x="255965" y="1145188"/>
            <a:ext cx="1691199" cy="319957"/>
          </a:xfrm>
          <a:prstGeom prst="rect">
            <a:avLst/>
          </a:prstGeom>
          <a:noFill/>
          <a:ln/>
        </p:spPr>
        <p:txBody>
          <a:bodyPr wrap="square" lIns="0" tIns="0" rIns="0" bIns="0" rtlCol="0" anchor="ctr"/>
          <a:lstStyle/>
          <a:p>
            <a:pPr algn="ctr"/>
            <a:r>
              <a:rPr lang="en-US" b="1" dirty="0">
                <a:solidFill>
                  <a:srgbClr val="00B050"/>
                </a:solidFill>
                <a:latin typeface="Candara" panose="020E0502030303020204" pitchFamily="34" charset="0"/>
                <a:ea typeface="Calibri" pitchFamily="34" charset="-122"/>
                <a:cs typeface="Calibri" pitchFamily="34" charset="-120"/>
              </a:rPr>
              <a:t>External Systems</a:t>
            </a:r>
            <a:endParaRPr lang="en-US" dirty="0">
              <a:solidFill>
                <a:srgbClr val="00B050"/>
              </a:solidFill>
              <a:latin typeface="Candara" panose="020E0502030303020204" pitchFamily="34" charset="0"/>
            </a:endParaRPr>
          </a:p>
        </p:txBody>
      </p:sp>
      <p:sp>
        <p:nvSpPr>
          <p:cNvPr id="5" name="Shape 3"/>
          <p:cNvSpPr/>
          <p:nvPr/>
        </p:nvSpPr>
        <p:spPr>
          <a:xfrm>
            <a:off x="2148280" y="904875"/>
            <a:ext cx="2102572" cy="5842532"/>
          </a:xfrm>
          <a:prstGeom prst="roundRect">
            <a:avLst>
              <a:gd name="adj" fmla="val 3478"/>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6" name="Text 4"/>
          <p:cNvSpPr/>
          <p:nvPr/>
        </p:nvSpPr>
        <p:spPr>
          <a:xfrm>
            <a:off x="2239696" y="1145188"/>
            <a:ext cx="1919740"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Frontend</a:t>
            </a:r>
            <a:endParaRPr lang="en-US" dirty="0">
              <a:latin typeface="Candara" panose="020E0502030303020204" pitchFamily="34" charset="0"/>
            </a:endParaRPr>
          </a:p>
        </p:txBody>
      </p:sp>
      <p:sp>
        <p:nvSpPr>
          <p:cNvPr id="7" name="Shape 5"/>
          <p:cNvSpPr/>
          <p:nvPr/>
        </p:nvSpPr>
        <p:spPr>
          <a:xfrm>
            <a:off x="4360552" y="904873"/>
            <a:ext cx="5759220" cy="5842533"/>
          </a:xfrm>
          <a:prstGeom prst="roundRect">
            <a:avLst>
              <a:gd name="adj" fmla="val 127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8" name="Text 6"/>
          <p:cNvSpPr/>
          <p:nvPr/>
        </p:nvSpPr>
        <p:spPr>
          <a:xfrm>
            <a:off x="4451968" y="1145188"/>
            <a:ext cx="5576387"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Backend</a:t>
            </a:r>
            <a:endParaRPr lang="en-US" dirty="0">
              <a:latin typeface="Candara" panose="020E0502030303020204" pitchFamily="34" charset="0"/>
            </a:endParaRPr>
          </a:p>
        </p:txBody>
      </p:sp>
      <p:sp>
        <p:nvSpPr>
          <p:cNvPr id="9" name="Shape 7"/>
          <p:cNvSpPr/>
          <p:nvPr/>
        </p:nvSpPr>
        <p:spPr>
          <a:xfrm>
            <a:off x="10229471" y="904875"/>
            <a:ext cx="1828324" cy="5842532"/>
          </a:xfrm>
          <a:prstGeom prst="roundRect">
            <a:avLst>
              <a:gd name="adj" fmla="val 400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10" name="Text 8"/>
          <p:cNvSpPr/>
          <p:nvPr/>
        </p:nvSpPr>
        <p:spPr>
          <a:xfrm>
            <a:off x="10320887" y="1145188"/>
            <a:ext cx="1645491"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Data Layer</a:t>
            </a:r>
            <a:endParaRPr lang="en-US" dirty="0">
              <a:latin typeface="Candara" panose="020E0502030303020204" pitchFamily="34" charset="0"/>
            </a:endParaRPr>
          </a:p>
        </p:txBody>
      </p:sp>
      <p:sp>
        <p:nvSpPr>
          <p:cNvPr id="11" name="Shape 9"/>
          <p:cNvSpPr/>
          <p:nvPr/>
        </p:nvSpPr>
        <p:spPr>
          <a:xfrm>
            <a:off x="1832894" y="2004501"/>
            <a:ext cx="45251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2" name="Shape 10"/>
          <p:cNvSpPr/>
          <p:nvPr/>
        </p:nvSpPr>
        <p:spPr>
          <a:xfrm>
            <a:off x="4113728" y="3604284"/>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3" name="Shape 11"/>
          <p:cNvSpPr/>
          <p:nvPr/>
        </p:nvSpPr>
        <p:spPr>
          <a:xfrm>
            <a:off x="4113728" y="4838402"/>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4" name="Shape 12"/>
          <p:cNvSpPr/>
          <p:nvPr/>
        </p:nvSpPr>
        <p:spPr>
          <a:xfrm>
            <a:off x="1832894" y="6026813"/>
            <a:ext cx="2619074"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6" name="Shape 14"/>
          <p:cNvSpPr/>
          <p:nvPr/>
        </p:nvSpPr>
        <p:spPr>
          <a:xfrm>
            <a:off x="6371708" y="3604284"/>
            <a:ext cx="164549"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7" name="Shape 15"/>
          <p:cNvSpPr/>
          <p:nvPr/>
        </p:nvSpPr>
        <p:spPr>
          <a:xfrm>
            <a:off x="8684537" y="3604284"/>
            <a:ext cx="201116"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8" name="Shape 16"/>
          <p:cNvSpPr/>
          <p:nvPr/>
        </p:nvSpPr>
        <p:spPr>
          <a:xfrm>
            <a:off x="6280292" y="4838402"/>
            <a:ext cx="255965"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0" name="Shape 18"/>
          <p:cNvSpPr/>
          <p:nvPr/>
        </p:nvSpPr>
        <p:spPr>
          <a:xfrm>
            <a:off x="1101565" y="3787116"/>
            <a:ext cx="0" cy="1965448"/>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2" name="Shape 20"/>
          <p:cNvSpPr/>
          <p:nvPr/>
        </p:nvSpPr>
        <p:spPr>
          <a:xfrm>
            <a:off x="3016734" y="2370165"/>
            <a:ext cx="0" cy="982724"/>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3" name="Shape 21"/>
          <p:cNvSpPr/>
          <p:nvPr/>
        </p:nvSpPr>
        <p:spPr>
          <a:xfrm>
            <a:off x="3382398" y="2370165"/>
            <a:ext cx="0" cy="2193989"/>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4" name="Shape 22"/>
          <p:cNvSpPr/>
          <p:nvPr/>
        </p:nvSpPr>
        <p:spPr>
          <a:xfrm>
            <a:off x="397660" y="1734823"/>
            <a:ext cx="1462659" cy="594205"/>
          </a:xfrm>
          <a:prstGeom prst="roundRect">
            <a:avLst>
              <a:gd name="adj" fmla="val 9231"/>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5" name="Shape 23"/>
          <p:cNvSpPr/>
          <p:nvPr/>
        </p:nvSpPr>
        <p:spPr>
          <a:xfrm>
            <a:off x="370235" y="1707398"/>
            <a:ext cx="1462659" cy="594205"/>
          </a:xfrm>
          <a:prstGeom prst="roundRect">
            <a:avLst>
              <a:gd name="adj" fmla="val 9231"/>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6" name="Text 24"/>
          <p:cNvSpPr/>
          <p:nvPr/>
        </p:nvSpPr>
        <p:spPr>
          <a:xfrm>
            <a:off x="425085" y="1743965"/>
            <a:ext cx="1352960" cy="521072"/>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Operator</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Web Browser</a:t>
            </a:r>
            <a:endParaRPr lang="en-US" sz="1400" b="1" dirty="0">
              <a:solidFill>
                <a:srgbClr val="FFC000"/>
              </a:solidFill>
              <a:latin typeface="Candara" panose="020E0502030303020204" pitchFamily="34" charset="0"/>
            </a:endParaRPr>
          </a:p>
        </p:txBody>
      </p:sp>
      <p:sp>
        <p:nvSpPr>
          <p:cNvPr id="27" name="Shape 25"/>
          <p:cNvSpPr/>
          <p:nvPr/>
        </p:nvSpPr>
        <p:spPr>
          <a:xfrm>
            <a:off x="397660" y="3266044"/>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8" name="Shape 26"/>
          <p:cNvSpPr/>
          <p:nvPr/>
        </p:nvSpPr>
        <p:spPr>
          <a:xfrm>
            <a:off x="370235" y="3238619"/>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9" name="Text 27"/>
          <p:cNvSpPr/>
          <p:nvPr/>
        </p:nvSpPr>
        <p:spPr>
          <a:xfrm>
            <a:off x="425085" y="3275186"/>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IoT Devices</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/Gateway</a:t>
            </a:r>
            <a:endParaRPr lang="en-US" sz="1300" b="1" dirty="0">
              <a:solidFill>
                <a:srgbClr val="FFC000"/>
              </a:solidFill>
              <a:latin typeface="Candara" panose="020E0502030303020204" pitchFamily="34" charset="0"/>
            </a:endParaRPr>
          </a:p>
        </p:txBody>
      </p:sp>
      <p:sp>
        <p:nvSpPr>
          <p:cNvPr id="30" name="Shape 28"/>
          <p:cNvSpPr/>
          <p:nvPr/>
        </p:nvSpPr>
        <p:spPr>
          <a:xfrm>
            <a:off x="397660" y="5779989"/>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1" name="Shape 29"/>
          <p:cNvSpPr/>
          <p:nvPr/>
        </p:nvSpPr>
        <p:spPr>
          <a:xfrm>
            <a:off x="370235" y="5752564"/>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2" name="Text 30"/>
          <p:cNvSpPr/>
          <p:nvPr/>
        </p:nvSpPr>
        <p:spPr>
          <a:xfrm>
            <a:off x="425085" y="5789131"/>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MQTT</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Broker</a:t>
            </a:r>
            <a:endParaRPr lang="en-US" sz="1400" b="1" dirty="0">
              <a:solidFill>
                <a:srgbClr val="FFC000"/>
              </a:solidFill>
              <a:latin typeface="Candara" panose="020E0502030303020204" pitchFamily="34" charset="0"/>
            </a:endParaRPr>
          </a:p>
        </p:txBody>
      </p:sp>
      <p:sp>
        <p:nvSpPr>
          <p:cNvPr id="33" name="Shape 31"/>
          <p:cNvSpPr/>
          <p:nvPr/>
        </p:nvSpPr>
        <p:spPr>
          <a:xfrm>
            <a:off x="2312829" y="1666260"/>
            <a:ext cx="1828324" cy="731330"/>
          </a:xfrm>
          <a:prstGeom prst="roundRect">
            <a:avLst>
              <a:gd name="adj" fmla="val 75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4" name="Shape 32"/>
          <p:cNvSpPr/>
          <p:nvPr/>
        </p:nvSpPr>
        <p:spPr>
          <a:xfrm>
            <a:off x="2285404" y="1638836"/>
            <a:ext cx="1828324" cy="731330"/>
          </a:xfrm>
          <a:prstGeom prst="roundRect">
            <a:avLst>
              <a:gd name="adj" fmla="val 75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5" name="Text 33"/>
          <p:cNvSpPr/>
          <p:nvPr/>
        </p:nvSpPr>
        <p:spPr>
          <a:xfrm>
            <a:off x="2340254" y="1675402"/>
            <a:ext cx="1718624" cy="658197"/>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React SPA</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(MUI + React Router)</a:t>
            </a:r>
            <a:endParaRPr lang="en-US" sz="1300" dirty="0">
              <a:latin typeface="Candara" panose="020E0502030303020204" pitchFamily="34" charset="0"/>
            </a:endParaRPr>
          </a:p>
        </p:txBody>
      </p:sp>
      <p:sp>
        <p:nvSpPr>
          <p:cNvPr id="36" name="Shape 34"/>
          <p:cNvSpPr/>
          <p:nvPr/>
        </p:nvSpPr>
        <p:spPr>
          <a:xfrm>
            <a:off x="2312829" y="3380314"/>
            <a:ext cx="1828324"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7" name="Shape 35"/>
          <p:cNvSpPr/>
          <p:nvPr/>
        </p:nvSpPr>
        <p:spPr>
          <a:xfrm>
            <a:off x="2285404" y="3352889"/>
            <a:ext cx="182832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8" name="Text 36"/>
          <p:cNvSpPr/>
          <p:nvPr/>
        </p:nvSpPr>
        <p:spPr>
          <a:xfrm>
            <a:off x="2340254" y="3389456"/>
            <a:ext cx="1718624"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REST client</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api.ts</a:t>
            </a:r>
            <a:r>
              <a:rPr lang="en-US" sz="1300" dirty="0">
                <a:solidFill>
                  <a:srgbClr val="FFFFFF"/>
                </a:solidFill>
                <a:latin typeface="Candara" panose="020E0502030303020204" pitchFamily="34" charset="0"/>
                <a:ea typeface="Calibri" pitchFamily="34" charset="-122"/>
                <a:cs typeface="Calibri" pitchFamily="34" charset="-120"/>
              </a:rPr>
              <a:t> )</a:t>
            </a:r>
            <a:endParaRPr lang="en-US" sz="1300" dirty="0">
              <a:latin typeface="Candara" panose="020E0502030303020204" pitchFamily="34" charset="0"/>
            </a:endParaRPr>
          </a:p>
        </p:txBody>
      </p:sp>
      <p:sp>
        <p:nvSpPr>
          <p:cNvPr id="39" name="Shape 37"/>
          <p:cNvSpPr/>
          <p:nvPr/>
        </p:nvSpPr>
        <p:spPr>
          <a:xfrm>
            <a:off x="2312829"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0" name="Shape 38"/>
          <p:cNvSpPr/>
          <p:nvPr/>
        </p:nvSpPr>
        <p:spPr>
          <a:xfrm>
            <a:off x="2285404"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1" name="Text 39"/>
          <p:cNvSpPr/>
          <p:nvPr/>
        </p:nvSpPr>
        <p:spPr>
          <a:xfrm>
            <a:off x="2340254" y="4600720"/>
            <a:ext cx="1718624" cy="475364"/>
          </a:xfrm>
          <a:prstGeom prst="rect">
            <a:avLst/>
          </a:prstGeom>
          <a:noFill/>
          <a:ln/>
        </p:spPr>
        <p:txBody>
          <a:bodyPr wrap="square" lIns="0" tIns="0" rIns="0" bIns="0" rtlCol="0" anchor="ctr"/>
          <a:lstStyle/>
          <a:p>
            <a:pPr algn="ctr"/>
            <a:r>
              <a:rPr lang="en-US" sz="1400" b="1" dirty="0" err="1">
                <a:solidFill>
                  <a:srgbClr val="FFFF00"/>
                </a:solidFill>
                <a:latin typeface="Candara" panose="020E0502030303020204" pitchFamily="34" charset="0"/>
                <a:ea typeface="Calibri" pitchFamily="34" charset="-122"/>
                <a:cs typeface="Calibri" pitchFamily="34" charset="-120"/>
              </a:rPr>
              <a:t>SignalR</a:t>
            </a:r>
            <a:r>
              <a:rPr lang="en-US" sz="1400" b="1" dirty="0">
                <a:solidFill>
                  <a:srgbClr val="FFFF00"/>
                </a:solidFill>
                <a:latin typeface="Candara" panose="020E0502030303020204" pitchFamily="34" charset="0"/>
                <a:ea typeface="Calibri" pitchFamily="34" charset="-122"/>
                <a:cs typeface="Calibri" pitchFamily="34" charset="-120"/>
              </a:rPr>
              <a:t> client</a:t>
            </a: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signalRService.ts</a:t>
            </a:r>
            <a:r>
              <a:rPr lang="en-US" sz="1300" dirty="0">
                <a:solidFill>
                  <a:srgbClr val="FFFFFF"/>
                </a:solidFill>
                <a:latin typeface="Candara" panose="020E0502030303020204" pitchFamily="34" charset="0"/>
                <a:ea typeface="Calibri" pitchFamily="34" charset="-122"/>
                <a:cs typeface="Calibri" pitchFamily="34" charset="-120"/>
              </a:rPr>
              <a:t>)</a:t>
            </a:r>
            <a:endParaRPr lang="en-US" sz="1300" dirty="0">
              <a:latin typeface="Candara" panose="020E0502030303020204" pitchFamily="34" charset="0"/>
            </a:endParaRPr>
          </a:p>
        </p:txBody>
      </p:sp>
      <p:sp>
        <p:nvSpPr>
          <p:cNvPr id="42" name="Shape 40"/>
          <p:cNvSpPr/>
          <p:nvPr/>
        </p:nvSpPr>
        <p:spPr>
          <a:xfrm>
            <a:off x="4479393" y="3128920"/>
            <a:ext cx="1919740" cy="1005578"/>
          </a:xfrm>
          <a:prstGeom prst="roundRect">
            <a:avLst>
              <a:gd name="adj" fmla="val 545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3" name="Shape 41"/>
          <p:cNvSpPr/>
          <p:nvPr/>
        </p:nvSpPr>
        <p:spPr>
          <a:xfrm>
            <a:off x="4451968" y="3101495"/>
            <a:ext cx="1919740" cy="1005578"/>
          </a:xfrm>
          <a:prstGeom prst="roundRect">
            <a:avLst>
              <a:gd name="adj" fmla="val 545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4" name="Text 42"/>
          <p:cNvSpPr/>
          <p:nvPr/>
        </p:nvSpPr>
        <p:spPr>
          <a:xfrm>
            <a:off x="4506817" y="3138061"/>
            <a:ext cx="1810041" cy="932445"/>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REST Controllers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 Sensors,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 AlertRules,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Health</a:t>
            </a:r>
            <a:endParaRPr lang="en-US" sz="1300" dirty="0">
              <a:latin typeface="Candara" panose="020E0502030303020204" pitchFamily="34" charset="0"/>
            </a:endParaRPr>
          </a:p>
        </p:txBody>
      </p:sp>
      <p:sp>
        <p:nvSpPr>
          <p:cNvPr id="45" name="Shape 43"/>
          <p:cNvSpPr/>
          <p:nvPr/>
        </p:nvSpPr>
        <p:spPr>
          <a:xfrm>
            <a:off x="6563682" y="3037504"/>
            <a:ext cx="2148280" cy="1188410"/>
          </a:xfrm>
          <a:prstGeom prst="roundRect">
            <a:avLst>
              <a:gd name="adj" fmla="val 461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6" name="Shape 44"/>
          <p:cNvSpPr/>
          <p:nvPr/>
        </p:nvSpPr>
        <p:spPr>
          <a:xfrm>
            <a:off x="6536257" y="3010079"/>
            <a:ext cx="2148280" cy="1188410"/>
          </a:xfrm>
          <a:prstGeom prst="roundRect">
            <a:avLst>
              <a:gd name="adj" fmla="val 461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7" name="Text 45"/>
          <p:cNvSpPr/>
          <p:nvPr/>
        </p:nvSpPr>
        <p:spPr>
          <a:xfrm>
            <a:off x="6591107" y="3046645"/>
            <a:ext cx="2038581" cy="1115277"/>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Application Services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AlertRuleService</a:t>
            </a:r>
            <a:endParaRPr lang="en-US" sz="1300" dirty="0">
              <a:latin typeface="Candara" panose="020E0502030303020204" pitchFamily="34" charset="0"/>
            </a:endParaRPr>
          </a:p>
        </p:txBody>
      </p:sp>
      <p:sp>
        <p:nvSpPr>
          <p:cNvPr id="48" name="Shape 46"/>
          <p:cNvSpPr/>
          <p:nvPr/>
        </p:nvSpPr>
        <p:spPr>
          <a:xfrm>
            <a:off x="8913078" y="3380314"/>
            <a:ext cx="1188410"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9" name="Shape 47"/>
          <p:cNvSpPr/>
          <p:nvPr/>
        </p:nvSpPr>
        <p:spPr>
          <a:xfrm>
            <a:off x="8885653" y="3352889"/>
            <a:ext cx="1188410"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0" name="Text 48"/>
          <p:cNvSpPr/>
          <p:nvPr/>
        </p:nvSpPr>
        <p:spPr>
          <a:xfrm>
            <a:off x="8940503" y="3389456"/>
            <a:ext cx="1078711"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Repositories</a:t>
            </a:r>
            <a:endParaRPr lang="en-US" sz="1400" b="1" dirty="0">
              <a:solidFill>
                <a:srgbClr val="00B0F0"/>
              </a:solidFill>
              <a:latin typeface="Candara" panose="020E0502030303020204" pitchFamily="34" charset="0"/>
            </a:endParaRPr>
          </a:p>
        </p:txBody>
      </p:sp>
      <p:sp>
        <p:nvSpPr>
          <p:cNvPr id="51" name="Shape 49"/>
          <p:cNvSpPr/>
          <p:nvPr/>
        </p:nvSpPr>
        <p:spPr>
          <a:xfrm>
            <a:off x="4479393"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2" name="Shape 50"/>
          <p:cNvSpPr/>
          <p:nvPr/>
        </p:nvSpPr>
        <p:spPr>
          <a:xfrm>
            <a:off x="4451968"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3" name="Text 51"/>
          <p:cNvSpPr/>
          <p:nvPr/>
        </p:nvSpPr>
        <p:spPr>
          <a:xfrm>
            <a:off x="4474823" y="4600720"/>
            <a:ext cx="1718624" cy="475364"/>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MonitoringHub</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(SignalR)</a:t>
            </a:r>
            <a:endParaRPr lang="en-US" sz="1300" dirty="0">
              <a:latin typeface="Candara" panose="020E0502030303020204" pitchFamily="34" charset="0"/>
            </a:endParaRPr>
          </a:p>
        </p:txBody>
      </p:sp>
      <p:sp>
        <p:nvSpPr>
          <p:cNvPr id="57" name="Shape 55"/>
          <p:cNvSpPr/>
          <p:nvPr/>
        </p:nvSpPr>
        <p:spPr>
          <a:xfrm>
            <a:off x="8775954" y="4614433"/>
            <a:ext cx="1462659"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8" name="Shape 56"/>
          <p:cNvSpPr/>
          <p:nvPr/>
        </p:nvSpPr>
        <p:spPr>
          <a:xfrm>
            <a:off x="8293735" y="5674860"/>
            <a:ext cx="155407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9" name="Text 57"/>
          <p:cNvSpPr/>
          <p:nvPr/>
        </p:nvSpPr>
        <p:spPr>
          <a:xfrm>
            <a:off x="8260632" y="5702285"/>
            <a:ext cx="1604355" cy="429656"/>
          </a:xfrm>
          <a:prstGeom prst="rect">
            <a:avLst/>
          </a:prstGeom>
          <a:noFill/>
          <a:ln/>
        </p:spPr>
        <p:txBody>
          <a:bodyPr wrap="square" lIns="0" tIns="0" rIns="0" bIns="0" rtlCol="0" anchor="ctr"/>
          <a:lstStyle/>
          <a:p>
            <a:pPr algn="ctr"/>
            <a:r>
              <a:rPr lang="en-US" sz="1200" b="1" dirty="0">
                <a:solidFill>
                  <a:srgbClr val="00B0F0"/>
                </a:solidFill>
                <a:latin typeface="Candara" panose="020E0502030303020204" pitchFamily="34" charset="0"/>
                <a:ea typeface="Calibri" pitchFamily="34" charset="-122"/>
                <a:cs typeface="Calibri" pitchFamily="34" charset="-120"/>
              </a:rPr>
              <a:t>ApplicationDbContext</a:t>
            </a:r>
            <a:endParaRPr lang="en-US" sz="1200" b="1" dirty="0">
              <a:solidFill>
                <a:srgbClr val="00B0F0"/>
              </a:solidFill>
              <a:latin typeface="Candara" panose="020E0502030303020204" pitchFamily="34" charset="0"/>
            </a:endParaRPr>
          </a:p>
        </p:txBody>
      </p:sp>
      <p:sp>
        <p:nvSpPr>
          <p:cNvPr id="60" name="Shape 58"/>
          <p:cNvSpPr/>
          <p:nvPr/>
        </p:nvSpPr>
        <p:spPr>
          <a:xfrm>
            <a:off x="4479393" y="580284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1" name="Shape 59"/>
          <p:cNvSpPr/>
          <p:nvPr/>
        </p:nvSpPr>
        <p:spPr>
          <a:xfrm>
            <a:off x="4451968" y="577541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62" name="Text 60"/>
          <p:cNvSpPr/>
          <p:nvPr/>
        </p:nvSpPr>
        <p:spPr>
          <a:xfrm>
            <a:off x="4506817" y="5811985"/>
            <a:ext cx="1444376"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MqttService</a:t>
            </a:r>
            <a:endParaRPr lang="en-US" sz="1400" b="1" dirty="0">
              <a:solidFill>
                <a:srgbClr val="00B0F0"/>
              </a:solidFill>
              <a:latin typeface="Candara" panose="020E0502030303020204" pitchFamily="34" charset="0"/>
            </a:endParaRPr>
          </a:p>
        </p:txBody>
      </p:sp>
      <p:sp>
        <p:nvSpPr>
          <p:cNvPr id="63" name="Shape 61"/>
          <p:cNvSpPr/>
          <p:nvPr/>
        </p:nvSpPr>
        <p:spPr>
          <a:xfrm>
            <a:off x="10348312" y="461443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4" name="Shape 62"/>
          <p:cNvSpPr/>
          <p:nvPr/>
        </p:nvSpPr>
        <p:spPr>
          <a:xfrm>
            <a:off x="10351367" y="458700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cxnSp>
        <p:nvCxnSpPr>
          <p:cNvPr id="68" name="Connector: Elbow 67">
            <a:extLst>
              <a:ext uri="{FF2B5EF4-FFF2-40B4-BE49-F238E27FC236}">
                <a16:creationId xmlns:a16="http://schemas.microsoft.com/office/drawing/2014/main" id="{C0FD3DCC-31CA-A452-10B7-396F1C1F1B53}"/>
              </a:ext>
            </a:extLst>
          </p:cNvPr>
          <p:cNvCxnSpPr>
            <a:cxnSpLocks/>
            <a:stCxn id="61" idx="3"/>
            <a:endCxn id="47" idx="2"/>
          </p:cNvCxnSpPr>
          <p:nvPr/>
        </p:nvCxnSpPr>
        <p:spPr>
          <a:xfrm flipV="1">
            <a:off x="6006043" y="4161922"/>
            <a:ext cx="1604355" cy="1864891"/>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5" name="Text 63"/>
          <p:cNvSpPr/>
          <p:nvPr/>
        </p:nvSpPr>
        <p:spPr>
          <a:xfrm>
            <a:off x="10375737" y="4623574"/>
            <a:ext cx="1444376"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SQL Server</a:t>
            </a:r>
            <a:endParaRPr lang="en-US" sz="1400" b="1" dirty="0">
              <a:solidFill>
                <a:srgbClr val="FFFF00"/>
              </a:solidFill>
              <a:latin typeface="Candara" panose="020E0502030303020204" pitchFamily="34" charset="0"/>
            </a:endParaRPr>
          </a:p>
        </p:txBody>
      </p:sp>
      <p:cxnSp>
        <p:nvCxnSpPr>
          <p:cNvPr id="92" name="Connector: Elbow 91">
            <a:extLst>
              <a:ext uri="{FF2B5EF4-FFF2-40B4-BE49-F238E27FC236}">
                <a16:creationId xmlns:a16="http://schemas.microsoft.com/office/drawing/2014/main" id="{609D8D8D-3039-15F4-7D4F-9402F6BA4E37}"/>
              </a:ext>
            </a:extLst>
          </p:cNvPr>
          <p:cNvCxnSpPr>
            <a:endCxn id="64" idx="2"/>
          </p:cNvCxnSpPr>
          <p:nvPr/>
        </p:nvCxnSpPr>
        <p:spPr>
          <a:xfrm flipV="1">
            <a:off x="9847808" y="5089797"/>
            <a:ext cx="1280597" cy="836457"/>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7AB37563-7569-444A-16FF-C05FD823FFB6}"/>
              </a:ext>
            </a:extLst>
          </p:cNvPr>
          <p:cNvCxnSpPr>
            <a:cxnSpLocks/>
            <a:stCxn id="49" idx="2"/>
            <a:endCxn id="58" idx="0"/>
          </p:cNvCxnSpPr>
          <p:nvPr/>
        </p:nvCxnSpPr>
        <p:spPr>
          <a:xfrm rot="5400000">
            <a:off x="8365724" y="4560726"/>
            <a:ext cx="1819182" cy="409086"/>
          </a:xfrm>
          <a:prstGeom prst="bentConnector3">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4A6EE4DA-84AD-A815-928B-2D0D1848F883}"/>
              </a:ext>
            </a:extLst>
          </p:cNvPr>
          <p:cNvCxnSpPr>
            <a:cxnSpLocks/>
            <a:endCxn id="45" idx="2"/>
          </p:cNvCxnSpPr>
          <p:nvPr/>
        </p:nvCxnSpPr>
        <p:spPr>
          <a:xfrm flipH="1" flipV="1">
            <a:off x="7610398" y="4161922"/>
            <a:ext cx="1074139" cy="676481"/>
          </a:xfrm>
          <a:prstGeom prst="bentConnector4">
            <a:avLst>
              <a:gd name="adj1" fmla="val -21282"/>
              <a:gd name="adj2" fmla="val 68581"/>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02" name="Shape 35">
            <a:extLst>
              <a:ext uri="{FF2B5EF4-FFF2-40B4-BE49-F238E27FC236}">
                <a16:creationId xmlns:a16="http://schemas.microsoft.com/office/drawing/2014/main" id="{766D3456-FCD0-C032-B4BC-AA3FDC6CFF4B}"/>
              </a:ext>
            </a:extLst>
          </p:cNvPr>
          <p:cNvSpPr/>
          <p:nvPr/>
        </p:nvSpPr>
        <p:spPr>
          <a:xfrm>
            <a:off x="6463124" y="4557822"/>
            <a:ext cx="2340255" cy="502789"/>
          </a:xfrm>
          <a:prstGeom prst="roundRect">
            <a:avLst>
              <a:gd name="adj" fmla="val 10909"/>
            </a:avLst>
          </a:prstGeom>
          <a:solidFill>
            <a:srgbClr val="0D2117"/>
          </a:solidFill>
          <a:ln w="15875">
            <a:solidFill>
              <a:srgbClr val="3ECF80"/>
            </a:solidFill>
            <a:prstDash val="solid"/>
          </a:ln>
        </p:spPr>
        <p:txBody>
          <a:bodyPr/>
          <a:lstStyle/>
          <a:p>
            <a:pPr algn="ctr"/>
            <a:endParaRPr lang="en-US" sz="1400" b="1" dirty="0">
              <a:solidFill>
                <a:srgbClr val="00B0F0"/>
              </a:solidFill>
              <a:latin typeface="Candara" panose="020E0502030303020204" pitchFamily="34" charset="0"/>
            </a:endParaRPr>
          </a:p>
        </p:txBody>
      </p:sp>
      <p:sp>
        <p:nvSpPr>
          <p:cNvPr id="103" name="Text 51">
            <a:extLst>
              <a:ext uri="{FF2B5EF4-FFF2-40B4-BE49-F238E27FC236}">
                <a16:creationId xmlns:a16="http://schemas.microsoft.com/office/drawing/2014/main" id="{3170471E-CF4F-AE1D-197E-5EB96B08784F}"/>
              </a:ext>
            </a:extLst>
          </p:cNvPr>
          <p:cNvSpPr/>
          <p:nvPr/>
        </p:nvSpPr>
        <p:spPr>
          <a:xfrm>
            <a:off x="6488264" y="4539527"/>
            <a:ext cx="2287689" cy="475364"/>
          </a:xfrm>
          <a:prstGeom prst="rect">
            <a:avLst/>
          </a:prstGeom>
          <a:noFill/>
          <a:ln/>
        </p:spPr>
        <p:txBody>
          <a:bodyPr wrap="square" lIns="0" tIns="0" rIns="0" bIns="0" rtlCol="0" anchor="ctr"/>
          <a:lstStyle/>
          <a:p>
            <a:pPr algn="ctr"/>
            <a:r>
              <a:rPr lang="en-US" sz="1400" b="1" dirty="0" err="1">
                <a:solidFill>
                  <a:srgbClr val="00B0F0"/>
                </a:solidFill>
                <a:latin typeface="Candara" panose="020E0502030303020204" pitchFamily="34" charset="0"/>
                <a:ea typeface="Calibri" pitchFamily="34" charset="-122"/>
                <a:cs typeface="Calibri" pitchFamily="34" charset="-120"/>
              </a:rPr>
              <a:t>SignalRNotificationServices</a:t>
            </a:r>
            <a:endParaRPr lang="en-US" sz="1400" b="1" dirty="0">
              <a:solidFill>
                <a:srgbClr val="00B0F0"/>
              </a:solidFill>
              <a:latin typeface="Candara" panose="020E0502030303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57080" y="110592"/>
            <a:ext cx="11244191" cy="411373"/>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Database Schema Map</a:t>
            </a:r>
            <a:endParaRPr lang="en-US" sz="3200" dirty="0">
              <a:latin typeface="Candara" panose="020E0502030303020204" pitchFamily="34" charset="0"/>
            </a:endParaRPr>
          </a:p>
        </p:txBody>
      </p:sp>
      <p:sp>
        <p:nvSpPr>
          <p:cNvPr id="3" name="Text 1"/>
          <p:cNvSpPr/>
          <p:nvPr/>
        </p:nvSpPr>
        <p:spPr>
          <a:xfrm>
            <a:off x="457080" y="549390"/>
            <a:ext cx="11244191" cy="228540"/>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11 tables  •  Devices = central hub  •  Key fields and relationships shown</a:t>
            </a:r>
            <a:endParaRPr lang="en-US" sz="1200" dirty="0">
              <a:latin typeface="Candara" panose="020E0502030303020204" pitchFamily="34" charset="0"/>
            </a:endParaRPr>
          </a:p>
        </p:txBody>
      </p:sp>
      <p:sp>
        <p:nvSpPr>
          <p:cNvPr id="4" name="Shape 2"/>
          <p:cNvSpPr/>
          <p:nvPr/>
        </p:nvSpPr>
        <p:spPr>
          <a:xfrm>
            <a:off x="2651069" y="2079339"/>
            <a:ext cx="2422529" cy="998981"/>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5" name="Shape 3"/>
          <p:cNvSpPr/>
          <p:nvPr/>
        </p:nvSpPr>
        <p:spPr>
          <a:xfrm flipV="1">
            <a:off x="2651069" y="3534459"/>
            <a:ext cx="2422529" cy="9989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6" name="Shape 4"/>
          <p:cNvSpPr/>
          <p:nvPr/>
        </p:nvSpPr>
        <p:spPr>
          <a:xfrm flipV="1">
            <a:off x="7084754" y="1888637"/>
            <a:ext cx="2559653" cy="1151844"/>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7" name="Shape 5"/>
          <p:cNvSpPr/>
          <p:nvPr/>
        </p:nvSpPr>
        <p:spPr>
          <a:xfrm flipV="1">
            <a:off x="7084754" y="3100816"/>
            <a:ext cx="2559653" cy="281562"/>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8" name="Shape 6"/>
          <p:cNvSpPr/>
          <p:nvPr/>
        </p:nvSpPr>
        <p:spPr>
          <a:xfrm>
            <a:off x="7084754" y="3704163"/>
            <a:ext cx="2559653" cy="53752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9" name="Shape 7"/>
          <p:cNvSpPr/>
          <p:nvPr/>
        </p:nvSpPr>
        <p:spPr>
          <a:xfrm>
            <a:off x="7084754" y="4025947"/>
            <a:ext cx="2559653" cy="135661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0" name="Shape 8"/>
          <p:cNvSpPr/>
          <p:nvPr/>
        </p:nvSpPr>
        <p:spPr>
          <a:xfrm flipV="1">
            <a:off x="4316367" y="4059772"/>
            <a:ext cx="114879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1" name="Shape 9"/>
          <p:cNvSpPr/>
          <p:nvPr/>
        </p:nvSpPr>
        <p:spPr>
          <a:xfrm flipV="1">
            <a:off x="5977475" y="4059772"/>
            <a:ext cx="6627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2" name="Shape 10"/>
          <p:cNvSpPr/>
          <p:nvPr/>
        </p:nvSpPr>
        <p:spPr>
          <a:xfrm>
            <a:off x="6610533" y="4059772"/>
            <a:ext cx="994151" cy="1060428"/>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3" name="Shape 11"/>
          <p:cNvSpPr/>
          <p:nvPr/>
        </p:nvSpPr>
        <p:spPr>
          <a:xfrm flipV="1">
            <a:off x="2651069" y="1461649"/>
            <a:ext cx="6993338" cy="177496"/>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4" name="Shape 12"/>
          <p:cNvSpPr/>
          <p:nvPr/>
        </p:nvSpPr>
        <p:spPr>
          <a:xfrm>
            <a:off x="2560069" y="2231448"/>
            <a:ext cx="4661395" cy="2888752"/>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5" name="Shape 13"/>
          <p:cNvSpPr/>
          <p:nvPr/>
        </p:nvSpPr>
        <p:spPr>
          <a:xfrm>
            <a:off x="2651069" y="2139382"/>
            <a:ext cx="6993338" cy="330142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6" name="Shape 14"/>
          <p:cNvSpPr/>
          <p:nvPr/>
        </p:nvSpPr>
        <p:spPr>
          <a:xfrm>
            <a:off x="1645491" y="2231448"/>
            <a:ext cx="0" cy="877595"/>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7" name="Shape 15"/>
          <p:cNvSpPr/>
          <p:nvPr/>
        </p:nvSpPr>
        <p:spPr>
          <a:xfrm>
            <a:off x="9141618" y="5778396"/>
            <a:ext cx="502789" cy="4570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8" name="Shape 16"/>
          <p:cNvSpPr/>
          <p:nvPr/>
        </p:nvSpPr>
        <p:spPr>
          <a:xfrm>
            <a:off x="2651069" y="4146521"/>
            <a:ext cx="2285405" cy="106976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9" name="Shape 17"/>
          <p:cNvSpPr/>
          <p:nvPr/>
        </p:nvSpPr>
        <p:spPr>
          <a:xfrm>
            <a:off x="5101023" y="295363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20" name="Shape 18"/>
          <p:cNvSpPr/>
          <p:nvPr/>
        </p:nvSpPr>
        <p:spPr>
          <a:xfrm>
            <a:off x="5073598" y="2926211"/>
            <a:ext cx="2011156" cy="1133561"/>
          </a:xfrm>
          <a:prstGeom prst="roundRect">
            <a:avLst>
              <a:gd name="adj" fmla="val 6452"/>
            </a:avLst>
          </a:prstGeom>
          <a:solidFill>
            <a:srgbClr val="112B1D"/>
          </a:solidFill>
          <a:ln w="19050">
            <a:solidFill>
              <a:srgbClr val="3ECF80"/>
            </a:solidFill>
            <a:prstDash val="solid"/>
          </a:ln>
        </p:spPr>
        <p:txBody>
          <a:bodyPr/>
          <a:lstStyle/>
          <a:p>
            <a:endParaRPr lang="en-US" sz="1799">
              <a:latin typeface="Candara" panose="020E0502030303020204" pitchFamily="34" charset="0"/>
            </a:endParaRPr>
          </a:p>
        </p:txBody>
      </p:sp>
      <p:sp>
        <p:nvSpPr>
          <p:cNvPr id="21" name="Shape 19"/>
          <p:cNvSpPr/>
          <p:nvPr/>
        </p:nvSpPr>
        <p:spPr>
          <a:xfrm>
            <a:off x="5073598" y="2999344"/>
            <a:ext cx="50279" cy="987295"/>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2" name="Shape 20"/>
          <p:cNvSpPr/>
          <p:nvPr/>
        </p:nvSpPr>
        <p:spPr>
          <a:xfrm>
            <a:off x="5073598" y="2926211"/>
            <a:ext cx="50279" cy="164549"/>
          </a:xfrm>
          <a:prstGeom prst="roundRect">
            <a:avLst>
              <a:gd name="adj" fmla="val 72727"/>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3" name="Shape 21"/>
          <p:cNvSpPr/>
          <p:nvPr/>
        </p:nvSpPr>
        <p:spPr>
          <a:xfrm>
            <a:off x="6581965" y="2981061"/>
            <a:ext cx="438798" cy="182832"/>
          </a:xfrm>
          <a:prstGeom prst="roundRect">
            <a:avLst>
              <a:gd name="adj" fmla="val 20000"/>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 name="Text 22"/>
          <p:cNvSpPr/>
          <p:nvPr/>
        </p:nvSpPr>
        <p:spPr>
          <a:xfrm>
            <a:off x="6581965" y="2981061"/>
            <a:ext cx="438798" cy="182832"/>
          </a:xfrm>
          <a:prstGeom prst="rect">
            <a:avLst/>
          </a:prstGeom>
          <a:noFill/>
          <a:ln/>
        </p:spPr>
        <p:txBody>
          <a:bodyPr wrap="square" lIns="0" tIns="0" rIns="0" bIns="0" rtlCol="0" anchor="ctr"/>
          <a:lstStyle/>
          <a:p>
            <a:pPr algn="ctr"/>
            <a:r>
              <a:rPr lang="en-US" sz="800" b="1" kern="0" spc="300" dirty="0">
                <a:solidFill>
                  <a:srgbClr val="0D2117"/>
                </a:solidFill>
                <a:latin typeface="Candara" panose="020E0502030303020204" pitchFamily="34" charset="0"/>
                <a:ea typeface="Calibri" pitchFamily="34" charset="-122"/>
                <a:cs typeface="Calibri" pitchFamily="34" charset="-120"/>
              </a:rPr>
              <a:t>HUB</a:t>
            </a:r>
            <a:endParaRPr lang="en-US" sz="800" dirty="0">
              <a:latin typeface="Candara" panose="020E0502030303020204" pitchFamily="34" charset="0"/>
            </a:endParaRPr>
          </a:p>
        </p:txBody>
      </p:sp>
      <p:sp>
        <p:nvSpPr>
          <p:cNvPr id="25" name="Text 23"/>
          <p:cNvSpPr/>
          <p:nvPr/>
        </p:nvSpPr>
        <p:spPr>
          <a:xfrm>
            <a:off x="5219864" y="2944494"/>
            <a:ext cx="1810041" cy="237682"/>
          </a:xfrm>
          <a:prstGeom prst="rect">
            <a:avLst/>
          </a:prstGeom>
          <a:noFill/>
          <a:ln/>
        </p:spPr>
        <p:txBody>
          <a:bodyPr wrap="square" lIns="0" tIns="0" rIns="0" bIns="0" rtlCol="0" anchor="ctr"/>
          <a:lstStyle/>
          <a:p>
            <a:r>
              <a:rPr lang="en-US" sz="1300" b="1" dirty="0">
                <a:solidFill>
                  <a:srgbClr val="FFFFFF"/>
                </a:solidFill>
                <a:latin typeface="Candara" panose="020E0502030303020204" pitchFamily="34" charset="0"/>
                <a:ea typeface="Calibri" pitchFamily="34" charset="-122"/>
                <a:cs typeface="Calibri" pitchFamily="34" charset="-120"/>
              </a:rPr>
              <a:t>Devices</a:t>
            </a:r>
            <a:endParaRPr lang="en-US" sz="1300" dirty="0">
              <a:latin typeface="Candara" panose="020E0502030303020204" pitchFamily="34" charset="0"/>
            </a:endParaRPr>
          </a:p>
        </p:txBody>
      </p:sp>
      <p:sp>
        <p:nvSpPr>
          <p:cNvPr id="26" name="Text 24"/>
          <p:cNvSpPr/>
          <p:nvPr/>
        </p:nvSpPr>
        <p:spPr>
          <a:xfrm>
            <a:off x="5219864" y="321874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IoT equipment registry</a:t>
            </a:r>
            <a:endParaRPr lang="en-US" sz="850" dirty="0">
              <a:latin typeface="Candara" panose="020E0502030303020204" pitchFamily="34" charset="0"/>
            </a:endParaRPr>
          </a:p>
        </p:txBody>
      </p:sp>
      <p:sp>
        <p:nvSpPr>
          <p:cNvPr id="27" name="Shape 25"/>
          <p:cNvSpPr/>
          <p:nvPr/>
        </p:nvSpPr>
        <p:spPr>
          <a:xfrm>
            <a:off x="5201580" y="340157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8" name="Text 26"/>
          <p:cNvSpPr/>
          <p:nvPr/>
        </p:nvSpPr>
        <p:spPr>
          <a:xfrm>
            <a:off x="5219864" y="343814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9" name="Text 27"/>
          <p:cNvSpPr/>
          <p:nvPr/>
        </p:nvSpPr>
        <p:spPr>
          <a:xfrm>
            <a:off x="5512396" y="343814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30" name="Text 28"/>
          <p:cNvSpPr/>
          <p:nvPr/>
        </p:nvSpPr>
        <p:spPr>
          <a:xfrm>
            <a:off x="6517974" y="343814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31" name="Text 29"/>
          <p:cNvSpPr/>
          <p:nvPr/>
        </p:nvSpPr>
        <p:spPr>
          <a:xfrm>
            <a:off x="5512396" y="357983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DeviceName</a:t>
            </a:r>
            <a:endParaRPr lang="en-US" sz="850" dirty="0">
              <a:latin typeface="Candara" panose="020E0502030303020204" pitchFamily="34" charset="0"/>
            </a:endParaRPr>
          </a:p>
        </p:txBody>
      </p:sp>
      <p:sp>
        <p:nvSpPr>
          <p:cNvPr id="32" name="Text 30"/>
          <p:cNvSpPr/>
          <p:nvPr/>
        </p:nvSpPr>
        <p:spPr>
          <a:xfrm>
            <a:off x="6517974" y="357983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33" name="Text 31"/>
          <p:cNvSpPr/>
          <p:nvPr/>
        </p:nvSpPr>
        <p:spPr>
          <a:xfrm>
            <a:off x="5512396" y="372153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DeviceType</a:t>
            </a:r>
            <a:endParaRPr lang="en-US" sz="850" dirty="0">
              <a:latin typeface="Candara" panose="020E0502030303020204" pitchFamily="34" charset="0"/>
            </a:endParaRPr>
          </a:p>
        </p:txBody>
      </p:sp>
      <p:sp>
        <p:nvSpPr>
          <p:cNvPr id="34" name="Text 32"/>
          <p:cNvSpPr/>
          <p:nvPr/>
        </p:nvSpPr>
        <p:spPr>
          <a:xfrm>
            <a:off x="6517974" y="372153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35" name="Text 33"/>
          <p:cNvSpPr/>
          <p:nvPr/>
        </p:nvSpPr>
        <p:spPr>
          <a:xfrm>
            <a:off x="5512396" y="386322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36" name="Text 34"/>
          <p:cNvSpPr/>
          <p:nvPr/>
        </p:nvSpPr>
        <p:spPr>
          <a:xfrm>
            <a:off x="6517974" y="386322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37" name="Shape 35"/>
          <p:cNvSpPr/>
          <p:nvPr/>
        </p:nvSpPr>
        <p:spPr>
          <a:xfrm>
            <a:off x="667338" y="1125312"/>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38" name="Shape 36"/>
          <p:cNvSpPr/>
          <p:nvPr/>
        </p:nvSpPr>
        <p:spPr>
          <a:xfrm>
            <a:off x="639913" y="109788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39" name="Shape 37"/>
          <p:cNvSpPr/>
          <p:nvPr/>
        </p:nvSpPr>
        <p:spPr>
          <a:xfrm>
            <a:off x="639913" y="1171020"/>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0" name="Shape 38"/>
          <p:cNvSpPr/>
          <p:nvPr/>
        </p:nvSpPr>
        <p:spPr>
          <a:xfrm>
            <a:off x="639913" y="1097887"/>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1" name="Text 39"/>
          <p:cNvSpPr/>
          <p:nvPr/>
        </p:nvSpPr>
        <p:spPr>
          <a:xfrm>
            <a:off x="786178" y="1116171"/>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Sensors</a:t>
            </a:r>
            <a:endParaRPr lang="en-US" sz="1100" dirty="0">
              <a:latin typeface="Candara" panose="020E0502030303020204" pitchFamily="34" charset="0"/>
            </a:endParaRPr>
          </a:p>
        </p:txBody>
      </p:sp>
      <p:sp>
        <p:nvSpPr>
          <p:cNvPr id="42" name="Text 40"/>
          <p:cNvSpPr/>
          <p:nvPr/>
        </p:nvSpPr>
        <p:spPr>
          <a:xfrm>
            <a:off x="786178" y="139041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Inputs on each device</a:t>
            </a:r>
            <a:endParaRPr lang="en-US" sz="850" dirty="0">
              <a:latin typeface="Candara" panose="020E0502030303020204" pitchFamily="34" charset="0"/>
            </a:endParaRPr>
          </a:p>
        </p:txBody>
      </p:sp>
      <p:sp>
        <p:nvSpPr>
          <p:cNvPr id="43" name="Shape 41"/>
          <p:cNvSpPr/>
          <p:nvPr/>
        </p:nvSpPr>
        <p:spPr>
          <a:xfrm>
            <a:off x="767895" y="157325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44" name="Text 42"/>
          <p:cNvSpPr/>
          <p:nvPr/>
        </p:nvSpPr>
        <p:spPr>
          <a:xfrm>
            <a:off x="786178" y="1609818"/>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45" name="Text 43"/>
          <p:cNvSpPr/>
          <p:nvPr/>
        </p:nvSpPr>
        <p:spPr>
          <a:xfrm>
            <a:off x="1078711" y="1609818"/>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46" name="Text 44"/>
          <p:cNvSpPr/>
          <p:nvPr/>
        </p:nvSpPr>
        <p:spPr>
          <a:xfrm>
            <a:off x="2084289" y="160981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47" name="Text 45"/>
          <p:cNvSpPr/>
          <p:nvPr/>
        </p:nvSpPr>
        <p:spPr>
          <a:xfrm>
            <a:off x="786178" y="175151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48" name="Text 46"/>
          <p:cNvSpPr/>
          <p:nvPr/>
        </p:nvSpPr>
        <p:spPr>
          <a:xfrm>
            <a:off x="1078711" y="175151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49" name="Text 47"/>
          <p:cNvSpPr/>
          <p:nvPr/>
        </p:nvSpPr>
        <p:spPr>
          <a:xfrm>
            <a:off x="2084289" y="175151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50" name="Text 48"/>
          <p:cNvSpPr/>
          <p:nvPr/>
        </p:nvSpPr>
        <p:spPr>
          <a:xfrm>
            <a:off x="1078711" y="189320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SensorName</a:t>
            </a:r>
            <a:endParaRPr lang="en-US" sz="850" dirty="0">
              <a:latin typeface="Candara" panose="020E0502030303020204" pitchFamily="34" charset="0"/>
            </a:endParaRPr>
          </a:p>
        </p:txBody>
      </p:sp>
      <p:sp>
        <p:nvSpPr>
          <p:cNvPr id="51" name="Text 49"/>
          <p:cNvSpPr/>
          <p:nvPr/>
        </p:nvSpPr>
        <p:spPr>
          <a:xfrm>
            <a:off x="2084289" y="189320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52" name="Text 50"/>
          <p:cNvSpPr/>
          <p:nvPr/>
        </p:nvSpPr>
        <p:spPr>
          <a:xfrm>
            <a:off x="1078711" y="203490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SensorType</a:t>
            </a:r>
            <a:endParaRPr lang="en-US" sz="850" dirty="0">
              <a:latin typeface="Candara" panose="020E0502030303020204" pitchFamily="34" charset="0"/>
            </a:endParaRPr>
          </a:p>
        </p:txBody>
      </p:sp>
      <p:sp>
        <p:nvSpPr>
          <p:cNvPr id="53" name="Text 51"/>
          <p:cNvSpPr/>
          <p:nvPr/>
        </p:nvSpPr>
        <p:spPr>
          <a:xfrm>
            <a:off x="2084289" y="203490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54" name="Shape 52"/>
          <p:cNvSpPr/>
          <p:nvPr/>
        </p:nvSpPr>
        <p:spPr>
          <a:xfrm>
            <a:off x="667338" y="3136468"/>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55" name="Shape 53"/>
          <p:cNvSpPr/>
          <p:nvPr/>
        </p:nvSpPr>
        <p:spPr>
          <a:xfrm>
            <a:off x="639913" y="3109043"/>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56" name="Shape 54"/>
          <p:cNvSpPr/>
          <p:nvPr/>
        </p:nvSpPr>
        <p:spPr>
          <a:xfrm>
            <a:off x="639913" y="3182176"/>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7" name="Shape 55"/>
          <p:cNvSpPr/>
          <p:nvPr/>
        </p:nvSpPr>
        <p:spPr>
          <a:xfrm>
            <a:off x="639913" y="3109043"/>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8" name="Text 56"/>
          <p:cNvSpPr/>
          <p:nvPr/>
        </p:nvSpPr>
        <p:spPr>
          <a:xfrm>
            <a:off x="786178" y="3127327"/>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a:t>
            </a:r>
            <a:endParaRPr lang="en-US" sz="1100" dirty="0">
              <a:latin typeface="Candara" panose="020E0502030303020204" pitchFamily="34" charset="0"/>
            </a:endParaRPr>
          </a:p>
        </p:txBody>
      </p:sp>
      <p:sp>
        <p:nvSpPr>
          <p:cNvPr id="59" name="Text 57"/>
          <p:cNvSpPr/>
          <p:nvPr/>
        </p:nvSpPr>
        <p:spPr>
          <a:xfrm>
            <a:off x="786178" y="3401575"/>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Controllable outputs</a:t>
            </a:r>
            <a:endParaRPr lang="en-US" sz="850" dirty="0">
              <a:latin typeface="Candara" panose="020E0502030303020204" pitchFamily="34" charset="0"/>
            </a:endParaRPr>
          </a:p>
        </p:txBody>
      </p:sp>
      <p:sp>
        <p:nvSpPr>
          <p:cNvPr id="60" name="Shape 58"/>
          <p:cNvSpPr/>
          <p:nvPr/>
        </p:nvSpPr>
        <p:spPr>
          <a:xfrm>
            <a:off x="767895" y="3584408"/>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61" name="Text 59"/>
          <p:cNvSpPr/>
          <p:nvPr/>
        </p:nvSpPr>
        <p:spPr>
          <a:xfrm>
            <a:off x="786178" y="3620974"/>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62" name="Text 60"/>
          <p:cNvSpPr/>
          <p:nvPr/>
        </p:nvSpPr>
        <p:spPr>
          <a:xfrm>
            <a:off x="1078711" y="3620974"/>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63" name="Text 61"/>
          <p:cNvSpPr/>
          <p:nvPr/>
        </p:nvSpPr>
        <p:spPr>
          <a:xfrm>
            <a:off x="2084289" y="362097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4" name="Text 62"/>
          <p:cNvSpPr/>
          <p:nvPr/>
        </p:nvSpPr>
        <p:spPr>
          <a:xfrm>
            <a:off x="786178" y="3762669"/>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5" name="Text 63"/>
          <p:cNvSpPr/>
          <p:nvPr/>
        </p:nvSpPr>
        <p:spPr>
          <a:xfrm>
            <a:off x="1078711" y="3762669"/>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66" name="Text 64"/>
          <p:cNvSpPr/>
          <p:nvPr/>
        </p:nvSpPr>
        <p:spPr>
          <a:xfrm>
            <a:off x="2084289" y="376266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7" name="Text 65"/>
          <p:cNvSpPr/>
          <p:nvPr/>
        </p:nvSpPr>
        <p:spPr>
          <a:xfrm>
            <a:off x="786178" y="3904364"/>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8" name="Text 66"/>
          <p:cNvSpPr/>
          <p:nvPr/>
        </p:nvSpPr>
        <p:spPr>
          <a:xfrm>
            <a:off x="1078711" y="3904364"/>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FeedbackSensorId</a:t>
            </a:r>
            <a:endParaRPr lang="en-US" sz="850" dirty="0">
              <a:latin typeface="Candara" panose="020E0502030303020204" pitchFamily="34" charset="0"/>
            </a:endParaRPr>
          </a:p>
        </p:txBody>
      </p:sp>
      <p:sp>
        <p:nvSpPr>
          <p:cNvPr id="69" name="Text 67"/>
          <p:cNvSpPr/>
          <p:nvPr/>
        </p:nvSpPr>
        <p:spPr>
          <a:xfrm>
            <a:off x="2084289" y="390436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70" name="Text 68"/>
          <p:cNvSpPr/>
          <p:nvPr/>
        </p:nvSpPr>
        <p:spPr>
          <a:xfrm>
            <a:off x="1078711" y="4046059"/>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Kind</a:t>
            </a:r>
            <a:endParaRPr lang="en-US" sz="850" dirty="0">
              <a:latin typeface="Candara" panose="020E0502030303020204" pitchFamily="34" charset="0"/>
            </a:endParaRPr>
          </a:p>
        </p:txBody>
      </p:sp>
      <p:sp>
        <p:nvSpPr>
          <p:cNvPr id="71" name="Text 69"/>
          <p:cNvSpPr/>
          <p:nvPr/>
        </p:nvSpPr>
        <p:spPr>
          <a:xfrm>
            <a:off x="2084289" y="404605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72" name="Shape 70"/>
          <p:cNvSpPr/>
          <p:nvPr/>
        </p:nvSpPr>
        <p:spPr>
          <a:xfrm>
            <a:off x="667338" y="5147624"/>
            <a:ext cx="2011156" cy="1334676"/>
          </a:xfrm>
          <a:prstGeom prst="roundRect">
            <a:avLst>
              <a:gd name="adj" fmla="val 5479"/>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73" name="Shape 71"/>
          <p:cNvSpPr/>
          <p:nvPr/>
        </p:nvSpPr>
        <p:spPr>
          <a:xfrm>
            <a:off x="639913" y="5120200"/>
            <a:ext cx="2011156" cy="1334676"/>
          </a:xfrm>
          <a:prstGeom prst="roundRect">
            <a:avLst>
              <a:gd name="adj" fmla="val 5479"/>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74" name="Shape 72"/>
          <p:cNvSpPr/>
          <p:nvPr/>
        </p:nvSpPr>
        <p:spPr>
          <a:xfrm>
            <a:off x="639913" y="5193333"/>
            <a:ext cx="50279" cy="1188410"/>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5" name="Shape 73"/>
          <p:cNvSpPr/>
          <p:nvPr/>
        </p:nvSpPr>
        <p:spPr>
          <a:xfrm>
            <a:off x="639913" y="5120200"/>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6" name="Text 74"/>
          <p:cNvSpPr/>
          <p:nvPr/>
        </p:nvSpPr>
        <p:spPr>
          <a:xfrm>
            <a:off x="78617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Users</a:t>
            </a:r>
            <a:endParaRPr lang="en-US" sz="1100" dirty="0">
              <a:latin typeface="Candara" panose="020E0502030303020204" pitchFamily="34" charset="0"/>
            </a:endParaRPr>
          </a:p>
        </p:txBody>
      </p:sp>
      <p:sp>
        <p:nvSpPr>
          <p:cNvPr id="77" name="Text 75"/>
          <p:cNvSpPr/>
          <p:nvPr/>
        </p:nvSpPr>
        <p:spPr>
          <a:xfrm>
            <a:off x="78617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App login and roles</a:t>
            </a:r>
            <a:endParaRPr lang="en-US" sz="850" dirty="0">
              <a:latin typeface="Candara" panose="020E0502030303020204" pitchFamily="34" charset="0"/>
            </a:endParaRPr>
          </a:p>
        </p:txBody>
      </p:sp>
      <p:sp>
        <p:nvSpPr>
          <p:cNvPr id="78" name="Shape 76"/>
          <p:cNvSpPr/>
          <p:nvPr/>
        </p:nvSpPr>
        <p:spPr>
          <a:xfrm>
            <a:off x="76789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79" name="Text 77"/>
          <p:cNvSpPr/>
          <p:nvPr/>
        </p:nvSpPr>
        <p:spPr>
          <a:xfrm>
            <a:off x="78617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80" name="Text 78"/>
          <p:cNvSpPr/>
          <p:nvPr/>
        </p:nvSpPr>
        <p:spPr>
          <a:xfrm>
            <a:off x="107871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UserId</a:t>
            </a:r>
            <a:endParaRPr lang="en-US" sz="850" dirty="0">
              <a:latin typeface="Candara" panose="020E0502030303020204" pitchFamily="34" charset="0"/>
            </a:endParaRPr>
          </a:p>
        </p:txBody>
      </p:sp>
      <p:sp>
        <p:nvSpPr>
          <p:cNvPr id="81" name="Text 79"/>
          <p:cNvSpPr/>
          <p:nvPr/>
        </p:nvSpPr>
        <p:spPr>
          <a:xfrm>
            <a:off x="208428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82" name="Text 80"/>
          <p:cNvSpPr/>
          <p:nvPr/>
        </p:nvSpPr>
        <p:spPr>
          <a:xfrm>
            <a:off x="1078711" y="577382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Username</a:t>
            </a:r>
            <a:endParaRPr lang="en-US" sz="850" dirty="0">
              <a:latin typeface="Candara" panose="020E0502030303020204" pitchFamily="34" charset="0"/>
            </a:endParaRPr>
          </a:p>
        </p:txBody>
      </p:sp>
      <p:sp>
        <p:nvSpPr>
          <p:cNvPr id="83" name="Text 81"/>
          <p:cNvSpPr/>
          <p:nvPr/>
        </p:nvSpPr>
        <p:spPr>
          <a:xfrm>
            <a:off x="208428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84" name="Text 82"/>
          <p:cNvSpPr/>
          <p:nvPr/>
        </p:nvSpPr>
        <p:spPr>
          <a:xfrm>
            <a:off x="1078711"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Role</a:t>
            </a:r>
            <a:endParaRPr lang="en-US" sz="850" dirty="0">
              <a:latin typeface="Candara" panose="020E0502030303020204" pitchFamily="34" charset="0"/>
            </a:endParaRPr>
          </a:p>
        </p:txBody>
      </p:sp>
      <p:sp>
        <p:nvSpPr>
          <p:cNvPr id="85" name="Text 83"/>
          <p:cNvSpPr/>
          <p:nvPr/>
        </p:nvSpPr>
        <p:spPr>
          <a:xfrm>
            <a:off x="208428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86" name="Text 84"/>
          <p:cNvSpPr/>
          <p:nvPr/>
        </p:nvSpPr>
        <p:spPr>
          <a:xfrm>
            <a:off x="107871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87" name="Text 85"/>
          <p:cNvSpPr/>
          <p:nvPr/>
        </p:nvSpPr>
        <p:spPr>
          <a:xfrm>
            <a:off x="208428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88" name="Text 86"/>
          <p:cNvSpPr/>
          <p:nvPr/>
        </p:nvSpPr>
        <p:spPr>
          <a:xfrm>
            <a:off x="786178" y="6253760"/>
            <a:ext cx="1810041" cy="164549"/>
          </a:xfrm>
          <a:prstGeom prst="rect">
            <a:avLst/>
          </a:prstGeom>
          <a:noFill/>
          <a:ln/>
        </p:spPr>
        <p:txBody>
          <a:bodyPr wrap="square" lIns="0" tIns="0" rIns="0" bIns="0" rtlCol="0" anchor="ctr"/>
          <a:lstStyle/>
          <a:p>
            <a:r>
              <a:rPr lang="en-US" sz="700" i="1" dirty="0">
                <a:solidFill>
                  <a:srgbClr val="7AB896"/>
                </a:solidFill>
                <a:latin typeface="Candara" panose="020E0502030303020204" pitchFamily="34" charset="0"/>
                <a:ea typeface="Calibri" pitchFamily="34" charset="-122"/>
                <a:cs typeface="Calibri" pitchFamily="34" charset="-120"/>
              </a:rPr>
              <a:t>⊘  standalone — no FK links</a:t>
            </a:r>
            <a:endParaRPr lang="en-US" sz="700" dirty="0">
              <a:latin typeface="Candara" panose="020E0502030303020204" pitchFamily="34" charset="0"/>
            </a:endParaRPr>
          </a:p>
        </p:txBody>
      </p:sp>
      <p:sp>
        <p:nvSpPr>
          <p:cNvPr id="89" name="Shape 87"/>
          <p:cNvSpPr/>
          <p:nvPr/>
        </p:nvSpPr>
        <p:spPr>
          <a:xfrm>
            <a:off x="9671832" y="896771"/>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90" name="Shape 88"/>
          <p:cNvSpPr/>
          <p:nvPr/>
        </p:nvSpPr>
        <p:spPr>
          <a:xfrm>
            <a:off x="9644407" y="86934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91" name="Shape 89"/>
          <p:cNvSpPr/>
          <p:nvPr/>
        </p:nvSpPr>
        <p:spPr>
          <a:xfrm>
            <a:off x="9644407" y="942480"/>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2" name="Shape 90"/>
          <p:cNvSpPr/>
          <p:nvPr/>
        </p:nvSpPr>
        <p:spPr>
          <a:xfrm>
            <a:off x="9644407" y="869347"/>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3" name="Text 91"/>
          <p:cNvSpPr/>
          <p:nvPr/>
        </p:nvSpPr>
        <p:spPr>
          <a:xfrm>
            <a:off x="9790673" y="887630"/>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SensorReadings</a:t>
            </a:r>
            <a:endParaRPr lang="en-US" sz="1100" dirty="0">
              <a:latin typeface="Candara" panose="020E0502030303020204" pitchFamily="34" charset="0"/>
            </a:endParaRPr>
          </a:p>
        </p:txBody>
      </p:sp>
      <p:sp>
        <p:nvSpPr>
          <p:cNvPr id="94" name="Text 92"/>
          <p:cNvSpPr/>
          <p:nvPr/>
        </p:nvSpPr>
        <p:spPr>
          <a:xfrm>
            <a:off x="9790673" y="116187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Raw measurements over time</a:t>
            </a:r>
            <a:endParaRPr lang="en-US" sz="850" dirty="0">
              <a:latin typeface="Candara" panose="020E0502030303020204" pitchFamily="34" charset="0"/>
            </a:endParaRPr>
          </a:p>
        </p:txBody>
      </p:sp>
      <p:sp>
        <p:nvSpPr>
          <p:cNvPr id="95" name="Shape 93"/>
          <p:cNvSpPr/>
          <p:nvPr/>
        </p:nvSpPr>
        <p:spPr>
          <a:xfrm>
            <a:off x="9772390" y="134471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96" name="Text 94"/>
          <p:cNvSpPr/>
          <p:nvPr/>
        </p:nvSpPr>
        <p:spPr>
          <a:xfrm>
            <a:off x="9790673" y="1381277"/>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97" name="Text 95"/>
          <p:cNvSpPr/>
          <p:nvPr/>
        </p:nvSpPr>
        <p:spPr>
          <a:xfrm>
            <a:off x="10083205" y="1381277"/>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ReadingId</a:t>
            </a:r>
            <a:endParaRPr lang="en-US" sz="850" dirty="0">
              <a:latin typeface="Candara" panose="020E0502030303020204" pitchFamily="34" charset="0"/>
            </a:endParaRPr>
          </a:p>
        </p:txBody>
      </p:sp>
      <p:sp>
        <p:nvSpPr>
          <p:cNvPr id="98" name="Text 96"/>
          <p:cNvSpPr/>
          <p:nvPr/>
        </p:nvSpPr>
        <p:spPr>
          <a:xfrm>
            <a:off x="11088783" y="138127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99" name="Text 97"/>
          <p:cNvSpPr/>
          <p:nvPr/>
        </p:nvSpPr>
        <p:spPr>
          <a:xfrm>
            <a:off x="9790673" y="152297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0" name="Text 98"/>
          <p:cNvSpPr/>
          <p:nvPr/>
        </p:nvSpPr>
        <p:spPr>
          <a:xfrm>
            <a:off x="10083205" y="152297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01" name="Text 99"/>
          <p:cNvSpPr/>
          <p:nvPr/>
        </p:nvSpPr>
        <p:spPr>
          <a:xfrm>
            <a:off x="11088783" y="152297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2" name="Text 100"/>
          <p:cNvSpPr/>
          <p:nvPr/>
        </p:nvSpPr>
        <p:spPr>
          <a:xfrm>
            <a:off x="9790673" y="166466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3" name="Text 101"/>
          <p:cNvSpPr/>
          <p:nvPr/>
        </p:nvSpPr>
        <p:spPr>
          <a:xfrm>
            <a:off x="10083205" y="166466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04" name="Text 102"/>
          <p:cNvSpPr/>
          <p:nvPr/>
        </p:nvSpPr>
        <p:spPr>
          <a:xfrm>
            <a:off x="11088783" y="166466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5" name="Text 103"/>
          <p:cNvSpPr/>
          <p:nvPr/>
        </p:nvSpPr>
        <p:spPr>
          <a:xfrm>
            <a:off x="10083205" y="180636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Value</a:t>
            </a:r>
            <a:endParaRPr lang="en-US" sz="850" dirty="0">
              <a:latin typeface="Candara" panose="020E0502030303020204" pitchFamily="34" charset="0"/>
            </a:endParaRPr>
          </a:p>
        </p:txBody>
      </p:sp>
      <p:sp>
        <p:nvSpPr>
          <p:cNvPr id="106" name="Text 104"/>
          <p:cNvSpPr/>
          <p:nvPr/>
        </p:nvSpPr>
        <p:spPr>
          <a:xfrm>
            <a:off x="11088783" y="180636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07" name="Shape 105"/>
          <p:cNvSpPr/>
          <p:nvPr/>
        </p:nvSpPr>
        <p:spPr>
          <a:xfrm>
            <a:off x="9671832" y="2450847"/>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08" name="Shape 106"/>
          <p:cNvSpPr/>
          <p:nvPr/>
        </p:nvSpPr>
        <p:spPr>
          <a:xfrm>
            <a:off x="9644407" y="2423422"/>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09" name="Shape 107"/>
          <p:cNvSpPr/>
          <p:nvPr/>
        </p:nvSpPr>
        <p:spPr>
          <a:xfrm>
            <a:off x="9644407" y="2496555"/>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0" name="Shape 108"/>
          <p:cNvSpPr/>
          <p:nvPr/>
        </p:nvSpPr>
        <p:spPr>
          <a:xfrm>
            <a:off x="9644407" y="2423422"/>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1" name="Text 109"/>
          <p:cNvSpPr/>
          <p:nvPr/>
        </p:nvSpPr>
        <p:spPr>
          <a:xfrm>
            <a:off x="9790673" y="2441705"/>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DeviceStatusHistories</a:t>
            </a:r>
            <a:endParaRPr lang="en-US" sz="1100" dirty="0">
              <a:latin typeface="Candara" panose="020E0502030303020204" pitchFamily="34" charset="0"/>
            </a:endParaRPr>
          </a:p>
        </p:txBody>
      </p:sp>
      <p:sp>
        <p:nvSpPr>
          <p:cNvPr id="112" name="Text 110"/>
          <p:cNvSpPr/>
          <p:nvPr/>
        </p:nvSpPr>
        <p:spPr>
          <a:xfrm>
            <a:off x="9790673" y="2715954"/>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Device status change log</a:t>
            </a:r>
            <a:endParaRPr lang="en-US" sz="850" dirty="0">
              <a:latin typeface="Candara" panose="020E0502030303020204" pitchFamily="34" charset="0"/>
            </a:endParaRPr>
          </a:p>
        </p:txBody>
      </p:sp>
      <p:sp>
        <p:nvSpPr>
          <p:cNvPr id="113" name="Shape 111"/>
          <p:cNvSpPr/>
          <p:nvPr/>
        </p:nvSpPr>
        <p:spPr>
          <a:xfrm>
            <a:off x="9772390" y="2898786"/>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14" name="Text 112"/>
          <p:cNvSpPr/>
          <p:nvPr/>
        </p:nvSpPr>
        <p:spPr>
          <a:xfrm>
            <a:off x="9790673" y="2935353"/>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15" name="Text 113"/>
          <p:cNvSpPr/>
          <p:nvPr/>
        </p:nvSpPr>
        <p:spPr>
          <a:xfrm>
            <a:off x="10083205" y="2935353"/>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StatusHistoryId</a:t>
            </a:r>
            <a:endParaRPr lang="en-US" sz="850" dirty="0">
              <a:latin typeface="Candara" panose="020E0502030303020204" pitchFamily="34" charset="0"/>
            </a:endParaRPr>
          </a:p>
        </p:txBody>
      </p:sp>
      <p:sp>
        <p:nvSpPr>
          <p:cNvPr id="116" name="Text 114"/>
          <p:cNvSpPr/>
          <p:nvPr/>
        </p:nvSpPr>
        <p:spPr>
          <a:xfrm>
            <a:off x="11088783" y="293535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17" name="Text 115"/>
          <p:cNvSpPr/>
          <p:nvPr/>
        </p:nvSpPr>
        <p:spPr>
          <a:xfrm>
            <a:off x="9790673" y="307704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18" name="Text 116"/>
          <p:cNvSpPr/>
          <p:nvPr/>
        </p:nvSpPr>
        <p:spPr>
          <a:xfrm>
            <a:off x="10083205" y="307704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19" name="Text 117"/>
          <p:cNvSpPr/>
          <p:nvPr/>
        </p:nvSpPr>
        <p:spPr>
          <a:xfrm>
            <a:off x="11088783" y="307704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20" name="Text 118"/>
          <p:cNvSpPr/>
          <p:nvPr/>
        </p:nvSpPr>
        <p:spPr>
          <a:xfrm>
            <a:off x="10083205" y="321874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Status</a:t>
            </a:r>
            <a:endParaRPr lang="en-US" sz="850" dirty="0">
              <a:latin typeface="Candara" panose="020E0502030303020204" pitchFamily="34" charset="0"/>
            </a:endParaRPr>
          </a:p>
        </p:txBody>
      </p:sp>
      <p:sp>
        <p:nvSpPr>
          <p:cNvPr id="121" name="Text 119"/>
          <p:cNvSpPr/>
          <p:nvPr/>
        </p:nvSpPr>
        <p:spPr>
          <a:xfrm>
            <a:off x="11088783" y="321874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22" name="Text 120"/>
          <p:cNvSpPr/>
          <p:nvPr/>
        </p:nvSpPr>
        <p:spPr>
          <a:xfrm>
            <a:off x="10083205" y="336043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Timestamp</a:t>
            </a:r>
            <a:endParaRPr lang="en-US" sz="850" dirty="0">
              <a:latin typeface="Candara" panose="020E0502030303020204" pitchFamily="34" charset="0"/>
            </a:endParaRPr>
          </a:p>
        </p:txBody>
      </p:sp>
      <p:sp>
        <p:nvSpPr>
          <p:cNvPr id="123" name="Text 121"/>
          <p:cNvSpPr/>
          <p:nvPr/>
        </p:nvSpPr>
        <p:spPr>
          <a:xfrm>
            <a:off x="11088783" y="336043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DateTime</a:t>
            </a:r>
            <a:endParaRPr lang="en-US" sz="750" dirty="0">
              <a:latin typeface="Candara" panose="020E0502030303020204" pitchFamily="34" charset="0"/>
            </a:endParaRPr>
          </a:p>
        </p:txBody>
      </p:sp>
      <p:sp>
        <p:nvSpPr>
          <p:cNvPr id="124" name="Shape 122"/>
          <p:cNvSpPr/>
          <p:nvPr/>
        </p:nvSpPr>
        <p:spPr>
          <a:xfrm>
            <a:off x="9671832" y="391350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25" name="Shape 123"/>
          <p:cNvSpPr/>
          <p:nvPr/>
        </p:nvSpPr>
        <p:spPr>
          <a:xfrm>
            <a:off x="9644407" y="3886081"/>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26" name="Shape 124"/>
          <p:cNvSpPr/>
          <p:nvPr/>
        </p:nvSpPr>
        <p:spPr>
          <a:xfrm>
            <a:off x="9644407" y="3959214"/>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7" name="Shape 125"/>
          <p:cNvSpPr/>
          <p:nvPr/>
        </p:nvSpPr>
        <p:spPr>
          <a:xfrm>
            <a:off x="9644407" y="3886081"/>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8" name="Text 126"/>
          <p:cNvSpPr/>
          <p:nvPr/>
        </p:nvSpPr>
        <p:spPr>
          <a:xfrm>
            <a:off x="9790673" y="3904364"/>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OperationalMetrics</a:t>
            </a:r>
            <a:endParaRPr lang="en-US" sz="1100" dirty="0">
              <a:latin typeface="Candara" panose="020E0502030303020204" pitchFamily="34" charset="0"/>
            </a:endParaRPr>
          </a:p>
        </p:txBody>
      </p:sp>
      <p:sp>
        <p:nvSpPr>
          <p:cNvPr id="129" name="Text 127"/>
          <p:cNvSpPr/>
          <p:nvPr/>
        </p:nvSpPr>
        <p:spPr>
          <a:xfrm>
            <a:off x="9790673" y="417861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Calculated KPIs per device</a:t>
            </a:r>
            <a:endParaRPr lang="en-US" sz="850" dirty="0">
              <a:latin typeface="Candara" panose="020E0502030303020204" pitchFamily="34" charset="0"/>
            </a:endParaRPr>
          </a:p>
        </p:txBody>
      </p:sp>
      <p:sp>
        <p:nvSpPr>
          <p:cNvPr id="130" name="Shape 128"/>
          <p:cNvSpPr/>
          <p:nvPr/>
        </p:nvSpPr>
        <p:spPr>
          <a:xfrm>
            <a:off x="9772390" y="436144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31" name="Text 129"/>
          <p:cNvSpPr/>
          <p:nvPr/>
        </p:nvSpPr>
        <p:spPr>
          <a:xfrm>
            <a:off x="9790673" y="439801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32" name="Text 130"/>
          <p:cNvSpPr/>
          <p:nvPr/>
        </p:nvSpPr>
        <p:spPr>
          <a:xfrm>
            <a:off x="10083205" y="439801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MetricId</a:t>
            </a:r>
            <a:endParaRPr lang="en-US" sz="850" dirty="0">
              <a:latin typeface="Candara" panose="020E0502030303020204" pitchFamily="34" charset="0"/>
            </a:endParaRPr>
          </a:p>
        </p:txBody>
      </p:sp>
      <p:sp>
        <p:nvSpPr>
          <p:cNvPr id="133" name="Text 131"/>
          <p:cNvSpPr/>
          <p:nvPr/>
        </p:nvSpPr>
        <p:spPr>
          <a:xfrm>
            <a:off x="11088783" y="439801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34" name="Text 132"/>
          <p:cNvSpPr/>
          <p:nvPr/>
        </p:nvSpPr>
        <p:spPr>
          <a:xfrm>
            <a:off x="9790673" y="4539707"/>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35" name="Text 133"/>
          <p:cNvSpPr/>
          <p:nvPr/>
        </p:nvSpPr>
        <p:spPr>
          <a:xfrm>
            <a:off x="10083205" y="4539707"/>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36" name="Text 134"/>
          <p:cNvSpPr/>
          <p:nvPr/>
        </p:nvSpPr>
        <p:spPr>
          <a:xfrm>
            <a:off x="11088783" y="453970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37" name="Text 135"/>
          <p:cNvSpPr/>
          <p:nvPr/>
        </p:nvSpPr>
        <p:spPr>
          <a:xfrm>
            <a:off x="10083205" y="468140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MetricType</a:t>
            </a:r>
            <a:endParaRPr lang="en-US" sz="850" dirty="0">
              <a:latin typeface="Candara" panose="020E0502030303020204" pitchFamily="34" charset="0"/>
            </a:endParaRPr>
          </a:p>
        </p:txBody>
      </p:sp>
      <p:sp>
        <p:nvSpPr>
          <p:cNvPr id="138" name="Text 136"/>
          <p:cNvSpPr/>
          <p:nvPr/>
        </p:nvSpPr>
        <p:spPr>
          <a:xfrm>
            <a:off x="11088783" y="468140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39" name="Text 137"/>
          <p:cNvSpPr/>
          <p:nvPr/>
        </p:nvSpPr>
        <p:spPr>
          <a:xfrm>
            <a:off x="10083205" y="482309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MetricValue</a:t>
            </a:r>
            <a:endParaRPr lang="en-US" sz="850" dirty="0">
              <a:latin typeface="Candara" panose="020E0502030303020204" pitchFamily="34" charset="0"/>
            </a:endParaRPr>
          </a:p>
        </p:txBody>
      </p:sp>
      <p:sp>
        <p:nvSpPr>
          <p:cNvPr id="140" name="Text 138"/>
          <p:cNvSpPr/>
          <p:nvPr/>
        </p:nvSpPr>
        <p:spPr>
          <a:xfrm>
            <a:off x="11088783" y="482309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41" name="Shape 139"/>
          <p:cNvSpPr/>
          <p:nvPr/>
        </p:nvSpPr>
        <p:spPr>
          <a:xfrm>
            <a:off x="9671832" y="5376165"/>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2" name="Shape 140"/>
          <p:cNvSpPr/>
          <p:nvPr/>
        </p:nvSpPr>
        <p:spPr>
          <a:xfrm>
            <a:off x="9644407" y="5348740"/>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43" name="Shape 141"/>
          <p:cNvSpPr/>
          <p:nvPr/>
        </p:nvSpPr>
        <p:spPr>
          <a:xfrm>
            <a:off x="9644407" y="5421873"/>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4" name="Shape 142"/>
          <p:cNvSpPr/>
          <p:nvPr/>
        </p:nvSpPr>
        <p:spPr>
          <a:xfrm>
            <a:off x="9644407" y="534874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5" name="Text 143"/>
          <p:cNvSpPr/>
          <p:nvPr/>
        </p:nvSpPr>
        <p:spPr>
          <a:xfrm>
            <a:off x="9790673" y="536702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Alerts</a:t>
            </a:r>
            <a:endParaRPr lang="en-US" sz="1100" dirty="0">
              <a:latin typeface="Candara" panose="020E0502030303020204" pitchFamily="34" charset="0"/>
            </a:endParaRPr>
          </a:p>
        </p:txBody>
      </p:sp>
      <p:sp>
        <p:nvSpPr>
          <p:cNvPr id="146" name="Text 144"/>
          <p:cNvSpPr/>
          <p:nvPr/>
        </p:nvSpPr>
        <p:spPr>
          <a:xfrm>
            <a:off x="9790673" y="5641272"/>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Fired alert records</a:t>
            </a:r>
            <a:endParaRPr lang="en-US" sz="850" dirty="0">
              <a:latin typeface="Candara" panose="020E0502030303020204" pitchFamily="34" charset="0"/>
            </a:endParaRPr>
          </a:p>
        </p:txBody>
      </p:sp>
      <p:sp>
        <p:nvSpPr>
          <p:cNvPr id="147" name="Shape 145"/>
          <p:cNvSpPr/>
          <p:nvPr/>
        </p:nvSpPr>
        <p:spPr>
          <a:xfrm>
            <a:off x="9772390" y="582410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48" name="Text 146"/>
          <p:cNvSpPr/>
          <p:nvPr/>
        </p:nvSpPr>
        <p:spPr>
          <a:xfrm>
            <a:off x="9790673" y="5860671"/>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49" name="Text 147"/>
          <p:cNvSpPr/>
          <p:nvPr/>
        </p:nvSpPr>
        <p:spPr>
          <a:xfrm>
            <a:off x="10083205" y="5860671"/>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AlertId</a:t>
            </a:r>
            <a:endParaRPr lang="en-US" sz="850" dirty="0">
              <a:latin typeface="Candara" panose="020E0502030303020204" pitchFamily="34" charset="0"/>
            </a:endParaRPr>
          </a:p>
        </p:txBody>
      </p:sp>
      <p:sp>
        <p:nvSpPr>
          <p:cNvPr id="150" name="Text 148"/>
          <p:cNvSpPr/>
          <p:nvPr/>
        </p:nvSpPr>
        <p:spPr>
          <a:xfrm>
            <a:off x="11088783" y="586067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51" name="Text 149"/>
          <p:cNvSpPr/>
          <p:nvPr/>
        </p:nvSpPr>
        <p:spPr>
          <a:xfrm>
            <a:off x="9790673" y="600236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2" name="Text 150"/>
          <p:cNvSpPr/>
          <p:nvPr/>
        </p:nvSpPr>
        <p:spPr>
          <a:xfrm>
            <a:off x="10083205" y="600236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153" name="Text 151"/>
          <p:cNvSpPr/>
          <p:nvPr/>
        </p:nvSpPr>
        <p:spPr>
          <a:xfrm>
            <a:off x="11088783" y="600236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4" name="Text 152"/>
          <p:cNvSpPr/>
          <p:nvPr/>
        </p:nvSpPr>
        <p:spPr>
          <a:xfrm>
            <a:off x="9790673" y="6144061"/>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5" name="Text 153"/>
          <p:cNvSpPr/>
          <p:nvPr/>
        </p:nvSpPr>
        <p:spPr>
          <a:xfrm>
            <a:off x="10083205" y="6144061"/>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56" name="Text 154"/>
          <p:cNvSpPr/>
          <p:nvPr/>
        </p:nvSpPr>
        <p:spPr>
          <a:xfrm>
            <a:off x="11088783" y="614406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7" name="Text 155"/>
          <p:cNvSpPr/>
          <p:nvPr/>
        </p:nvSpPr>
        <p:spPr>
          <a:xfrm>
            <a:off x="9790673" y="628575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8" name="Text 156"/>
          <p:cNvSpPr/>
          <p:nvPr/>
        </p:nvSpPr>
        <p:spPr>
          <a:xfrm>
            <a:off x="10083205" y="628575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59" name="Text 157"/>
          <p:cNvSpPr/>
          <p:nvPr/>
        </p:nvSpPr>
        <p:spPr>
          <a:xfrm>
            <a:off x="11088783" y="628575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60" name="Shape 158"/>
          <p:cNvSpPr/>
          <p:nvPr/>
        </p:nvSpPr>
        <p:spPr>
          <a:xfrm>
            <a:off x="2724202"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61" name="Shape 159"/>
          <p:cNvSpPr/>
          <p:nvPr/>
        </p:nvSpPr>
        <p:spPr>
          <a:xfrm>
            <a:off x="2696777"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62" name="Shape 160"/>
          <p:cNvSpPr/>
          <p:nvPr/>
        </p:nvSpPr>
        <p:spPr>
          <a:xfrm>
            <a:off x="2696777"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3" name="Shape 161"/>
          <p:cNvSpPr/>
          <p:nvPr/>
        </p:nvSpPr>
        <p:spPr>
          <a:xfrm>
            <a:off x="2696777"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4" name="Text 162"/>
          <p:cNvSpPr/>
          <p:nvPr/>
        </p:nvSpPr>
        <p:spPr>
          <a:xfrm>
            <a:off x="2843043"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DeviceConfigurations</a:t>
            </a:r>
            <a:endParaRPr lang="en-US" sz="1100" dirty="0">
              <a:latin typeface="Candara" panose="020E0502030303020204" pitchFamily="34" charset="0"/>
            </a:endParaRPr>
          </a:p>
        </p:txBody>
      </p:sp>
      <p:sp>
        <p:nvSpPr>
          <p:cNvPr id="165" name="Text 163"/>
          <p:cNvSpPr/>
          <p:nvPr/>
        </p:nvSpPr>
        <p:spPr>
          <a:xfrm>
            <a:off x="2843043"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Per-device settings</a:t>
            </a:r>
            <a:endParaRPr lang="en-US" sz="850" dirty="0">
              <a:latin typeface="Candara" panose="020E0502030303020204" pitchFamily="34" charset="0"/>
            </a:endParaRPr>
          </a:p>
        </p:txBody>
      </p:sp>
      <p:sp>
        <p:nvSpPr>
          <p:cNvPr id="166" name="Shape 164"/>
          <p:cNvSpPr/>
          <p:nvPr/>
        </p:nvSpPr>
        <p:spPr>
          <a:xfrm>
            <a:off x="2824760"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67" name="Text 165"/>
          <p:cNvSpPr/>
          <p:nvPr/>
        </p:nvSpPr>
        <p:spPr>
          <a:xfrm>
            <a:off x="2843043"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68" name="Text 166"/>
          <p:cNvSpPr/>
          <p:nvPr/>
        </p:nvSpPr>
        <p:spPr>
          <a:xfrm>
            <a:off x="3135575"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ConfigurationId</a:t>
            </a:r>
            <a:endParaRPr lang="en-US" sz="850" dirty="0">
              <a:latin typeface="Candara" panose="020E0502030303020204" pitchFamily="34" charset="0"/>
            </a:endParaRPr>
          </a:p>
        </p:txBody>
      </p:sp>
      <p:sp>
        <p:nvSpPr>
          <p:cNvPr id="169" name="Text 167"/>
          <p:cNvSpPr/>
          <p:nvPr/>
        </p:nvSpPr>
        <p:spPr>
          <a:xfrm>
            <a:off x="4141153"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0" name="Text 168"/>
          <p:cNvSpPr/>
          <p:nvPr/>
        </p:nvSpPr>
        <p:spPr>
          <a:xfrm>
            <a:off x="2843043"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71" name="Text 169"/>
          <p:cNvSpPr/>
          <p:nvPr/>
        </p:nvSpPr>
        <p:spPr>
          <a:xfrm>
            <a:off x="3135575"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72" name="Text 170"/>
          <p:cNvSpPr/>
          <p:nvPr/>
        </p:nvSpPr>
        <p:spPr>
          <a:xfrm>
            <a:off x="4141153"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3" name="Text 171"/>
          <p:cNvSpPr/>
          <p:nvPr/>
        </p:nvSpPr>
        <p:spPr>
          <a:xfrm>
            <a:off x="3135575"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ConfigurationKey</a:t>
            </a:r>
            <a:endParaRPr lang="en-US" sz="850" dirty="0">
              <a:latin typeface="Candara" panose="020E0502030303020204" pitchFamily="34" charset="0"/>
            </a:endParaRPr>
          </a:p>
        </p:txBody>
      </p:sp>
      <p:sp>
        <p:nvSpPr>
          <p:cNvPr id="174" name="Text 172"/>
          <p:cNvSpPr/>
          <p:nvPr/>
        </p:nvSpPr>
        <p:spPr>
          <a:xfrm>
            <a:off x="4141153"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175" name="Text 173"/>
          <p:cNvSpPr/>
          <p:nvPr/>
        </p:nvSpPr>
        <p:spPr>
          <a:xfrm>
            <a:off x="3135575"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ConfigurationValue</a:t>
            </a:r>
            <a:endParaRPr lang="en-US" sz="850" dirty="0">
              <a:latin typeface="Candara" panose="020E0502030303020204" pitchFamily="34" charset="0"/>
            </a:endParaRPr>
          </a:p>
        </p:txBody>
      </p:sp>
      <p:sp>
        <p:nvSpPr>
          <p:cNvPr id="176" name="Text 174"/>
          <p:cNvSpPr/>
          <p:nvPr/>
        </p:nvSpPr>
        <p:spPr>
          <a:xfrm>
            <a:off x="4141153"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string(500)</a:t>
            </a:r>
            <a:endParaRPr lang="en-US" sz="750" dirty="0">
              <a:latin typeface="Candara" panose="020E0502030303020204" pitchFamily="34" charset="0"/>
            </a:endParaRPr>
          </a:p>
        </p:txBody>
      </p:sp>
      <p:sp>
        <p:nvSpPr>
          <p:cNvPr id="177" name="Shape 175"/>
          <p:cNvSpPr/>
          <p:nvPr/>
        </p:nvSpPr>
        <p:spPr>
          <a:xfrm>
            <a:off x="4963899"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78" name="Shape 176"/>
          <p:cNvSpPr/>
          <p:nvPr/>
        </p:nvSpPr>
        <p:spPr>
          <a:xfrm>
            <a:off x="4936474"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79" name="Shape 177"/>
          <p:cNvSpPr/>
          <p:nvPr/>
        </p:nvSpPr>
        <p:spPr>
          <a:xfrm>
            <a:off x="4936474" y="5193332"/>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0" name="Shape 178"/>
          <p:cNvSpPr/>
          <p:nvPr/>
        </p:nvSpPr>
        <p:spPr>
          <a:xfrm>
            <a:off x="4936474" y="512020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1" name="Text 179"/>
          <p:cNvSpPr/>
          <p:nvPr/>
        </p:nvSpPr>
        <p:spPr>
          <a:xfrm>
            <a:off x="5082739"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DeviceCommands</a:t>
            </a:r>
            <a:endParaRPr lang="en-US" sz="1100" dirty="0">
              <a:latin typeface="Candara" panose="020E0502030303020204" pitchFamily="34" charset="0"/>
            </a:endParaRPr>
          </a:p>
        </p:txBody>
      </p:sp>
      <p:sp>
        <p:nvSpPr>
          <p:cNvPr id="182" name="Text 180"/>
          <p:cNvSpPr/>
          <p:nvPr/>
        </p:nvSpPr>
        <p:spPr>
          <a:xfrm>
            <a:off x="5082739"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Commands sent to device / actuator</a:t>
            </a:r>
            <a:endParaRPr lang="en-US" sz="850" dirty="0">
              <a:latin typeface="Candara" panose="020E0502030303020204" pitchFamily="34" charset="0"/>
            </a:endParaRPr>
          </a:p>
        </p:txBody>
      </p:sp>
      <p:sp>
        <p:nvSpPr>
          <p:cNvPr id="183" name="Shape 181"/>
          <p:cNvSpPr/>
          <p:nvPr/>
        </p:nvSpPr>
        <p:spPr>
          <a:xfrm>
            <a:off x="5064456"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84" name="Text 182"/>
          <p:cNvSpPr/>
          <p:nvPr/>
        </p:nvSpPr>
        <p:spPr>
          <a:xfrm>
            <a:off x="5082739"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85" name="Text 183"/>
          <p:cNvSpPr/>
          <p:nvPr/>
        </p:nvSpPr>
        <p:spPr>
          <a:xfrm>
            <a:off x="537527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CommandId</a:t>
            </a:r>
            <a:endParaRPr lang="en-US" sz="850" dirty="0">
              <a:latin typeface="Candara" panose="020E0502030303020204" pitchFamily="34" charset="0"/>
            </a:endParaRPr>
          </a:p>
        </p:txBody>
      </p:sp>
      <p:sp>
        <p:nvSpPr>
          <p:cNvPr id="186" name="Text 184"/>
          <p:cNvSpPr/>
          <p:nvPr/>
        </p:nvSpPr>
        <p:spPr>
          <a:xfrm>
            <a:off x="638084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87" name="Text 185"/>
          <p:cNvSpPr/>
          <p:nvPr/>
        </p:nvSpPr>
        <p:spPr>
          <a:xfrm>
            <a:off x="5082739"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88" name="Text 186"/>
          <p:cNvSpPr/>
          <p:nvPr/>
        </p:nvSpPr>
        <p:spPr>
          <a:xfrm>
            <a:off x="5375271"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89" name="Text 187"/>
          <p:cNvSpPr/>
          <p:nvPr/>
        </p:nvSpPr>
        <p:spPr>
          <a:xfrm>
            <a:off x="638084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0" name="Text 188"/>
          <p:cNvSpPr/>
          <p:nvPr/>
        </p:nvSpPr>
        <p:spPr>
          <a:xfrm>
            <a:off x="5082739"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91" name="Text 189"/>
          <p:cNvSpPr/>
          <p:nvPr/>
        </p:nvSpPr>
        <p:spPr>
          <a:xfrm>
            <a:off x="5375271"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192" name="Text 190"/>
          <p:cNvSpPr/>
          <p:nvPr/>
        </p:nvSpPr>
        <p:spPr>
          <a:xfrm>
            <a:off x="638084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3" name="Text 191"/>
          <p:cNvSpPr/>
          <p:nvPr/>
        </p:nvSpPr>
        <p:spPr>
          <a:xfrm>
            <a:off x="537527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CommandType</a:t>
            </a:r>
            <a:endParaRPr lang="en-US" sz="850" dirty="0">
              <a:latin typeface="Candara" panose="020E0502030303020204" pitchFamily="34" charset="0"/>
            </a:endParaRPr>
          </a:p>
        </p:txBody>
      </p:sp>
      <p:sp>
        <p:nvSpPr>
          <p:cNvPr id="194" name="Text 192"/>
          <p:cNvSpPr/>
          <p:nvPr/>
        </p:nvSpPr>
        <p:spPr>
          <a:xfrm>
            <a:off x="638084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95" name="Shape 193"/>
          <p:cNvSpPr/>
          <p:nvPr/>
        </p:nvSpPr>
        <p:spPr>
          <a:xfrm>
            <a:off x="7157887"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96" name="Shape 194"/>
          <p:cNvSpPr/>
          <p:nvPr/>
        </p:nvSpPr>
        <p:spPr>
          <a:xfrm>
            <a:off x="7130462"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97" name="Shape 195"/>
          <p:cNvSpPr/>
          <p:nvPr/>
        </p:nvSpPr>
        <p:spPr>
          <a:xfrm>
            <a:off x="7130462"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8" name="Shape 196"/>
          <p:cNvSpPr/>
          <p:nvPr/>
        </p:nvSpPr>
        <p:spPr>
          <a:xfrm>
            <a:off x="7130462"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9" name="Text 197"/>
          <p:cNvSpPr/>
          <p:nvPr/>
        </p:nvSpPr>
        <p:spPr>
          <a:xfrm>
            <a:off x="727672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AlertRules</a:t>
            </a:r>
            <a:endParaRPr lang="en-US" sz="1100" dirty="0">
              <a:latin typeface="Candara" panose="020E0502030303020204" pitchFamily="34" charset="0"/>
            </a:endParaRPr>
          </a:p>
        </p:txBody>
      </p:sp>
      <p:sp>
        <p:nvSpPr>
          <p:cNvPr id="200" name="Text 198"/>
          <p:cNvSpPr/>
          <p:nvPr/>
        </p:nvSpPr>
        <p:spPr>
          <a:xfrm>
            <a:off x="727672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Alert / threshold rules</a:t>
            </a:r>
            <a:endParaRPr lang="en-US" sz="850" dirty="0">
              <a:latin typeface="Candara" panose="020E0502030303020204" pitchFamily="34" charset="0"/>
            </a:endParaRPr>
          </a:p>
        </p:txBody>
      </p:sp>
      <p:sp>
        <p:nvSpPr>
          <p:cNvPr id="201" name="Shape 199"/>
          <p:cNvSpPr/>
          <p:nvPr/>
        </p:nvSpPr>
        <p:spPr>
          <a:xfrm>
            <a:off x="725844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02" name="Text 200"/>
          <p:cNvSpPr/>
          <p:nvPr/>
        </p:nvSpPr>
        <p:spPr>
          <a:xfrm>
            <a:off x="727672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03" name="Text 201"/>
          <p:cNvSpPr/>
          <p:nvPr/>
        </p:nvSpPr>
        <p:spPr>
          <a:xfrm>
            <a:off x="7569260"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204" name="Text 202"/>
          <p:cNvSpPr/>
          <p:nvPr/>
        </p:nvSpPr>
        <p:spPr>
          <a:xfrm>
            <a:off x="8574838"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5" name="Text 203"/>
          <p:cNvSpPr/>
          <p:nvPr/>
        </p:nvSpPr>
        <p:spPr>
          <a:xfrm>
            <a:off x="7276728"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6" name="Text 204"/>
          <p:cNvSpPr/>
          <p:nvPr/>
        </p:nvSpPr>
        <p:spPr>
          <a:xfrm>
            <a:off x="7569260"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207" name="Text 205"/>
          <p:cNvSpPr/>
          <p:nvPr/>
        </p:nvSpPr>
        <p:spPr>
          <a:xfrm>
            <a:off x="8574838"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8" name="Text 206"/>
          <p:cNvSpPr/>
          <p:nvPr/>
        </p:nvSpPr>
        <p:spPr>
          <a:xfrm>
            <a:off x="7276728"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9" name="Text 207"/>
          <p:cNvSpPr/>
          <p:nvPr/>
        </p:nvSpPr>
        <p:spPr>
          <a:xfrm>
            <a:off x="7569260"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210" name="Text 208"/>
          <p:cNvSpPr/>
          <p:nvPr/>
        </p:nvSpPr>
        <p:spPr>
          <a:xfrm>
            <a:off x="8574838"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11" name="Text 209"/>
          <p:cNvSpPr/>
          <p:nvPr/>
        </p:nvSpPr>
        <p:spPr>
          <a:xfrm>
            <a:off x="7569260"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Severity</a:t>
            </a:r>
            <a:endParaRPr lang="en-US" sz="850" dirty="0">
              <a:latin typeface="Candara" panose="020E0502030303020204" pitchFamily="34" charset="0"/>
            </a:endParaRPr>
          </a:p>
        </p:txBody>
      </p:sp>
      <p:sp>
        <p:nvSpPr>
          <p:cNvPr id="212" name="Text 210"/>
          <p:cNvSpPr/>
          <p:nvPr/>
        </p:nvSpPr>
        <p:spPr>
          <a:xfrm>
            <a:off x="8574838"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213" name="Text 211"/>
          <p:cNvSpPr/>
          <p:nvPr/>
        </p:nvSpPr>
        <p:spPr>
          <a:xfrm>
            <a:off x="4756524" y="281430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4" name="Text 212"/>
          <p:cNvSpPr/>
          <p:nvPr/>
        </p:nvSpPr>
        <p:spPr>
          <a:xfrm>
            <a:off x="2547629" y="216052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5" name="Text 213"/>
          <p:cNvSpPr/>
          <p:nvPr/>
        </p:nvSpPr>
        <p:spPr>
          <a:xfrm>
            <a:off x="4694035" y="333108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6" name="Text 214"/>
          <p:cNvSpPr/>
          <p:nvPr/>
        </p:nvSpPr>
        <p:spPr>
          <a:xfrm>
            <a:off x="2610118" y="365490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7" name="Text 215"/>
          <p:cNvSpPr/>
          <p:nvPr/>
        </p:nvSpPr>
        <p:spPr>
          <a:xfrm>
            <a:off x="7073321" y="298991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8" name="Text 216"/>
          <p:cNvSpPr/>
          <p:nvPr/>
        </p:nvSpPr>
        <p:spPr>
          <a:xfrm>
            <a:off x="9235326" y="1756373"/>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9" name="Text 217"/>
          <p:cNvSpPr/>
          <p:nvPr/>
        </p:nvSpPr>
        <p:spPr>
          <a:xfrm>
            <a:off x="7051054" y="33910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0" name="Text 218"/>
          <p:cNvSpPr/>
          <p:nvPr/>
        </p:nvSpPr>
        <p:spPr>
          <a:xfrm>
            <a:off x="9257593" y="290926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1" name="Text 219"/>
          <p:cNvSpPr/>
          <p:nvPr/>
        </p:nvSpPr>
        <p:spPr>
          <a:xfrm>
            <a:off x="7011109" y="37628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2" name="Text 220"/>
          <p:cNvSpPr/>
          <p:nvPr/>
        </p:nvSpPr>
        <p:spPr>
          <a:xfrm>
            <a:off x="9297538" y="400015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3" name="Text 221"/>
          <p:cNvSpPr/>
          <p:nvPr/>
        </p:nvSpPr>
        <p:spPr>
          <a:xfrm>
            <a:off x="6964236" y="411659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4" name="Text 222"/>
          <p:cNvSpPr/>
          <p:nvPr/>
        </p:nvSpPr>
        <p:spPr>
          <a:xfrm>
            <a:off x="9344412" y="510908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5" name="Text 223"/>
          <p:cNvSpPr/>
          <p:nvPr/>
        </p:nvSpPr>
        <p:spPr>
          <a:xfrm>
            <a:off x="5053388" y="399264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6" name="Text 224"/>
          <p:cNvSpPr/>
          <p:nvPr/>
        </p:nvSpPr>
        <p:spPr>
          <a:xfrm>
            <a:off x="4307629" y="50044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7" name="Text 225"/>
          <p:cNvSpPr/>
          <p:nvPr/>
        </p:nvSpPr>
        <p:spPr>
          <a:xfrm>
            <a:off x="5704622" y="412517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8" name="Text 226"/>
          <p:cNvSpPr/>
          <p:nvPr/>
        </p:nvSpPr>
        <p:spPr>
          <a:xfrm>
            <a:off x="5896092" y="48719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9" name="Text 227"/>
          <p:cNvSpPr/>
          <p:nvPr/>
        </p:nvSpPr>
        <p:spPr>
          <a:xfrm>
            <a:off x="6426119" y="416968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0" name="Text 228"/>
          <p:cNvSpPr/>
          <p:nvPr/>
        </p:nvSpPr>
        <p:spPr>
          <a:xfrm>
            <a:off x="7368583" y="4827459"/>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1" name="Text 229"/>
          <p:cNvSpPr/>
          <p:nvPr/>
        </p:nvSpPr>
        <p:spPr>
          <a:xfrm>
            <a:off x="2608323" y="166235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32" name="Text 230"/>
          <p:cNvSpPr/>
          <p:nvPr/>
        </p:nvSpPr>
        <p:spPr>
          <a:xfrm>
            <a:off x="9266639" y="125560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3" name="Text 231"/>
          <p:cNvSpPr/>
          <p:nvPr/>
        </p:nvSpPr>
        <p:spPr>
          <a:xfrm>
            <a:off x="2427079" y="232772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4" name="Text 232"/>
          <p:cNvSpPr/>
          <p:nvPr/>
        </p:nvSpPr>
        <p:spPr>
          <a:xfrm>
            <a:off x="6933939" y="484108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5" name="Text 233"/>
          <p:cNvSpPr/>
          <p:nvPr/>
        </p:nvSpPr>
        <p:spPr>
          <a:xfrm>
            <a:off x="2538879" y="22256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6" name="Text 234"/>
          <p:cNvSpPr/>
          <p:nvPr/>
        </p:nvSpPr>
        <p:spPr>
          <a:xfrm>
            <a:off x="9336083" y="517167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7" name="Text 235"/>
          <p:cNvSpPr/>
          <p:nvPr/>
        </p:nvSpPr>
        <p:spPr>
          <a:xfrm>
            <a:off x="1316393" y="23045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8" name="Text 236"/>
          <p:cNvSpPr/>
          <p:nvPr/>
        </p:nvSpPr>
        <p:spPr>
          <a:xfrm>
            <a:off x="1554075" y="285307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9" name="Text 237"/>
          <p:cNvSpPr/>
          <p:nvPr/>
        </p:nvSpPr>
        <p:spPr>
          <a:xfrm>
            <a:off x="9084475" y="582023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40" name="Text 238"/>
          <p:cNvSpPr/>
          <p:nvPr/>
        </p:nvSpPr>
        <p:spPr>
          <a:xfrm>
            <a:off x="9281036" y="559943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1" name="Text 239"/>
          <p:cNvSpPr/>
          <p:nvPr/>
        </p:nvSpPr>
        <p:spPr>
          <a:xfrm>
            <a:off x="2539461" y="423249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42" name="Text 240"/>
          <p:cNvSpPr/>
          <p:nvPr/>
        </p:nvSpPr>
        <p:spPr>
          <a:xfrm>
            <a:off x="4627567" y="494747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3" name="Shape 241"/>
          <p:cNvSpPr/>
          <p:nvPr/>
        </p:nvSpPr>
        <p:spPr>
          <a:xfrm>
            <a:off x="457080" y="6619425"/>
            <a:ext cx="50279" cy="164549"/>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4" name="Text 242"/>
          <p:cNvSpPr/>
          <p:nvPr/>
        </p:nvSpPr>
        <p:spPr>
          <a:xfrm>
            <a:off x="566780"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Hub (Devices)</a:t>
            </a:r>
            <a:endParaRPr lang="en-US" sz="900" dirty="0">
              <a:latin typeface="Candara" panose="020E0502030303020204" pitchFamily="34" charset="0"/>
            </a:endParaRPr>
          </a:p>
        </p:txBody>
      </p:sp>
      <p:sp>
        <p:nvSpPr>
          <p:cNvPr id="245" name="Shape 243"/>
          <p:cNvSpPr/>
          <p:nvPr/>
        </p:nvSpPr>
        <p:spPr>
          <a:xfrm>
            <a:off x="2056864" y="6619425"/>
            <a:ext cx="50279" cy="164549"/>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246" name="Text 244"/>
          <p:cNvSpPr/>
          <p:nvPr/>
        </p:nvSpPr>
        <p:spPr>
          <a:xfrm>
            <a:off x="216656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Primary entities</a:t>
            </a:r>
            <a:endParaRPr lang="en-US" sz="900" dirty="0">
              <a:latin typeface="Candara" panose="020E0502030303020204" pitchFamily="34" charset="0"/>
            </a:endParaRPr>
          </a:p>
        </p:txBody>
      </p:sp>
      <p:sp>
        <p:nvSpPr>
          <p:cNvPr id="247" name="Shape 245"/>
          <p:cNvSpPr/>
          <p:nvPr/>
        </p:nvSpPr>
        <p:spPr>
          <a:xfrm>
            <a:off x="3793771" y="6619425"/>
            <a:ext cx="50279" cy="164549"/>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248" name="Text 246"/>
          <p:cNvSpPr/>
          <p:nvPr/>
        </p:nvSpPr>
        <p:spPr>
          <a:xfrm>
            <a:off x="3903471"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Event / log tables</a:t>
            </a:r>
            <a:endParaRPr lang="en-US" sz="900" dirty="0">
              <a:latin typeface="Candara" panose="020E0502030303020204" pitchFamily="34" charset="0"/>
            </a:endParaRPr>
          </a:p>
        </p:txBody>
      </p:sp>
      <p:sp>
        <p:nvSpPr>
          <p:cNvPr id="249" name="Shape 247"/>
          <p:cNvSpPr/>
          <p:nvPr/>
        </p:nvSpPr>
        <p:spPr>
          <a:xfrm>
            <a:off x="5667803" y="6619425"/>
            <a:ext cx="50279" cy="164549"/>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250" name="Text 248"/>
          <p:cNvSpPr/>
          <p:nvPr/>
        </p:nvSpPr>
        <p:spPr>
          <a:xfrm>
            <a:off x="577750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Configuration</a:t>
            </a:r>
            <a:endParaRPr lang="en-US" sz="900" dirty="0">
              <a:latin typeface="Candara" panose="020E0502030303020204" pitchFamily="34" charset="0"/>
            </a:endParaRPr>
          </a:p>
        </p:txBody>
      </p:sp>
      <p:sp>
        <p:nvSpPr>
          <p:cNvPr id="251" name="Shape 249"/>
          <p:cNvSpPr/>
          <p:nvPr/>
        </p:nvSpPr>
        <p:spPr>
          <a:xfrm>
            <a:off x="7359003" y="6665133"/>
            <a:ext cx="0" cy="91416"/>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52" name="Shape 250"/>
          <p:cNvSpPr/>
          <p:nvPr/>
        </p:nvSpPr>
        <p:spPr>
          <a:xfrm>
            <a:off x="7496127"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3" name="Text 251"/>
          <p:cNvSpPr/>
          <p:nvPr/>
        </p:nvSpPr>
        <p:spPr>
          <a:xfrm>
            <a:off x="7724668"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54" name="Text 252"/>
          <p:cNvSpPr/>
          <p:nvPr/>
        </p:nvSpPr>
        <p:spPr>
          <a:xfrm>
            <a:off x="8172607"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required (1)</a:t>
            </a:r>
            <a:endParaRPr lang="en-US" sz="900" dirty="0">
              <a:latin typeface="Candara" panose="020E0502030303020204" pitchFamily="34" charset="0"/>
            </a:endParaRPr>
          </a:p>
        </p:txBody>
      </p:sp>
      <p:sp>
        <p:nvSpPr>
          <p:cNvPr id="255" name="Shape 253"/>
          <p:cNvSpPr/>
          <p:nvPr/>
        </p:nvSpPr>
        <p:spPr>
          <a:xfrm>
            <a:off x="8867370" y="6701700"/>
            <a:ext cx="319957" cy="0"/>
          </a:xfrm>
          <a:prstGeom prst="line">
            <a:avLst/>
          </a:prstGeom>
          <a:noFill/>
          <a:ln w="15875">
            <a:solidFill>
              <a:srgbClr val="2A6646"/>
            </a:solidFill>
            <a:prstDash val="dash"/>
          </a:ln>
        </p:spPr>
        <p:txBody>
          <a:bodyPr/>
          <a:lstStyle/>
          <a:p>
            <a:endParaRPr lang="en-US" sz="1799">
              <a:latin typeface="Candara" panose="020E0502030303020204" pitchFamily="34" charset="0"/>
            </a:endParaRPr>
          </a:p>
        </p:txBody>
      </p:sp>
      <p:sp>
        <p:nvSpPr>
          <p:cNvPr id="256" name="Text 254"/>
          <p:cNvSpPr/>
          <p:nvPr/>
        </p:nvSpPr>
        <p:spPr>
          <a:xfrm>
            <a:off x="9095910"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7" name="Text 255"/>
          <p:cNvSpPr/>
          <p:nvPr/>
        </p:nvSpPr>
        <p:spPr>
          <a:xfrm>
            <a:off x="9543850"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optional (0..1)</a:t>
            </a:r>
            <a:endParaRPr lang="en-US" sz="900" dirty="0">
              <a:latin typeface="Candara" panose="020E0502030303020204" pitchFamily="34" charset="0"/>
            </a:endParaRPr>
          </a:p>
        </p:txBody>
      </p:sp>
      <p:sp>
        <p:nvSpPr>
          <p:cNvPr id="258" name="Shape 256"/>
          <p:cNvSpPr/>
          <p:nvPr/>
        </p:nvSpPr>
        <p:spPr>
          <a:xfrm>
            <a:off x="10421445"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9" name="Text 257"/>
          <p:cNvSpPr/>
          <p:nvPr/>
        </p:nvSpPr>
        <p:spPr>
          <a:xfrm>
            <a:off x="10649986"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60" name="Text 258"/>
          <p:cNvSpPr/>
          <p:nvPr/>
        </p:nvSpPr>
        <p:spPr>
          <a:xfrm>
            <a:off x="11097925"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many (0..*)</a:t>
            </a:r>
            <a:endParaRPr lang="en-US" sz="900" dirty="0">
              <a:latin typeface="Candara" panose="020E0502030303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201115" y="92309"/>
            <a:ext cx="6399133" cy="420514"/>
          </a:xfrm>
          <a:prstGeom prst="rect">
            <a:avLst/>
          </a:prstGeom>
          <a:noFill/>
          <a:ln/>
        </p:spPr>
        <p:txBody>
          <a:bodyPr wrap="square" lIns="0" tIns="0" rIns="0" bIns="0" rtlCol="0" anchor="ctr"/>
          <a:lstStyle/>
          <a:p>
            <a:r>
              <a:rPr lang="en-US" sz="2800" b="1" dirty="0">
                <a:solidFill>
                  <a:srgbClr val="FFFFFF"/>
                </a:solidFill>
                <a:latin typeface="Candara" panose="020E0502030303020204" pitchFamily="34" charset="0"/>
                <a:ea typeface="Calibri" pitchFamily="34" charset="-122"/>
                <a:cs typeface="Calibri" pitchFamily="34" charset="-120"/>
              </a:rPr>
              <a:t>Backend &amp; API Design</a:t>
            </a:r>
            <a:endParaRPr lang="en-US" sz="2800" dirty="0">
              <a:latin typeface="Candara" panose="020E0502030303020204" pitchFamily="34" charset="0"/>
            </a:endParaRPr>
          </a:p>
        </p:txBody>
      </p:sp>
      <p:sp>
        <p:nvSpPr>
          <p:cNvPr id="3" name="Text 1"/>
          <p:cNvSpPr/>
          <p:nvPr/>
        </p:nvSpPr>
        <p:spPr>
          <a:xfrm>
            <a:off x="201115" y="531107"/>
            <a:ext cx="4753642" cy="219399"/>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Layered architecture  ·  RESTful APIs  ·  real-time streaming</a:t>
            </a:r>
            <a:endParaRPr lang="en-US" sz="1200" dirty="0">
              <a:latin typeface="Candara" panose="020E0502030303020204" pitchFamily="34" charset="0"/>
            </a:endParaRPr>
          </a:p>
        </p:txBody>
      </p:sp>
      <p:sp>
        <p:nvSpPr>
          <p:cNvPr id="4" name="Text 2"/>
          <p:cNvSpPr/>
          <p:nvPr/>
        </p:nvSpPr>
        <p:spPr>
          <a:xfrm>
            <a:off x="5210722" y="531107"/>
            <a:ext cx="6810506" cy="219399"/>
          </a:xfrm>
          <a:prstGeom prst="rect">
            <a:avLst/>
          </a:prstGeom>
          <a:noFill/>
          <a:ln/>
        </p:spPr>
        <p:txBody>
          <a:bodyPr wrap="square" lIns="0" tIns="0" rIns="0" bIns="0" rtlCol="0" anchor="ctr"/>
          <a:lstStyle/>
          <a:p>
            <a:pPr algn="r"/>
            <a:r>
              <a:rPr lang="en-US" sz="1200" dirty="0">
                <a:solidFill>
                  <a:srgbClr val="3ECF80"/>
                </a:solidFill>
                <a:latin typeface="Candara" panose="020E0502030303020204" pitchFamily="34" charset="0"/>
                <a:ea typeface="Consolas" pitchFamily="34" charset="-122"/>
                <a:cs typeface="Consolas" pitchFamily="34" charset="-120"/>
              </a:rPr>
              <a:t>Base:  https://host/api/v1</a:t>
            </a:r>
            <a:endParaRPr lang="en-US" sz="1200" dirty="0">
              <a:latin typeface="Candara" panose="020E0502030303020204" pitchFamily="34" charset="0"/>
            </a:endParaRPr>
          </a:p>
        </p:txBody>
      </p:sp>
      <p:sp>
        <p:nvSpPr>
          <p:cNvPr id="5" name="Shape 3"/>
          <p:cNvSpPr/>
          <p:nvPr/>
        </p:nvSpPr>
        <p:spPr>
          <a:xfrm>
            <a:off x="201115" y="823639"/>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6" name="Shape 4"/>
          <p:cNvSpPr/>
          <p:nvPr/>
        </p:nvSpPr>
        <p:spPr>
          <a:xfrm>
            <a:off x="1526650" y="1728659"/>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7" name="Text 5"/>
          <p:cNvSpPr/>
          <p:nvPr/>
        </p:nvSpPr>
        <p:spPr>
          <a:xfrm>
            <a:off x="1389525" y="1728659"/>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8" name="Shape 6"/>
          <p:cNvSpPr/>
          <p:nvPr/>
        </p:nvSpPr>
        <p:spPr>
          <a:xfrm>
            <a:off x="228540" y="988188"/>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 name="Shape 7"/>
          <p:cNvSpPr/>
          <p:nvPr/>
        </p:nvSpPr>
        <p:spPr>
          <a:xfrm>
            <a:off x="201115" y="960763"/>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1" name="Shape 9"/>
          <p:cNvSpPr/>
          <p:nvPr/>
        </p:nvSpPr>
        <p:spPr>
          <a:xfrm>
            <a:off x="319956" y="1097887"/>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12" name="Text 10"/>
          <p:cNvSpPr/>
          <p:nvPr/>
        </p:nvSpPr>
        <p:spPr>
          <a:xfrm>
            <a:off x="319956" y="1097887"/>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1</a:t>
            </a:r>
            <a:endParaRPr lang="en-US" sz="1100" dirty="0">
              <a:latin typeface="Candara" panose="020E0502030303020204" pitchFamily="34" charset="0"/>
            </a:endParaRPr>
          </a:p>
        </p:txBody>
      </p:sp>
      <p:sp>
        <p:nvSpPr>
          <p:cNvPr id="13" name="Text 11"/>
          <p:cNvSpPr/>
          <p:nvPr/>
        </p:nvSpPr>
        <p:spPr>
          <a:xfrm>
            <a:off x="676479" y="105217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Presentation Layer</a:t>
            </a:r>
            <a:endParaRPr lang="en-US" sz="1100" dirty="0">
              <a:latin typeface="Candara" panose="020E0502030303020204" pitchFamily="34" charset="0"/>
            </a:endParaRPr>
          </a:p>
        </p:txBody>
      </p:sp>
      <p:sp>
        <p:nvSpPr>
          <p:cNvPr id="14" name="Text 12"/>
          <p:cNvSpPr/>
          <p:nvPr/>
        </p:nvSpPr>
        <p:spPr>
          <a:xfrm>
            <a:off x="676479" y="136299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Controllers  ·  SignalR Hub</a:t>
            </a:r>
            <a:endParaRPr lang="en-US" sz="1100" dirty="0">
              <a:latin typeface="Candara" panose="020E0502030303020204" pitchFamily="34" charset="0"/>
            </a:endParaRPr>
          </a:p>
        </p:txBody>
      </p:sp>
      <p:sp>
        <p:nvSpPr>
          <p:cNvPr id="15" name="Shape 13"/>
          <p:cNvSpPr/>
          <p:nvPr/>
        </p:nvSpPr>
        <p:spPr>
          <a:xfrm>
            <a:off x="1526650" y="3054194"/>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16" name="Text 14"/>
          <p:cNvSpPr/>
          <p:nvPr/>
        </p:nvSpPr>
        <p:spPr>
          <a:xfrm>
            <a:off x="1389525" y="3054194"/>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17" name="Shape 15"/>
          <p:cNvSpPr/>
          <p:nvPr/>
        </p:nvSpPr>
        <p:spPr>
          <a:xfrm>
            <a:off x="228540" y="2313723"/>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 name="Shape 16"/>
          <p:cNvSpPr/>
          <p:nvPr/>
        </p:nvSpPr>
        <p:spPr>
          <a:xfrm>
            <a:off x="201115" y="2286298"/>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0" name="Shape 18"/>
          <p:cNvSpPr/>
          <p:nvPr/>
        </p:nvSpPr>
        <p:spPr>
          <a:xfrm>
            <a:off x="319956" y="2423422"/>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21" name="Text 19"/>
          <p:cNvSpPr/>
          <p:nvPr/>
        </p:nvSpPr>
        <p:spPr>
          <a:xfrm>
            <a:off x="319956" y="2423422"/>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2</a:t>
            </a:r>
            <a:endParaRPr lang="en-US" sz="1100" dirty="0">
              <a:latin typeface="Candara" panose="020E0502030303020204" pitchFamily="34" charset="0"/>
            </a:endParaRPr>
          </a:p>
        </p:txBody>
      </p:sp>
      <p:sp>
        <p:nvSpPr>
          <p:cNvPr id="22" name="Text 20"/>
          <p:cNvSpPr/>
          <p:nvPr/>
        </p:nvSpPr>
        <p:spPr>
          <a:xfrm>
            <a:off x="676479" y="2377714"/>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Service Layer</a:t>
            </a:r>
            <a:endParaRPr lang="en-US" sz="1100" dirty="0">
              <a:latin typeface="Candara" panose="020E0502030303020204" pitchFamily="34" charset="0"/>
            </a:endParaRPr>
          </a:p>
        </p:txBody>
      </p:sp>
      <p:sp>
        <p:nvSpPr>
          <p:cNvPr id="23" name="Text 21"/>
          <p:cNvSpPr/>
          <p:nvPr/>
        </p:nvSpPr>
        <p:spPr>
          <a:xfrm>
            <a:off x="676479" y="2688529"/>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Business Logic  ·  Validation</a:t>
            </a:r>
            <a:endParaRPr lang="en-US" sz="1100" dirty="0">
              <a:latin typeface="Candara" panose="020E0502030303020204" pitchFamily="34" charset="0"/>
            </a:endParaRPr>
          </a:p>
        </p:txBody>
      </p:sp>
      <p:sp>
        <p:nvSpPr>
          <p:cNvPr id="24" name="Shape 22"/>
          <p:cNvSpPr/>
          <p:nvPr/>
        </p:nvSpPr>
        <p:spPr>
          <a:xfrm>
            <a:off x="1526650" y="4379728"/>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25" name="Text 23"/>
          <p:cNvSpPr/>
          <p:nvPr/>
        </p:nvSpPr>
        <p:spPr>
          <a:xfrm>
            <a:off x="1389525" y="4379728"/>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26" name="Shape 24"/>
          <p:cNvSpPr/>
          <p:nvPr/>
        </p:nvSpPr>
        <p:spPr>
          <a:xfrm>
            <a:off x="228540" y="3639257"/>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7" name="Shape 25"/>
          <p:cNvSpPr/>
          <p:nvPr/>
        </p:nvSpPr>
        <p:spPr>
          <a:xfrm>
            <a:off x="201115" y="3611832"/>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9" name="Shape 27"/>
          <p:cNvSpPr/>
          <p:nvPr/>
        </p:nvSpPr>
        <p:spPr>
          <a:xfrm>
            <a:off x="319956" y="3748956"/>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0" name="Text 28"/>
          <p:cNvSpPr/>
          <p:nvPr/>
        </p:nvSpPr>
        <p:spPr>
          <a:xfrm>
            <a:off x="319956" y="3748956"/>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3</a:t>
            </a:r>
            <a:endParaRPr lang="en-US" sz="1100" dirty="0">
              <a:latin typeface="Candara" panose="020E0502030303020204" pitchFamily="34" charset="0"/>
            </a:endParaRPr>
          </a:p>
        </p:txBody>
      </p:sp>
      <p:sp>
        <p:nvSpPr>
          <p:cNvPr id="31" name="Text 29"/>
          <p:cNvSpPr/>
          <p:nvPr/>
        </p:nvSpPr>
        <p:spPr>
          <a:xfrm>
            <a:off x="676479" y="370324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 Access Layer</a:t>
            </a:r>
            <a:endParaRPr lang="en-US" sz="1100" dirty="0">
              <a:latin typeface="Candara" panose="020E0502030303020204" pitchFamily="34" charset="0"/>
            </a:endParaRPr>
          </a:p>
        </p:txBody>
      </p:sp>
      <p:sp>
        <p:nvSpPr>
          <p:cNvPr id="32" name="Text 30"/>
          <p:cNvSpPr/>
          <p:nvPr/>
        </p:nvSpPr>
        <p:spPr>
          <a:xfrm>
            <a:off x="676479" y="401406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EF Core  ·  Repository Pattern</a:t>
            </a:r>
            <a:endParaRPr lang="en-US" sz="1100" dirty="0">
              <a:latin typeface="Candara" panose="020E0502030303020204" pitchFamily="34" charset="0"/>
            </a:endParaRPr>
          </a:p>
        </p:txBody>
      </p:sp>
      <p:sp>
        <p:nvSpPr>
          <p:cNvPr id="33" name="Shape 31"/>
          <p:cNvSpPr/>
          <p:nvPr/>
        </p:nvSpPr>
        <p:spPr>
          <a:xfrm>
            <a:off x="228540" y="4964792"/>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34" name="Shape 32"/>
          <p:cNvSpPr/>
          <p:nvPr/>
        </p:nvSpPr>
        <p:spPr>
          <a:xfrm>
            <a:off x="201115" y="4937367"/>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36" name="Shape 34"/>
          <p:cNvSpPr/>
          <p:nvPr/>
        </p:nvSpPr>
        <p:spPr>
          <a:xfrm>
            <a:off x="319956" y="5074491"/>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7" name="Text 35"/>
          <p:cNvSpPr/>
          <p:nvPr/>
        </p:nvSpPr>
        <p:spPr>
          <a:xfrm>
            <a:off x="319956" y="5074491"/>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4</a:t>
            </a:r>
            <a:endParaRPr lang="en-US" sz="1100" dirty="0">
              <a:latin typeface="Candara" panose="020E0502030303020204" pitchFamily="34" charset="0"/>
            </a:endParaRPr>
          </a:p>
        </p:txBody>
      </p:sp>
      <p:sp>
        <p:nvSpPr>
          <p:cNvPr id="38" name="Text 36"/>
          <p:cNvSpPr/>
          <p:nvPr/>
        </p:nvSpPr>
        <p:spPr>
          <a:xfrm>
            <a:off x="676479" y="5028783"/>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Database Layer</a:t>
            </a:r>
            <a:endParaRPr lang="en-US" sz="1100" dirty="0">
              <a:latin typeface="Candara" panose="020E0502030303020204" pitchFamily="34" charset="0"/>
            </a:endParaRPr>
          </a:p>
        </p:txBody>
      </p:sp>
      <p:sp>
        <p:nvSpPr>
          <p:cNvPr id="39" name="Text 37"/>
          <p:cNvSpPr/>
          <p:nvPr/>
        </p:nvSpPr>
        <p:spPr>
          <a:xfrm>
            <a:off x="676479" y="5339598"/>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SQL Server  ·  IoTMonitoringDB</a:t>
            </a:r>
            <a:endParaRPr lang="en-US" sz="1100" dirty="0">
              <a:latin typeface="Candara" panose="020E0502030303020204" pitchFamily="34" charset="0"/>
            </a:endParaRPr>
          </a:p>
        </p:txBody>
      </p:sp>
      <p:sp>
        <p:nvSpPr>
          <p:cNvPr id="41" name="Shape 39"/>
          <p:cNvSpPr/>
          <p:nvPr/>
        </p:nvSpPr>
        <p:spPr>
          <a:xfrm>
            <a:off x="3204137" y="937910"/>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42" name="Shape 40"/>
          <p:cNvSpPr/>
          <p:nvPr/>
        </p:nvSpPr>
        <p:spPr>
          <a:xfrm>
            <a:off x="3181283" y="915056"/>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43" name="Shape 41"/>
          <p:cNvSpPr/>
          <p:nvPr/>
        </p:nvSpPr>
        <p:spPr>
          <a:xfrm>
            <a:off x="3181283" y="91505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4" name="Shape 42"/>
          <p:cNvSpPr/>
          <p:nvPr/>
        </p:nvSpPr>
        <p:spPr>
          <a:xfrm>
            <a:off x="3181283" y="109788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5" name="Text 43"/>
          <p:cNvSpPr/>
          <p:nvPr/>
        </p:nvSpPr>
        <p:spPr>
          <a:xfrm>
            <a:off x="3272699" y="91505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APIs</a:t>
            </a:r>
            <a:endParaRPr lang="en-US" sz="1100" dirty="0">
              <a:latin typeface="Candara" panose="020E0502030303020204" pitchFamily="34" charset="0"/>
            </a:endParaRPr>
          </a:p>
        </p:txBody>
      </p:sp>
      <p:sp>
        <p:nvSpPr>
          <p:cNvPr id="46" name="Shape 44"/>
          <p:cNvSpPr/>
          <p:nvPr/>
        </p:nvSpPr>
        <p:spPr>
          <a:xfrm>
            <a:off x="3236133" y="115273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47" name="Shape 45"/>
          <p:cNvSpPr/>
          <p:nvPr/>
        </p:nvSpPr>
        <p:spPr>
          <a:xfrm>
            <a:off x="325441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48" name="Text 46"/>
          <p:cNvSpPr/>
          <p:nvPr/>
        </p:nvSpPr>
        <p:spPr>
          <a:xfrm>
            <a:off x="325441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49" name="Text 47"/>
          <p:cNvSpPr/>
          <p:nvPr/>
        </p:nvSpPr>
        <p:spPr>
          <a:xfrm>
            <a:off x="3876046" y="117102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0" name="Shape 48"/>
          <p:cNvSpPr/>
          <p:nvPr/>
        </p:nvSpPr>
        <p:spPr>
          <a:xfrm>
            <a:off x="3217849" y="1309973"/>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1" name="Shape 49"/>
          <p:cNvSpPr/>
          <p:nvPr/>
        </p:nvSpPr>
        <p:spPr>
          <a:xfrm>
            <a:off x="325441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52" name="Text 50"/>
          <p:cNvSpPr/>
          <p:nvPr/>
        </p:nvSpPr>
        <p:spPr>
          <a:xfrm>
            <a:off x="325441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53" name="Text 51"/>
          <p:cNvSpPr/>
          <p:nvPr/>
        </p:nvSpPr>
        <p:spPr>
          <a:xfrm>
            <a:off x="3876046" y="130997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54" name="Shape 52"/>
          <p:cNvSpPr/>
          <p:nvPr/>
        </p:nvSpPr>
        <p:spPr>
          <a:xfrm>
            <a:off x="3254416" y="1467210"/>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55" name="Text 53"/>
          <p:cNvSpPr/>
          <p:nvPr/>
        </p:nvSpPr>
        <p:spPr>
          <a:xfrm>
            <a:off x="3254416" y="1467210"/>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56" name="Text 54"/>
          <p:cNvSpPr/>
          <p:nvPr/>
        </p:nvSpPr>
        <p:spPr>
          <a:xfrm>
            <a:off x="3876046" y="144892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7" name="Shape 55"/>
          <p:cNvSpPr/>
          <p:nvPr/>
        </p:nvSpPr>
        <p:spPr>
          <a:xfrm>
            <a:off x="3217849" y="158787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8" name="Shape 56"/>
          <p:cNvSpPr/>
          <p:nvPr/>
        </p:nvSpPr>
        <p:spPr>
          <a:xfrm>
            <a:off x="3254416" y="1606161"/>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59" name="Text 57"/>
          <p:cNvSpPr/>
          <p:nvPr/>
        </p:nvSpPr>
        <p:spPr>
          <a:xfrm>
            <a:off x="3254416" y="1606161"/>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60" name="Text 58"/>
          <p:cNvSpPr/>
          <p:nvPr/>
        </p:nvSpPr>
        <p:spPr>
          <a:xfrm>
            <a:off x="3876046" y="158787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1" name="Shape 59"/>
          <p:cNvSpPr/>
          <p:nvPr/>
        </p:nvSpPr>
        <p:spPr>
          <a:xfrm>
            <a:off x="3254416" y="1745114"/>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62" name="Text 60"/>
          <p:cNvSpPr/>
          <p:nvPr/>
        </p:nvSpPr>
        <p:spPr>
          <a:xfrm>
            <a:off x="3254416" y="1745114"/>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63" name="Text 61"/>
          <p:cNvSpPr/>
          <p:nvPr/>
        </p:nvSpPr>
        <p:spPr>
          <a:xfrm>
            <a:off x="3876046" y="172683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4" name="Shape 62"/>
          <p:cNvSpPr/>
          <p:nvPr/>
        </p:nvSpPr>
        <p:spPr>
          <a:xfrm>
            <a:off x="3217849" y="186578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5" name="Shape 63"/>
          <p:cNvSpPr/>
          <p:nvPr/>
        </p:nvSpPr>
        <p:spPr>
          <a:xfrm>
            <a:off x="3254416" y="188406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66" name="Text 64"/>
          <p:cNvSpPr/>
          <p:nvPr/>
        </p:nvSpPr>
        <p:spPr>
          <a:xfrm>
            <a:off x="3254416" y="188406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67" name="Text 65"/>
          <p:cNvSpPr/>
          <p:nvPr/>
        </p:nvSpPr>
        <p:spPr>
          <a:xfrm>
            <a:off x="3876046" y="186578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/devices/{id}/status</a:t>
            </a:r>
            <a:endParaRPr lang="en-US" sz="1100" dirty="0">
              <a:latin typeface="Candara" panose="020E0502030303020204" pitchFamily="34" charset="0"/>
            </a:endParaRPr>
          </a:p>
        </p:txBody>
      </p:sp>
      <p:sp>
        <p:nvSpPr>
          <p:cNvPr id="68" name="Shape 66"/>
          <p:cNvSpPr/>
          <p:nvPr/>
        </p:nvSpPr>
        <p:spPr>
          <a:xfrm>
            <a:off x="3204137" y="2192139"/>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9" name="Shape 67"/>
          <p:cNvSpPr/>
          <p:nvPr/>
        </p:nvSpPr>
        <p:spPr>
          <a:xfrm>
            <a:off x="3181283" y="2169285"/>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70" name="Shape 68"/>
          <p:cNvSpPr/>
          <p:nvPr/>
        </p:nvSpPr>
        <p:spPr>
          <a:xfrm>
            <a:off x="3181283" y="216928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1" name="Shape 69"/>
          <p:cNvSpPr/>
          <p:nvPr/>
        </p:nvSpPr>
        <p:spPr>
          <a:xfrm>
            <a:off x="3181283" y="235211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2" name="Text 70"/>
          <p:cNvSpPr/>
          <p:nvPr/>
        </p:nvSpPr>
        <p:spPr>
          <a:xfrm>
            <a:off x="3272699" y="216928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APIs</a:t>
            </a:r>
            <a:endParaRPr lang="en-US" sz="1100" dirty="0">
              <a:latin typeface="Candara" panose="020E0502030303020204" pitchFamily="34" charset="0"/>
            </a:endParaRPr>
          </a:p>
        </p:txBody>
      </p:sp>
      <p:sp>
        <p:nvSpPr>
          <p:cNvPr id="73" name="Shape 71"/>
          <p:cNvSpPr/>
          <p:nvPr/>
        </p:nvSpPr>
        <p:spPr>
          <a:xfrm>
            <a:off x="3236133" y="240696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74" name="Shape 72"/>
          <p:cNvSpPr/>
          <p:nvPr/>
        </p:nvSpPr>
        <p:spPr>
          <a:xfrm>
            <a:off x="325441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5" name="Text 73"/>
          <p:cNvSpPr/>
          <p:nvPr/>
        </p:nvSpPr>
        <p:spPr>
          <a:xfrm>
            <a:off x="325441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76" name="Text 74"/>
          <p:cNvSpPr/>
          <p:nvPr/>
        </p:nvSpPr>
        <p:spPr>
          <a:xfrm>
            <a:off x="3876046" y="242525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77" name="Shape 75"/>
          <p:cNvSpPr/>
          <p:nvPr/>
        </p:nvSpPr>
        <p:spPr>
          <a:xfrm>
            <a:off x="3217849" y="256420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78" name="Shape 76"/>
          <p:cNvSpPr/>
          <p:nvPr/>
        </p:nvSpPr>
        <p:spPr>
          <a:xfrm>
            <a:off x="3254416" y="258248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9" name="Text 77"/>
          <p:cNvSpPr/>
          <p:nvPr/>
        </p:nvSpPr>
        <p:spPr>
          <a:xfrm>
            <a:off x="3254416" y="258248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80" name="Text 78"/>
          <p:cNvSpPr/>
          <p:nvPr/>
        </p:nvSpPr>
        <p:spPr>
          <a:xfrm>
            <a:off x="3876046" y="256420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1" name="Shape 79"/>
          <p:cNvSpPr/>
          <p:nvPr/>
        </p:nvSpPr>
        <p:spPr>
          <a:xfrm>
            <a:off x="3254416" y="2721439"/>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82" name="Text 80"/>
          <p:cNvSpPr/>
          <p:nvPr/>
        </p:nvSpPr>
        <p:spPr>
          <a:xfrm>
            <a:off x="3254416" y="2721439"/>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83" name="Text 81"/>
          <p:cNvSpPr/>
          <p:nvPr/>
        </p:nvSpPr>
        <p:spPr>
          <a:xfrm>
            <a:off x="3876046" y="2703155"/>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84" name="Shape 82"/>
          <p:cNvSpPr/>
          <p:nvPr/>
        </p:nvSpPr>
        <p:spPr>
          <a:xfrm>
            <a:off x="3217849" y="284210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85" name="Shape 83"/>
          <p:cNvSpPr/>
          <p:nvPr/>
        </p:nvSpPr>
        <p:spPr>
          <a:xfrm>
            <a:off x="3254416" y="286039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86" name="Text 84"/>
          <p:cNvSpPr/>
          <p:nvPr/>
        </p:nvSpPr>
        <p:spPr>
          <a:xfrm>
            <a:off x="3254416" y="286039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87" name="Text 85"/>
          <p:cNvSpPr/>
          <p:nvPr/>
        </p:nvSpPr>
        <p:spPr>
          <a:xfrm>
            <a:off x="3876046" y="284210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8" name="Shape 86"/>
          <p:cNvSpPr/>
          <p:nvPr/>
        </p:nvSpPr>
        <p:spPr>
          <a:xfrm>
            <a:off x="3254416" y="2999345"/>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89" name="Text 87"/>
          <p:cNvSpPr/>
          <p:nvPr/>
        </p:nvSpPr>
        <p:spPr>
          <a:xfrm>
            <a:off x="3254416" y="2999345"/>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90" name="Text 88"/>
          <p:cNvSpPr/>
          <p:nvPr/>
        </p:nvSpPr>
        <p:spPr>
          <a:xfrm>
            <a:off x="3876046" y="298106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91" name="Shape 89"/>
          <p:cNvSpPr/>
          <p:nvPr/>
        </p:nvSpPr>
        <p:spPr>
          <a:xfrm>
            <a:off x="3204137" y="3307417"/>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2" name="Shape 90"/>
          <p:cNvSpPr/>
          <p:nvPr/>
        </p:nvSpPr>
        <p:spPr>
          <a:xfrm>
            <a:off x="3181283" y="3284563"/>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93" name="Shape 91"/>
          <p:cNvSpPr/>
          <p:nvPr/>
        </p:nvSpPr>
        <p:spPr>
          <a:xfrm>
            <a:off x="3181283" y="328456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4" name="Shape 92"/>
          <p:cNvSpPr/>
          <p:nvPr/>
        </p:nvSpPr>
        <p:spPr>
          <a:xfrm>
            <a:off x="3181283" y="346739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5" name="Text 93"/>
          <p:cNvSpPr/>
          <p:nvPr/>
        </p:nvSpPr>
        <p:spPr>
          <a:xfrm>
            <a:off x="3272699" y="328456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Readings  —  Core IoT</a:t>
            </a:r>
            <a:endParaRPr lang="en-US" sz="1100" dirty="0">
              <a:latin typeface="Candara" panose="020E0502030303020204" pitchFamily="34" charset="0"/>
            </a:endParaRPr>
          </a:p>
        </p:txBody>
      </p:sp>
      <p:sp>
        <p:nvSpPr>
          <p:cNvPr id="96" name="Shape 94"/>
          <p:cNvSpPr/>
          <p:nvPr/>
        </p:nvSpPr>
        <p:spPr>
          <a:xfrm>
            <a:off x="3236133" y="352224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97" name="Shape 95"/>
          <p:cNvSpPr/>
          <p:nvPr/>
        </p:nvSpPr>
        <p:spPr>
          <a:xfrm>
            <a:off x="3254416" y="355881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98" name="Text 96"/>
          <p:cNvSpPr/>
          <p:nvPr/>
        </p:nvSpPr>
        <p:spPr>
          <a:xfrm>
            <a:off x="3254416" y="355881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99" name="Text 97"/>
          <p:cNvSpPr/>
          <p:nvPr/>
        </p:nvSpPr>
        <p:spPr>
          <a:xfrm>
            <a:off x="3876046" y="354052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0" name="Shape 98"/>
          <p:cNvSpPr/>
          <p:nvPr/>
        </p:nvSpPr>
        <p:spPr>
          <a:xfrm>
            <a:off x="3217849" y="367948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1" name="Shape 99"/>
          <p:cNvSpPr/>
          <p:nvPr/>
        </p:nvSpPr>
        <p:spPr>
          <a:xfrm>
            <a:off x="325441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02" name="Text 100"/>
          <p:cNvSpPr/>
          <p:nvPr/>
        </p:nvSpPr>
        <p:spPr>
          <a:xfrm>
            <a:off x="325441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03" name="Text 101"/>
          <p:cNvSpPr/>
          <p:nvPr/>
        </p:nvSpPr>
        <p:spPr>
          <a:xfrm>
            <a:off x="3876046" y="367948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/sensorreadings/batch</a:t>
            </a:r>
            <a:endParaRPr lang="en-US" sz="1100" dirty="0">
              <a:latin typeface="Candara" panose="020E0502030303020204" pitchFamily="34" charset="0"/>
            </a:endParaRPr>
          </a:p>
        </p:txBody>
      </p:sp>
      <p:sp>
        <p:nvSpPr>
          <p:cNvPr id="104" name="Shape 102"/>
          <p:cNvSpPr/>
          <p:nvPr/>
        </p:nvSpPr>
        <p:spPr>
          <a:xfrm>
            <a:off x="325441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5" name="Text 103"/>
          <p:cNvSpPr/>
          <p:nvPr/>
        </p:nvSpPr>
        <p:spPr>
          <a:xfrm>
            <a:off x="325441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06" name="Text 104"/>
          <p:cNvSpPr/>
          <p:nvPr/>
        </p:nvSpPr>
        <p:spPr>
          <a:xfrm>
            <a:off x="3876046" y="381843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7" name="Shape 105"/>
          <p:cNvSpPr/>
          <p:nvPr/>
        </p:nvSpPr>
        <p:spPr>
          <a:xfrm>
            <a:off x="3217849" y="395738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8" name="Shape 106"/>
          <p:cNvSpPr/>
          <p:nvPr/>
        </p:nvSpPr>
        <p:spPr>
          <a:xfrm>
            <a:off x="3254416" y="397566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9" name="Text 107"/>
          <p:cNvSpPr/>
          <p:nvPr/>
        </p:nvSpPr>
        <p:spPr>
          <a:xfrm>
            <a:off x="3254416" y="397566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0" name="Text 108"/>
          <p:cNvSpPr/>
          <p:nvPr/>
        </p:nvSpPr>
        <p:spPr>
          <a:xfrm>
            <a:off x="3876046" y="395738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/sensorreadings/{id}</a:t>
            </a:r>
            <a:endParaRPr lang="en-US" sz="1100" dirty="0">
              <a:latin typeface="Candara" panose="020E0502030303020204" pitchFamily="34" charset="0"/>
            </a:endParaRPr>
          </a:p>
        </p:txBody>
      </p:sp>
      <p:sp>
        <p:nvSpPr>
          <p:cNvPr id="111" name="Shape 109"/>
          <p:cNvSpPr/>
          <p:nvPr/>
        </p:nvSpPr>
        <p:spPr>
          <a:xfrm>
            <a:off x="325441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2" name="Text 110"/>
          <p:cNvSpPr/>
          <p:nvPr/>
        </p:nvSpPr>
        <p:spPr>
          <a:xfrm>
            <a:off x="325441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3" name="Text 111"/>
          <p:cNvSpPr/>
          <p:nvPr/>
        </p:nvSpPr>
        <p:spPr>
          <a:xfrm>
            <a:off x="3876046" y="409633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/sensorreadings/devices/{deviceId}/readings</a:t>
            </a:r>
            <a:endParaRPr lang="en-US" sz="1100" dirty="0">
              <a:latin typeface="Candara" panose="020E0502030303020204" pitchFamily="34" charset="0"/>
            </a:endParaRPr>
          </a:p>
        </p:txBody>
      </p:sp>
      <p:sp>
        <p:nvSpPr>
          <p:cNvPr id="114" name="Shape 112"/>
          <p:cNvSpPr/>
          <p:nvPr/>
        </p:nvSpPr>
        <p:spPr>
          <a:xfrm>
            <a:off x="3217849" y="423529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5" name="Shape 113"/>
          <p:cNvSpPr/>
          <p:nvPr/>
        </p:nvSpPr>
        <p:spPr>
          <a:xfrm>
            <a:off x="3254416" y="425357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6" name="Text 114"/>
          <p:cNvSpPr/>
          <p:nvPr/>
        </p:nvSpPr>
        <p:spPr>
          <a:xfrm>
            <a:off x="3254416" y="425357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7" name="Text 115"/>
          <p:cNvSpPr/>
          <p:nvPr/>
        </p:nvSpPr>
        <p:spPr>
          <a:xfrm>
            <a:off x="3876046" y="423529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/sensorreadings/sensors/{sensorId}/readings</a:t>
            </a:r>
            <a:endParaRPr lang="en-US" sz="1100" dirty="0">
              <a:latin typeface="Candara" panose="020E0502030303020204" pitchFamily="34" charset="0"/>
            </a:endParaRPr>
          </a:p>
        </p:txBody>
      </p:sp>
      <p:sp>
        <p:nvSpPr>
          <p:cNvPr id="118" name="Shape 116"/>
          <p:cNvSpPr/>
          <p:nvPr/>
        </p:nvSpPr>
        <p:spPr>
          <a:xfrm>
            <a:off x="3204137" y="4561647"/>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9" name="Shape 117"/>
          <p:cNvSpPr/>
          <p:nvPr/>
        </p:nvSpPr>
        <p:spPr>
          <a:xfrm>
            <a:off x="3181283" y="4538793"/>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20" name="Shape 118"/>
          <p:cNvSpPr/>
          <p:nvPr/>
        </p:nvSpPr>
        <p:spPr>
          <a:xfrm>
            <a:off x="3181283" y="453879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1" name="Shape 119"/>
          <p:cNvSpPr/>
          <p:nvPr/>
        </p:nvSpPr>
        <p:spPr>
          <a:xfrm>
            <a:off x="3181283" y="472162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2" name="Text 120"/>
          <p:cNvSpPr/>
          <p:nvPr/>
        </p:nvSpPr>
        <p:spPr>
          <a:xfrm>
            <a:off x="3272699" y="453879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APIs</a:t>
            </a:r>
            <a:endParaRPr lang="en-US" sz="1100" dirty="0">
              <a:latin typeface="Candara" panose="020E0502030303020204" pitchFamily="34" charset="0"/>
            </a:endParaRPr>
          </a:p>
        </p:txBody>
      </p:sp>
      <p:sp>
        <p:nvSpPr>
          <p:cNvPr id="123" name="Shape 121"/>
          <p:cNvSpPr/>
          <p:nvPr/>
        </p:nvSpPr>
        <p:spPr>
          <a:xfrm>
            <a:off x="3236133" y="477647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24" name="Shape 122"/>
          <p:cNvSpPr/>
          <p:nvPr/>
        </p:nvSpPr>
        <p:spPr>
          <a:xfrm>
            <a:off x="3254416" y="481304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5" name="Text 123"/>
          <p:cNvSpPr/>
          <p:nvPr/>
        </p:nvSpPr>
        <p:spPr>
          <a:xfrm>
            <a:off x="3254416" y="481304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26" name="Text 124"/>
          <p:cNvSpPr/>
          <p:nvPr/>
        </p:nvSpPr>
        <p:spPr>
          <a:xfrm>
            <a:off x="3876046" y="479475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t>
            </a:r>
            <a:endParaRPr lang="en-US" sz="1100" dirty="0">
              <a:latin typeface="Candara" panose="020E0502030303020204" pitchFamily="34" charset="0"/>
            </a:endParaRPr>
          </a:p>
        </p:txBody>
      </p:sp>
      <p:sp>
        <p:nvSpPr>
          <p:cNvPr id="127" name="Shape 125"/>
          <p:cNvSpPr/>
          <p:nvPr/>
        </p:nvSpPr>
        <p:spPr>
          <a:xfrm>
            <a:off x="3217849" y="4933710"/>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28" name="Shape 126"/>
          <p:cNvSpPr/>
          <p:nvPr/>
        </p:nvSpPr>
        <p:spPr>
          <a:xfrm>
            <a:off x="3254416" y="495199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9" name="Text 127"/>
          <p:cNvSpPr/>
          <p:nvPr/>
        </p:nvSpPr>
        <p:spPr>
          <a:xfrm>
            <a:off x="3254416" y="495199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0" name="Text 128"/>
          <p:cNvSpPr/>
          <p:nvPr/>
        </p:nvSpPr>
        <p:spPr>
          <a:xfrm>
            <a:off x="3876046" y="4933710"/>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/alerts/active</a:t>
            </a:r>
            <a:endParaRPr lang="en-US" sz="1100" dirty="0">
              <a:latin typeface="Candara" panose="020E0502030303020204" pitchFamily="34" charset="0"/>
            </a:endParaRPr>
          </a:p>
        </p:txBody>
      </p:sp>
      <p:sp>
        <p:nvSpPr>
          <p:cNvPr id="131" name="Shape 129"/>
          <p:cNvSpPr/>
          <p:nvPr/>
        </p:nvSpPr>
        <p:spPr>
          <a:xfrm>
            <a:off x="3254416" y="509094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32" name="Text 130"/>
          <p:cNvSpPr/>
          <p:nvPr/>
        </p:nvSpPr>
        <p:spPr>
          <a:xfrm>
            <a:off x="3254416" y="509094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3" name="Text 131"/>
          <p:cNvSpPr/>
          <p:nvPr/>
        </p:nvSpPr>
        <p:spPr>
          <a:xfrm>
            <a:off x="3876046" y="507266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t>
            </a:r>
            <a:endParaRPr lang="en-US" sz="1100" dirty="0">
              <a:latin typeface="Candara" panose="020E0502030303020204" pitchFamily="34" charset="0"/>
            </a:endParaRPr>
          </a:p>
        </p:txBody>
      </p:sp>
      <p:sp>
        <p:nvSpPr>
          <p:cNvPr id="134" name="Shape 132"/>
          <p:cNvSpPr/>
          <p:nvPr/>
        </p:nvSpPr>
        <p:spPr>
          <a:xfrm>
            <a:off x="3217849" y="521161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35" name="Shape 133"/>
          <p:cNvSpPr/>
          <p:nvPr/>
        </p:nvSpPr>
        <p:spPr>
          <a:xfrm>
            <a:off x="3254416" y="5229900"/>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6" name="Text 134"/>
          <p:cNvSpPr/>
          <p:nvPr/>
        </p:nvSpPr>
        <p:spPr>
          <a:xfrm>
            <a:off x="3254416" y="5229900"/>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37" name="Text 135"/>
          <p:cNvSpPr/>
          <p:nvPr/>
        </p:nvSpPr>
        <p:spPr>
          <a:xfrm>
            <a:off x="3876046" y="521161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/alerts/{id}/acknowledge</a:t>
            </a:r>
            <a:endParaRPr lang="en-US" sz="1100" dirty="0">
              <a:latin typeface="Candara" panose="020E0502030303020204" pitchFamily="34" charset="0"/>
            </a:endParaRPr>
          </a:p>
        </p:txBody>
      </p:sp>
      <p:sp>
        <p:nvSpPr>
          <p:cNvPr id="138" name="Shape 136"/>
          <p:cNvSpPr/>
          <p:nvPr/>
        </p:nvSpPr>
        <p:spPr>
          <a:xfrm>
            <a:off x="3254416" y="536885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9" name="Text 137"/>
          <p:cNvSpPr/>
          <p:nvPr/>
        </p:nvSpPr>
        <p:spPr>
          <a:xfrm>
            <a:off x="3254416" y="536885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40" name="Text 138"/>
          <p:cNvSpPr/>
          <p:nvPr/>
        </p:nvSpPr>
        <p:spPr>
          <a:xfrm>
            <a:off x="3876046" y="535056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/alerts/{id}/resolve</a:t>
            </a:r>
            <a:endParaRPr lang="en-US" sz="1100" dirty="0">
              <a:latin typeface="Candara" panose="020E0502030303020204" pitchFamily="34" charset="0"/>
            </a:endParaRPr>
          </a:p>
        </p:txBody>
      </p:sp>
      <p:sp>
        <p:nvSpPr>
          <p:cNvPr id="141" name="Shape 139"/>
          <p:cNvSpPr/>
          <p:nvPr/>
        </p:nvSpPr>
        <p:spPr>
          <a:xfrm>
            <a:off x="7610397" y="93791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42" name="Shape 140"/>
          <p:cNvSpPr/>
          <p:nvPr/>
        </p:nvSpPr>
        <p:spPr>
          <a:xfrm>
            <a:off x="7587543" y="91505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43" name="Shape 141"/>
          <p:cNvSpPr/>
          <p:nvPr/>
        </p:nvSpPr>
        <p:spPr>
          <a:xfrm>
            <a:off x="7587543" y="91505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4" name="Shape 142"/>
          <p:cNvSpPr/>
          <p:nvPr/>
        </p:nvSpPr>
        <p:spPr>
          <a:xfrm>
            <a:off x="7587543" y="109788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5" name="Text 143"/>
          <p:cNvSpPr/>
          <p:nvPr/>
        </p:nvSpPr>
        <p:spPr>
          <a:xfrm>
            <a:off x="7678959" y="91505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Rules</a:t>
            </a:r>
            <a:endParaRPr lang="en-US" sz="1100" dirty="0">
              <a:latin typeface="Candara" panose="020E0502030303020204" pitchFamily="34" charset="0"/>
            </a:endParaRPr>
          </a:p>
        </p:txBody>
      </p:sp>
      <p:sp>
        <p:nvSpPr>
          <p:cNvPr id="146" name="Shape 144"/>
          <p:cNvSpPr/>
          <p:nvPr/>
        </p:nvSpPr>
        <p:spPr>
          <a:xfrm>
            <a:off x="7642393" y="115273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47" name="Shape 145"/>
          <p:cNvSpPr/>
          <p:nvPr/>
        </p:nvSpPr>
        <p:spPr>
          <a:xfrm>
            <a:off x="766067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48" name="Text 146"/>
          <p:cNvSpPr/>
          <p:nvPr/>
        </p:nvSpPr>
        <p:spPr>
          <a:xfrm>
            <a:off x="766067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49" name="Text 147"/>
          <p:cNvSpPr/>
          <p:nvPr/>
        </p:nvSpPr>
        <p:spPr>
          <a:xfrm>
            <a:off x="8282306" y="117102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50" name="Shape 148"/>
          <p:cNvSpPr/>
          <p:nvPr/>
        </p:nvSpPr>
        <p:spPr>
          <a:xfrm>
            <a:off x="7624110" y="130997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1" name="Shape 149"/>
          <p:cNvSpPr/>
          <p:nvPr/>
        </p:nvSpPr>
        <p:spPr>
          <a:xfrm>
            <a:off x="766067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2" name="Text 150"/>
          <p:cNvSpPr/>
          <p:nvPr/>
        </p:nvSpPr>
        <p:spPr>
          <a:xfrm>
            <a:off x="766067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3" name="Text 151"/>
          <p:cNvSpPr/>
          <p:nvPr/>
        </p:nvSpPr>
        <p:spPr>
          <a:xfrm>
            <a:off x="8282306" y="130997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54" name="Shape 152"/>
          <p:cNvSpPr/>
          <p:nvPr/>
        </p:nvSpPr>
        <p:spPr>
          <a:xfrm>
            <a:off x="7660676" y="1467210"/>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5" name="Text 153"/>
          <p:cNvSpPr/>
          <p:nvPr/>
        </p:nvSpPr>
        <p:spPr>
          <a:xfrm>
            <a:off x="7660676" y="1467210"/>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6" name="Text 154"/>
          <p:cNvSpPr/>
          <p:nvPr/>
        </p:nvSpPr>
        <p:spPr>
          <a:xfrm>
            <a:off x="8282306" y="144892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/alertrules/devices/{deviceId}</a:t>
            </a:r>
            <a:endParaRPr lang="en-US" sz="1100" dirty="0">
              <a:latin typeface="Candara" panose="020E0502030303020204" pitchFamily="34" charset="0"/>
            </a:endParaRPr>
          </a:p>
        </p:txBody>
      </p:sp>
      <p:sp>
        <p:nvSpPr>
          <p:cNvPr id="157" name="Shape 155"/>
          <p:cNvSpPr/>
          <p:nvPr/>
        </p:nvSpPr>
        <p:spPr>
          <a:xfrm>
            <a:off x="7624110" y="158787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8" name="Shape 156"/>
          <p:cNvSpPr/>
          <p:nvPr/>
        </p:nvSpPr>
        <p:spPr>
          <a:xfrm>
            <a:off x="7660676" y="1606161"/>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59" name="Text 157"/>
          <p:cNvSpPr/>
          <p:nvPr/>
        </p:nvSpPr>
        <p:spPr>
          <a:xfrm>
            <a:off x="7660676" y="1606161"/>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60" name="Text 158"/>
          <p:cNvSpPr/>
          <p:nvPr/>
        </p:nvSpPr>
        <p:spPr>
          <a:xfrm>
            <a:off x="8282306" y="158787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61" name="Shape 159"/>
          <p:cNvSpPr/>
          <p:nvPr/>
        </p:nvSpPr>
        <p:spPr>
          <a:xfrm>
            <a:off x="7660676" y="1745114"/>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62" name="Text 160"/>
          <p:cNvSpPr/>
          <p:nvPr/>
        </p:nvSpPr>
        <p:spPr>
          <a:xfrm>
            <a:off x="7660676" y="1745114"/>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63" name="Text 161"/>
          <p:cNvSpPr/>
          <p:nvPr/>
        </p:nvSpPr>
        <p:spPr>
          <a:xfrm>
            <a:off x="8282306" y="172683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4" name="Shape 162"/>
          <p:cNvSpPr/>
          <p:nvPr/>
        </p:nvSpPr>
        <p:spPr>
          <a:xfrm>
            <a:off x="7624110" y="186578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5" name="Shape 163"/>
          <p:cNvSpPr/>
          <p:nvPr/>
        </p:nvSpPr>
        <p:spPr>
          <a:xfrm>
            <a:off x="7660676" y="1884067"/>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166" name="Text 164"/>
          <p:cNvSpPr/>
          <p:nvPr/>
        </p:nvSpPr>
        <p:spPr>
          <a:xfrm>
            <a:off x="7660676" y="1884067"/>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167" name="Text 165"/>
          <p:cNvSpPr/>
          <p:nvPr/>
        </p:nvSpPr>
        <p:spPr>
          <a:xfrm>
            <a:off x="8282306" y="186578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8" name="Shape 166"/>
          <p:cNvSpPr/>
          <p:nvPr/>
        </p:nvSpPr>
        <p:spPr>
          <a:xfrm>
            <a:off x="7610397" y="219214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9" name="Shape 167"/>
          <p:cNvSpPr/>
          <p:nvPr/>
        </p:nvSpPr>
        <p:spPr>
          <a:xfrm>
            <a:off x="7587543" y="216928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70" name="Shape 168"/>
          <p:cNvSpPr/>
          <p:nvPr/>
        </p:nvSpPr>
        <p:spPr>
          <a:xfrm>
            <a:off x="7587543" y="216928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1" name="Shape 169"/>
          <p:cNvSpPr/>
          <p:nvPr/>
        </p:nvSpPr>
        <p:spPr>
          <a:xfrm>
            <a:off x="7587543" y="235211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2" name="Text 170"/>
          <p:cNvSpPr/>
          <p:nvPr/>
        </p:nvSpPr>
        <p:spPr>
          <a:xfrm>
            <a:off x="7678959" y="216928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 &amp; Commands</a:t>
            </a:r>
            <a:endParaRPr lang="en-US" sz="1100" dirty="0">
              <a:latin typeface="Candara" panose="020E0502030303020204" pitchFamily="34" charset="0"/>
            </a:endParaRPr>
          </a:p>
        </p:txBody>
      </p:sp>
      <p:sp>
        <p:nvSpPr>
          <p:cNvPr id="173" name="Shape 171"/>
          <p:cNvSpPr/>
          <p:nvPr/>
        </p:nvSpPr>
        <p:spPr>
          <a:xfrm>
            <a:off x="7642393" y="240696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74" name="Shape 172"/>
          <p:cNvSpPr/>
          <p:nvPr/>
        </p:nvSpPr>
        <p:spPr>
          <a:xfrm>
            <a:off x="766067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75" name="Text 173"/>
          <p:cNvSpPr/>
          <p:nvPr/>
        </p:nvSpPr>
        <p:spPr>
          <a:xfrm>
            <a:off x="766067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76" name="Text 174"/>
          <p:cNvSpPr/>
          <p:nvPr/>
        </p:nvSpPr>
        <p:spPr>
          <a:xfrm>
            <a:off x="8282306" y="242525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77" name="Shape 175"/>
          <p:cNvSpPr/>
          <p:nvPr/>
        </p:nvSpPr>
        <p:spPr>
          <a:xfrm>
            <a:off x="7624110" y="256420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78" name="Shape 176"/>
          <p:cNvSpPr/>
          <p:nvPr/>
        </p:nvSpPr>
        <p:spPr>
          <a:xfrm>
            <a:off x="7660676" y="2582487"/>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79" name="Text 177"/>
          <p:cNvSpPr/>
          <p:nvPr/>
        </p:nvSpPr>
        <p:spPr>
          <a:xfrm>
            <a:off x="7660676" y="2582487"/>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0" name="Text 178"/>
          <p:cNvSpPr/>
          <p:nvPr/>
        </p:nvSpPr>
        <p:spPr>
          <a:xfrm>
            <a:off x="8282306" y="256420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81" name="Shape 179"/>
          <p:cNvSpPr/>
          <p:nvPr/>
        </p:nvSpPr>
        <p:spPr>
          <a:xfrm>
            <a:off x="7660676" y="2721439"/>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82" name="Text 180"/>
          <p:cNvSpPr/>
          <p:nvPr/>
        </p:nvSpPr>
        <p:spPr>
          <a:xfrm>
            <a:off x="7660676" y="2721439"/>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PUT/DELETE</a:t>
            </a:r>
            <a:endParaRPr lang="en-US" sz="1100" dirty="0">
              <a:latin typeface="Candara" panose="020E0502030303020204" pitchFamily="34" charset="0"/>
            </a:endParaRPr>
          </a:p>
        </p:txBody>
      </p:sp>
      <p:sp>
        <p:nvSpPr>
          <p:cNvPr id="183" name="Text 181"/>
          <p:cNvSpPr/>
          <p:nvPr/>
        </p:nvSpPr>
        <p:spPr>
          <a:xfrm>
            <a:off x="8282306" y="2703155"/>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/actuators/devices/{deviceId}/actuators/{id}</a:t>
            </a:r>
            <a:endParaRPr lang="en-US" sz="1100" dirty="0">
              <a:latin typeface="Candara" panose="020E0502030303020204" pitchFamily="34" charset="0"/>
            </a:endParaRPr>
          </a:p>
        </p:txBody>
      </p:sp>
      <p:sp>
        <p:nvSpPr>
          <p:cNvPr id="184" name="Shape 182"/>
          <p:cNvSpPr/>
          <p:nvPr/>
        </p:nvSpPr>
        <p:spPr>
          <a:xfrm>
            <a:off x="7624110" y="284210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5" name="Shape 183"/>
          <p:cNvSpPr/>
          <p:nvPr/>
        </p:nvSpPr>
        <p:spPr>
          <a:xfrm>
            <a:off x="7660676" y="286039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86" name="Text 184"/>
          <p:cNvSpPr/>
          <p:nvPr/>
        </p:nvSpPr>
        <p:spPr>
          <a:xfrm>
            <a:off x="7660676" y="286039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7" name="Text 185"/>
          <p:cNvSpPr/>
          <p:nvPr/>
        </p:nvSpPr>
        <p:spPr>
          <a:xfrm>
            <a:off x="8282306" y="284210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88" name="Shape 186"/>
          <p:cNvSpPr/>
          <p:nvPr/>
        </p:nvSpPr>
        <p:spPr>
          <a:xfrm>
            <a:off x="7660676" y="299934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89" name="Text 187"/>
          <p:cNvSpPr/>
          <p:nvPr/>
        </p:nvSpPr>
        <p:spPr>
          <a:xfrm>
            <a:off x="7660676" y="299934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0" name="Text 188"/>
          <p:cNvSpPr/>
          <p:nvPr/>
        </p:nvSpPr>
        <p:spPr>
          <a:xfrm>
            <a:off x="8282306" y="298106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91" name="Shape 189"/>
          <p:cNvSpPr/>
          <p:nvPr/>
        </p:nvSpPr>
        <p:spPr>
          <a:xfrm>
            <a:off x="7624110" y="312001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2" name="Shape 190"/>
          <p:cNvSpPr/>
          <p:nvPr/>
        </p:nvSpPr>
        <p:spPr>
          <a:xfrm>
            <a:off x="7660676" y="313829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93" name="Text 191"/>
          <p:cNvSpPr/>
          <p:nvPr/>
        </p:nvSpPr>
        <p:spPr>
          <a:xfrm>
            <a:off x="7660676" y="313829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4" name="Text 192"/>
          <p:cNvSpPr/>
          <p:nvPr/>
        </p:nvSpPr>
        <p:spPr>
          <a:xfrm>
            <a:off x="8282306" y="312001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/commands/{commandId}</a:t>
            </a:r>
            <a:endParaRPr lang="en-US" sz="1100" dirty="0">
              <a:latin typeface="Candara" panose="020E0502030303020204" pitchFamily="34" charset="0"/>
            </a:endParaRPr>
          </a:p>
        </p:txBody>
      </p:sp>
      <p:sp>
        <p:nvSpPr>
          <p:cNvPr id="195" name="Shape 193"/>
          <p:cNvSpPr/>
          <p:nvPr/>
        </p:nvSpPr>
        <p:spPr>
          <a:xfrm>
            <a:off x="7610397" y="3446370"/>
            <a:ext cx="4433685" cy="875767"/>
          </a:xfrm>
          <a:prstGeom prst="roundRect">
            <a:avLst>
              <a:gd name="adj" fmla="val 730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6" name="Shape 194"/>
          <p:cNvSpPr/>
          <p:nvPr/>
        </p:nvSpPr>
        <p:spPr>
          <a:xfrm>
            <a:off x="7587543" y="3423516"/>
            <a:ext cx="4433685" cy="875767"/>
          </a:xfrm>
          <a:prstGeom prst="roundRect">
            <a:avLst>
              <a:gd name="adj" fmla="val 730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97" name="Shape 195"/>
          <p:cNvSpPr/>
          <p:nvPr/>
        </p:nvSpPr>
        <p:spPr>
          <a:xfrm>
            <a:off x="7587543" y="342351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8" name="Shape 196"/>
          <p:cNvSpPr/>
          <p:nvPr/>
        </p:nvSpPr>
        <p:spPr>
          <a:xfrm>
            <a:off x="7587543" y="3606348"/>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9" name="Text 197"/>
          <p:cNvSpPr/>
          <p:nvPr/>
        </p:nvSpPr>
        <p:spPr>
          <a:xfrm>
            <a:off x="7678959" y="342351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Auth &amp; Health</a:t>
            </a:r>
            <a:endParaRPr lang="en-US" sz="1100" dirty="0">
              <a:latin typeface="Candara" panose="020E0502030303020204" pitchFamily="34" charset="0"/>
            </a:endParaRPr>
          </a:p>
        </p:txBody>
      </p:sp>
      <p:sp>
        <p:nvSpPr>
          <p:cNvPr id="200" name="Shape 198"/>
          <p:cNvSpPr/>
          <p:nvPr/>
        </p:nvSpPr>
        <p:spPr>
          <a:xfrm>
            <a:off x="7642393" y="3661198"/>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01" name="Shape 199"/>
          <p:cNvSpPr/>
          <p:nvPr/>
        </p:nvSpPr>
        <p:spPr>
          <a:xfrm>
            <a:off x="766067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202" name="Text 200"/>
          <p:cNvSpPr/>
          <p:nvPr/>
        </p:nvSpPr>
        <p:spPr>
          <a:xfrm>
            <a:off x="766067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203" name="Text 201"/>
          <p:cNvSpPr/>
          <p:nvPr/>
        </p:nvSpPr>
        <p:spPr>
          <a:xfrm>
            <a:off x="8282306" y="367948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/auth/login</a:t>
            </a:r>
            <a:endParaRPr lang="en-US" sz="1100" dirty="0">
              <a:latin typeface="Candara" panose="020E0502030303020204" pitchFamily="34" charset="0"/>
            </a:endParaRPr>
          </a:p>
        </p:txBody>
      </p:sp>
      <p:sp>
        <p:nvSpPr>
          <p:cNvPr id="204" name="Shape 202"/>
          <p:cNvSpPr/>
          <p:nvPr/>
        </p:nvSpPr>
        <p:spPr>
          <a:xfrm>
            <a:off x="7624110" y="381843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05" name="Shape 203"/>
          <p:cNvSpPr/>
          <p:nvPr/>
        </p:nvSpPr>
        <p:spPr>
          <a:xfrm>
            <a:off x="766067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06" name="Text 204"/>
          <p:cNvSpPr/>
          <p:nvPr/>
        </p:nvSpPr>
        <p:spPr>
          <a:xfrm>
            <a:off x="766067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GET/POST</a:t>
            </a:r>
            <a:endParaRPr lang="en-US" sz="1100" dirty="0">
              <a:latin typeface="Candara" panose="020E0502030303020204" pitchFamily="34" charset="0"/>
            </a:endParaRPr>
          </a:p>
        </p:txBody>
      </p:sp>
      <p:sp>
        <p:nvSpPr>
          <p:cNvPr id="207" name="Text 205"/>
          <p:cNvSpPr/>
          <p:nvPr/>
        </p:nvSpPr>
        <p:spPr>
          <a:xfrm>
            <a:off x="8282306" y="381843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  ·  /auth/change-password</a:t>
            </a:r>
            <a:endParaRPr lang="en-US" sz="1100" dirty="0">
              <a:latin typeface="Candara" panose="020E0502030303020204" pitchFamily="34" charset="0"/>
            </a:endParaRPr>
          </a:p>
        </p:txBody>
      </p:sp>
      <p:sp>
        <p:nvSpPr>
          <p:cNvPr id="208" name="Shape 206"/>
          <p:cNvSpPr/>
          <p:nvPr/>
        </p:nvSpPr>
        <p:spPr>
          <a:xfrm>
            <a:off x="7660676" y="3975669"/>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209" name="Text 207"/>
          <p:cNvSpPr/>
          <p:nvPr/>
        </p:nvSpPr>
        <p:spPr>
          <a:xfrm>
            <a:off x="7660676" y="3975669"/>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210" name="Text 208"/>
          <p:cNvSpPr/>
          <p:nvPr/>
        </p:nvSpPr>
        <p:spPr>
          <a:xfrm>
            <a:off x="8282306" y="395738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a:t>
            </a:r>
            <a:endParaRPr lang="en-US" sz="1100" dirty="0">
              <a:latin typeface="Candara" panose="020E0502030303020204" pitchFamily="34" charset="0"/>
            </a:endParaRPr>
          </a:p>
        </p:txBody>
      </p:sp>
      <p:sp>
        <p:nvSpPr>
          <p:cNvPr id="211" name="Shape 209"/>
          <p:cNvSpPr/>
          <p:nvPr/>
        </p:nvSpPr>
        <p:spPr>
          <a:xfrm>
            <a:off x="7624110" y="409633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2" name="Shape 210"/>
          <p:cNvSpPr/>
          <p:nvPr/>
        </p:nvSpPr>
        <p:spPr>
          <a:xfrm>
            <a:off x="766067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13" name="Text 211"/>
          <p:cNvSpPr/>
          <p:nvPr/>
        </p:nvSpPr>
        <p:spPr>
          <a:xfrm>
            <a:off x="766067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14" name="Text 212"/>
          <p:cNvSpPr/>
          <p:nvPr/>
        </p:nvSpPr>
        <p:spPr>
          <a:xfrm>
            <a:off x="8282306" y="409633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/health  ·  /health/mqtt</a:t>
            </a:r>
            <a:endParaRPr lang="en-US" sz="1100" dirty="0">
              <a:latin typeface="Candara" panose="020E0502030303020204" pitchFamily="34" charset="0"/>
            </a:endParaRPr>
          </a:p>
        </p:txBody>
      </p:sp>
      <p:sp>
        <p:nvSpPr>
          <p:cNvPr id="215" name="Shape 213"/>
          <p:cNvSpPr/>
          <p:nvPr/>
        </p:nvSpPr>
        <p:spPr>
          <a:xfrm>
            <a:off x="7610397" y="4422694"/>
            <a:ext cx="4433685" cy="597862"/>
          </a:xfrm>
          <a:prstGeom prst="roundRect">
            <a:avLst>
              <a:gd name="adj" fmla="val 10703"/>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6" name="Shape 214"/>
          <p:cNvSpPr/>
          <p:nvPr/>
        </p:nvSpPr>
        <p:spPr>
          <a:xfrm>
            <a:off x="7587543" y="4399840"/>
            <a:ext cx="4433685" cy="597862"/>
          </a:xfrm>
          <a:prstGeom prst="roundRect">
            <a:avLst>
              <a:gd name="adj" fmla="val 1070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17" name="Shape 215"/>
          <p:cNvSpPr/>
          <p:nvPr/>
        </p:nvSpPr>
        <p:spPr>
          <a:xfrm>
            <a:off x="7587543" y="4399840"/>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8" name="Shape 216"/>
          <p:cNvSpPr/>
          <p:nvPr/>
        </p:nvSpPr>
        <p:spPr>
          <a:xfrm>
            <a:off x="7587543" y="4582672"/>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9" name="Text 217"/>
          <p:cNvSpPr/>
          <p:nvPr/>
        </p:nvSpPr>
        <p:spPr>
          <a:xfrm>
            <a:off x="7678959" y="4399840"/>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Configuration</a:t>
            </a:r>
            <a:endParaRPr lang="en-US" sz="1100" dirty="0">
              <a:latin typeface="Candara" panose="020E0502030303020204" pitchFamily="34" charset="0"/>
            </a:endParaRPr>
          </a:p>
        </p:txBody>
      </p:sp>
      <p:sp>
        <p:nvSpPr>
          <p:cNvPr id="220" name="Shape 218"/>
          <p:cNvSpPr/>
          <p:nvPr/>
        </p:nvSpPr>
        <p:spPr>
          <a:xfrm>
            <a:off x="7642393" y="4637522"/>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21" name="Shape 219"/>
          <p:cNvSpPr/>
          <p:nvPr/>
        </p:nvSpPr>
        <p:spPr>
          <a:xfrm>
            <a:off x="7660676" y="467408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22" name="Text 220"/>
          <p:cNvSpPr/>
          <p:nvPr/>
        </p:nvSpPr>
        <p:spPr>
          <a:xfrm>
            <a:off x="7660676" y="467408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23" name="Text 221"/>
          <p:cNvSpPr/>
          <p:nvPr/>
        </p:nvSpPr>
        <p:spPr>
          <a:xfrm>
            <a:off x="8282306" y="465580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4" name="Shape 222"/>
          <p:cNvSpPr/>
          <p:nvPr/>
        </p:nvSpPr>
        <p:spPr>
          <a:xfrm>
            <a:off x="7624110" y="479475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25" name="Shape 223"/>
          <p:cNvSpPr/>
          <p:nvPr/>
        </p:nvSpPr>
        <p:spPr>
          <a:xfrm>
            <a:off x="7660676" y="481304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226" name="Text 224"/>
          <p:cNvSpPr/>
          <p:nvPr/>
        </p:nvSpPr>
        <p:spPr>
          <a:xfrm>
            <a:off x="7660676" y="481304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227" name="Text 225"/>
          <p:cNvSpPr/>
          <p:nvPr/>
        </p:nvSpPr>
        <p:spPr>
          <a:xfrm>
            <a:off x="8282306" y="479475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8" name="Shape 226"/>
          <p:cNvSpPr/>
          <p:nvPr/>
        </p:nvSpPr>
        <p:spPr>
          <a:xfrm>
            <a:off x="201115" y="6518867"/>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229" name="Text 227"/>
          <p:cNvSpPr/>
          <p:nvPr/>
        </p:nvSpPr>
        <p:spPr>
          <a:xfrm>
            <a:off x="201115" y="6564575"/>
            <a:ext cx="5027890" cy="219399"/>
          </a:xfrm>
          <a:prstGeom prst="rect">
            <a:avLst/>
          </a:prstGeom>
          <a:noFill/>
          <a:ln/>
        </p:spPr>
        <p:txBody>
          <a:bodyPr wrap="square" lIns="0" tIns="0" rIns="0" bIns="0" rtlCol="0" anchor="ctr"/>
          <a:lstStyle/>
          <a:p>
            <a:r>
              <a:rPr lang="en-US" sz="1200" b="1" dirty="0">
                <a:solidFill>
                  <a:srgbClr val="3ECF80"/>
                </a:solidFill>
                <a:latin typeface="Candara" panose="020E0502030303020204" pitchFamily="34" charset="0"/>
                <a:ea typeface="Calibri" pitchFamily="34" charset="-122"/>
                <a:cs typeface="Calibri" pitchFamily="34" charset="-120"/>
              </a:rPr>
              <a:t>⚡  MQTT → Broker → API → SignalR → Frontend</a:t>
            </a:r>
            <a:r>
              <a:rPr lang="en-US" sz="1200" dirty="0">
                <a:solidFill>
                  <a:srgbClr val="7AB896"/>
                </a:solidFill>
                <a:latin typeface="Candara" panose="020E0502030303020204" pitchFamily="34" charset="0"/>
                <a:ea typeface="Calibri" pitchFamily="34" charset="-122"/>
                <a:cs typeface="Calibri" pitchFamily="34" charset="-120"/>
              </a:rPr>
              <a:t>  (&lt;2s real-time updates)</a:t>
            </a:r>
            <a:endParaRPr lang="en-US" sz="1200" dirty="0">
              <a:latin typeface="Candara" panose="020E0502030303020204" pitchFamily="34" charset="0"/>
            </a:endParaRPr>
          </a:p>
        </p:txBody>
      </p:sp>
      <p:sp>
        <p:nvSpPr>
          <p:cNvPr id="230" name="Text 228"/>
          <p:cNvSpPr/>
          <p:nvPr/>
        </p:nvSpPr>
        <p:spPr>
          <a:xfrm>
            <a:off x="5302138" y="6564575"/>
            <a:ext cx="6719090" cy="219399"/>
          </a:xfrm>
          <a:prstGeom prst="rect">
            <a:avLst/>
          </a:prstGeom>
          <a:noFill/>
          <a:ln/>
        </p:spPr>
        <p:txBody>
          <a:bodyPr wrap="square" lIns="0" tIns="0" rIns="0" bIns="0" rtlCol="0" anchor="ctr"/>
          <a:lstStyle/>
          <a:p>
            <a:pPr algn="r"/>
            <a:r>
              <a:rPr lang="en-US" sz="1200" dirty="0">
                <a:solidFill>
                  <a:srgbClr val="7AB896"/>
                </a:solidFill>
                <a:latin typeface="Candara" panose="020E0502030303020204" pitchFamily="34" charset="0"/>
                <a:ea typeface="Calibri" pitchFamily="34" charset="-122"/>
                <a:cs typeface="Calibri" pitchFamily="34" charset="-120"/>
              </a:rPr>
              <a:t>🔐  Most endpoints [Authorize]  ·  Admin / Operator on writes  ·  JWT Bearer  ·  SignalR: ?access_token</a:t>
            </a:r>
            <a:endParaRPr lang="en-US" sz="1200" dirty="0">
              <a:latin typeface="Candara" panose="020E0502030303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 0"/>
          <p:cNvSpPr/>
          <p:nvPr/>
        </p:nvSpPr>
        <p:spPr>
          <a:xfrm>
            <a:off x="296432" y="435122"/>
            <a:ext cx="11646422" cy="420514"/>
          </a:xfrm>
          <a:prstGeom prst="rect">
            <a:avLst/>
          </a:prstGeom>
          <a:noFill/>
          <a:ln/>
        </p:spPr>
        <p:txBody>
          <a:bodyPr wrap="square" lIns="0" tIns="0" rIns="0" bIns="0" rtlCol="0" anchor="ctr"/>
          <a:lstStyle/>
          <a:p>
            <a:pPr defTabSz="914126"/>
            <a:r>
              <a:rPr lang="en-US" sz="2800" b="1" dirty="0">
                <a:solidFill>
                  <a:srgbClr val="FFFFFF"/>
                </a:solidFill>
                <a:latin typeface="Candara" panose="020E0502030303020204" pitchFamily="34" charset="0"/>
                <a:ea typeface="Calibri" pitchFamily="34" charset="-122"/>
                <a:cs typeface="Calibri" pitchFamily="34" charset="-120"/>
              </a:rPr>
              <a:t>Frontend Design</a:t>
            </a:r>
            <a:r>
              <a:rPr lang="en-US" sz="2800" b="1" dirty="0">
                <a:solidFill>
                  <a:srgbClr val="3ECF80"/>
                </a:solidFill>
                <a:latin typeface="Candara" panose="020E0502030303020204" pitchFamily="34" charset="0"/>
                <a:ea typeface="Calibri" pitchFamily="34" charset="-122"/>
                <a:cs typeface="Calibri" pitchFamily="34" charset="-120"/>
              </a:rPr>
              <a:t> | Components &amp; Navigation</a:t>
            </a:r>
            <a:endParaRPr lang="en-US" sz="2800" dirty="0">
              <a:solidFill>
                <a:prstClr val="black"/>
              </a:solidFill>
              <a:latin typeface="Candara" panose="020E0502030303020204" pitchFamily="34" charset="0"/>
            </a:endParaRPr>
          </a:p>
        </p:txBody>
      </p:sp>
      <p:sp>
        <p:nvSpPr>
          <p:cNvPr id="3" name="Text 1"/>
          <p:cNvSpPr/>
          <p:nvPr/>
        </p:nvSpPr>
        <p:spPr>
          <a:xfrm>
            <a:off x="365664" y="836875"/>
            <a:ext cx="6668928" cy="228542"/>
          </a:xfrm>
          <a:prstGeom prst="rect">
            <a:avLst/>
          </a:prstGeom>
          <a:noFill/>
          <a:ln/>
        </p:spPr>
        <p:txBody>
          <a:bodyPr wrap="square" lIns="0" tIns="0" rIns="0" bIns="0" rtlCol="0" anchor="ctr"/>
          <a:lstStyle/>
          <a:p>
            <a:pPr defTabSz="914126"/>
            <a:r>
              <a:rPr lang="en-US" sz="1200" dirty="0">
                <a:solidFill>
                  <a:srgbClr val="7AB896"/>
                </a:solidFill>
                <a:latin typeface="Candara" panose="020E0502030303020204" pitchFamily="34" charset="0"/>
                <a:ea typeface="Calibri" pitchFamily="34" charset="-122"/>
                <a:cs typeface="Calibri" pitchFamily="34" charset="-120"/>
              </a:rPr>
              <a:t>App shell  ·  ProtectedRoute guard  ·  10 route-level pages  ·  JWT role-based routing</a:t>
            </a:r>
            <a:endParaRPr lang="en-US" sz="1200" dirty="0">
              <a:solidFill>
                <a:prstClr val="black"/>
              </a:solidFill>
              <a:latin typeface="Candara" panose="020E0502030303020204" pitchFamily="34" charset="0"/>
            </a:endParaRPr>
          </a:p>
        </p:txBody>
      </p:sp>
      <p:sp>
        <p:nvSpPr>
          <p:cNvPr id="4" name="Shape 2"/>
          <p:cNvSpPr/>
          <p:nvPr/>
        </p:nvSpPr>
        <p:spPr>
          <a:xfrm>
            <a:off x="255965" y="823639"/>
            <a:ext cx="11646422"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 name="Shape 4"/>
          <p:cNvSpPr/>
          <p:nvPr/>
        </p:nvSpPr>
        <p:spPr>
          <a:xfrm>
            <a:off x="1462659" y="2789087"/>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7" name="Shape 5"/>
          <p:cNvSpPr/>
          <p:nvPr/>
        </p:nvSpPr>
        <p:spPr>
          <a:xfrm>
            <a:off x="1565502" y="1417844"/>
            <a:ext cx="0" cy="2742486"/>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 name="Shape 6"/>
          <p:cNvSpPr/>
          <p:nvPr/>
        </p:nvSpPr>
        <p:spPr>
          <a:xfrm>
            <a:off x="1565502" y="1417844"/>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 name="Shape 7"/>
          <p:cNvSpPr/>
          <p:nvPr/>
        </p:nvSpPr>
        <p:spPr>
          <a:xfrm>
            <a:off x="1565502" y="4160330"/>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 name="Shape 8"/>
          <p:cNvSpPr/>
          <p:nvPr/>
        </p:nvSpPr>
        <p:spPr>
          <a:xfrm>
            <a:off x="3085296" y="416033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1" name="Shape 9"/>
          <p:cNvSpPr/>
          <p:nvPr/>
        </p:nvSpPr>
        <p:spPr>
          <a:xfrm>
            <a:off x="3222420" y="2103466"/>
            <a:ext cx="0" cy="4113728"/>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 name="Shape 10"/>
          <p:cNvSpPr/>
          <p:nvPr/>
        </p:nvSpPr>
        <p:spPr>
          <a:xfrm>
            <a:off x="3222420" y="2103465"/>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 name="Shape 11"/>
          <p:cNvSpPr/>
          <p:nvPr/>
        </p:nvSpPr>
        <p:spPr>
          <a:xfrm>
            <a:off x="3222420" y="2560546"/>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 name="Shape 12"/>
          <p:cNvSpPr/>
          <p:nvPr/>
        </p:nvSpPr>
        <p:spPr>
          <a:xfrm>
            <a:off x="3222420" y="3017627"/>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5" name="Shape 13"/>
          <p:cNvSpPr/>
          <p:nvPr/>
        </p:nvSpPr>
        <p:spPr>
          <a:xfrm>
            <a:off x="3222420" y="3474708"/>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6" name="Shape 14"/>
          <p:cNvSpPr/>
          <p:nvPr/>
        </p:nvSpPr>
        <p:spPr>
          <a:xfrm>
            <a:off x="3222420" y="3931789"/>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7" name="Shape 15"/>
          <p:cNvSpPr/>
          <p:nvPr/>
        </p:nvSpPr>
        <p:spPr>
          <a:xfrm>
            <a:off x="3222420" y="438887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8" name="Shape 16"/>
          <p:cNvSpPr/>
          <p:nvPr/>
        </p:nvSpPr>
        <p:spPr>
          <a:xfrm>
            <a:off x="3222420" y="4845951"/>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9" name="Shape 17"/>
          <p:cNvSpPr/>
          <p:nvPr/>
        </p:nvSpPr>
        <p:spPr>
          <a:xfrm>
            <a:off x="3222420" y="5303032"/>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0" name="Shape 18"/>
          <p:cNvSpPr/>
          <p:nvPr/>
        </p:nvSpPr>
        <p:spPr>
          <a:xfrm>
            <a:off x="3222420" y="5760113"/>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2" name="Shape 20"/>
          <p:cNvSpPr/>
          <p:nvPr/>
        </p:nvSpPr>
        <p:spPr>
          <a:xfrm>
            <a:off x="388518" y="2674816"/>
            <a:ext cx="1096994"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3" name="Shape 21"/>
          <p:cNvSpPr/>
          <p:nvPr/>
        </p:nvSpPr>
        <p:spPr>
          <a:xfrm>
            <a:off x="365664" y="2651962"/>
            <a:ext cx="1096994" cy="274249"/>
          </a:xfrm>
          <a:prstGeom prst="roundRect">
            <a:avLst>
              <a:gd name="adj" fmla="val 16667"/>
            </a:avLst>
          </a:prstGeom>
          <a:solidFill>
            <a:srgbClr val="0D3322"/>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4" name="Text 22"/>
          <p:cNvSpPr/>
          <p:nvPr/>
        </p:nvSpPr>
        <p:spPr>
          <a:xfrm>
            <a:off x="438797" y="2651962"/>
            <a:ext cx="950728"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App.tsx</a:t>
            </a:r>
            <a:endParaRPr lang="en-US" sz="1200" dirty="0">
              <a:solidFill>
                <a:prstClr val="black"/>
              </a:solidFill>
              <a:latin typeface="Candara" panose="020E0502030303020204" pitchFamily="34" charset="0"/>
            </a:endParaRPr>
          </a:p>
        </p:txBody>
      </p:sp>
      <p:sp>
        <p:nvSpPr>
          <p:cNvPr id="25" name="Shape 23"/>
          <p:cNvSpPr/>
          <p:nvPr/>
        </p:nvSpPr>
        <p:spPr>
          <a:xfrm>
            <a:off x="1691199" y="130357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6" name="Shape 24"/>
          <p:cNvSpPr/>
          <p:nvPr/>
        </p:nvSpPr>
        <p:spPr>
          <a:xfrm>
            <a:off x="1668345" y="1280719"/>
            <a:ext cx="1416951" cy="274249"/>
          </a:xfrm>
          <a:prstGeom prst="roundRect">
            <a:avLst>
              <a:gd name="adj" fmla="val 16667"/>
            </a:avLst>
          </a:prstGeom>
          <a:solidFill>
            <a:srgbClr val="0D1F3C"/>
          </a:solidFill>
          <a:ln w="9525">
            <a:solidFill>
              <a:srgbClr val="7EC8E3"/>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7" name="Text 25"/>
          <p:cNvSpPr/>
          <p:nvPr/>
        </p:nvSpPr>
        <p:spPr>
          <a:xfrm>
            <a:off x="1741478" y="1280719"/>
            <a:ext cx="1270685"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LoginPage</a:t>
            </a:r>
            <a:endParaRPr lang="en-US" sz="1200" dirty="0">
              <a:solidFill>
                <a:prstClr val="black"/>
              </a:solidFill>
              <a:latin typeface="Candara" panose="020E0502030303020204" pitchFamily="34" charset="0"/>
            </a:endParaRPr>
          </a:p>
        </p:txBody>
      </p:sp>
      <p:sp>
        <p:nvSpPr>
          <p:cNvPr id="28" name="Shape 26"/>
          <p:cNvSpPr/>
          <p:nvPr/>
        </p:nvSpPr>
        <p:spPr>
          <a:xfrm>
            <a:off x="1691199" y="4018635"/>
            <a:ext cx="1416951" cy="329098"/>
          </a:xfrm>
          <a:prstGeom prst="roundRect">
            <a:avLst>
              <a:gd name="adj" fmla="val 13889"/>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9" name="Shape 27"/>
          <p:cNvSpPr/>
          <p:nvPr/>
        </p:nvSpPr>
        <p:spPr>
          <a:xfrm>
            <a:off x="1668345" y="3995781"/>
            <a:ext cx="1416951" cy="329098"/>
          </a:xfrm>
          <a:prstGeom prst="roundRect">
            <a:avLst>
              <a:gd name="adj" fmla="val 13889"/>
            </a:avLst>
          </a:prstGeom>
          <a:solidFill>
            <a:srgbClr val="0D1F3C"/>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0" name="Text 28"/>
          <p:cNvSpPr/>
          <p:nvPr/>
        </p:nvSpPr>
        <p:spPr>
          <a:xfrm>
            <a:off x="1741478" y="3995781"/>
            <a:ext cx="1270685" cy="329098"/>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ProtectedRoute</a:t>
            </a:r>
            <a:endParaRPr lang="en-US" sz="1200" dirty="0">
              <a:solidFill>
                <a:prstClr val="black"/>
              </a:solidFill>
              <a:latin typeface="Candara" panose="020E0502030303020204" pitchFamily="34" charset="0"/>
            </a:endParaRPr>
          </a:p>
        </p:txBody>
      </p:sp>
      <p:sp>
        <p:nvSpPr>
          <p:cNvPr id="31" name="Shape 29"/>
          <p:cNvSpPr/>
          <p:nvPr/>
        </p:nvSpPr>
        <p:spPr>
          <a:xfrm>
            <a:off x="3382398" y="1989195"/>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2" name="Shape 30"/>
          <p:cNvSpPr/>
          <p:nvPr/>
        </p:nvSpPr>
        <p:spPr>
          <a:xfrm>
            <a:off x="3359544" y="1966341"/>
            <a:ext cx="1416951" cy="274249"/>
          </a:xfrm>
          <a:prstGeom prst="roundRect">
            <a:avLst>
              <a:gd name="adj" fmla="val 16667"/>
            </a:avLst>
          </a:prstGeom>
          <a:solidFill>
            <a:srgbClr val="1A2E1A"/>
          </a:solidFill>
          <a:ln w="9525">
            <a:solidFill>
              <a:srgbClr val="9B8FE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3" name="Text 31"/>
          <p:cNvSpPr/>
          <p:nvPr/>
        </p:nvSpPr>
        <p:spPr>
          <a:xfrm>
            <a:off x="3432678" y="1966341"/>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Navigation</a:t>
            </a:r>
            <a:endParaRPr lang="en-US" sz="1200" dirty="0">
              <a:solidFill>
                <a:prstClr val="black"/>
              </a:solidFill>
              <a:latin typeface="Candara" panose="020E0502030303020204" pitchFamily="34" charset="0"/>
            </a:endParaRPr>
          </a:p>
        </p:txBody>
      </p:sp>
      <p:sp>
        <p:nvSpPr>
          <p:cNvPr id="34" name="Shape 32"/>
          <p:cNvSpPr/>
          <p:nvPr/>
        </p:nvSpPr>
        <p:spPr>
          <a:xfrm>
            <a:off x="4154865" y="2021191"/>
            <a:ext cx="566780" cy="164549"/>
          </a:xfrm>
          <a:prstGeom prst="roundRect">
            <a:avLst>
              <a:gd name="adj" fmla="val 16667"/>
            </a:avLst>
          </a:prstGeom>
          <a:solidFill>
            <a:srgbClr val="9B8FE0">
              <a:alpha val="13000"/>
            </a:srgbClr>
          </a:solidFill>
          <a:ln w="5080">
            <a:solidFill>
              <a:srgbClr val="9B8FE0">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5" name="Text 33"/>
          <p:cNvSpPr/>
          <p:nvPr/>
        </p:nvSpPr>
        <p:spPr>
          <a:xfrm>
            <a:off x="4154865" y="2021191"/>
            <a:ext cx="566780" cy="164549"/>
          </a:xfrm>
          <a:prstGeom prst="rect">
            <a:avLst/>
          </a:prstGeom>
          <a:noFill/>
          <a:ln/>
        </p:spPr>
        <p:txBody>
          <a:bodyPr wrap="square" lIns="0" tIns="0" rIns="0" bIns="0" rtlCol="0" anchor="ctr"/>
          <a:lstStyle/>
          <a:p>
            <a:pPr algn="ctr" defTabSz="914126"/>
            <a:r>
              <a:rPr lang="en-US" sz="1200" b="1" dirty="0">
                <a:solidFill>
                  <a:srgbClr val="9B8FE0"/>
                </a:solidFill>
                <a:latin typeface="Candara" panose="020E0502030303020204" pitchFamily="34" charset="0"/>
                <a:ea typeface="Calibri" pitchFamily="34" charset="-122"/>
                <a:cs typeface="Calibri" pitchFamily="34" charset="-120"/>
              </a:rPr>
              <a:t>Shared</a:t>
            </a:r>
            <a:endParaRPr lang="en-US" sz="1200" dirty="0">
              <a:solidFill>
                <a:prstClr val="black"/>
              </a:solidFill>
              <a:latin typeface="Candara" panose="020E0502030303020204" pitchFamily="34" charset="0"/>
            </a:endParaRPr>
          </a:p>
        </p:txBody>
      </p:sp>
      <p:sp>
        <p:nvSpPr>
          <p:cNvPr id="36" name="Shape 34"/>
          <p:cNvSpPr/>
          <p:nvPr/>
        </p:nvSpPr>
        <p:spPr>
          <a:xfrm>
            <a:off x="3382398" y="2446276"/>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7" name="Shape 35"/>
          <p:cNvSpPr/>
          <p:nvPr/>
        </p:nvSpPr>
        <p:spPr>
          <a:xfrm>
            <a:off x="3359544" y="2423422"/>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8" name="Text 36"/>
          <p:cNvSpPr/>
          <p:nvPr/>
        </p:nvSpPr>
        <p:spPr>
          <a:xfrm>
            <a:off x="3432678" y="2423422"/>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39" name="Shape 37"/>
          <p:cNvSpPr/>
          <p:nvPr/>
        </p:nvSpPr>
        <p:spPr>
          <a:xfrm>
            <a:off x="3382398" y="2903357"/>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0" name="Shape 38"/>
          <p:cNvSpPr/>
          <p:nvPr/>
        </p:nvSpPr>
        <p:spPr>
          <a:xfrm>
            <a:off x="3359544" y="2880503"/>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1" name="Text 39"/>
          <p:cNvSpPr/>
          <p:nvPr/>
        </p:nvSpPr>
        <p:spPr>
          <a:xfrm>
            <a:off x="3432678" y="2880503"/>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DevicesPage</a:t>
            </a:r>
            <a:endParaRPr lang="en-US" sz="1200" dirty="0">
              <a:solidFill>
                <a:prstClr val="black"/>
              </a:solidFill>
              <a:latin typeface="Candara" panose="020E0502030303020204" pitchFamily="34" charset="0"/>
            </a:endParaRPr>
          </a:p>
        </p:txBody>
      </p:sp>
      <p:sp>
        <p:nvSpPr>
          <p:cNvPr id="43" name="Shape 41"/>
          <p:cNvSpPr/>
          <p:nvPr/>
        </p:nvSpPr>
        <p:spPr>
          <a:xfrm>
            <a:off x="3382398" y="3360438"/>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4" name="Shape 42"/>
          <p:cNvSpPr/>
          <p:nvPr/>
        </p:nvSpPr>
        <p:spPr>
          <a:xfrm>
            <a:off x="3359544" y="3337584"/>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5" name="Text 43"/>
          <p:cNvSpPr/>
          <p:nvPr/>
        </p:nvSpPr>
        <p:spPr>
          <a:xfrm>
            <a:off x="3432678" y="3337584"/>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DeviceDetailPage</a:t>
            </a:r>
            <a:endParaRPr lang="en-US" sz="1200" dirty="0">
              <a:solidFill>
                <a:prstClr val="black"/>
              </a:solidFill>
              <a:latin typeface="Candara" panose="020E0502030303020204" pitchFamily="34" charset="0"/>
            </a:endParaRPr>
          </a:p>
        </p:txBody>
      </p:sp>
      <p:sp>
        <p:nvSpPr>
          <p:cNvPr id="47" name="Shape 45"/>
          <p:cNvSpPr/>
          <p:nvPr/>
        </p:nvSpPr>
        <p:spPr>
          <a:xfrm>
            <a:off x="3382398" y="3817519"/>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8" name="Shape 46"/>
          <p:cNvSpPr/>
          <p:nvPr/>
        </p:nvSpPr>
        <p:spPr>
          <a:xfrm>
            <a:off x="3359544" y="379466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9" name="Text 47"/>
          <p:cNvSpPr/>
          <p:nvPr/>
        </p:nvSpPr>
        <p:spPr>
          <a:xfrm>
            <a:off x="3432678" y="379466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SensorsPage</a:t>
            </a:r>
            <a:endParaRPr lang="en-US" sz="1200" dirty="0">
              <a:solidFill>
                <a:prstClr val="black"/>
              </a:solidFill>
              <a:latin typeface="Candara" panose="020E0502030303020204" pitchFamily="34" charset="0"/>
            </a:endParaRPr>
          </a:p>
        </p:txBody>
      </p:sp>
      <p:sp>
        <p:nvSpPr>
          <p:cNvPr id="51" name="Shape 49"/>
          <p:cNvSpPr/>
          <p:nvPr/>
        </p:nvSpPr>
        <p:spPr>
          <a:xfrm>
            <a:off x="3382398" y="427460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2" name="Shape 50"/>
          <p:cNvSpPr/>
          <p:nvPr/>
        </p:nvSpPr>
        <p:spPr>
          <a:xfrm>
            <a:off x="3359544" y="425174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3" name="Text 51"/>
          <p:cNvSpPr/>
          <p:nvPr/>
        </p:nvSpPr>
        <p:spPr>
          <a:xfrm>
            <a:off x="3432678" y="425174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ActuatorsPage</a:t>
            </a:r>
            <a:endParaRPr lang="en-US" sz="1200" dirty="0">
              <a:solidFill>
                <a:prstClr val="black"/>
              </a:solidFill>
              <a:latin typeface="Candara" panose="020E0502030303020204" pitchFamily="34" charset="0"/>
            </a:endParaRPr>
          </a:p>
        </p:txBody>
      </p:sp>
      <p:sp>
        <p:nvSpPr>
          <p:cNvPr id="55" name="Shape 53"/>
          <p:cNvSpPr/>
          <p:nvPr/>
        </p:nvSpPr>
        <p:spPr>
          <a:xfrm>
            <a:off x="3382398" y="473168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6" name="Shape 54"/>
          <p:cNvSpPr/>
          <p:nvPr/>
        </p:nvSpPr>
        <p:spPr>
          <a:xfrm>
            <a:off x="3359544" y="4708826"/>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7" name="Text 55"/>
          <p:cNvSpPr/>
          <p:nvPr/>
        </p:nvSpPr>
        <p:spPr>
          <a:xfrm>
            <a:off x="3432678" y="4708826"/>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AlertRulesPage</a:t>
            </a:r>
            <a:endParaRPr lang="en-US" sz="1200" dirty="0">
              <a:solidFill>
                <a:prstClr val="black"/>
              </a:solidFill>
              <a:latin typeface="Candara" panose="020E0502030303020204" pitchFamily="34" charset="0"/>
            </a:endParaRPr>
          </a:p>
        </p:txBody>
      </p:sp>
      <p:sp>
        <p:nvSpPr>
          <p:cNvPr id="59" name="Shape 57"/>
          <p:cNvSpPr/>
          <p:nvPr/>
        </p:nvSpPr>
        <p:spPr>
          <a:xfrm>
            <a:off x="3382398" y="5188761"/>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0" name="Shape 58"/>
          <p:cNvSpPr/>
          <p:nvPr/>
        </p:nvSpPr>
        <p:spPr>
          <a:xfrm>
            <a:off x="3359544" y="5165907"/>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1" name="Text 59"/>
          <p:cNvSpPr/>
          <p:nvPr/>
        </p:nvSpPr>
        <p:spPr>
          <a:xfrm>
            <a:off x="3432678" y="5165907"/>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AlertsPage</a:t>
            </a:r>
            <a:endParaRPr lang="en-US" sz="1200" dirty="0">
              <a:solidFill>
                <a:prstClr val="black"/>
              </a:solidFill>
              <a:latin typeface="Candara" panose="020E0502030303020204" pitchFamily="34" charset="0"/>
            </a:endParaRPr>
          </a:p>
        </p:txBody>
      </p:sp>
      <p:sp>
        <p:nvSpPr>
          <p:cNvPr id="62" name="Shape 60"/>
          <p:cNvSpPr/>
          <p:nvPr/>
        </p:nvSpPr>
        <p:spPr>
          <a:xfrm>
            <a:off x="3382398" y="5645842"/>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3" name="Shape 61"/>
          <p:cNvSpPr/>
          <p:nvPr/>
        </p:nvSpPr>
        <p:spPr>
          <a:xfrm>
            <a:off x="3359544" y="5622988"/>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4" name="Text 62"/>
          <p:cNvSpPr/>
          <p:nvPr/>
        </p:nvSpPr>
        <p:spPr>
          <a:xfrm>
            <a:off x="3432677" y="5622988"/>
            <a:ext cx="1643175"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CommandHistoryPage</a:t>
            </a:r>
            <a:endParaRPr lang="en-US" sz="1200" dirty="0">
              <a:solidFill>
                <a:prstClr val="black"/>
              </a:solidFill>
              <a:latin typeface="Candara" panose="020E0502030303020204" pitchFamily="34" charset="0"/>
            </a:endParaRPr>
          </a:p>
        </p:txBody>
      </p:sp>
      <p:sp>
        <p:nvSpPr>
          <p:cNvPr id="65" name="Shape 63"/>
          <p:cNvSpPr/>
          <p:nvPr/>
        </p:nvSpPr>
        <p:spPr>
          <a:xfrm>
            <a:off x="3382398" y="610292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6" name="Shape 64"/>
          <p:cNvSpPr/>
          <p:nvPr/>
        </p:nvSpPr>
        <p:spPr>
          <a:xfrm>
            <a:off x="3359544" y="6080069"/>
            <a:ext cx="1416951" cy="274249"/>
          </a:xfrm>
          <a:prstGeom prst="roundRect">
            <a:avLst>
              <a:gd name="adj" fmla="val 16667"/>
            </a:avLst>
          </a:prstGeom>
          <a:solidFill>
            <a:srgbClr val="2E1A00"/>
          </a:solidFill>
          <a:ln w="9525">
            <a:solidFill>
              <a:srgbClr val="E8B87A"/>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7" name="Text 65"/>
          <p:cNvSpPr/>
          <p:nvPr/>
        </p:nvSpPr>
        <p:spPr>
          <a:xfrm>
            <a:off x="3432678" y="6080069"/>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UsersPage</a:t>
            </a:r>
            <a:endParaRPr lang="en-US" sz="1200" dirty="0">
              <a:solidFill>
                <a:prstClr val="black"/>
              </a:solidFill>
              <a:latin typeface="Candara" panose="020E0502030303020204" pitchFamily="34" charset="0"/>
            </a:endParaRPr>
          </a:p>
        </p:txBody>
      </p:sp>
      <p:sp>
        <p:nvSpPr>
          <p:cNvPr id="68" name="Shape 66"/>
          <p:cNvSpPr/>
          <p:nvPr/>
        </p:nvSpPr>
        <p:spPr>
          <a:xfrm>
            <a:off x="4154865" y="6134919"/>
            <a:ext cx="566780" cy="164549"/>
          </a:xfrm>
          <a:prstGeom prst="roundRect">
            <a:avLst>
              <a:gd name="adj" fmla="val 16667"/>
            </a:avLst>
          </a:prstGeom>
          <a:solidFill>
            <a:srgbClr val="E8B87A">
              <a:alpha val="13000"/>
            </a:srgbClr>
          </a:solidFill>
          <a:ln w="5080">
            <a:solidFill>
              <a:srgbClr val="E8B87A">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9" name="Text 67"/>
          <p:cNvSpPr/>
          <p:nvPr/>
        </p:nvSpPr>
        <p:spPr>
          <a:xfrm>
            <a:off x="4154865" y="6134919"/>
            <a:ext cx="566780" cy="164549"/>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dirty="0">
              <a:solidFill>
                <a:prstClr val="black"/>
              </a:solidFill>
              <a:latin typeface="Candara" panose="020E0502030303020204" pitchFamily="34" charset="0"/>
            </a:endParaRPr>
          </a:p>
        </p:txBody>
      </p:sp>
      <p:sp>
        <p:nvSpPr>
          <p:cNvPr id="80" name="Text 78"/>
          <p:cNvSpPr/>
          <p:nvPr/>
        </p:nvSpPr>
        <p:spPr>
          <a:xfrm>
            <a:off x="6429422" y="1028851"/>
            <a:ext cx="4872483" cy="274249"/>
          </a:xfrm>
          <a:prstGeom prst="rect">
            <a:avLst/>
          </a:prstGeom>
          <a:noFill/>
          <a:ln/>
        </p:spPr>
        <p:txBody>
          <a:bodyPr wrap="square" lIns="0" tIns="0" rIns="0" bIns="0" rtlCol="0" anchor="ctr"/>
          <a:lstStyle/>
          <a:p>
            <a:pPr defTabSz="914126"/>
            <a:r>
              <a:rPr lang="en-US" sz="1200" b="1" dirty="0">
                <a:solidFill>
                  <a:srgbClr val="3ECF80"/>
                </a:solidFill>
                <a:latin typeface="Candara" panose="020E0502030303020204" pitchFamily="34" charset="0"/>
                <a:ea typeface="Calibri" pitchFamily="34" charset="-122"/>
                <a:cs typeface="Calibri" pitchFamily="34" charset="-120"/>
              </a:rPr>
              <a:t>Routes &amp; Navigation</a:t>
            </a:r>
            <a:endParaRPr lang="en-US" sz="1200" dirty="0">
              <a:solidFill>
                <a:prstClr val="black"/>
              </a:solidFill>
              <a:latin typeface="Candara" panose="020E0502030303020204" pitchFamily="34" charset="0"/>
            </a:endParaRPr>
          </a:p>
        </p:txBody>
      </p:sp>
      <p:sp>
        <p:nvSpPr>
          <p:cNvPr id="81" name="Shape 79"/>
          <p:cNvSpPr/>
          <p:nvPr/>
        </p:nvSpPr>
        <p:spPr>
          <a:xfrm>
            <a:off x="6429422" y="1321383"/>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2" name="Text 80"/>
          <p:cNvSpPr/>
          <p:nvPr/>
        </p:nvSpPr>
        <p:spPr>
          <a:xfrm>
            <a:off x="6022508" y="1357950"/>
            <a:ext cx="1147009"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Route</a:t>
            </a:r>
            <a:endParaRPr lang="en-US" sz="1200" dirty="0">
              <a:solidFill>
                <a:prstClr val="black"/>
              </a:solidFill>
              <a:latin typeface="Candara" panose="020E0502030303020204" pitchFamily="34" charset="0"/>
            </a:endParaRPr>
          </a:p>
        </p:txBody>
      </p:sp>
      <p:sp>
        <p:nvSpPr>
          <p:cNvPr id="83" name="Text 81"/>
          <p:cNvSpPr/>
          <p:nvPr/>
        </p:nvSpPr>
        <p:spPr>
          <a:xfrm>
            <a:off x="7034592" y="1357950"/>
            <a:ext cx="1554075"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Page</a:t>
            </a:r>
            <a:endParaRPr lang="en-US" sz="1200" b="1" dirty="0">
              <a:solidFill>
                <a:prstClr val="black"/>
              </a:solidFill>
              <a:latin typeface="Candara" panose="020E0502030303020204" pitchFamily="34" charset="0"/>
            </a:endParaRPr>
          </a:p>
        </p:txBody>
      </p:sp>
      <p:sp>
        <p:nvSpPr>
          <p:cNvPr id="84" name="Text 82"/>
          <p:cNvSpPr/>
          <p:nvPr/>
        </p:nvSpPr>
        <p:spPr>
          <a:xfrm>
            <a:off x="9409590" y="1357950"/>
            <a:ext cx="1892315" cy="255965"/>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Note</a:t>
            </a:r>
            <a:endParaRPr lang="en-US" sz="1200" b="1" dirty="0">
              <a:solidFill>
                <a:srgbClr val="FFFF00"/>
              </a:solidFill>
              <a:latin typeface="Candara" panose="020E0502030303020204" pitchFamily="34" charset="0"/>
            </a:endParaRPr>
          </a:p>
        </p:txBody>
      </p:sp>
      <p:sp>
        <p:nvSpPr>
          <p:cNvPr id="85" name="Shape 83"/>
          <p:cNvSpPr/>
          <p:nvPr/>
        </p:nvSpPr>
        <p:spPr>
          <a:xfrm>
            <a:off x="6429422" y="1613915"/>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6" name="Shape 84"/>
          <p:cNvSpPr/>
          <p:nvPr/>
        </p:nvSpPr>
        <p:spPr>
          <a:xfrm>
            <a:off x="6411139" y="1650482"/>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7" name="Text 85"/>
          <p:cNvSpPr/>
          <p:nvPr/>
        </p:nvSpPr>
        <p:spPr>
          <a:xfrm>
            <a:off x="6022508" y="1650482"/>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/login</a:t>
            </a:r>
            <a:endParaRPr lang="en-US" sz="1200" dirty="0">
              <a:solidFill>
                <a:prstClr val="black"/>
              </a:solidFill>
              <a:latin typeface="Candara" panose="020E0502030303020204" pitchFamily="34" charset="0"/>
            </a:endParaRPr>
          </a:p>
        </p:txBody>
      </p:sp>
      <p:sp>
        <p:nvSpPr>
          <p:cNvPr id="88" name="Text 86"/>
          <p:cNvSpPr/>
          <p:nvPr/>
        </p:nvSpPr>
        <p:spPr>
          <a:xfrm>
            <a:off x="7034128" y="165048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LoginPage</a:t>
            </a:r>
            <a:endParaRPr lang="en-US" sz="1200" b="1" dirty="0">
              <a:solidFill>
                <a:prstClr val="black"/>
              </a:solidFill>
              <a:latin typeface="Candara" panose="020E0502030303020204" pitchFamily="34" charset="0"/>
            </a:endParaRPr>
          </a:p>
        </p:txBody>
      </p:sp>
      <p:sp>
        <p:nvSpPr>
          <p:cNvPr id="89" name="Shape 87"/>
          <p:cNvSpPr/>
          <p:nvPr/>
        </p:nvSpPr>
        <p:spPr>
          <a:xfrm>
            <a:off x="8449639" y="1756083"/>
            <a:ext cx="718148" cy="241780"/>
          </a:xfrm>
          <a:prstGeom prst="roundRect">
            <a:avLst>
              <a:gd name="adj" fmla="val 10000"/>
            </a:avLst>
          </a:prstGeom>
          <a:solidFill>
            <a:srgbClr val="7EC8E3">
              <a:alpha val="13000"/>
            </a:srgbClr>
          </a:solidFill>
          <a:ln w="5080">
            <a:solidFill>
              <a:srgbClr val="7EC8E3">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0" name="Text 88"/>
          <p:cNvSpPr/>
          <p:nvPr/>
        </p:nvSpPr>
        <p:spPr>
          <a:xfrm>
            <a:off x="8449639" y="1756083"/>
            <a:ext cx="718148" cy="241780"/>
          </a:xfrm>
          <a:prstGeom prst="rect">
            <a:avLst/>
          </a:prstGeom>
          <a:noFill/>
          <a:ln/>
        </p:spPr>
        <p:txBody>
          <a:bodyPr wrap="square" lIns="0" tIns="0" rIns="0" bIns="0" rtlCol="0" anchor="ctr"/>
          <a:lstStyle/>
          <a:p>
            <a:pPr algn="ctr" defTabSz="914126"/>
            <a:r>
              <a:rPr lang="en-US" sz="1200" b="1" dirty="0">
                <a:solidFill>
                  <a:srgbClr val="7EC8E3"/>
                </a:solidFill>
                <a:latin typeface="Candara" panose="020E0502030303020204" pitchFamily="34" charset="0"/>
                <a:ea typeface="Calibri" pitchFamily="34" charset="-122"/>
                <a:cs typeface="Calibri" pitchFamily="34" charset="-120"/>
              </a:rPr>
              <a:t>Public</a:t>
            </a:r>
            <a:endParaRPr lang="en-US" sz="1200" b="1" dirty="0">
              <a:solidFill>
                <a:prstClr val="black"/>
              </a:solidFill>
              <a:latin typeface="Candara" panose="020E0502030303020204" pitchFamily="34" charset="0"/>
            </a:endParaRPr>
          </a:p>
        </p:txBody>
      </p:sp>
      <p:sp>
        <p:nvSpPr>
          <p:cNvPr id="91" name="Text 89"/>
          <p:cNvSpPr/>
          <p:nvPr/>
        </p:nvSpPr>
        <p:spPr>
          <a:xfrm>
            <a:off x="9409590" y="165048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JWT login · public</a:t>
            </a:r>
            <a:endParaRPr lang="en-US" sz="1200" b="1" dirty="0">
              <a:solidFill>
                <a:srgbClr val="FFFF00"/>
              </a:solidFill>
              <a:latin typeface="Candara" panose="020E0502030303020204" pitchFamily="34" charset="0"/>
            </a:endParaRPr>
          </a:p>
        </p:txBody>
      </p:sp>
      <p:sp>
        <p:nvSpPr>
          <p:cNvPr id="92" name="Text 90"/>
          <p:cNvSpPr/>
          <p:nvPr/>
        </p:nvSpPr>
        <p:spPr>
          <a:xfrm>
            <a:off x="6022508" y="2070996"/>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93" name="Text 91"/>
          <p:cNvSpPr/>
          <p:nvPr/>
        </p:nvSpPr>
        <p:spPr>
          <a:xfrm>
            <a:off x="7034128" y="2070996"/>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Dashboard</a:t>
            </a:r>
            <a:endParaRPr lang="en-US" sz="1200" b="1" dirty="0">
              <a:solidFill>
                <a:prstClr val="black"/>
              </a:solidFill>
              <a:latin typeface="Candara" panose="020E0502030303020204" pitchFamily="34" charset="0"/>
            </a:endParaRPr>
          </a:p>
        </p:txBody>
      </p:sp>
      <p:sp>
        <p:nvSpPr>
          <p:cNvPr id="94" name="Shape 92"/>
          <p:cNvSpPr/>
          <p:nvPr/>
        </p:nvSpPr>
        <p:spPr>
          <a:xfrm>
            <a:off x="8449639" y="2176598"/>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5" name="Text 93"/>
          <p:cNvSpPr/>
          <p:nvPr/>
        </p:nvSpPr>
        <p:spPr>
          <a:xfrm>
            <a:off x="8449639" y="2176598"/>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96" name="Text 94"/>
          <p:cNvSpPr/>
          <p:nvPr/>
        </p:nvSpPr>
        <p:spPr>
          <a:xfrm>
            <a:off x="9409590" y="2070996"/>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overview · SignalR charts</a:t>
            </a:r>
            <a:endParaRPr lang="en-US" sz="1200" b="1" dirty="0">
              <a:solidFill>
                <a:srgbClr val="FFFF00"/>
              </a:solidFill>
              <a:latin typeface="Candara" panose="020E0502030303020204" pitchFamily="34" charset="0"/>
            </a:endParaRPr>
          </a:p>
        </p:txBody>
      </p:sp>
      <p:sp>
        <p:nvSpPr>
          <p:cNvPr id="97" name="Shape 95"/>
          <p:cNvSpPr/>
          <p:nvPr/>
        </p:nvSpPr>
        <p:spPr>
          <a:xfrm>
            <a:off x="6411139" y="2491511"/>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8" name="Text 96"/>
          <p:cNvSpPr/>
          <p:nvPr/>
        </p:nvSpPr>
        <p:spPr>
          <a:xfrm>
            <a:off x="6022508" y="2491511"/>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a:t>
            </a:r>
            <a:endParaRPr lang="en-US" sz="1200" dirty="0">
              <a:solidFill>
                <a:prstClr val="black"/>
              </a:solidFill>
              <a:latin typeface="Candara" panose="020E0502030303020204" pitchFamily="34" charset="0"/>
            </a:endParaRPr>
          </a:p>
        </p:txBody>
      </p:sp>
      <p:sp>
        <p:nvSpPr>
          <p:cNvPr id="99" name="Text 97"/>
          <p:cNvSpPr/>
          <p:nvPr/>
        </p:nvSpPr>
        <p:spPr>
          <a:xfrm>
            <a:off x="7034128" y="2491511"/>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DevicesPage</a:t>
            </a:r>
            <a:endParaRPr lang="en-US" sz="1200" b="1" dirty="0">
              <a:solidFill>
                <a:prstClr val="black"/>
              </a:solidFill>
              <a:latin typeface="Candara" panose="020E0502030303020204" pitchFamily="34" charset="0"/>
            </a:endParaRPr>
          </a:p>
        </p:txBody>
      </p:sp>
      <p:sp>
        <p:nvSpPr>
          <p:cNvPr id="100" name="Shape 98"/>
          <p:cNvSpPr/>
          <p:nvPr/>
        </p:nvSpPr>
        <p:spPr>
          <a:xfrm>
            <a:off x="8449639" y="2597112"/>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1" name="Text 99"/>
          <p:cNvSpPr/>
          <p:nvPr/>
        </p:nvSpPr>
        <p:spPr>
          <a:xfrm>
            <a:off x="8449639" y="2597112"/>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2" name="Text 100"/>
          <p:cNvSpPr/>
          <p:nvPr/>
        </p:nvSpPr>
        <p:spPr>
          <a:xfrm>
            <a:off x="9409590" y="2491511"/>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Device CRUD</a:t>
            </a:r>
            <a:endParaRPr lang="en-US" sz="1200" b="1" dirty="0">
              <a:solidFill>
                <a:srgbClr val="FFFF00"/>
              </a:solidFill>
              <a:latin typeface="Candara" panose="020E0502030303020204" pitchFamily="34" charset="0"/>
            </a:endParaRPr>
          </a:p>
        </p:txBody>
      </p:sp>
      <p:sp>
        <p:nvSpPr>
          <p:cNvPr id="103" name="Text 101"/>
          <p:cNvSpPr/>
          <p:nvPr/>
        </p:nvSpPr>
        <p:spPr>
          <a:xfrm>
            <a:off x="6022508" y="2912025"/>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/devices/:id</a:t>
            </a:r>
            <a:endParaRPr lang="en-US" sz="1200" dirty="0">
              <a:solidFill>
                <a:prstClr val="black"/>
              </a:solidFill>
              <a:latin typeface="Candara" panose="020E0502030303020204" pitchFamily="34" charset="0"/>
            </a:endParaRPr>
          </a:p>
        </p:txBody>
      </p:sp>
      <p:sp>
        <p:nvSpPr>
          <p:cNvPr id="104" name="Text 102"/>
          <p:cNvSpPr/>
          <p:nvPr/>
        </p:nvSpPr>
        <p:spPr>
          <a:xfrm>
            <a:off x="7034128" y="2912025"/>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DeviceDetailPage</a:t>
            </a:r>
            <a:endParaRPr lang="en-US" sz="1200" b="1" dirty="0">
              <a:solidFill>
                <a:prstClr val="black"/>
              </a:solidFill>
              <a:latin typeface="Candara" panose="020E0502030303020204" pitchFamily="34" charset="0"/>
            </a:endParaRPr>
          </a:p>
        </p:txBody>
      </p:sp>
      <p:sp>
        <p:nvSpPr>
          <p:cNvPr id="105" name="Shape 103"/>
          <p:cNvSpPr/>
          <p:nvPr/>
        </p:nvSpPr>
        <p:spPr>
          <a:xfrm>
            <a:off x="8449639" y="3017627"/>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6" name="Text 104"/>
          <p:cNvSpPr/>
          <p:nvPr/>
        </p:nvSpPr>
        <p:spPr>
          <a:xfrm>
            <a:off x="8449639" y="3017627"/>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7" name="Text 105"/>
          <p:cNvSpPr/>
          <p:nvPr/>
        </p:nvSpPr>
        <p:spPr>
          <a:xfrm>
            <a:off x="9409590" y="2912025"/>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chart + sensors + commands</a:t>
            </a:r>
            <a:endParaRPr lang="en-US" sz="1200" b="1" dirty="0">
              <a:solidFill>
                <a:srgbClr val="FFFF00"/>
              </a:solidFill>
              <a:latin typeface="Candara" panose="020E0502030303020204" pitchFamily="34" charset="0"/>
            </a:endParaRPr>
          </a:p>
        </p:txBody>
      </p:sp>
      <p:sp>
        <p:nvSpPr>
          <p:cNvPr id="108" name="Shape 106"/>
          <p:cNvSpPr/>
          <p:nvPr/>
        </p:nvSpPr>
        <p:spPr>
          <a:xfrm>
            <a:off x="6411139" y="3332540"/>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9" name="Text 107"/>
          <p:cNvSpPr/>
          <p:nvPr/>
        </p:nvSpPr>
        <p:spPr>
          <a:xfrm>
            <a:off x="6022508" y="3332540"/>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a:t>
            </a:r>
            <a:endParaRPr lang="en-US" sz="1200" dirty="0">
              <a:solidFill>
                <a:prstClr val="black"/>
              </a:solidFill>
              <a:latin typeface="Candara" panose="020E0502030303020204" pitchFamily="34" charset="0"/>
            </a:endParaRPr>
          </a:p>
        </p:txBody>
      </p:sp>
      <p:sp>
        <p:nvSpPr>
          <p:cNvPr id="110" name="Text 108"/>
          <p:cNvSpPr/>
          <p:nvPr/>
        </p:nvSpPr>
        <p:spPr>
          <a:xfrm>
            <a:off x="7034128" y="3332540"/>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SensorsPage</a:t>
            </a:r>
            <a:endParaRPr lang="en-US" sz="1200" b="1" dirty="0">
              <a:solidFill>
                <a:prstClr val="black"/>
              </a:solidFill>
              <a:latin typeface="Candara" panose="020E0502030303020204" pitchFamily="34" charset="0"/>
            </a:endParaRPr>
          </a:p>
        </p:txBody>
      </p:sp>
      <p:sp>
        <p:nvSpPr>
          <p:cNvPr id="111" name="Shape 109"/>
          <p:cNvSpPr/>
          <p:nvPr/>
        </p:nvSpPr>
        <p:spPr>
          <a:xfrm>
            <a:off x="8449639" y="3438141"/>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2" name="Text 110"/>
          <p:cNvSpPr/>
          <p:nvPr/>
        </p:nvSpPr>
        <p:spPr>
          <a:xfrm>
            <a:off x="8449639" y="3438141"/>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3" name="Text 111"/>
          <p:cNvSpPr/>
          <p:nvPr/>
        </p:nvSpPr>
        <p:spPr>
          <a:xfrm>
            <a:off x="9409590" y="3332540"/>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All sensor inputs</a:t>
            </a:r>
            <a:endParaRPr lang="en-US" sz="1200" b="1" dirty="0">
              <a:solidFill>
                <a:srgbClr val="FFFF00"/>
              </a:solidFill>
              <a:latin typeface="Candara" panose="020E0502030303020204" pitchFamily="34" charset="0"/>
            </a:endParaRPr>
          </a:p>
        </p:txBody>
      </p:sp>
      <p:sp>
        <p:nvSpPr>
          <p:cNvPr id="114" name="Text 112"/>
          <p:cNvSpPr/>
          <p:nvPr/>
        </p:nvSpPr>
        <p:spPr>
          <a:xfrm>
            <a:off x="6022508" y="3753054"/>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a:t>
            </a:r>
            <a:endParaRPr lang="en-US" sz="1200" dirty="0">
              <a:solidFill>
                <a:prstClr val="black"/>
              </a:solidFill>
              <a:latin typeface="Candara" panose="020E0502030303020204" pitchFamily="34" charset="0"/>
            </a:endParaRPr>
          </a:p>
        </p:txBody>
      </p:sp>
      <p:sp>
        <p:nvSpPr>
          <p:cNvPr id="115" name="Text 113"/>
          <p:cNvSpPr/>
          <p:nvPr/>
        </p:nvSpPr>
        <p:spPr>
          <a:xfrm>
            <a:off x="7034128" y="3753054"/>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ActuatorsPage</a:t>
            </a:r>
            <a:endParaRPr lang="en-US" sz="1200" b="1" dirty="0">
              <a:solidFill>
                <a:prstClr val="black"/>
              </a:solidFill>
              <a:latin typeface="Candara" panose="020E0502030303020204" pitchFamily="34" charset="0"/>
            </a:endParaRPr>
          </a:p>
        </p:txBody>
      </p:sp>
      <p:sp>
        <p:nvSpPr>
          <p:cNvPr id="116" name="Shape 114"/>
          <p:cNvSpPr/>
          <p:nvPr/>
        </p:nvSpPr>
        <p:spPr>
          <a:xfrm>
            <a:off x="8449639" y="3858656"/>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7" name="Text 115"/>
          <p:cNvSpPr/>
          <p:nvPr/>
        </p:nvSpPr>
        <p:spPr>
          <a:xfrm>
            <a:off x="8449639" y="3858656"/>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8" name="Text 116"/>
          <p:cNvSpPr/>
          <p:nvPr/>
        </p:nvSpPr>
        <p:spPr>
          <a:xfrm>
            <a:off x="9409590" y="3753054"/>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Controllable outputs</a:t>
            </a:r>
            <a:endParaRPr lang="en-US" sz="1200" b="1" dirty="0">
              <a:solidFill>
                <a:srgbClr val="FFFF00"/>
              </a:solidFill>
              <a:latin typeface="Candara" panose="020E0502030303020204" pitchFamily="34" charset="0"/>
            </a:endParaRPr>
          </a:p>
        </p:txBody>
      </p:sp>
      <p:sp>
        <p:nvSpPr>
          <p:cNvPr id="119" name="Shape 117"/>
          <p:cNvSpPr/>
          <p:nvPr/>
        </p:nvSpPr>
        <p:spPr>
          <a:xfrm>
            <a:off x="6411139" y="4173569"/>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0" name="Text 118"/>
          <p:cNvSpPr/>
          <p:nvPr/>
        </p:nvSpPr>
        <p:spPr>
          <a:xfrm>
            <a:off x="6022508" y="4173569"/>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a:t>
            </a:r>
            <a:endParaRPr lang="en-US" sz="1200" dirty="0">
              <a:solidFill>
                <a:prstClr val="black"/>
              </a:solidFill>
              <a:latin typeface="Candara" panose="020E0502030303020204" pitchFamily="34" charset="0"/>
            </a:endParaRPr>
          </a:p>
        </p:txBody>
      </p:sp>
      <p:sp>
        <p:nvSpPr>
          <p:cNvPr id="121" name="Text 119"/>
          <p:cNvSpPr/>
          <p:nvPr/>
        </p:nvSpPr>
        <p:spPr>
          <a:xfrm>
            <a:off x="7034128" y="4173569"/>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AlertRulesPage</a:t>
            </a:r>
            <a:endParaRPr lang="en-US" sz="1200" b="1" dirty="0">
              <a:solidFill>
                <a:prstClr val="black"/>
              </a:solidFill>
              <a:latin typeface="Candara" panose="020E0502030303020204" pitchFamily="34" charset="0"/>
            </a:endParaRPr>
          </a:p>
        </p:txBody>
      </p:sp>
      <p:sp>
        <p:nvSpPr>
          <p:cNvPr id="122" name="Shape 120"/>
          <p:cNvSpPr/>
          <p:nvPr/>
        </p:nvSpPr>
        <p:spPr>
          <a:xfrm>
            <a:off x="8449639" y="4279170"/>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3" name="Text 121"/>
          <p:cNvSpPr/>
          <p:nvPr/>
        </p:nvSpPr>
        <p:spPr>
          <a:xfrm>
            <a:off x="8449639" y="4279170"/>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4" name="Text 122"/>
          <p:cNvSpPr/>
          <p:nvPr/>
        </p:nvSpPr>
        <p:spPr>
          <a:xfrm>
            <a:off x="9409590" y="4173569"/>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Threshold rule config</a:t>
            </a:r>
            <a:endParaRPr lang="en-US" sz="1200" b="1" dirty="0">
              <a:solidFill>
                <a:srgbClr val="FFFF00"/>
              </a:solidFill>
              <a:latin typeface="Candara" panose="020E0502030303020204" pitchFamily="34" charset="0"/>
            </a:endParaRPr>
          </a:p>
        </p:txBody>
      </p:sp>
      <p:sp>
        <p:nvSpPr>
          <p:cNvPr id="125" name="Text 123"/>
          <p:cNvSpPr/>
          <p:nvPr/>
        </p:nvSpPr>
        <p:spPr>
          <a:xfrm>
            <a:off x="6022508" y="4594083"/>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a:t>
            </a:r>
            <a:endParaRPr lang="en-US" sz="1200" dirty="0">
              <a:solidFill>
                <a:prstClr val="black"/>
              </a:solidFill>
              <a:latin typeface="Candara" panose="020E0502030303020204" pitchFamily="34" charset="0"/>
            </a:endParaRPr>
          </a:p>
        </p:txBody>
      </p:sp>
      <p:sp>
        <p:nvSpPr>
          <p:cNvPr id="126" name="Text 124"/>
          <p:cNvSpPr/>
          <p:nvPr/>
        </p:nvSpPr>
        <p:spPr>
          <a:xfrm>
            <a:off x="7034128" y="4594083"/>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AlertsPage</a:t>
            </a:r>
            <a:endParaRPr lang="en-US" sz="1200" b="1" dirty="0">
              <a:solidFill>
                <a:prstClr val="black"/>
              </a:solidFill>
              <a:latin typeface="Candara" panose="020E0502030303020204" pitchFamily="34" charset="0"/>
            </a:endParaRPr>
          </a:p>
        </p:txBody>
      </p:sp>
      <p:sp>
        <p:nvSpPr>
          <p:cNvPr id="127" name="Shape 125"/>
          <p:cNvSpPr/>
          <p:nvPr/>
        </p:nvSpPr>
        <p:spPr>
          <a:xfrm>
            <a:off x="8449639" y="4699685"/>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8" name="Text 126"/>
          <p:cNvSpPr/>
          <p:nvPr/>
        </p:nvSpPr>
        <p:spPr>
          <a:xfrm>
            <a:off x="8449639" y="4699685"/>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9" name="Text 127"/>
          <p:cNvSpPr/>
          <p:nvPr/>
        </p:nvSpPr>
        <p:spPr>
          <a:xfrm>
            <a:off x="9409590" y="4594083"/>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View · acknowledge · resolve</a:t>
            </a:r>
            <a:endParaRPr lang="en-US" sz="1200" b="1" dirty="0">
              <a:solidFill>
                <a:srgbClr val="FFFF00"/>
              </a:solidFill>
              <a:latin typeface="Candara" panose="020E0502030303020204" pitchFamily="34" charset="0"/>
            </a:endParaRPr>
          </a:p>
        </p:txBody>
      </p:sp>
      <p:sp>
        <p:nvSpPr>
          <p:cNvPr id="130" name="Shape 128"/>
          <p:cNvSpPr/>
          <p:nvPr/>
        </p:nvSpPr>
        <p:spPr>
          <a:xfrm>
            <a:off x="6411139" y="5014598"/>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1" name="Text 129"/>
          <p:cNvSpPr/>
          <p:nvPr/>
        </p:nvSpPr>
        <p:spPr>
          <a:xfrm>
            <a:off x="6022508" y="5014598"/>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a:t>
            </a:r>
            <a:endParaRPr lang="en-US" sz="1200" dirty="0">
              <a:solidFill>
                <a:prstClr val="black"/>
              </a:solidFill>
              <a:latin typeface="Candara" panose="020E0502030303020204" pitchFamily="34" charset="0"/>
            </a:endParaRPr>
          </a:p>
        </p:txBody>
      </p:sp>
      <p:sp>
        <p:nvSpPr>
          <p:cNvPr id="132" name="Text 130"/>
          <p:cNvSpPr/>
          <p:nvPr/>
        </p:nvSpPr>
        <p:spPr>
          <a:xfrm>
            <a:off x="7034128" y="5014598"/>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CommandHistoryPage</a:t>
            </a:r>
            <a:endParaRPr lang="en-US" sz="1200" b="1" dirty="0">
              <a:solidFill>
                <a:prstClr val="black"/>
              </a:solidFill>
              <a:latin typeface="Candara" panose="020E0502030303020204" pitchFamily="34" charset="0"/>
            </a:endParaRPr>
          </a:p>
        </p:txBody>
      </p:sp>
      <p:sp>
        <p:nvSpPr>
          <p:cNvPr id="133" name="Shape 131"/>
          <p:cNvSpPr/>
          <p:nvPr/>
        </p:nvSpPr>
        <p:spPr>
          <a:xfrm>
            <a:off x="8449639" y="5120199"/>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4" name="Text 132"/>
          <p:cNvSpPr/>
          <p:nvPr/>
        </p:nvSpPr>
        <p:spPr>
          <a:xfrm>
            <a:off x="8449639" y="5120199"/>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35" name="Text 133"/>
          <p:cNvSpPr/>
          <p:nvPr/>
        </p:nvSpPr>
        <p:spPr>
          <a:xfrm>
            <a:off x="9409590" y="5014598"/>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Pending → Sent → </a:t>
            </a:r>
            <a:r>
              <a:rPr lang="en-US" sz="1200" b="1" dirty="0" err="1">
                <a:solidFill>
                  <a:srgbClr val="FFFF00"/>
                </a:solidFill>
                <a:latin typeface="Candara" panose="020E0502030303020204" pitchFamily="34" charset="0"/>
                <a:ea typeface="Calibri" pitchFamily="34" charset="-122"/>
                <a:cs typeface="Calibri" pitchFamily="34" charset="-120"/>
              </a:rPr>
              <a:t>Acked</a:t>
            </a:r>
            <a:endParaRPr lang="en-US" sz="1200" b="1" dirty="0">
              <a:solidFill>
                <a:srgbClr val="FFFF00"/>
              </a:solidFill>
              <a:latin typeface="Candara" panose="020E0502030303020204" pitchFamily="34" charset="0"/>
            </a:endParaRPr>
          </a:p>
        </p:txBody>
      </p:sp>
      <p:sp>
        <p:nvSpPr>
          <p:cNvPr id="136" name="Text 134"/>
          <p:cNvSpPr/>
          <p:nvPr/>
        </p:nvSpPr>
        <p:spPr>
          <a:xfrm>
            <a:off x="6022508" y="5435112"/>
            <a:ext cx="1147009" cy="420514"/>
          </a:xfrm>
          <a:prstGeom prst="rect">
            <a:avLst/>
          </a:prstGeom>
          <a:noFill/>
          <a:ln/>
        </p:spPr>
        <p:txBody>
          <a:bodyPr wrap="square" lIns="0" tIns="0" rIns="0" bIns="0" rtlCol="0" anchor="ctr"/>
          <a:lstStyle/>
          <a:p>
            <a:pPr defTabSz="914126"/>
            <a:r>
              <a:rPr lang="en-US" sz="1200" dirty="0">
                <a:solidFill>
                  <a:srgbClr val="E8B87A"/>
                </a:solidFill>
                <a:latin typeface="Candara" panose="020E0502030303020204" pitchFamily="34" charset="0"/>
                <a:ea typeface="Consolas" pitchFamily="34" charset="-122"/>
                <a:cs typeface="Consolas" pitchFamily="34" charset="-120"/>
              </a:rPr>
              <a:t>/users</a:t>
            </a:r>
            <a:endParaRPr lang="en-US" sz="1200" dirty="0">
              <a:solidFill>
                <a:prstClr val="black"/>
              </a:solidFill>
              <a:latin typeface="Candara" panose="020E0502030303020204" pitchFamily="34" charset="0"/>
            </a:endParaRPr>
          </a:p>
        </p:txBody>
      </p:sp>
      <p:sp>
        <p:nvSpPr>
          <p:cNvPr id="137" name="Text 135"/>
          <p:cNvSpPr/>
          <p:nvPr/>
        </p:nvSpPr>
        <p:spPr>
          <a:xfrm>
            <a:off x="7034128" y="543511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UserManagementPage</a:t>
            </a:r>
            <a:endParaRPr lang="en-US" sz="1200" b="1" dirty="0">
              <a:solidFill>
                <a:prstClr val="black"/>
              </a:solidFill>
              <a:latin typeface="Candara" panose="020E0502030303020204" pitchFamily="34" charset="0"/>
            </a:endParaRPr>
          </a:p>
        </p:txBody>
      </p:sp>
      <p:sp>
        <p:nvSpPr>
          <p:cNvPr id="138" name="Shape 136"/>
          <p:cNvSpPr/>
          <p:nvPr/>
        </p:nvSpPr>
        <p:spPr>
          <a:xfrm>
            <a:off x="8449639" y="5540714"/>
            <a:ext cx="718148" cy="241780"/>
          </a:xfrm>
          <a:prstGeom prst="roundRect">
            <a:avLst>
              <a:gd name="adj" fmla="val 10000"/>
            </a:avLst>
          </a:prstGeom>
          <a:solidFill>
            <a:srgbClr val="E8B87A">
              <a:alpha val="13000"/>
            </a:srgbClr>
          </a:solidFill>
          <a:ln w="5080">
            <a:solidFill>
              <a:srgbClr val="E8B87A">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9" name="Text 137"/>
          <p:cNvSpPr/>
          <p:nvPr/>
        </p:nvSpPr>
        <p:spPr>
          <a:xfrm>
            <a:off x="8449639" y="5540714"/>
            <a:ext cx="718148" cy="241780"/>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b="1" dirty="0">
              <a:solidFill>
                <a:prstClr val="black"/>
              </a:solidFill>
              <a:latin typeface="Candara" panose="020E0502030303020204" pitchFamily="34" charset="0"/>
            </a:endParaRPr>
          </a:p>
        </p:txBody>
      </p:sp>
      <p:sp>
        <p:nvSpPr>
          <p:cNvPr id="140" name="Text 138"/>
          <p:cNvSpPr/>
          <p:nvPr/>
        </p:nvSpPr>
        <p:spPr>
          <a:xfrm>
            <a:off x="9409590" y="543511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Admin: manage accounts</a:t>
            </a:r>
            <a:endParaRPr lang="en-US" sz="1200" b="1" dirty="0">
              <a:solidFill>
                <a:srgbClr val="FFFF00"/>
              </a:solidFill>
              <a:latin typeface="Candara" panose="020E0502030303020204" pitchFamily="34" charset="0"/>
            </a:endParaRPr>
          </a:p>
        </p:txBody>
      </p:sp>
      <p:sp>
        <p:nvSpPr>
          <p:cNvPr id="141" name="Shape 139"/>
          <p:cNvSpPr/>
          <p:nvPr/>
        </p:nvSpPr>
        <p:spPr>
          <a:xfrm>
            <a:off x="6215549" y="5947043"/>
            <a:ext cx="5086357" cy="685621"/>
          </a:xfrm>
          <a:prstGeom prst="roundRect">
            <a:avLst>
              <a:gd name="adj" fmla="val 9615"/>
            </a:avLst>
          </a:prstGeom>
          <a:solidFill>
            <a:srgbClr val="091A0F"/>
          </a:solid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2" name="Shape 140"/>
          <p:cNvSpPr/>
          <p:nvPr/>
        </p:nvSpPr>
        <p:spPr>
          <a:xfrm>
            <a:off x="5916782" y="6041904"/>
            <a:ext cx="45707" cy="475364"/>
          </a:xfrm>
          <a:prstGeom prst="roundRect">
            <a:avLst/>
          </a:prstGeom>
          <a:solidFill>
            <a:srgbClr val="3A6B52"/>
          </a:solidFill>
          <a:ln w="12700">
            <a:solidFill>
              <a:srgbClr val="3A6B52"/>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3" name="Text 141"/>
          <p:cNvSpPr/>
          <p:nvPr/>
        </p:nvSpPr>
        <p:spPr>
          <a:xfrm>
            <a:off x="6323523" y="6087612"/>
            <a:ext cx="4726217" cy="402231"/>
          </a:xfrm>
          <a:prstGeom prst="rect">
            <a:avLst/>
          </a:prstGeom>
          <a:noFill/>
          <a:ln/>
        </p:spPr>
        <p:txBody>
          <a:bodyPr wrap="square" lIns="0" tIns="0" rIns="0" bIns="0" rtlCol="0" anchor="ctr"/>
          <a:lstStyle/>
          <a:p>
            <a:pPr defTabSz="914126"/>
            <a:r>
              <a:rPr lang="en-US" sz="1200" dirty="0">
                <a:solidFill>
                  <a:srgbClr val="FFFF00"/>
                </a:solidFill>
                <a:latin typeface="Candara" panose="020E0502030303020204" pitchFamily="34" charset="0"/>
                <a:ea typeface="Calibri" pitchFamily="34" charset="-122"/>
                <a:cs typeface="Calibri" pitchFamily="34" charset="-120"/>
              </a:rPr>
              <a:t>ProtectedRoute redirects to /login if localStorage has no valid JWT</a:t>
            </a:r>
            <a:endParaRPr lang="en-US" sz="1200" dirty="0">
              <a:solidFill>
                <a:srgbClr val="FFFF00"/>
              </a:solidFill>
              <a:latin typeface="Candara" panose="020E0502030303020204" pitchFamily="34" charset="0"/>
            </a:endParaRPr>
          </a:p>
          <a:p>
            <a:pPr defTabSz="914126"/>
            <a:r>
              <a:rPr lang="en-US" sz="1200" dirty="0">
                <a:solidFill>
                  <a:srgbClr val="FFFF00"/>
                </a:solidFill>
                <a:latin typeface="Candara" panose="020E0502030303020204" pitchFamily="34" charset="0"/>
                <a:ea typeface="Calibri" pitchFamily="34" charset="-122"/>
                <a:cs typeface="Calibri" pitchFamily="34" charset="-120"/>
              </a:rPr>
              <a:t>isAdmin() check gates /users — Navigation hides Users link for non-admin roles</a:t>
            </a:r>
            <a:endParaRPr lang="en-US" sz="1200" dirty="0">
              <a:solidFill>
                <a:srgbClr val="FFFF00"/>
              </a:solidFill>
              <a:latin typeface="Candara" panose="020E0502030303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244669"/>
            <a:ext cx="10969943" cy="633819"/>
          </a:xfrm>
          <a:prstGeom prst="rect">
            <a:avLst/>
          </a:prstGeom>
          <a:solidFill>
            <a:srgbClr val="0D2318"/>
          </a:solidFill>
          <a:ln>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Times New Roman" panose="02020603050405020304" pitchFamily="18" charset="0"/>
              </a:rPr>
              <a:t>Key Features</a:t>
            </a:r>
            <a:endParaRPr lang="en-US" sz="2800" dirty="0">
              <a:solidFill>
                <a:prstClr val="black"/>
              </a:solidFill>
              <a:latin typeface="Candara" panose="020E0502030303020204" pitchFamily="34" charset="0"/>
              <a:cs typeface="Times New Roman" panose="02020603050405020304" pitchFamily="18" charset="0"/>
            </a:endParaRPr>
          </a:p>
        </p:txBody>
      </p:sp>
      <p:sp>
        <p:nvSpPr>
          <p:cNvPr id="3" name="Text 1"/>
          <p:cNvSpPr/>
          <p:nvPr/>
        </p:nvSpPr>
        <p:spPr>
          <a:xfrm>
            <a:off x="609441" y="878489"/>
            <a:ext cx="10969943" cy="316909"/>
          </a:xfrm>
          <a:prstGeom prst="rect">
            <a:avLst/>
          </a:prstGeom>
          <a:solidFill>
            <a:srgbClr val="0D2318"/>
          </a:solidFill>
          <a:ln>
            <a:noFill/>
          </a:ln>
        </p:spPr>
        <p:txBody>
          <a:bodyPr wrap="square" lIns="0" tIns="0" rIns="0" bIns="0" rtlCol="0" anchor="ctr"/>
          <a:lstStyle/>
          <a:p>
            <a:pPr defTabSz="1218895"/>
            <a:r>
              <a:rPr lang="en-US" sz="1600" dirty="0">
                <a:solidFill>
                  <a:srgbClr val="7DAE8E"/>
                </a:solidFill>
                <a:latin typeface="Candara" panose="020E0502030303020204" pitchFamily="34" charset="0"/>
                <a:ea typeface="Calibri" pitchFamily="34" charset="-122"/>
                <a:cs typeface="Times New Roman" panose="02020603050405020304" pitchFamily="18" charset="0"/>
              </a:rPr>
              <a:t>Core capabilities mapped directly to system architecture and real-world needs</a:t>
            </a:r>
            <a:endParaRPr lang="en-US" sz="1600" dirty="0">
              <a:solidFill>
                <a:prstClr val="black"/>
              </a:solidFill>
              <a:latin typeface="Candara" panose="020E0502030303020204" pitchFamily="34" charset="0"/>
              <a:cs typeface="Times New Roman" panose="02020603050405020304" pitchFamily="18" charset="0"/>
            </a:endParaRPr>
          </a:p>
        </p:txBody>
      </p:sp>
      <p:sp>
        <p:nvSpPr>
          <p:cNvPr id="61" name="Shape 39"/>
          <p:cNvSpPr/>
          <p:nvPr/>
        </p:nvSpPr>
        <p:spPr>
          <a:xfrm>
            <a:off x="-1" y="6217194"/>
            <a:ext cx="12188825" cy="0"/>
          </a:xfrm>
          <a:prstGeom prst="line">
            <a:avLst/>
          </a:prstGeom>
          <a:noFill/>
          <a:ln w="12700">
            <a:noFill/>
            <a:prstDash val="solid"/>
          </a:ln>
        </p:spPr>
        <p:txBody>
          <a:bodyPr/>
          <a:lstStyle/>
          <a:p>
            <a:pPr defTabSz="1218895"/>
            <a:endParaRPr lang="en-US" sz="1866">
              <a:solidFill>
                <a:prstClr val="black"/>
              </a:solidFill>
              <a:latin typeface="Candara" panose="020E0502030303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B4EE34A-9AA3-21C9-4983-A13F687E297F}"/>
              </a:ext>
            </a:extLst>
          </p:cNvPr>
          <p:cNvSpPr txBox="1"/>
          <p:nvPr/>
        </p:nvSpPr>
        <p:spPr>
          <a:xfrm>
            <a:off x="6644641" y="168098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Real-time streaming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err="1">
                <a:solidFill>
                  <a:schemeClr val="bg1"/>
                </a:solidFill>
                <a:latin typeface="Candara" panose="020E0502030303020204" pitchFamily="34" charset="0"/>
              </a:rPr>
              <a:t>SignalR</a:t>
            </a:r>
            <a:r>
              <a:rPr lang="en-US" sz="1600" dirty="0">
                <a:solidFill>
                  <a:schemeClr val="bg1"/>
                </a:solidFill>
                <a:latin typeface="Candara" panose="020E0502030303020204" pitchFamily="34" charset="0"/>
              </a:rPr>
              <a:t> push for readings and alerts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~1–2 s UI updates, no refresh</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Multi-device hub subscriptions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Rolling live charts (2s–30m time windows)</a:t>
            </a:r>
          </a:p>
          <a:p>
            <a:pPr>
              <a:lnSpc>
                <a:spcPct val="150000"/>
              </a:lnSpc>
            </a:pPr>
            <a:endParaRPr lang="en-US" sz="1600" dirty="0">
              <a:solidFill>
                <a:schemeClr val="bg1"/>
              </a:solidFill>
              <a:latin typeface="Candara" panose="020E0502030303020204" pitchFamily="34" charset="0"/>
            </a:endParaRPr>
          </a:p>
        </p:txBody>
      </p:sp>
      <p:sp>
        <p:nvSpPr>
          <p:cNvPr id="5" name="TextBox 4">
            <a:extLst>
              <a:ext uri="{FF2B5EF4-FFF2-40B4-BE49-F238E27FC236}">
                <a16:creationId xmlns:a16="http://schemas.microsoft.com/office/drawing/2014/main" id="{C503D343-1047-676E-9DF6-F3C635A0B3D2}"/>
              </a:ext>
            </a:extLst>
          </p:cNvPr>
          <p:cNvSpPr txBox="1"/>
          <p:nvPr/>
        </p:nvSpPr>
        <p:spPr>
          <a:xfrm>
            <a:off x="904240" y="450274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Dashboard &amp; visualization</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Charts line trends and analog gauges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Discrete on/off sensor indicators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History: 10m, 1h, 24h, custom range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Responsive Material-UI dashboards</a:t>
            </a:r>
          </a:p>
          <a:p>
            <a:pPr>
              <a:lnSpc>
                <a:spcPct val="150000"/>
              </a:lnSpc>
            </a:pPr>
            <a:endParaRPr lang="en-US" sz="1600" dirty="0">
              <a:solidFill>
                <a:schemeClr val="bg1"/>
              </a:solidFill>
              <a:latin typeface="Candara" panose="020E0502030303020204" pitchFamily="34" charset="0"/>
            </a:endParaRPr>
          </a:p>
        </p:txBody>
      </p:sp>
      <p:sp>
        <p:nvSpPr>
          <p:cNvPr id="10" name="TextBox 9">
            <a:extLst>
              <a:ext uri="{FF2B5EF4-FFF2-40B4-BE49-F238E27FC236}">
                <a16:creationId xmlns:a16="http://schemas.microsoft.com/office/drawing/2014/main" id="{6381980C-46C0-C7C3-C4D6-2C4EB1C34D23}"/>
              </a:ext>
            </a:extLst>
          </p:cNvPr>
          <p:cNvSpPr txBox="1"/>
          <p:nvPr/>
        </p:nvSpPr>
        <p:spPr>
          <a:xfrm>
            <a:off x="6715761" y="4343222"/>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Alerting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Threshold, range, and change rules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Live alert notifications via </a:t>
            </a:r>
            <a:r>
              <a:rPr lang="en-US" sz="1600" dirty="0" err="1">
                <a:solidFill>
                  <a:schemeClr val="bg1"/>
                </a:solidFill>
                <a:latin typeface="Candara" panose="020E0502030303020204" pitchFamily="34" charset="0"/>
              </a:rPr>
              <a:t>SignalR</a:t>
            </a:r>
            <a:endParaRPr lang="en-US" sz="1600" dirty="0">
              <a:solidFill>
                <a:schemeClr val="bg1"/>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Acknowledge and resolve workflow</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Alert history stored in database</a:t>
            </a:r>
          </a:p>
          <a:p>
            <a:pPr>
              <a:lnSpc>
                <a:spcPct val="150000"/>
              </a:lnSpc>
            </a:pPr>
            <a:endParaRPr lang="en-US" sz="1600" dirty="0">
              <a:solidFill>
                <a:schemeClr val="bg1"/>
              </a:solidFill>
              <a:latin typeface="Candara" panose="020E0502030303020204" pitchFamily="34" charset="0"/>
            </a:endParaRPr>
          </a:p>
        </p:txBody>
      </p:sp>
      <p:sp>
        <p:nvSpPr>
          <p:cNvPr id="12" name="TextBox 11">
            <a:extLst>
              <a:ext uri="{FF2B5EF4-FFF2-40B4-BE49-F238E27FC236}">
                <a16:creationId xmlns:a16="http://schemas.microsoft.com/office/drawing/2014/main" id="{898F056E-D1B2-79C5-3F6A-5729EE89E282}"/>
              </a:ext>
            </a:extLst>
          </p:cNvPr>
          <p:cNvSpPr txBox="1"/>
          <p:nvPr/>
        </p:nvSpPr>
        <p:spPr>
          <a:xfrm>
            <a:off x="904240" y="1725108"/>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Setup &amp; control</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Devices, sensors, and actuators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Online/offline from last device activity</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Sensor setup: type, unit, limits, chart style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MQTT commands with command history</a:t>
            </a:r>
            <a:br>
              <a:rPr lang="en-US" sz="1600" dirty="0">
                <a:solidFill>
                  <a:schemeClr val="bg1"/>
                </a:solidFill>
                <a:latin typeface="Candara" panose="020E0502030303020204" pitchFamily="34" charset="0"/>
              </a:rPr>
            </a:br>
            <a:endParaRPr lang="en-US" sz="1600" dirty="0">
              <a:solidFill>
                <a:schemeClr val="bg1"/>
              </a:solidFill>
              <a:latin typeface="Candara" panose="020E0502030303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65CC021A-72CE-05B3-F128-8961A57663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37E3973-C0D5-8B38-3C84-95C8DE2A8378}"/>
              </a:ext>
            </a:extLst>
          </p:cNvPr>
          <p:cNvSpPr/>
          <p:nvPr/>
        </p:nvSpPr>
        <p:spPr>
          <a:xfrm>
            <a:off x="609441" y="269047"/>
            <a:ext cx="10969943" cy="633819"/>
          </a:xfrm>
          <a:prstGeom prst="rect">
            <a:avLst/>
          </a:prstGeom>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Live Demo</a:t>
            </a:r>
            <a:endParaRPr lang="en-US" sz="3200" dirty="0">
              <a:solidFill>
                <a:prstClr val="black"/>
              </a:solidFill>
              <a:latin typeface="Candara" panose="020E0502030303020204" pitchFamily="34" charset="0"/>
            </a:endParaRPr>
          </a:p>
        </p:txBody>
      </p:sp>
      <p:sp>
        <p:nvSpPr>
          <p:cNvPr id="3" name="Text 1">
            <a:extLst>
              <a:ext uri="{FF2B5EF4-FFF2-40B4-BE49-F238E27FC236}">
                <a16:creationId xmlns:a16="http://schemas.microsoft.com/office/drawing/2014/main" id="{272AEF18-130E-3F69-26CA-C44381A5C292}"/>
              </a:ext>
            </a:extLst>
          </p:cNvPr>
          <p:cNvSpPr/>
          <p:nvPr/>
        </p:nvSpPr>
        <p:spPr>
          <a:xfrm>
            <a:off x="751680" y="815659"/>
            <a:ext cx="10969943" cy="341287"/>
          </a:xfrm>
          <a:prstGeom prst="rect">
            <a:avLst/>
          </a:prstGeom>
          <a:noFill/>
          <a:ln/>
        </p:spPr>
        <p:txBody>
          <a:bodyPr wrap="square" lIns="0" tIns="0" rIns="0" bIns="0" rtlCol="0" anchor="ctr"/>
          <a:lstStyle/>
          <a:p>
            <a:pPr defTabSz="1218895"/>
            <a:r>
              <a:rPr lang="en-US" sz="1866" i="1" dirty="0">
                <a:solidFill>
                  <a:srgbClr val="7DAE8E"/>
                </a:solidFill>
                <a:latin typeface="Candara" panose="020E0502030303020204" pitchFamily="34" charset="0"/>
                <a:ea typeface="Calibri" pitchFamily="34" charset="-122"/>
                <a:cs typeface="Calibri" pitchFamily="34" charset="-120"/>
              </a:rPr>
              <a:t>Watch one sensor reading travel the full stack — from edge device to dashboard — in real time.</a:t>
            </a:r>
            <a:endParaRPr lang="en-US" sz="1866" dirty="0">
              <a:solidFill>
                <a:prstClr val="black"/>
              </a:solidFill>
              <a:latin typeface="Candara" panose="020E0502030303020204" pitchFamily="34" charset="0"/>
            </a:endParaRPr>
          </a:p>
        </p:txBody>
      </p:sp>
      <p:sp>
        <p:nvSpPr>
          <p:cNvPr id="36" name="Text 25">
            <a:extLst>
              <a:ext uri="{FF2B5EF4-FFF2-40B4-BE49-F238E27FC236}">
                <a16:creationId xmlns:a16="http://schemas.microsoft.com/office/drawing/2014/main" id="{E7DDB44C-8339-48A6-1474-F1046F96E390}"/>
              </a:ext>
            </a:extLst>
          </p:cNvPr>
          <p:cNvSpPr/>
          <p:nvPr/>
        </p:nvSpPr>
        <p:spPr>
          <a:xfrm>
            <a:off x="751681" y="1282702"/>
            <a:ext cx="3656648" cy="292532"/>
          </a:xfrm>
          <a:prstGeom prst="rect">
            <a:avLst/>
          </a:prstGeom>
          <a:noFill/>
          <a:ln/>
        </p:spPr>
        <p:txBody>
          <a:bodyPr wrap="square" lIns="0" tIns="0" rIns="0" bIns="0" rtlCol="0" anchor="ctr"/>
          <a:lstStyle/>
          <a:p>
            <a:pPr defTabSz="1218895"/>
            <a:r>
              <a:rPr lang="en-US" sz="1600" b="1" kern="0" spc="267" dirty="0">
                <a:solidFill>
                  <a:srgbClr val="3DDB61"/>
                </a:solidFill>
                <a:latin typeface="Candara" panose="020E0502030303020204" pitchFamily="34" charset="0"/>
                <a:ea typeface="Calibri" pitchFamily="34" charset="-122"/>
                <a:cs typeface="Calibri" pitchFamily="34" charset="-120"/>
              </a:rPr>
              <a:t>DEMO CHECKLIST</a:t>
            </a:r>
            <a:endParaRPr lang="en-US" sz="1600" dirty="0">
              <a:solidFill>
                <a:prstClr val="black"/>
              </a:solidFill>
              <a:latin typeface="Candara" panose="020E0502030303020204" pitchFamily="34" charset="0"/>
            </a:endParaRPr>
          </a:p>
        </p:txBody>
      </p:sp>
      <p:sp>
        <p:nvSpPr>
          <p:cNvPr id="62" name="Text 51">
            <a:extLst>
              <a:ext uri="{FF2B5EF4-FFF2-40B4-BE49-F238E27FC236}">
                <a16:creationId xmlns:a16="http://schemas.microsoft.com/office/drawing/2014/main" id="{1435AD89-11A6-37AE-3085-064501179437}"/>
              </a:ext>
            </a:extLst>
          </p:cNvPr>
          <p:cNvSpPr/>
          <p:nvPr/>
        </p:nvSpPr>
        <p:spPr>
          <a:xfrm>
            <a:off x="10726166" y="6521914"/>
            <a:ext cx="1096994" cy="243777"/>
          </a:xfrm>
          <a:prstGeom prst="rect">
            <a:avLst/>
          </a:prstGeom>
          <a:noFill/>
          <a:ln/>
        </p:spPr>
        <p:txBody>
          <a:bodyPr wrap="square" lIns="0" tIns="0" rIns="0" bIns="0" rtlCol="0" anchor="ctr"/>
          <a:lstStyle/>
          <a:p>
            <a:pPr algn="r" defTabSz="1218895"/>
            <a:r>
              <a:rPr lang="en-US" sz="1866" dirty="0">
                <a:solidFill>
                  <a:srgbClr val="4A6A54"/>
                </a:solidFill>
                <a:latin typeface="Candara" panose="020E0502030303020204" pitchFamily="34" charset="0"/>
                <a:ea typeface="Calibri" pitchFamily="34" charset="-122"/>
                <a:cs typeface="Calibri" pitchFamily="34" charset="-120"/>
              </a:rPr>
              <a:t>11 / 14</a:t>
            </a:r>
            <a:endParaRPr lang="en-US" sz="1866" dirty="0">
              <a:solidFill>
                <a:prstClr val="black"/>
              </a:solidFill>
              <a:latin typeface="Candara" panose="020E0502030303020204" pitchFamily="34" charset="0"/>
            </a:endParaRPr>
          </a:p>
        </p:txBody>
      </p:sp>
      <p:graphicFrame>
        <p:nvGraphicFramePr>
          <p:cNvPr id="5" name="Table 4">
            <a:extLst>
              <a:ext uri="{FF2B5EF4-FFF2-40B4-BE49-F238E27FC236}">
                <a16:creationId xmlns:a16="http://schemas.microsoft.com/office/drawing/2014/main" id="{1727648E-3521-7726-9D70-1829D61253F1}"/>
              </a:ext>
            </a:extLst>
          </p:cNvPr>
          <p:cNvGraphicFramePr>
            <a:graphicFrameLocks noGrp="1"/>
          </p:cNvGraphicFramePr>
          <p:nvPr>
            <p:extLst>
              <p:ext uri="{D42A27DB-BD31-4B8C-83A1-F6EECF244321}">
                <p14:modId xmlns:p14="http://schemas.microsoft.com/office/powerpoint/2010/main" val="1975096064"/>
              </p:ext>
            </p:extLst>
          </p:nvPr>
        </p:nvGraphicFramePr>
        <p:xfrm>
          <a:off x="1073614" y="2075406"/>
          <a:ext cx="10041597" cy="3966935"/>
        </p:xfrm>
        <a:graphic>
          <a:graphicData uri="http://schemas.openxmlformats.org/drawingml/2006/table">
            <a:tbl>
              <a:tblPr>
                <a:tableStyleId>{ED083AE6-46FA-4A59-8FB0-9F97EB10719F}</a:tableStyleId>
              </a:tblPr>
              <a:tblGrid>
                <a:gridCol w="1202226">
                  <a:extLst>
                    <a:ext uri="{9D8B030D-6E8A-4147-A177-3AD203B41FA5}">
                      <a16:colId xmlns:a16="http://schemas.microsoft.com/office/drawing/2014/main" val="1731764252"/>
                    </a:ext>
                  </a:extLst>
                </a:gridCol>
                <a:gridCol w="4897120">
                  <a:extLst>
                    <a:ext uri="{9D8B030D-6E8A-4147-A177-3AD203B41FA5}">
                      <a16:colId xmlns:a16="http://schemas.microsoft.com/office/drawing/2014/main" val="3789202804"/>
                    </a:ext>
                  </a:extLst>
                </a:gridCol>
                <a:gridCol w="3942251">
                  <a:extLst>
                    <a:ext uri="{9D8B030D-6E8A-4147-A177-3AD203B41FA5}">
                      <a16:colId xmlns:a16="http://schemas.microsoft.com/office/drawing/2014/main" val="3423847706"/>
                    </a:ext>
                  </a:extLst>
                </a:gridCol>
              </a:tblGrid>
              <a:tr h="566705">
                <a:tc>
                  <a:txBody>
                    <a:bodyPr/>
                    <a:lstStyle/>
                    <a:p>
                      <a:pPr algn="ctr" fontAlgn="t">
                        <a:buNone/>
                      </a:pPr>
                      <a:r>
                        <a:rPr lang="en-US" sz="1800" b="1"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Step</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Show</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23352069"/>
                  </a:ext>
                </a:extLst>
              </a:tr>
              <a:tr h="566705">
                <a:tc>
                  <a:txBody>
                    <a:bodyPr/>
                    <a:lstStyle/>
                    <a:p>
                      <a:pPr algn="ctr" fontAlgn="t" latinLnBrk="0">
                        <a:buNone/>
                      </a:pPr>
                      <a:r>
                        <a:rPr lang="en-US" sz="1800">
                          <a:solidFill>
                            <a:schemeClr val="bg1"/>
                          </a:solidFill>
                          <a:effectLst/>
                          <a:latin typeface="Candara" panose="020E0502030303020204" pitchFamily="34" charset="0"/>
                        </a:rPr>
                        <a:t>1</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Register device; add sensors/actuators; alert rule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Dashboard configured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8407679"/>
                  </a:ext>
                </a:extLst>
              </a:tr>
              <a:tr h="566705">
                <a:tc>
                  <a:txBody>
                    <a:bodyPr/>
                    <a:lstStyle/>
                    <a:p>
                      <a:pPr algn="ctr" fontAlgn="t" latinLnBrk="0">
                        <a:buNone/>
                      </a:pPr>
                      <a:r>
                        <a:rPr lang="en-US" sz="1800">
                          <a:solidFill>
                            <a:schemeClr val="bg1"/>
                          </a:solidFill>
                          <a:effectLst/>
                          <a:latin typeface="Candara" panose="020E0502030303020204" pitchFamily="34" charset="0"/>
                        </a:rPr>
                        <a:t>2</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Connect Arduino; run firmware (local MQTT)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Serial + broker connected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11115892"/>
                  </a:ext>
                </a:extLst>
              </a:tr>
              <a:tr h="566705">
                <a:tc>
                  <a:txBody>
                    <a:bodyPr/>
                    <a:lstStyle/>
                    <a:p>
                      <a:pPr algn="ctr" fontAlgn="t" latinLnBrk="0">
                        <a:buNone/>
                      </a:pPr>
                      <a:r>
                        <a:rPr lang="en-US" sz="1800">
                          <a:solidFill>
                            <a:schemeClr val="bg1"/>
                          </a:solidFill>
                          <a:effectLst/>
                          <a:latin typeface="Candara" panose="020E0502030303020204" pitchFamily="34" charset="0"/>
                        </a:rPr>
                        <a:t>3</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Open Live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Line updates ~1/s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29209600"/>
                  </a:ext>
                </a:extLst>
              </a:tr>
              <a:tr h="566705">
                <a:tc>
                  <a:txBody>
                    <a:bodyPr/>
                    <a:lstStyle/>
                    <a:p>
                      <a:pPr algn="ctr" fontAlgn="t" latinLnBrk="0">
                        <a:buNone/>
                      </a:pPr>
                      <a:r>
                        <a:rPr lang="en-US" sz="1800">
                          <a:solidFill>
                            <a:schemeClr val="bg1"/>
                          </a:solidFill>
                          <a:effectLst/>
                          <a:latin typeface="Candara" panose="020E0502030303020204" pitchFamily="34" charset="0"/>
                        </a:rPr>
                        <a:t>4</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Send actuator command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LED on/off; command history</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4831086"/>
                  </a:ext>
                </a:extLst>
              </a:tr>
              <a:tr h="566705">
                <a:tc>
                  <a:txBody>
                    <a:bodyPr/>
                    <a:lstStyle/>
                    <a:p>
                      <a:pPr algn="ctr" fontAlgn="t" latinLnBrk="0">
                        <a:buNone/>
                      </a:pPr>
                      <a:r>
                        <a:rPr lang="en-US" sz="1800">
                          <a:solidFill>
                            <a:schemeClr val="bg1"/>
                          </a:solidFill>
                          <a:effectLst/>
                          <a:latin typeface="Candara" panose="020E0502030303020204" pitchFamily="34" charset="0"/>
                        </a:rPr>
                        <a:t>5</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Breach threshold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Alert appears (</a:t>
                      </a:r>
                      <a:r>
                        <a:rPr lang="en-US" sz="1800" dirty="0" err="1">
                          <a:solidFill>
                            <a:schemeClr val="bg1"/>
                          </a:solidFill>
                          <a:effectLst/>
                          <a:latin typeface="Candara" panose="020E0502030303020204" pitchFamily="34" charset="0"/>
                        </a:rPr>
                        <a:t>SignalR</a:t>
                      </a:r>
                      <a:r>
                        <a:rPr lang="en-US" sz="1800"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64469484"/>
                  </a:ext>
                </a:extLst>
              </a:tr>
              <a:tr h="566705">
                <a:tc>
                  <a:txBody>
                    <a:bodyPr/>
                    <a:lstStyle/>
                    <a:p>
                      <a:pPr algn="ctr" fontAlgn="t" latinLnBrk="0">
                        <a:buNone/>
                      </a:pPr>
                      <a:r>
                        <a:rPr lang="en-US" sz="1800" dirty="0">
                          <a:solidFill>
                            <a:schemeClr val="bg1"/>
                          </a:solidFill>
                          <a:effectLst/>
                          <a:latin typeface="Candara" panose="020E0502030303020204" pitchFamily="34" charset="0"/>
                        </a:rPr>
                        <a:t>6</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History range (e.g. 10m)</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Stored readings in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21547026"/>
                  </a:ext>
                </a:extLst>
              </a:tr>
            </a:tbl>
          </a:graphicData>
        </a:graphic>
      </p:graphicFrame>
    </p:spTree>
    <p:extLst>
      <p:ext uri="{BB962C8B-B14F-4D97-AF65-F5344CB8AC3E}">
        <p14:creationId xmlns:p14="http://schemas.microsoft.com/office/powerpoint/2010/main" val="2973294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342180"/>
            <a:ext cx="10969943" cy="731330"/>
          </a:xfrm>
          <a:prstGeom prst="rect">
            <a:avLst/>
          </a:prstGeom>
          <a:solidFill>
            <a:srgbClr val="0D2318"/>
          </a:solidFill>
          <a:ln>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Challenges &amp; Solutions</a:t>
            </a:r>
            <a:endParaRPr lang="en-US" sz="3200" dirty="0">
              <a:solidFill>
                <a:prstClr val="black"/>
              </a:solidFill>
              <a:latin typeface="Candara" panose="020E0502030303020204" pitchFamily="34" charset="0"/>
            </a:endParaRPr>
          </a:p>
        </p:txBody>
      </p:sp>
      <p:sp>
        <p:nvSpPr>
          <p:cNvPr id="3" name="Text 1"/>
          <p:cNvSpPr/>
          <p:nvPr/>
        </p:nvSpPr>
        <p:spPr>
          <a:xfrm>
            <a:off x="609440" y="1077862"/>
            <a:ext cx="10969943" cy="365665"/>
          </a:xfrm>
          <a:prstGeom prst="rect">
            <a:avLst/>
          </a:prstGeom>
          <a:solidFill>
            <a:srgbClr val="0D2318"/>
          </a:solidFill>
          <a:ln>
            <a:noFill/>
          </a:ln>
        </p:spPr>
        <p:txBody>
          <a:bodyPr wrap="square" lIns="0" tIns="0" rIns="0" bIns="0" rtlCol="0" anchor="ctr"/>
          <a:lstStyle/>
          <a:p>
            <a:pPr defTabSz="1218895"/>
            <a:r>
              <a:rPr lang="en-US" sz="1600" i="1" dirty="0">
                <a:solidFill>
                  <a:srgbClr val="7DAE8E"/>
                </a:solidFill>
                <a:latin typeface="Candara" panose="020E0502030303020204" pitchFamily="34" charset="0"/>
                <a:ea typeface="Calibri" pitchFamily="34" charset="-122"/>
                <a:cs typeface="Calibri" pitchFamily="34" charset="-120"/>
              </a:rPr>
              <a:t>Engineering decisions that address specific technical challenges.</a:t>
            </a:r>
            <a:endParaRPr lang="en-US" sz="1600" dirty="0">
              <a:solidFill>
                <a:prstClr val="black"/>
              </a:solidFill>
              <a:latin typeface="Candara" panose="020E0502030303020204" pitchFamily="34" charset="0"/>
            </a:endParaRPr>
          </a:p>
        </p:txBody>
      </p:sp>
      <p:sp>
        <p:nvSpPr>
          <p:cNvPr id="5" name="Shape 3"/>
          <p:cNvSpPr/>
          <p:nvPr/>
        </p:nvSpPr>
        <p:spPr>
          <a:xfrm>
            <a:off x="609441"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7" name="Image 0" descr="preencoded.png"/>
          <p:cNvPicPr>
            <a:picLocks noChangeAspect="1"/>
          </p:cNvPicPr>
          <p:nvPr/>
        </p:nvPicPr>
        <p:blipFill>
          <a:blip r:embed="rId3"/>
          <a:stretch>
            <a:fillRect/>
          </a:stretch>
        </p:blipFill>
        <p:spPr>
          <a:xfrm>
            <a:off x="828839" y="1756084"/>
            <a:ext cx="438798" cy="438798"/>
          </a:xfrm>
          <a:prstGeom prst="rect">
            <a:avLst/>
          </a:prstGeom>
          <a:solidFill>
            <a:srgbClr val="0D2318"/>
          </a:solidFill>
          <a:ln>
            <a:noFill/>
          </a:ln>
        </p:spPr>
      </p:pic>
      <p:sp>
        <p:nvSpPr>
          <p:cNvPr id="8" name="Text 5"/>
          <p:cNvSpPr/>
          <p:nvPr/>
        </p:nvSpPr>
        <p:spPr>
          <a:xfrm>
            <a:off x="1389525"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Real-Time Data Synchronization</a:t>
            </a:r>
            <a:endParaRPr lang="en-US" sz="1600" dirty="0">
              <a:solidFill>
                <a:prstClr val="black"/>
              </a:solidFill>
              <a:latin typeface="Candara" panose="020E0502030303020204" pitchFamily="34" charset="0"/>
            </a:endParaRPr>
          </a:p>
        </p:txBody>
      </p:sp>
      <p:sp>
        <p:nvSpPr>
          <p:cNvPr id="9" name="Shape 6"/>
          <p:cNvSpPr/>
          <p:nvPr/>
        </p:nvSpPr>
        <p:spPr>
          <a:xfrm>
            <a:off x="828839"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0" name="Text 7"/>
          <p:cNvSpPr/>
          <p:nvPr/>
        </p:nvSpPr>
        <p:spPr>
          <a:xfrm>
            <a:off x="828839" y="2353336"/>
            <a:ext cx="4974802" cy="428349"/>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Multi-client live sync without polling</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1" name="Text 8"/>
          <p:cNvSpPr/>
          <p:nvPr/>
        </p:nvSpPr>
        <p:spPr>
          <a:xfrm>
            <a:off x="828838" y="2752058"/>
            <a:ext cx="5326517" cy="463175"/>
          </a:xfrm>
          <a:prstGeom prst="rect">
            <a:avLst/>
          </a:prstGeom>
          <a:solidFill>
            <a:srgbClr val="0D2318"/>
          </a:solidFill>
          <a:ln>
            <a:noFill/>
          </a:ln>
        </p:spPr>
        <p:txBody>
          <a:bodyPr wrap="square" lIns="0" tIns="0" rIns="0" bIns="0" rtlCol="0" anchor="t"/>
          <a:lstStyle/>
          <a:p>
            <a:pPr defTabSz="1218895"/>
            <a:r>
              <a:rPr lang="en-US" sz="1600" b="1" dirty="0">
                <a:solidFill>
                  <a:srgbClr val="3DDB61"/>
                </a:solidFill>
                <a:latin typeface="Candara" panose="020E0502030303020204" pitchFamily="34" charset="0"/>
                <a:ea typeface="Calibri" pitchFamily="34" charset="-122"/>
                <a:cs typeface="Calibri" pitchFamily="34" charset="-120"/>
              </a:rPr>
              <a:t>Solution  </a:t>
            </a:r>
            <a:r>
              <a:rPr lang="en-US" sz="1600" dirty="0" err="1">
                <a:solidFill>
                  <a:srgbClr val="C8DDD0"/>
                </a:solidFill>
                <a:latin typeface="Candara" panose="020E0502030303020204" pitchFamily="34" charset="0"/>
                <a:ea typeface="Calibri" pitchFamily="34" charset="-122"/>
                <a:cs typeface="Calibri" pitchFamily="34" charset="-120"/>
              </a:rPr>
              <a:t>SignalR</a:t>
            </a:r>
            <a:r>
              <a:rPr lang="en-US" sz="1600" dirty="0">
                <a:solidFill>
                  <a:srgbClr val="C8DDD0"/>
                </a:solidFill>
                <a:latin typeface="Candara" panose="020E0502030303020204" pitchFamily="34" charset="0"/>
                <a:ea typeface="Calibri" pitchFamily="34" charset="-122"/>
                <a:cs typeface="Calibri" pitchFamily="34" charset="-120"/>
              </a:rPr>
              <a:t> groups; push after save.</a:t>
            </a:r>
            <a:endParaRPr lang="en-US" sz="1600" dirty="0">
              <a:solidFill>
                <a:prstClr val="black"/>
              </a:solidFill>
              <a:latin typeface="Candara" panose="020E0502030303020204" pitchFamily="34" charset="0"/>
            </a:endParaRPr>
          </a:p>
        </p:txBody>
      </p:sp>
      <p:sp>
        <p:nvSpPr>
          <p:cNvPr id="13" name="Shape 10"/>
          <p:cNvSpPr/>
          <p:nvPr/>
        </p:nvSpPr>
        <p:spPr>
          <a:xfrm>
            <a:off x="6399133"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15" name="Image 1" descr="preencoded.png"/>
          <p:cNvPicPr>
            <a:picLocks noChangeAspect="1"/>
          </p:cNvPicPr>
          <p:nvPr/>
        </p:nvPicPr>
        <p:blipFill>
          <a:blip r:embed="rId4"/>
          <a:stretch>
            <a:fillRect/>
          </a:stretch>
        </p:blipFill>
        <p:spPr>
          <a:xfrm>
            <a:off x="6618531" y="1756084"/>
            <a:ext cx="438798" cy="438798"/>
          </a:xfrm>
          <a:prstGeom prst="rect">
            <a:avLst/>
          </a:prstGeom>
          <a:solidFill>
            <a:srgbClr val="0D2318"/>
          </a:solidFill>
          <a:ln>
            <a:noFill/>
          </a:ln>
        </p:spPr>
      </p:pic>
      <p:sp>
        <p:nvSpPr>
          <p:cNvPr id="16" name="Text 12"/>
          <p:cNvSpPr/>
          <p:nvPr/>
        </p:nvSpPr>
        <p:spPr>
          <a:xfrm>
            <a:off x="7179217"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High-Volume Time-Series Storage</a:t>
            </a:r>
            <a:endParaRPr lang="en-US" sz="1600" dirty="0">
              <a:solidFill>
                <a:prstClr val="black"/>
              </a:solidFill>
              <a:latin typeface="Candara" panose="020E0502030303020204" pitchFamily="34" charset="0"/>
            </a:endParaRPr>
          </a:p>
        </p:txBody>
      </p:sp>
      <p:sp>
        <p:nvSpPr>
          <p:cNvPr id="17" name="Shape 13"/>
          <p:cNvSpPr/>
          <p:nvPr/>
        </p:nvSpPr>
        <p:spPr>
          <a:xfrm>
            <a:off x="6618531"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8" name="Text 14"/>
          <p:cNvSpPr/>
          <p:nvPr/>
        </p:nvSpPr>
        <p:spPr>
          <a:xfrm>
            <a:off x="6618531" y="2353336"/>
            <a:ext cx="5107118" cy="479718"/>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Fast queries on growing reading table</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9" name="Text 15"/>
          <p:cNvSpPr/>
          <p:nvPr/>
        </p:nvSpPr>
        <p:spPr>
          <a:xfrm>
            <a:off x="6618531" y="2734588"/>
            <a:ext cx="5107118" cy="463175"/>
          </a:xfrm>
          <a:prstGeom prst="rect">
            <a:avLst/>
          </a:prstGeom>
          <a:solidFill>
            <a:srgbClr val="0D2318"/>
          </a:solidFill>
          <a:ln>
            <a:noFill/>
          </a:ln>
        </p:spPr>
        <p:txBody>
          <a:bodyPr wrap="square" lIns="0" tIns="0" rIns="0" bIns="0" rtlCol="0" anchor="t"/>
          <a:lstStyle/>
          <a:p>
            <a:pPr defTabSz="1218895"/>
            <a:r>
              <a:rPr lang="en-US" sz="1600" b="1" dirty="0">
                <a:solidFill>
                  <a:srgbClr val="00BCD4"/>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BIGINT key, indexes, paged date filters</a:t>
            </a:r>
            <a:endParaRPr lang="en-US" sz="1600" dirty="0">
              <a:solidFill>
                <a:prstClr val="black"/>
              </a:solidFill>
              <a:latin typeface="Candara" panose="020E0502030303020204" pitchFamily="34" charset="0"/>
            </a:endParaRPr>
          </a:p>
        </p:txBody>
      </p:sp>
      <p:pic>
        <p:nvPicPr>
          <p:cNvPr id="23" name="Image 2" descr="preencoded.png"/>
          <p:cNvPicPr>
            <a:picLocks noChangeAspect="1"/>
          </p:cNvPicPr>
          <p:nvPr/>
        </p:nvPicPr>
        <p:blipFill>
          <a:blip r:embed="rId5"/>
          <a:stretch>
            <a:fillRect/>
          </a:stretch>
        </p:blipFill>
        <p:spPr>
          <a:xfrm>
            <a:off x="828839" y="4301088"/>
            <a:ext cx="438798" cy="438798"/>
          </a:xfrm>
          <a:prstGeom prst="rect">
            <a:avLst/>
          </a:prstGeom>
          <a:solidFill>
            <a:srgbClr val="0D2318"/>
          </a:solidFill>
          <a:ln>
            <a:noFill/>
          </a:ln>
        </p:spPr>
      </p:pic>
      <p:sp>
        <p:nvSpPr>
          <p:cNvPr id="24" name="Text 19"/>
          <p:cNvSpPr/>
          <p:nvPr/>
        </p:nvSpPr>
        <p:spPr>
          <a:xfrm>
            <a:off x="1389525" y="4276711"/>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Cross-Layer Data Flow Design</a:t>
            </a:r>
            <a:endParaRPr lang="en-US" sz="1600" dirty="0">
              <a:solidFill>
                <a:prstClr val="black"/>
              </a:solidFill>
              <a:latin typeface="Candara" panose="020E0502030303020204" pitchFamily="34" charset="0"/>
            </a:endParaRPr>
          </a:p>
        </p:txBody>
      </p:sp>
      <p:sp>
        <p:nvSpPr>
          <p:cNvPr id="25" name="Shape 20"/>
          <p:cNvSpPr/>
          <p:nvPr/>
        </p:nvSpPr>
        <p:spPr>
          <a:xfrm>
            <a:off x="828839" y="4813019"/>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26" name="Text 21"/>
          <p:cNvSpPr/>
          <p:nvPr/>
        </p:nvSpPr>
        <p:spPr>
          <a:xfrm>
            <a:off x="828839" y="4898341"/>
            <a:ext cx="5107118" cy="345640"/>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Clean path from device to chart</a:t>
            </a:r>
            <a:endParaRPr lang="en-US" sz="1600" dirty="0">
              <a:solidFill>
                <a:prstClr val="black"/>
              </a:solidFill>
              <a:latin typeface="Candara" panose="020E0502030303020204" pitchFamily="34" charset="0"/>
            </a:endParaRPr>
          </a:p>
        </p:txBody>
      </p:sp>
      <p:sp>
        <p:nvSpPr>
          <p:cNvPr id="27" name="Text 22"/>
          <p:cNvSpPr/>
          <p:nvPr/>
        </p:nvSpPr>
        <p:spPr>
          <a:xfrm>
            <a:off x="828839" y="5271339"/>
            <a:ext cx="4498941" cy="413122"/>
          </a:xfrm>
          <a:prstGeom prst="rect">
            <a:avLst/>
          </a:prstGeom>
          <a:solidFill>
            <a:srgbClr val="0D2318"/>
          </a:solidFill>
          <a:ln>
            <a:noFill/>
          </a:ln>
        </p:spPr>
        <p:txBody>
          <a:bodyPr wrap="square" lIns="0" tIns="0" rIns="0" bIns="0" rtlCol="0" anchor="t"/>
          <a:lstStyle/>
          <a:p>
            <a:pPr defTabSz="1218895"/>
            <a:r>
              <a:rPr lang="en-US" sz="1600" b="1" dirty="0">
                <a:solidFill>
                  <a:srgbClr val="F59E0B"/>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API → DB → </a:t>
            </a:r>
            <a:r>
              <a:rPr lang="en-US" sz="1600" b="1" dirty="0" err="1">
                <a:solidFill>
                  <a:srgbClr val="C8DDD0"/>
                </a:solidFill>
                <a:latin typeface="Candara" panose="020E0502030303020204" pitchFamily="34" charset="0"/>
                <a:ea typeface="Calibri" pitchFamily="34" charset="-122"/>
                <a:cs typeface="Calibri" pitchFamily="34" charset="-120"/>
              </a:rPr>
              <a:t>SignalR</a:t>
            </a:r>
            <a:r>
              <a:rPr lang="en-US" sz="1600" b="1" dirty="0">
                <a:solidFill>
                  <a:srgbClr val="C8DDD0"/>
                </a:solidFill>
                <a:latin typeface="Candara" panose="020E0502030303020204" pitchFamily="34" charset="0"/>
                <a:ea typeface="Calibri" pitchFamily="34" charset="-122"/>
                <a:cs typeface="Calibri" pitchFamily="34" charset="-120"/>
              </a:rPr>
              <a:t> → React</a:t>
            </a:r>
            <a:endParaRPr lang="en-US" sz="1600" dirty="0">
              <a:solidFill>
                <a:prstClr val="black"/>
              </a:solidFill>
              <a:latin typeface="Candara" panose="020E0502030303020204" pitchFamily="34" charset="0"/>
            </a:endParaRPr>
          </a:p>
        </p:txBody>
      </p:sp>
      <p:sp>
        <p:nvSpPr>
          <p:cNvPr id="29" name="Shape 24"/>
          <p:cNvSpPr/>
          <p:nvPr/>
        </p:nvSpPr>
        <p:spPr>
          <a:xfrm>
            <a:off x="6399133" y="4005792"/>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31" name="Image 3" descr="preencoded.png"/>
          <p:cNvPicPr>
            <a:picLocks noChangeAspect="1"/>
          </p:cNvPicPr>
          <p:nvPr/>
        </p:nvPicPr>
        <p:blipFill>
          <a:blip r:embed="rId6"/>
          <a:stretch>
            <a:fillRect/>
          </a:stretch>
        </p:blipFill>
        <p:spPr>
          <a:xfrm>
            <a:off x="6618531" y="4176436"/>
            <a:ext cx="438798" cy="438798"/>
          </a:xfrm>
          <a:prstGeom prst="rect">
            <a:avLst/>
          </a:prstGeom>
          <a:solidFill>
            <a:srgbClr val="0D2318"/>
          </a:solidFill>
          <a:ln>
            <a:noFill/>
          </a:ln>
        </p:spPr>
      </p:pic>
      <p:sp>
        <p:nvSpPr>
          <p:cNvPr id="32" name="Text 26"/>
          <p:cNvSpPr/>
          <p:nvPr/>
        </p:nvSpPr>
        <p:spPr>
          <a:xfrm>
            <a:off x="7179217" y="4152058"/>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Edge Device Compatibility</a:t>
            </a:r>
            <a:endParaRPr lang="en-US" sz="1600" dirty="0">
              <a:solidFill>
                <a:prstClr val="black"/>
              </a:solidFill>
              <a:latin typeface="Candara" panose="020E0502030303020204" pitchFamily="34" charset="0"/>
            </a:endParaRPr>
          </a:p>
        </p:txBody>
      </p:sp>
      <p:sp>
        <p:nvSpPr>
          <p:cNvPr id="33" name="Shape 27"/>
          <p:cNvSpPr/>
          <p:nvPr/>
        </p:nvSpPr>
        <p:spPr>
          <a:xfrm>
            <a:off x="6618531" y="4688367"/>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34" name="Text 28"/>
          <p:cNvSpPr/>
          <p:nvPr/>
        </p:nvSpPr>
        <p:spPr>
          <a:xfrm>
            <a:off x="6618531" y="4773688"/>
            <a:ext cx="5107118" cy="376983"/>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Same backend API for multiple edge platform</a:t>
            </a:r>
            <a:endParaRPr lang="en-US" sz="1600" dirty="0">
              <a:solidFill>
                <a:prstClr val="black"/>
              </a:solidFill>
              <a:latin typeface="Candara" panose="020E0502030303020204" pitchFamily="34" charset="0"/>
            </a:endParaRPr>
          </a:p>
        </p:txBody>
      </p:sp>
      <p:sp>
        <p:nvSpPr>
          <p:cNvPr id="35" name="Text 29"/>
          <p:cNvSpPr/>
          <p:nvPr/>
        </p:nvSpPr>
        <p:spPr>
          <a:xfrm>
            <a:off x="6618531" y="5167138"/>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A78BFA"/>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JSON, REST for tests, shared device model: device/sensor</a:t>
            </a:r>
            <a:endParaRPr lang="en-US" sz="1600" dirty="0">
              <a:solidFill>
                <a:prstClr val="black"/>
              </a:solidFill>
              <a:latin typeface="Candara" panose="020E0502030303020204" pitchFamily="34" charset="0"/>
            </a:endParaRPr>
          </a:p>
        </p:txBody>
      </p:sp>
      <p:sp>
        <p:nvSpPr>
          <p:cNvPr id="36" name="Text 30"/>
          <p:cNvSpPr/>
          <p:nvPr/>
        </p:nvSpPr>
        <p:spPr>
          <a:xfrm>
            <a:off x="10726166" y="6004760"/>
            <a:ext cx="1096994" cy="268154"/>
          </a:xfrm>
          <a:prstGeom prst="rect">
            <a:avLst/>
          </a:prstGeom>
          <a:solidFill>
            <a:srgbClr val="0D2318"/>
          </a:solidFill>
          <a:ln>
            <a:noFill/>
          </a:ln>
        </p:spPr>
        <p:txBody>
          <a:bodyPr wrap="square" lIns="0" tIns="0" rIns="0" bIns="0" rtlCol="0" anchor="ctr"/>
          <a:lstStyle/>
          <a:p>
            <a:pPr algn="r" defTabSz="1218895"/>
            <a:r>
              <a:rPr lang="en-US" sz="1600" dirty="0">
                <a:solidFill>
                  <a:srgbClr val="4A6A54"/>
                </a:solidFill>
                <a:latin typeface="Candara" panose="020E0502030303020204" pitchFamily="34" charset="0"/>
                <a:ea typeface="Calibri" pitchFamily="34" charset="-122"/>
                <a:cs typeface="Calibri" pitchFamily="34" charset="-120"/>
              </a:rPr>
              <a:t>12 / 14</a:t>
            </a:r>
            <a:endParaRPr lang="en-US" sz="1600" dirty="0">
              <a:solidFill>
                <a:prstClr val="black"/>
              </a:solidFill>
              <a:latin typeface="Candara" panose="020E0502030303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018"/>
        </a:solidFill>
        <a:effectLst/>
      </p:bgPr>
    </p:bg>
    <p:spTree>
      <p:nvGrpSpPr>
        <p:cNvPr id="1" name=""/>
        <p:cNvGrpSpPr/>
        <p:nvPr/>
      </p:nvGrpSpPr>
      <p:grpSpPr>
        <a:xfrm>
          <a:off x="0" y="0"/>
          <a:ext cx="0" cy="0"/>
          <a:chOff x="0" y="0"/>
          <a:chExt cx="0" cy="0"/>
        </a:xfrm>
      </p:grpSpPr>
      <p:sp>
        <p:nvSpPr>
          <p:cNvPr id="2" name="Text 0"/>
          <p:cNvSpPr/>
          <p:nvPr/>
        </p:nvSpPr>
        <p:spPr>
          <a:xfrm>
            <a:off x="548497" y="269047"/>
            <a:ext cx="11091831" cy="731330"/>
          </a:xfrm>
          <a:prstGeom prst="rect">
            <a:avLst/>
          </a:prstGeom>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Calibri" pitchFamily="34" charset="-120"/>
              </a:rPr>
              <a:t>Conclusion &amp; Future Work</a:t>
            </a:r>
            <a:endParaRPr lang="en-US" sz="2800" dirty="0">
              <a:solidFill>
                <a:prstClr val="black"/>
              </a:solidFill>
              <a:latin typeface="Candara" panose="020E0502030303020204" pitchFamily="34" charset="0"/>
            </a:endParaRPr>
          </a:p>
        </p:txBody>
      </p:sp>
      <p:sp>
        <p:nvSpPr>
          <p:cNvPr id="3" name="Text 1"/>
          <p:cNvSpPr/>
          <p:nvPr/>
        </p:nvSpPr>
        <p:spPr>
          <a:xfrm>
            <a:off x="548497" y="1000377"/>
            <a:ext cx="11091831" cy="390042"/>
          </a:xfrm>
          <a:prstGeom prst="rect">
            <a:avLst/>
          </a:prstGeom>
          <a:noFill/>
          <a:ln/>
        </p:spPr>
        <p:txBody>
          <a:bodyPr wrap="square" lIns="0" tIns="0" rIns="0" bIns="0" rtlCol="0" anchor="ctr"/>
          <a:lstStyle/>
          <a:p>
            <a:pPr defTabSz="1218895"/>
            <a:r>
              <a:rPr lang="en-US" sz="1866" b="1" dirty="0">
                <a:solidFill>
                  <a:srgbClr val="FFE600"/>
                </a:solidFill>
                <a:latin typeface="Candara" panose="020E0502030303020204" pitchFamily="34" charset="0"/>
                <a:ea typeface="Calibri" pitchFamily="34" charset="-122"/>
                <a:cs typeface="Calibri" pitchFamily="34" charset="-120"/>
              </a:rPr>
              <a:t>What we delivered  →  What comes next</a:t>
            </a:r>
            <a:endParaRPr lang="en-US" sz="1866" dirty="0">
              <a:solidFill>
                <a:prstClr val="black"/>
              </a:solidFill>
              <a:latin typeface="Candara" panose="020E0502030303020204" pitchFamily="34" charset="0"/>
            </a:endParaRPr>
          </a:p>
        </p:txBody>
      </p:sp>
      <p:sp>
        <p:nvSpPr>
          <p:cNvPr id="4" name="Shape 2"/>
          <p:cNvSpPr/>
          <p:nvPr/>
        </p:nvSpPr>
        <p:spPr>
          <a:xfrm>
            <a:off x="548497" y="1439417"/>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6" name="Shape 4"/>
          <p:cNvSpPr/>
          <p:nvPr/>
        </p:nvSpPr>
        <p:spPr>
          <a:xfrm>
            <a:off x="6204112" y="1439174"/>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8" name="Text 6"/>
          <p:cNvSpPr/>
          <p:nvPr/>
        </p:nvSpPr>
        <p:spPr>
          <a:xfrm>
            <a:off x="1524611" y="1609818"/>
            <a:ext cx="3656648"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What we achieved</a:t>
            </a:r>
            <a:endParaRPr lang="en-US" sz="1866" dirty="0">
              <a:solidFill>
                <a:prstClr val="black"/>
              </a:solidFill>
              <a:latin typeface="Candara" panose="020E0502030303020204" pitchFamily="34" charset="0"/>
            </a:endParaRPr>
          </a:p>
        </p:txBody>
      </p:sp>
      <p:pic>
        <p:nvPicPr>
          <p:cNvPr id="9" name="Image 0" descr="preencoded.png"/>
          <p:cNvPicPr>
            <a:picLocks noChangeAspect="1"/>
          </p:cNvPicPr>
          <p:nvPr/>
        </p:nvPicPr>
        <p:blipFill>
          <a:blip r:embed="rId3"/>
          <a:stretch>
            <a:fillRect/>
          </a:stretch>
        </p:blipFill>
        <p:spPr>
          <a:xfrm>
            <a:off x="951736" y="1729688"/>
            <a:ext cx="487553" cy="487553"/>
          </a:xfrm>
          <a:prstGeom prst="rect">
            <a:avLst/>
          </a:prstGeom>
        </p:spPr>
      </p:pic>
      <p:sp>
        <p:nvSpPr>
          <p:cNvPr id="10" name="Text 7"/>
          <p:cNvSpPr/>
          <p:nvPr/>
        </p:nvSpPr>
        <p:spPr>
          <a:xfrm>
            <a:off x="1060427" y="2300619"/>
            <a:ext cx="4875530" cy="3778536"/>
          </a:xfrm>
          <a:prstGeom prst="rect">
            <a:avLst/>
          </a:prstGeom>
          <a:noFill/>
          <a:ln/>
        </p:spPr>
        <p:txBody>
          <a:bodyPr wrap="square" lIns="0" tIns="0" rIns="0" bIns="0" rtlCol="0" anchor="t"/>
          <a:lstStyle/>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MQTT → API → SQL Server → SignalR → React</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end to end pipeline</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11-table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SQL Server schema with EF </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ASP.NET Core 8</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API: REST, JWT roles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SignalR</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live readings, alerts, device status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React UI</a:t>
            </a:r>
            <a:r>
              <a:rPr lang="en-US" sz="1866" dirty="0">
                <a:solidFill>
                  <a:schemeClr val="bg1"/>
                </a:solidFill>
                <a:latin typeface="Candara" panose="020E0502030303020204" pitchFamily="34" charset="0"/>
                <a:ea typeface="Calibri" pitchFamily="34" charset="-122"/>
                <a:cs typeface="Calibri" pitchFamily="34" charset="-120"/>
              </a:rPr>
              <a:t>: dashboards, charts, gauges, actuators, command history</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Arduino</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firmware (local/cloud MQTT) with live demo</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Git/GitHub</a:t>
            </a:r>
            <a:r>
              <a:rPr lang="en-US" sz="1866" dirty="0">
                <a:solidFill>
                  <a:srgbClr val="86C29A"/>
                </a:solidFill>
                <a:latin typeface="Candara" panose="020E0502030303020204" pitchFamily="34" charset="0"/>
                <a:ea typeface="Calibri" pitchFamily="34" charset="-122"/>
                <a:cs typeface="Calibri" pitchFamily="34" charset="-120"/>
              </a:rPr>
              <a:t> and </a:t>
            </a:r>
            <a:r>
              <a:rPr lang="en-US" sz="1866" b="1" dirty="0">
                <a:solidFill>
                  <a:srgbClr val="4ADE80"/>
                </a:solidFill>
                <a:latin typeface="Candara" panose="020E0502030303020204" pitchFamily="34" charset="0"/>
                <a:ea typeface="Calibri" pitchFamily="34" charset="-122"/>
                <a:cs typeface="Calibri" pitchFamily="34" charset="-120"/>
              </a:rPr>
              <a:t>Azure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deployment workflows</a:t>
            </a:r>
            <a:endParaRPr lang="en-US" sz="1866" dirty="0">
              <a:solidFill>
                <a:schemeClr val="bg1"/>
              </a:solidFill>
              <a:latin typeface="Candara" panose="020E0502030303020204" pitchFamily="34" charset="0"/>
            </a:endParaRPr>
          </a:p>
        </p:txBody>
      </p:sp>
      <p:sp>
        <p:nvSpPr>
          <p:cNvPr id="11" name="Text 8"/>
          <p:cNvSpPr/>
          <p:nvPr/>
        </p:nvSpPr>
        <p:spPr>
          <a:xfrm>
            <a:off x="7331577" y="1664707"/>
            <a:ext cx="4144201"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Future enhancements</a:t>
            </a:r>
            <a:endParaRPr lang="en-US" sz="1866" dirty="0">
              <a:solidFill>
                <a:prstClr val="black"/>
              </a:solidFill>
              <a:latin typeface="Candara" panose="020E0502030303020204" pitchFamily="34" charset="0"/>
            </a:endParaRPr>
          </a:p>
        </p:txBody>
      </p:sp>
      <p:pic>
        <p:nvPicPr>
          <p:cNvPr id="12" name="Image 1" descr="preencoded.png"/>
          <p:cNvPicPr>
            <a:picLocks noChangeAspect="1"/>
          </p:cNvPicPr>
          <p:nvPr/>
        </p:nvPicPr>
        <p:blipFill>
          <a:blip r:embed="rId4"/>
          <a:stretch>
            <a:fillRect/>
          </a:stretch>
        </p:blipFill>
        <p:spPr>
          <a:xfrm>
            <a:off x="6656551" y="1773357"/>
            <a:ext cx="487553" cy="487553"/>
          </a:xfrm>
          <a:prstGeom prst="rect">
            <a:avLst/>
          </a:prstGeom>
        </p:spPr>
      </p:pic>
      <p:sp>
        <p:nvSpPr>
          <p:cNvPr id="13" name="Text 9"/>
          <p:cNvSpPr/>
          <p:nvPr/>
        </p:nvSpPr>
        <p:spPr>
          <a:xfrm>
            <a:off x="6813553" y="2285288"/>
            <a:ext cx="4400166" cy="3778536"/>
          </a:xfrm>
          <a:prstGeom prst="rect">
            <a:avLst/>
          </a:prstGeom>
          <a:noFill/>
          <a:ln/>
        </p:spPr>
        <p:txBody>
          <a:bodyPr wrap="square" lIns="0" tIns="0" rIns="0" bIns="0" rtlCol="0" anchor="t"/>
          <a:lstStyle/>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Automated </a:t>
            </a:r>
            <a:r>
              <a:rPr lang="en-US" sz="1866" b="1" dirty="0">
                <a:solidFill>
                  <a:srgbClr val="4ADE80"/>
                </a:solidFill>
                <a:latin typeface="Candara" panose="020E0502030303020204" pitchFamily="34" charset="0"/>
                <a:ea typeface="Calibri" pitchFamily="34" charset="-122"/>
                <a:cs typeface="Calibri" pitchFamily="34" charset="-120"/>
              </a:rPr>
              <a:t>data retention / archiving</a:t>
            </a:r>
            <a:r>
              <a:rPr lang="en-US" sz="1866" dirty="0">
                <a:solidFill>
                  <a:srgbClr val="86C29A"/>
                </a:solidFill>
                <a:latin typeface="Candara" panose="020E0502030303020204" pitchFamily="34" charset="0"/>
                <a:ea typeface="Calibri" pitchFamily="34" charset="-122"/>
                <a:cs typeface="Calibri" pitchFamily="34" charset="-120"/>
              </a:rPr>
              <a:t> for growing time-series data</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Multi-tenant</a:t>
            </a:r>
            <a:r>
              <a:rPr lang="en-US" sz="1866" dirty="0">
                <a:solidFill>
                  <a:srgbClr val="86C29A"/>
                </a:solidFill>
                <a:latin typeface="Candara" panose="020E0502030303020204" pitchFamily="34" charset="0"/>
                <a:ea typeface="Calibri" pitchFamily="34" charset="-122"/>
                <a:cs typeface="Calibri" pitchFamily="34" charset="-120"/>
              </a:rPr>
              <a:t> or multi-site support</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Mobile</a:t>
            </a:r>
            <a:r>
              <a:rPr lang="en-US" sz="1866" dirty="0">
                <a:solidFill>
                  <a:srgbClr val="86C29A"/>
                </a:solidFill>
                <a:latin typeface="Candara" panose="020E0502030303020204" pitchFamily="34" charset="0"/>
                <a:ea typeface="Calibri" pitchFamily="34" charset="-122"/>
                <a:cs typeface="Calibri" pitchFamily="34" charset="-120"/>
              </a:rPr>
              <a:t> app for field operators</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ML</a:t>
            </a:r>
            <a:r>
              <a:rPr lang="en-US" sz="1866" dirty="0">
                <a:solidFill>
                  <a:srgbClr val="86C29A"/>
                </a:solidFill>
                <a:latin typeface="Candara" panose="020E0502030303020204" pitchFamily="34" charset="0"/>
                <a:ea typeface="Calibri" pitchFamily="34" charset="-122"/>
                <a:cs typeface="Calibri" pitchFamily="34" charset="-120"/>
              </a:rPr>
              <a:t> anomaly detection and predictive maintenance</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Broader </a:t>
            </a:r>
            <a:r>
              <a:rPr lang="en-US" sz="1866" b="1" dirty="0">
                <a:solidFill>
                  <a:srgbClr val="4ADE80"/>
                </a:solidFill>
                <a:latin typeface="Candara" panose="020E0502030303020204" pitchFamily="34" charset="0"/>
                <a:ea typeface="Calibri" pitchFamily="34" charset="-122"/>
                <a:cs typeface="Calibri" pitchFamily="34" charset="-120"/>
              </a:rPr>
              <a:t>edge integrations</a:t>
            </a:r>
            <a:r>
              <a:rPr lang="en-US" sz="1866" dirty="0">
                <a:solidFill>
                  <a:srgbClr val="86C29A"/>
                </a:solidFill>
                <a:latin typeface="Candara" panose="020E0502030303020204" pitchFamily="34" charset="0"/>
                <a:ea typeface="Calibri" pitchFamily="34" charset="-122"/>
                <a:cs typeface="Calibri" pitchFamily="34" charset="-120"/>
              </a:rPr>
              <a:t> (ESP32, Raspberry Pi)</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Production hardening</a:t>
            </a:r>
            <a:r>
              <a:rPr lang="en-US" sz="1866" dirty="0">
                <a:solidFill>
                  <a:srgbClr val="86C29A"/>
                </a:solidFill>
                <a:latin typeface="Candara" panose="020E0502030303020204" pitchFamily="34" charset="0"/>
                <a:ea typeface="Calibri" pitchFamily="34" charset="-122"/>
                <a:cs typeface="Calibri" pitchFamily="34" charset="-120"/>
              </a:rPr>
              <a:t>: monitoring, scaling, and operations</a:t>
            </a:r>
            <a:endParaRPr lang="en-US" sz="1866" dirty="0">
              <a:solidFill>
                <a:prstClr val="black"/>
              </a:solidFill>
              <a:latin typeface="Candara" panose="020E0502030303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75467E3A-105B-B56B-CDF3-EDA3FF5F00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3A3327-609A-B095-600C-144E12DC0418}"/>
              </a:ext>
            </a:extLst>
          </p:cNvPr>
          <p:cNvSpPr/>
          <p:nvPr/>
        </p:nvSpPr>
        <p:spPr>
          <a:xfrm>
            <a:off x="2875634" y="4858141"/>
            <a:ext cx="4556117" cy="670385"/>
          </a:xfrm>
          <a:prstGeom prst="rect">
            <a:avLst/>
          </a:prstGeom>
          <a:solidFill>
            <a:srgbClr val="0A1F10"/>
          </a:solidFill>
          <a:ln>
            <a:noFill/>
          </a:ln>
        </p:spPr>
        <p:txBody>
          <a:bodyPr wrap="square" lIns="0" tIns="0" rIns="0" bIns="0" rtlCol="0" anchor="ctr"/>
          <a:lstStyle/>
          <a:p>
            <a:pPr marL="0" marR="0" lvl="0" indent="0" algn="l" defTabSz="1218895" rtl="0" eaLnBrk="1" fontAlgn="auto" latinLnBrk="0" hangingPunct="1">
              <a:lnSpc>
                <a:spcPct val="100000"/>
              </a:lnSpc>
              <a:spcBef>
                <a:spcPts val="0"/>
              </a:spcBef>
              <a:spcAft>
                <a:spcPts val="0"/>
              </a:spcAft>
              <a:buClrTx/>
              <a:buSzTx/>
              <a:buFontTx/>
              <a:buNone/>
              <a:tabLst/>
              <a:defRPr/>
            </a:pPr>
            <a:r>
              <a:rPr lang="en-US" sz="3200" b="1" dirty="0">
                <a:solidFill>
                  <a:srgbClr val="00B050"/>
                </a:solidFill>
                <a:latin typeface="Candara" panose="020E0502030303020204" pitchFamily="34" charset="0"/>
                <a:ea typeface="Calibri" pitchFamily="34" charset="-122"/>
                <a:cs typeface="Calibri" pitchFamily="34" charset="-120"/>
              </a:rPr>
              <a:t>End Of Presentation</a:t>
            </a:r>
            <a:endParaRPr kumimoji="0" lang="en-US" sz="3999" b="0" i="0" u="none" strike="noStrike" kern="1200" cap="none" spc="0" normalizeH="0" baseline="0" noProof="0" dirty="0">
              <a:ln>
                <a:noFill/>
              </a:ln>
              <a:solidFill>
                <a:srgbClr val="00B050"/>
              </a:solidFill>
              <a:effectLst/>
              <a:uLnTx/>
              <a:uFillTx/>
              <a:latin typeface="Candara" panose="020E0502030303020204" pitchFamily="34" charset="0"/>
            </a:endParaRPr>
          </a:p>
        </p:txBody>
      </p:sp>
      <p:sp>
        <p:nvSpPr>
          <p:cNvPr id="27" name="Shape 18">
            <a:extLst>
              <a:ext uri="{FF2B5EF4-FFF2-40B4-BE49-F238E27FC236}">
                <a16:creationId xmlns:a16="http://schemas.microsoft.com/office/drawing/2014/main" id="{95532980-9797-E3FD-4633-DDD3C702E0D3}"/>
              </a:ext>
            </a:extLst>
          </p:cNvPr>
          <p:cNvSpPr/>
          <p:nvPr/>
        </p:nvSpPr>
        <p:spPr>
          <a:xfrm>
            <a:off x="6435699" y="1073510"/>
            <a:ext cx="5143684" cy="463175"/>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1866"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7" name="Shape 40">
            <a:extLst>
              <a:ext uri="{FF2B5EF4-FFF2-40B4-BE49-F238E27FC236}">
                <a16:creationId xmlns:a16="http://schemas.microsoft.com/office/drawing/2014/main" id="{CF396CC6-B600-41B2-4EF1-7051D4646C13}"/>
              </a:ext>
            </a:extLst>
          </p:cNvPr>
          <p:cNvSpPr/>
          <p:nvPr/>
        </p:nvSpPr>
        <p:spPr>
          <a:xfrm>
            <a:off x="-1" y="6192816"/>
            <a:ext cx="12188825" cy="664291"/>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8" name="Shape 41">
            <a:extLst>
              <a:ext uri="{FF2B5EF4-FFF2-40B4-BE49-F238E27FC236}">
                <a16:creationId xmlns:a16="http://schemas.microsoft.com/office/drawing/2014/main" id="{168B0D01-34FC-C1A4-1B7B-B6EA82BB1769}"/>
              </a:ext>
            </a:extLst>
          </p:cNvPr>
          <p:cNvSpPr/>
          <p:nvPr/>
        </p:nvSpPr>
        <p:spPr>
          <a:xfrm>
            <a:off x="-1" y="6192816"/>
            <a:ext cx="12188825" cy="0"/>
          </a:xfrm>
          <a:prstGeom prst="line">
            <a:avLst/>
          </a:prstGeom>
          <a:no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61" name="Text 0">
            <a:extLst>
              <a:ext uri="{FF2B5EF4-FFF2-40B4-BE49-F238E27FC236}">
                <a16:creationId xmlns:a16="http://schemas.microsoft.com/office/drawing/2014/main" id="{AD30FD62-10D8-9ACD-1BE5-A6F792843164}"/>
              </a:ext>
            </a:extLst>
          </p:cNvPr>
          <p:cNvSpPr/>
          <p:nvPr/>
        </p:nvSpPr>
        <p:spPr>
          <a:xfrm>
            <a:off x="2875634" y="2147498"/>
            <a:ext cx="6702550" cy="1631780"/>
          </a:xfrm>
          <a:prstGeom prst="rect">
            <a:avLst/>
          </a:prstGeom>
          <a:solidFill>
            <a:srgbClr val="0A1F10"/>
          </a:solidFill>
          <a:ln>
            <a:noFill/>
          </a:ln>
        </p:spPr>
        <p:txBody>
          <a:bodyPr wrap="square" lIns="0" tIns="0" rIns="0" bIns="0" rtlCol="0" anchor="ctr"/>
          <a:lstStyle/>
          <a:p>
            <a:pPr lvl="0" algn="just" defTabSz="1218895">
              <a:lnSpc>
                <a:spcPct val="150000"/>
              </a:lnSpc>
              <a:defRPr/>
            </a:pPr>
            <a:endParaRPr lang="en-US" sz="1600" dirty="0">
              <a:solidFill>
                <a:schemeClr val="bg1"/>
              </a:solidFill>
              <a:latin typeface="Candara" panose="020E0502030303020204" pitchFamily="34" charset="0"/>
            </a:endParaRPr>
          </a:p>
          <a:p>
            <a:pPr lvl="0" algn="just" defTabSz="1218895">
              <a:lnSpc>
                <a:spcPct val="150000"/>
              </a:lnSpc>
              <a:defRPr/>
            </a:pPr>
            <a:r>
              <a:rPr lang="en-US" sz="1600" dirty="0">
                <a:solidFill>
                  <a:schemeClr val="bg1"/>
                </a:solidFill>
                <a:latin typeface="Candara" panose="020E0502030303020204" pitchFamily="34" charset="0"/>
              </a:rPr>
              <a:t>I would like to take this opportunity to express my sincere gratitude to the instructors especially Naser Chowdhury who guided and supported us throughout the program over the past two years, to RTC School for giving me the opportunity to achieve my first educational milestone in the United States, and to my colleagues who worked hard to balance work and study at the same time so that we could achieve this goal together.</a:t>
            </a:r>
            <a:endParaRPr kumimoji="0" lang="en-US" sz="1600" b="0" u="none" strike="noStrike" kern="1200" cap="none" spc="0" normalizeH="0" baseline="0" noProof="0" dirty="0">
              <a:ln>
                <a:noFill/>
              </a:ln>
              <a:solidFill>
                <a:schemeClr val="bg1"/>
              </a:solidFill>
              <a:effectLst/>
              <a:uLnTx/>
              <a:uFillTx/>
              <a:latin typeface="Candara" panose="020E0502030303020204" pitchFamily="34" charset="0"/>
            </a:endParaRPr>
          </a:p>
        </p:txBody>
      </p:sp>
      <p:sp>
        <p:nvSpPr>
          <p:cNvPr id="3" name="TextBox 2">
            <a:extLst>
              <a:ext uri="{FF2B5EF4-FFF2-40B4-BE49-F238E27FC236}">
                <a16:creationId xmlns:a16="http://schemas.microsoft.com/office/drawing/2014/main" id="{8A007543-48F6-8493-80CF-D65E66082C51}"/>
              </a:ext>
            </a:extLst>
          </p:cNvPr>
          <p:cNvSpPr txBox="1"/>
          <p:nvPr/>
        </p:nvSpPr>
        <p:spPr>
          <a:xfrm>
            <a:off x="1530220" y="860041"/>
            <a:ext cx="5822302" cy="830997"/>
          </a:xfrm>
          <a:prstGeom prst="rect">
            <a:avLst/>
          </a:prstGeom>
          <a:noFill/>
        </p:spPr>
        <p:txBody>
          <a:bodyPr wrap="square" rtlCol="0">
            <a:spAutoFit/>
          </a:bodyPr>
          <a:lstStyle/>
          <a:p>
            <a:r>
              <a:rPr lang="en-US" sz="4800" i="1" dirty="0">
                <a:solidFill>
                  <a:schemeClr val="bg1"/>
                </a:solidFill>
                <a:latin typeface="Candara" panose="020E0502030303020204" pitchFamily="34" charset="0"/>
              </a:rPr>
              <a:t>Thank You</a:t>
            </a:r>
            <a:endParaRPr lang="en-US" sz="4800" i="1" dirty="0">
              <a:latin typeface="Candara" panose="020E0502030303020204" pitchFamily="34" charset="0"/>
            </a:endParaRPr>
          </a:p>
        </p:txBody>
      </p:sp>
    </p:spTree>
    <p:extLst>
      <p:ext uri="{BB962C8B-B14F-4D97-AF65-F5344CB8AC3E}">
        <p14:creationId xmlns:p14="http://schemas.microsoft.com/office/powerpoint/2010/main" val="1003603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6605</TotalTime>
  <Words>1869</Words>
  <Application>Microsoft Office PowerPoint</Application>
  <PresentationFormat>Custom</PresentationFormat>
  <Paragraphs>587</Paragraphs>
  <Slides>14</Slides>
  <Notes>12</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14</vt:i4>
      </vt:variant>
    </vt:vector>
  </HeadingPairs>
  <TitlesOfParts>
    <vt:vector size="23" baseType="lpstr">
      <vt:lpstr>Aptos</vt:lpstr>
      <vt:lpstr>Arial</vt:lpstr>
      <vt:lpstr>Calibri</vt:lpstr>
      <vt:lpstr>Candara</vt:lpstr>
      <vt:lpstr>Wingdings</vt:lpstr>
      <vt:lpstr>Office Theme</vt:lpstr>
      <vt:lpstr>1_Office Theme</vt:lpstr>
      <vt:lpstr>2_Office Theme</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Quoc Bao Tran</cp:lastModifiedBy>
  <cp:revision>285</cp:revision>
  <dcterms:created xsi:type="dcterms:W3CDTF">2013-01-27T09:14:16Z</dcterms:created>
  <dcterms:modified xsi:type="dcterms:W3CDTF">2026-05-23T22:11:43Z</dcterms:modified>
  <cp:category/>
</cp:coreProperties>
</file>