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4" r:id="rId4"/>
  </p:sldMasterIdLst>
  <p:notesMasterIdLst>
    <p:notesMasterId r:id="rId19"/>
  </p:notesMasterIdLst>
  <p:sldIdLst>
    <p:sldId id="256" r:id="rId5"/>
    <p:sldId id="289" r:id="rId6"/>
    <p:sldId id="287" r:id="rId7"/>
    <p:sldId id="286" r:id="rId8"/>
    <p:sldId id="288" r:id="rId9"/>
    <p:sldId id="297" r:id="rId10"/>
    <p:sldId id="296" r:id="rId11"/>
    <p:sldId id="298" r:id="rId12"/>
    <p:sldId id="299" r:id="rId13"/>
    <p:sldId id="284" r:id="rId14"/>
    <p:sldId id="301" r:id="rId15"/>
    <p:sldId id="281" r:id="rId16"/>
    <p:sldId id="302" r:id="rId17"/>
    <p:sldId id="300"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91525" autoAdjust="0"/>
  </p:normalViewPr>
  <p:slideViewPr>
    <p:cSldViewPr snapToGrid="0" snapToObjects="1">
      <p:cViewPr>
        <p:scale>
          <a:sx n="125" d="100"/>
          <a:sy n="125" d="100"/>
        </p:scale>
        <p:origin x="-3036" y="-105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p:scale>
          <a:sx n="150" d="100"/>
          <a:sy n="150" d="100"/>
        </p:scale>
        <p:origin x="2472" y="-18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EDE3E3-4DC4-4033-AB14-8C688262196C}"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C98F2-B9F0-4148-8C0F-A19261494B1A}" type="slidenum">
              <a:rPr lang="en-US" smtClean="0"/>
              <a:t>‹#›</a:t>
            </a:fld>
            <a:endParaRPr lang="en-US"/>
          </a:p>
        </p:txBody>
      </p:sp>
    </p:spTree>
    <p:extLst>
      <p:ext uri="{BB962C8B-B14F-4D97-AF65-F5344CB8AC3E}">
        <p14:creationId xmlns:p14="http://schemas.microsoft.com/office/powerpoint/2010/main" val="4010328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evening, My name is </a:t>
            </a:r>
            <a:r>
              <a:rPr lang="en-US" sz="1200" b="1" i="0" kern="1200" dirty="0">
                <a:solidFill>
                  <a:schemeClr val="tx1"/>
                </a:solidFill>
                <a:effectLst/>
                <a:latin typeface="+mn-lt"/>
                <a:ea typeface="+mn-ea"/>
                <a:cs typeface="+mn-cs"/>
              </a:rPr>
              <a:t>Quoc Bao Tran</a:t>
            </a:r>
            <a:r>
              <a:rPr lang="en-US" sz="1200" b="0" i="0" kern="1200" dirty="0">
                <a:solidFill>
                  <a:schemeClr val="tx1"/>
                </a:solidFill>
                <a:effectLst/>
                <a:latin typeface="+mn-lt"/>
                <a:ea typeface="+mn-ea"/>
                <a:cs typeface="+mn-cs"/>
              </a:rPr>
              <a:t>, and this is my capstone project for the </a:t>
            </a:r>
            <a:r>
              <a:rPr lang="en-US" sz="1200" b="1" i="0" kern="1200" dirty="0">
                <a:solidFill>
                  <a:schemeClr val="tx1"/>
                </a:solidFill>
                <a:effectLst/>
                <a:latin typeface="+mn-lt"/>
                <a:ea typeface="+mn-ea"/>
                <a:cs typeface="+mn-cs"/>
              </a:rPr>
              <a:t>BAS Application Development</a:t>
            </a:r>
            <a:r>
              <a:rPr lang="en-US" sz="1200" b="0" i="0" kern="1200" dirty="0">
                <a:solidFill>
                  <a:schemeClr val="tx1"/>
                </a:solidFill>
                <a:effectLst/>
                <a:latin typeface="+mn-lt"/>
                <a:ea typeface="+mn-ea"/>
                <a:cs typeface="+mn-cs"/>
              </a:rPr>
              <a:t> program</a:t>
            </a:r>
          </a:p>
          <a:p>
            <a:r>
              <a:rPr lang="en-US" sz="1200" b="0" i="0" kern="1200" dirty="0">
                <a:solidFill>
                  <a:schemeClr val="tx1"/>
                </a:solidFill>
                <a:effectLst/>
                <a:latin typeface="+mn-lt"/>
                <a:ea typeface="+mn-ea"/>
                <a:cs typeface="+mn-cs"/>
              </a:rPr>
              <a:t>The project is a </a:t>
            </a:r>
            <a:r>
              <a:rPr lang="en-US" sz="1200" b="1" i="0" kern="1200" dirty="0">
                <a:solidFill>
                  <a:schemeClr val="tx1"/>
                </a:solidFill>
                <a:effectLst/>
                <a:latin typeface="+mn-lt"/>
                <a:ea typeface="+mn-ea"/>
                <a:cs typeface="+mn-cs"/>
              </a:rPr>
              <a:t>Web-Based IoT Device Real-Time Monitoring System</a:t>
            </a:r>
            <a:r>
              <a:rPr lang="en-US" sz="1200" b="0" i="0" kern="1200" dirty="0">
                <a:solidFill>
                  <a:schemeClr val="tx1"/>
                </a:solidFill>
                <a:effectLst/>
                <a:latin typeface="+mn-lt"/>
                <a:ea typeface="+mn-ea"/>
                <a:cs typeface="+mn-cs"/>
              </a:rPr>
              <a:t>: a web application that monitors sensors in real time, stores historical data, raises alerts, and controls actuators remotely. It is aimed at sites that need equipment monitoring without the cost and lock-in of traditional SCADA (Supervisory Control and Data Acquisition) software</a:t>
            </a:r>
          </a:p>
          <a:p>
            <a:endParaRPr lang="en-US" dirty="0"/>
          </a:p>
        </p:txBody>
      </p:sp>
      <p:sp>
        <p:nvSpPr>
          <p:cNvPr id="4" name="Slide Number Placeholder 3"/>
          <p:cNvSpPr>
            <a:spLocks noGrp="1"/>
          </p:cNvSpPr>
          <p:nvPr>
            <p:ph type="sldNum" sz="quarter" idx="5"/>
          </p:nvPr>
        </p:nvSpPr>
        <p:spPr/>
        <p:txBody>
          <a:bodyPr/>
          <a:lstStyle/>
          <a:p>
            <a:fld id="{DF1C98F2-B9F0-4148-8C0F-A19261494B1A}" type="slidenum">
              <a:rPr lang="en-US" smtClean="0"/>
              <a:t>1</a:t>
            </a:fld>
            <a:endParaRPr lang="en-US"/>
          </a:p>
        </p:txBody>
      </p:sp>
    </p:spTree>
    <p:extLst>
      <p:ext uri="{BB962C8B-B14F-4D97-AF65-F5344CB8AC3E}">
        <p14:creationId xmlns:p14="http://schemas.microsoft.com/office/powerpoint/2010/main" val="906081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for today’s presentation.</a:t>
            </a:r>
          </a:p>
          <a:p>
            <a:r>
              <a:rPr lang="en-US" dirty="0"/>
              <a:t>I will start with the problem statement, explaining why real-time IoT monitoring is important in industrial environments. Then, I will introduce the project goals and scope, including what the system is designed to achieve.</a:t>
            </a:r>
          </a:p>
          <a:p>
            <a:r>
              <a:rPr lang="en-US" dirty="0"/>
              <a:t>Next, I will cover the technology stack and system architecture, showing how data flows from the edge device through MQTT, the API, the database, </a:t>
            </a:r>
            <a:r>
              <a:rPr lang="en-US" dirty="0" err="1"/>
              <a:t>SignalR</a:t>
            </a:r>
            <a:r>
              <a:rPr lang="en-US" dirty="0"/>
              <a:t>, and finally to the React frontend.</a:t>
            </a:r>
          </a:p>
          <a:p>
            <a:r>
              <a:rPr lang="en-US" dirty="0"/>
              <a:t>After that, I will explain the database design, followed by an overview of the backend, API layer, and frontend design.</a:t>
            </a:r>
          </a:p>
          <a:p>
            <a:r>
              <a:rPr lang="en-US" dirty="0"/>
              <a:t>I will then highlight the key features and present a live demo, where you will see sensor data travel from the edge device to the dashboard in real time.</a:t>
            </a:r>
          </a:p>
          <a:p>
            <a:r>
              <a:rPr lang="en-US" dirty="0"/>
              <a:t>Finally, I will discuss the challenges we faced, the solutions we implemented, and conclude with future work.</a:t>
            </a:r>
          </a:p>
          <a:p>
            <a:r>
              <a:rPr lang="en-US" dirty="0"/>
              <a:t>Let’s begin with the problem statement.</a:t>
            </a:r>
          </a:p>
          <a:p>
            <a:endParaRPr lang="en-US" dirty="0"/>
          </a:p>
        </p:txBody>
      </p:sp>
      <p:sp>
        <p:nvSpPr>
          <p:cNvPr id="4" name="Slide Number Placeholder 3"/>
          <p:cNvSpPr>
            <a:spLocks noGrp="1"/>
          </p:cNvSpPr>
          <p:nvPr>
            <p:ph type="sldNum" sz="quarter" idx="5"/>
          </p:nvPr>
        </p:nvSpPr>
        <p:spPr/>
        <p:txBody>
          <a:bodyPr/>
          <a:lstStyle/>
          <a:p>
            <a:fld id="{DF1C98F2-B9F0-4148-8C0F-A19261494B1A}" type="slidenum">
              <a:rPr lang="en-US" smtClean="0"/>
              <a:t>2</a:t>
            </a:fld>
            <a:endParaRPr lang="en-US"/>
          </a:p>
        </p:txBody>
      </p:sp>
    </p:spTree>
    <p:extLst>
      <p:ext uri="{BB962C8B-B14F-4D97-AF65-F5344CB8AC3E}">
        <p14:creationId xmlns:p14="http://schemas.microsoft.com/office/powerpoint/2010/main" val="3691666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facilities, including hotels, hospitals, farms, warehouses, and manufacturing plants, need to continuously monitor equipment and sensor data.</a:t>
            </a:r>
          </a:p>
          <a:p>
            <a:r>
              <a:rPr lang="en-US" dirty="0"/>
              <a:t>Traditional monitoring systems can be expensive and often lock organizations into proprietary hardware and software.</a:t>
            </a:r>
          </a:p>
          <a:p>
            <a:r>
              <a:rPr lang="en-US" dirty="0"/>
              <a:t>To address this, this project provides a web-based dashboard that runs in any browser and uses common IoT devices together with technologies such as ASP.NET Core, React, MQTT, </a:t>
            </a:r>
            <a:r>
              <a:rPr lang="en-US" dirty="0" err="1"/>
              <a:t>SignalR</a:t>
            </a:r>
            <a:r>
              <a:rPr lang="en-US" dirty="0"/>
              <a:t>, and SQL Server.</a:t>
            </a:r>
          </a:p>
          <a:p>
            <a:r>
              <a:rPr lang="en-US" dirty="0"/>
              <a:t>The result is a practical and cost-effective solution for real-time monitoring and historical data storage.</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9C74A3D-EE77-4EA1-8E36-75207C739C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1945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capabilities define the scope of the system and support the complete monitoring workflow.</a:t>
            </a:r>
          </a:p>
          <a:p>
            <a:r>
              <a:rPr lang="en-US" dirty="0"/>
              <a:t>The process begins with device and sensor setup, where users register IoT devices and configure sensors and actuators within the application.</a:t>
            </a:r>
          </a:p>
          <a:p>
            <a:r>
              <a:rPr lang="en-US" dirty="0"/>
              <a:t>Once connected, the system provides real-time monitoring, displaying live sensor readings and device online or offline status.</a:t>
            </a:r>
          </a:p>
          <a:p>
            <a:r>
              <a:rPr lang="en-US" dirty="0"/>
              <a:t>The collected data is stored and presented through live and history views, as well as dashboards and charts that help users track trends and monitor system performance over time.</a:t>
            </a:r>
          </a:p>
          <a:p>
            <a:r>
              <a:rPr lang="en-US" dirty="0"/>
              <a:t>When sensor values exceed predefined limits, the threshold alerting feature generates real-time notifications.</a:t>
            </a:r>
          </a:p>
          <a:p>
            <a:r>
              <a:rPr lang="en-US" dirty="0"/>
              <a:t>Finally, actuator commands allow users to remotely control devices while maintaining a command history for traceability.</a:t>
            </a:r>
          </a:p>
          <a:p>
            <a:r>
              <a:rPr lang="en-US" dirty="0"/>
              <a:t>Together, these capabilities enable users to configure, monitor, and respond from a single web application.</a:t>
            </a:r>
          </a:p>
          <a:p>
            <a:endParaRPr lang="en-US" dirty="0"/>
          </a:p>
        </p:txBody>
      </p:sp>
      <p:sp>
        <p:nvSpPr>
          <p:cNvPr id="4" name="Slide Number Placeholder 3"/>
          <p:cNvSpPr>
            <a:spLocks noGrp="1"/>
          </p:cNvSpPr>
          <p:nvPr>
            <p:ph type="sldNum" sz="quarter" idx="5"/>
          </p:nvPr>
        </p:nvSpPr>
        <p:spPr/>
        <p:txBody>
          <a:bodyPr/>
          <a:lstStyle/>
          <a:p>
            <a:fld id="{DF1C98F2-B9F0-4148-8C0F-A19261494B1A}" type="slidenum">
              <a:rPr lang="en-US" smtClean="0"/>
              <a:t>4</a:t>
            </a:fld>
            <a:endParaRPr lang="en-US"/>
          </a:p>
        </p:txBody>
      </p:sp>
    </p:spTree>
    <p:extLst>
      <p:ext uri="{BB962C8B-B14F-4D97-AF65-F5344CB8AC3E}">
        <p14:creationId xmlns:p14="http://schemas.microsoft.com/office/powerpoint/2010/main" val="4054587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main technologies used in the project.</a:t>
            </a:r>
          </a:p>
          <a:p>
            <a:r>
              <a:rPr lang="en-US" dirty="0"/>
              <a:t>The backend is built with ASP.NET Core, which provides REST APIs, MQTT data ingestion, and JWT-based authentication.</a:t>
            </a:r>
          </a:p>
          <a:p>
            <a:r>
              <a:rPr lang="en-US" dirty="0"/>
              <a:t>For device communication, the system uses MQTT with a </a:t>
            </a:r>
            <a:r>
              <a:rPr lang="en-US" dirty="0" err="1"/>
              <a:t>Mosquitto</a:t>
            </a:r>
            <a:r>
              <a:rPr lang="en-US" dirty="0"/>
              <a:t> broker. MQTT stands for Message Queuing Telemetry Transport, a lightweight messaging protocol commonly used in IoT systems. It enables devices and sensors to efficiently send data to the backend in real time.</a:t>
            </a:r>
          </a:p>
          <a:p>
            <a:r>
              <a:rPr lang="en-US" dirty="0"/>
              <a:t>Real-time updates are delivered through </a:t>
            </a:r>
            <a:r>
              <a:rPr lang="en-US" dirty="0" err="1"/>
              <a:t>SignalR</a:t>
            </a:r>
            <a:r>
              <a:rPr lang="en-US" dirty="0"/>
              <a:t>. </a:t>
            </a:r>
            <a:r>
              <a:rPr lang="en-US" dirty="0" err="1"/>
              <a:t>SignalR</a:t>
            </a:r>
            <a:r>
              <a:rPr lang="en-US" dirty="0"/>
              <a:t> allows the server to instantly push sensor readings and alerts to connected users without requiring the browser to refresh the page.</a:t>
            </a:r>
          </a:p>
          <a:p>
            <a:r>
              <a:rPr lang="en-US" dirty="0"/>
              <a:t>The frontend is developed using React and TypeScript, providing dashboards, charts, and device management interfaces.</a:t>
            </a:r>
          </a:p>
          <a:p>
            <a:r>
              <a:rPr lang="en-US" dirty="0"/>
              <a:t>SQL Server is used for data storage, while GitHub and Azure support version control, CI/CD, and cloud deployment.</a:t>
            </a:r>
          </a:p>
          <a:p>
            <a:r>
              <a:rPr lang="en-US" dirty="0"/>
              <a:t>Together, these technologies form a complete stack for real-time IoT monitoring.</a:t>
            </a:r>
          </a:p>
        </p:txBody>
      </p:sp>
      <p:sp>
        <p:nvSpPr>
          <p:cNvPr id="4" name="Slide Number Placeholder 3"/>
          <p:cNvSpPr>
            <a:spLocks noGrp="1"/>
          </p:cNvSpPr>
          <p:nvPr>
            <p:ph type="sldNum" sz="quarter" idx="5"/>
          </p:nvPr>
        </p:nvSpPr>
        <p:spPr/>
        <p:txBody>
          <a:bodyPr/>
          <a:lstStyle/>
          <a:p>
            <a:fld id="{DF1C98F2-B9F0-4148-8C0F-A19261494B1A}" type="slidenum">
              <a:rPr lang="en-US" smtClean="0"/>
              <a:t>5</a:t>
            </a:fld>
            <a:endParaRPr lang="en-US"/>
          </a:p>
        </p:txBody>
      </p:sp>
    </p:spTree>
    <p:extLst>
      <p:ext uri="{BB962C8B-B14F-4D97-AF65-F5344CB8AC3E}">
        <p14:creationId xmlns:p14="http://schemas.microsoft.com/office/powerpoint/2010/main" val="2975276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different components interact within the system.</a:t>
            </a:r>
          </a:p>
          <a:p>
            <a:r>
              <a:rPr lang="en-US" dirty="0"/>
              <a:t>IoT devices publish sensor readings to the MQTT broker. The MQTT service in the backend subscribes to these messages, processes the data, and forwards it to the application services.</a:t>
            </a:r>
          </a:p>
          <a:p>
            <a:r>
              <a:rPr lang="en-US" dirty="0"/>
              <a:t>The application services contain the core business logic and work with repositories to store and retrieve data from SQL Server through the </a:t>
            </a:r>
            <a:r>
              <a:rPr lang="en-US" dirty="0" err="1"/>
              <a:t>ApplicationDbContext</a:t>
            </a:r>
            <a:r>
              <a:rPr lang="en-US" dirty="0"/>
              <a:t>.</a:t>
            </a:r>
          </a:p>
          <a:p>
            <a:r>
              <a:rPr lang="en-US" dirty="0"/>
              <a:t>For client communication, REST controllers handle configuration, device management, and historical data requests, while </a:t>
            </a:r>
            <a:r>
              <a:rPr lang="en-US" dirty="0" err="1"/>
              <a:t>SignalR</a:t>
            </a:r>
            <a:r>
              <a:rPr lang="en-US" dirty="0"/>
              <a:t> delivers real-time updates to connected users.</a:t>
            </a:r>
          </a:p>
          <a:p>
            <a:r>
              <a:rPr lang="en-US" dirty="0"/>
              <a:t>On the frontend, the React application uses REST APIs for configuration and historical data, and </a:t>
            </a:r>
            <a:r>
              <a:rPr lang="en-US" dirty="0" err="1"/>
              <a:t>SignalR</a:t>
            </a:r>
            <a:r>
              <a:rPr lang="en-US" dirty="0"/>
              <a:t> for live sensor readings and alerts.</a:t>
            </a:r>
          </a:p>
          <a:p>
            <a:r>
              <a:rPr lang="en-US" dirty="0"/>
              <a:t>As a result, operators only need a web browser to monitor devices, view historical trends, receive alerts, and interact with the system in real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database schema used by the system.</a:t>
            </a:r>
          </a:p>
          <a:p>
            <a:r>
              <a:rPr lang="en-US" dirty="0"/>
              <a:t>The database consists of eleven normalized tables, with Devices serving as the central entity. Most other tables are connected to a device, allowing the system to manage multiple devices within a single platform.</a:t>
            </a:r>
          </a:p>
          <a:p>
            <a:r>
              <a:rPr lang="en-US" dirty="0"/>
              <a:t>Each device can have multiple sensors for data collection and multiple actuators for control actions. </a:t>
            </a:r>
            <a:r>
              <a:rPr lang="en-US" dirty="0" err="1"/>
              <a:t>SensorReadings</a:t>
            </a:r>
            <a:r>
              <a:rPr lang="en-US" dirty="0"/>
              <a:t> stores time-series sensor data, while </a:t>
            </a:r>
            <a:r>
              <a:rPr lang="en-US" dirty="0" err="1"/>
              <a:t>DeviceStatusHistories</a:t>
            </a:r>
            <a:r>
              <a:rPr lang="en-US" dirty="0"/>
              <a:t> records device connectivity and status changes over time.</a:t>
            </a:r>
          </a:p>
          <a:p>
            <a:r>
              <a:rPr lang="en-US" dirty="0"/>
              <a:t>For monitoring and control, </a:t>
            </a:r>
            <a:r>
              <a:rPr lang="en-US" dirty="0" err="1"/>
              <a:t>AlertRules</a:t>
            </a:r>
            <a:r>
              <a:rPr lang="en-US" dirty="0"/>
              <a:t> define alert conditions, Alerts store alert events, and </a:t>
            </a:r>
            <a:r>
              <a:rPr lang="en-US" dirty="0" err="1"/>
              <a:t>DeviceCommands</a:t>
            </a:r>
            <a:r>
              <a:rPr lang="en-US" dirty="0"/>
              <a:t> maintain a history of commands sent to actuators.</a:t>
            </a:r>
          </a:p>
          <a:p>
            <a:r>
              <a:rPr lang="en-US" dirty="0"/>
              <a:t>Additional tables, such as </a:t>
            </a:r>
            <a:r>
              <a:rPr lang="en-US" dirty="0" err="1"/>
              <a:t>DeviceConfigurations</a:t>
            </a:r>
            <a:r>
              <a:rPr lang="en-US" dirty="0"/>
              <a:t> and Users, support system configuration, authentication, and access control.</a:t>
            </a:r>
          </a:p>
          <a:p>
            <a:r>
              <a:rPr lang="en-US" dirty="0"/>
              <a:t>Overall, the schema is designed to support monitoring, alerting, and device control while maintaining clear relationships and data integrity.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backend architecture and the REST APIs exposed by the system.</a:t>
            </a:r>
          </a:p>
          <a:p>
            <a:r>
              <a:rPr lang="en-US" dirty="0"/>
              <a:t>The backend follows a layered architecture consisting of a presentation layer, service layer, data access layer, and database layer. This separation helps keep the application maintainable and scalable.</a:t>
            </a:r>
          </a:p>
          <a:p>
            <a:r>
              <a:rPr lang="en-US" dirty="0"/>
              <a:t>The APIs are organized into several functional groups. Device, Sensor, and Device Configuration APIs support system setup and management. Sensor Reading APIs handle data ingestion and historical queries. Alert Rule and Alert APIs manage alert configuration and alert processing. Actuator and Command APIs support remote device control and command tracking. Authentication and Health APIs provide security and system monitoring functions.</a:t>
            </a:r>
          </a:p>
          <a:p>
            <a:r>
              <a:rPr lang="en-US" dirty="0"/>
              <a:t>Most endpoints are protected using JWT authentication with role-based access control for Administrators, Operators, and Viewers. </a:t>
            </a:r>
            <a:r>
              <a:rPr lang="en-US" dirty="0" err="1"/>
              <a:t>SignalR</a:t>
            </a:r>
            <a:r>
              <a:rPr lang="en-US" dirty="0"/>
              <a:t> connections use the same authentication mechanism.</a:t>
            </a:r>
          </a:p>
          <a:p>
            <a:r>
              <a:rPr lang="en-US" dirty="0"/>
              <a:t>For real-time monitoring, sensor data travels from the device through MQTT and the broker to the API, where </a:t>
            </a:r>
            <a:r>
              <a:rPr lang="en-US" dirty="0" err="1"/>
              <a:t>SignalR</a:t>
            </a:r>
            <a:r>
              <a:rPr lang="en-US" dirty="0"/>
              <a:t> pushes updates to connected clients, typically within one to two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frontend application is structured and how users navigate through the system.</a:t>
            </a:r>
          </a:p>
          <a:p>
            <a:r>
              <a:rPr lang="en-US" dirty="0"/>
              <a:t>The application is built as a React single-page application, meaning users can move between features without reloading the page.</a:t>
            </a:r>
          </a:p>
          <a:p>
            <a:r>
              <a:rPr lang="en-US" dirty="0"/>
              <a:t>After authentication, users access the system through </a:t>
            </a:r>
            <a:r>
              <a:rPr lang="en-US" dirty="0" err="1"/>
              <a:t>ProtectedRoute</a:t>
            </a:r>
            <a:r>
              <a:rPr lang="en-US" dirty="0"/>
              <a:t>, which validates the JWT token and enforces role-based access control. Administrative functions, such as user management, are only available to authorized users.</a:t>
            </a:r>
          </a:p>
          <a:p>
            <a:r>
              <a:rPr lang="en-US" dirty="0"/>
              <a:t>Once authenticated, users navigate through a shared navigation layout that provides access to the main system functions, including dashboards, device management, sensors, actuators, alerts, and command history.</a:t>
            </a:r>
          </a:p>
          <a:p>
            <a:r>
              <a:rPr lang="en-US" dirty="0"/>
              <a:t>The dashboard provides a real-time overview using </a:t>
            </a:r>
            <a:r>
              <a:rPr lang="en-US" dirty="0" err="1"/>
              <a:t>SignalR</a:t>
            </a:r>
            <a:r>
              <a:rPr lang="en-US" dirty="0"/>
              <a:t> updates, while the other pages support monitoring, configuration, alert management, and device control.</a:t>
            </a:r>
          </a:p>
          <a:p>
            <a:r>
              <a:rPr lang="en-US" dirty="0"/>
              <a:t>Overall, the frontend delivers a consistent and secure user experience for monitoring and managing IoT devices from a single web application.</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key capabilities delivered by the system.</a:t>
            </a:r>
          </a:p>
          <a:p>
            <a:r>
              <a:rPr lang="en-US" dirty="0"/>
              <a:t>The first area is setup and control, where users can configure devices, sensors, and actuators, monitor device connectivity, and send commands with full command history tracking.</a:t>
            </a:r>
          </a:p>
          <a:p>
            <a:r>
              <a:rPr lang="en-US" dirty="0"/>
              <a:t>The second area is real-time monitoring. Sensor readings and alerts are streamed to the dashboard with near real-time updates, allowing users to monitor multiple devices without refreshing the page.</a:t>
            </a:r>
          </a:p>
          <a:p>
            <a:r>
              <a:rPr lang="en-US" dirty="0"/>
              <a:t>The third area is dashboard visualization. Users can view live charts, analog gauges, discrete status indicators, and historical data across multiple time ranges.</a:t>
            </a:r>
          </a:p>
          <a:p>
            <a:r>
              <a:rPr lang="en-US" dirty="0"/>
              <a:t>Finally, the alerting feature supports threshold, range, and change-based rules, with live notifications, acknowledgment workflows, and historical alert tracking.</a:t>
            </a:r>
          </a:p>
          <a:p>
            <a:r>
              <a:rPr lang="en-US" dirty="0"/>
              <a:t>Together, these features provide a complete solution for monitoring, alerting, and controlling IoT devices through a single web application.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4A80-399B-01D8-B9E5-8EDE12643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5DEE9-7FFB-A78F-0322-095228672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987AD-CD64-C12D-E630-A409E1E748CD}"/>
              </a:ext>
            </a:extLst>
          </p:cNvPr>
          <p:cNvSpPr>
            <a:spLocks noGrp="1"/>
          </p:cNvSpPr>
          <p:nvPr>
            <p:ph type="body" idx="1"/>
          </p:nvPr>
        </p:nvSpPr>
        <p:spPr/>
        <p:txBody>
          <a:bodyPr/>
          <a:lstStyle/>
          <a:p>
            <a:r>
              <a:rPr lang="en-US" dirty="0"/>
              <a:t>I will now demonstrate the complete workflow of the system.</a:t>
            </a:r>
          </a:p>
          <a:p>
            <a:r>
              <a:rPr lang="en-US" dirty="0"/>
              <a:t>The demo will begin with a configured device connected through MQTT. I will then show live sensor readings updating on the dashboard, send a command to an actuator, trigger an alert condition, and finally review the historical data stored in the database.</a:t>
            </a:r>
          </a:p>
          <a:p>
            <a:r>
              <a:rPr lang="en-US" dirty="0"/>
              <a:t>This demonstrates the full path from the physical device to real-time visualization, alerting, and remote control within the application.</a:t>
            </a:r>
          </a:p>
        </p:txBody>
      </p:sp>
      <p:sp>
        <p:nvSpPr>
          <p:cNvPr id="4" name="Slide Number Placeholder 3">
            <a:extLst>
              <a:ext uri="{FF2B5EF4-FFF2-40B4-BE49-F238E27FC236}">
                <a16:creationId xmlns:a16="http://schemas.microsoft.com/office/drawing/2014/main" id="{ED94EE0E-FEA5-A27F-3ADB-94C212932B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3103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several technical challenges influenced the system design.</a:t>
            </a:r>
          </a:p>
          <a:p>
            <a:r>
              <a:rPr lang="en-US" dirty="0"/>
              <a:t>The first challenge was real-time synchronization. Multiple users may monitor the same devices at the same time, so the system needs to keep all clients updated without constant polling. This was addressed using </a:t>
            </a:r>
            <a:r>
              <a:rPr lang="en-US" dirty="0" err="1"/>
              <a:t>SignalR</a:t>
            </a:r>
            <a:r>
              <a:rPr lang="en-US" dirty="0"/>
              <a:t>, which pushes updates to connected clients whenever new data is received.</a:t>
            </a:r>
          </a:p>
          <a:p>
            <a:r>
              <a:rPr lang="en-US" dirty="0"/>
              <a:t>The second challenge was storing and querying large volumes of sensor data efficiently. To support historical analysis, the database was designed with appropriate indexing and query strategies to maintain performance as the number of readings grows.</a:t>
            </a:r>
          </a:p>
          <a:p>
            <a:r>
              <a:rPr lang="en-US" dirty="0"/>
              <a:t>Another challenge was maintaining a clear and reliable data flow across multiple layers of the system. A consistent pipeline from MQTT to the API, database, </a:t>
            </a:r>
            <a:r>
              <a:rPr lang="en-US" dirty="0" err="1"/>
              <a:t>SignalR</a:t>
            </a:r>
            <a:r>
              <a:rPr lang="en-US" dirty="0"/>
              <a:t>, and frontend helps keep the architecture organized and maintainable.</a:t>
            </a:r>
          </a:p>
          <a:p>
            <a:r>
              <a:rPr lang="en-US" dirty="0"/>
              <a:t>Finally, the system needed to support different edge platforms, including Arduino, ESP32, and Raspberry Pi. This was achieved through a shared communication model using MQTT and JSON, allowing different devices to interact with the same backend services.</a:t>
            </a:r>
          </a:p>
          <a:p>
            <a:r>
              <a:rPr lang="en-US" dirty="0"/>
              <a:t>Together, these design decisions improved scalability, maintainability, and interoperability across the platform.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successfully delivered a complete end-to-end IoT monitoring platform.</a:t>
            </a:r>
          </a:p>
          <a:p>
            <a:r>
              <a:rPr lang="en-US" dirty="0"/>
              <a:t>The system provides real-time monitoring, alerting, historical data storage, and remote device control through a single web application. It also includes device integration, role-based security, and cloud deployment using GitHub and Azure.</a:t>
            </a:r>
          </a:p>
          <a:p>
            <a:r>
              <a:rPr lang="en-US" dirty="0"/>
              <a:t>Looking ahead, future enhancements could include automated data retention and archiving, multi-tenant support, a mobile application for field operators, machine-learning-based anomaly detection, and broader device integration.</a:t>
            </a:r>
          </a:p>
          <a:p>
            <a:r>
              <a:rPr lang="en-US" dirty="0"/>
              <a:t>Overall, this project demonstrates a practical full-stack IoT solution that connects physical devices to a real-time web dashboard and applies the knowledge gained throughout the BAS Application Development program.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8A8D-B0FA-D755-7559-F27DEF7D2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F4428-5CA6-130A-28C2-9AEB8F88D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24DCF-05B6-5955-DB21-709E16FB82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5C824-3AE3-29E1-A1F2-27B17651C4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37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5594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3669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34517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9829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8777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74280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38930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014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49783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4114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2982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937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351" y="1775355"/>
            <a:ext cx="6475313" cy="1225021"/>
          </a:xfrm>
        </p:spPr>
        <p:txBody>
          <a:bodyPr/>
          <a:lstStyle/>
          <a:p>
            <a:r>
              <a:rPr lang="en-US"/>
              <a:t>Click to edit Master title style</a:t>
            </a:r>
          </a:p>
        </p:txBody>
      </p:sp>
      <p:sp>
        <p:nvSpPr>
          <p:cNvPr id="3" name="Subtitle 2"/>
          <p:cNvSpPr>
            <a:spLocks noGrp="1"/>
          </p:cNvSpPr>
          <p:nvPr>
            <p:ph type="subTitle" idx="1"/>
          </p:nvPr>
        </p:nvSpPr>
        <p:spPr>
          <a:xfrm>
            <a:off x="1142702" y="3238500"/>
            <a:ext cx="5332611" cy="1460500"/>
          </a:xfrm>
        </p:spPr>
        <p:txBody>
          <a:bodyPr/>
          <a:lstStyle>
            <a:lvl1pPr marL="0" indent="0" algn="ctr">
              <a:buNone/>
              <a:defRPr>
                <a:solidFill>
                  <a:schemeClr val="tx1">
                    <a:tint val="75000"/>
                  </a:schemeClr>
                </a:solidFill>
              </a:defRPr>
            </a:lvl1pPr>
            <a:lvl2pPr marL="380893" indent="0" algn="ctr">
              <a:buNone/>
              <a:defRPr>
                <a:solidFill>
                  <a:schemeClr val="tx1">
                    <a:tint val="75000"/>
                  </a:schemeClr>
                </a:solidFill>
              </a:defRPr>
            </a:lvl2pPr>
            <a:lvl3pPr marL="761787" indent="0" algn="ctr">
              <a:buNone/>
              <a:defRPr>
                <a:solidFill>
                  <a:schemeClr val="tx1">
                    <a:tint val="75000"/>
                  </a:schemeClr>
                </a:solidFill>
              </a:defRPr>
            </a:lvl3pPr>
            <a:lvl4pPr marL="1142680" indent="0" algn="ctr">
              <a:buNone/>
              <a:defRPr>
                <a:solidFill>
                  <a:schemeClr val="tx1">
                    <a:tint val="75000"/>
                  </a:schemeClr>
                </a:solidFill>
              </a:defRPr>
            </a:lvl4pPr>
            <a:lvl5pPr marL="1523573" indent="0" algn="ctr">
              <a:buNone/>
              <a:defRPr>
                <a:solidFill>
                  <a:schemeClr val="tx1">
                    <a:tint val="75000"/>
                  </a:schemeClr>
                </a:solidFill>
              </a:defRPr>
            </a:lvl5pPr>
            <a:lvl6pPr marL="1904467" indent="0" algn="ctr">
              <a:buNone/>
              <a:defRPr>
                <a:solidFill>
                  <a:schemeClr val="tx1">
                    <a:tint val="75000"/>
                  </a:schemeClr>
                </a:solidFill>
              </a:defRPr>
            </a:lvl6pPr>
            <a:lvl7pPr marL="2285360" indent="0" algn="ctr">
              <a:buNone/>
              <a:defRPr>
                <a:solidFill>
                  <a:schemeClr val="tx1">
                    <a:tint val="75000"/>
                  </a:schemeClr>
                </a:solidFill>
              </a:defRPr>
            </a:lvl7pPr>
            <a:lvl8pPr marL="2666253" indent="0" algn="ctr">
              <a:buNone/>
              <a:defRPr>
                <a:solidFill>
                  <a:schemeClr val="tx1">
                    <a:tint val="75000"/>
                  </a:schemeClr>
                </a:solidFill>
              </a:defRPr>
            </a:lvl8pPr>
            <a:lvl9pPr marL="304714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10725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5032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1771" y="3672417"/>
            <a:ext cx="6475313" cy="1135063"/>
          </a:xfrm>
        </p:spPr>
        <p:txBody>
          <a:bodyPr anchor="t"/>
          <a:lstStyle>
            <a:lvl1pPr algn="l">
              <a:defRPr sz="3332" b="1" cap="all"/>
            </a:lvl1pPr>
          </a:lstStyle>
          <a:p>
            <a:r>
              <a:rPr lang="en-US"/>
              <a:t>Click to edit Master title style</a:t>
            </a:r>
          </a:p>
        </p:txBody>
      </p:sp>
      <p:sp>
        <p:nvSpPr>
          <p:cNvPr id="3" name="Text Placeholder 2"/>
          <p:cNvSpPr>
            <a:spLocks noGrp="1"/>
          </p:cNvSpPr>
          <p:nvPr>
            <p:ph type="body" idx="1"/>
          </p:nvPr>
        </p:nvSpPr>
        <p:spPr>
          <a:xfrm>
            <a:off x="601771" y="2422261"/>
            <a:ext cx="6475313" cy="1250156"/>
          </a:xfrm>
        </p:spPr>
        <p:txBody>
          <a:bodyPr anchor="b"/>
          <a:lstStyle>
            <a:lvl1pPr marL="0" indent="0">
              <a:buNone/>
              <a:defRPr sz="1666">
                <a:solidFill>
                  <a:schemeClr val="tx1">
                    <a:tint val="75000"/>
                  </a:schemeClr>
                </a:solidFill>
              </a:defRPr>
            </a:lvl1pPr>
            <a:lvl2pPr marL="380893" indent="0">
              <a:buNone/>
              <a:defRPr sz="1500">
                <a:solidFill>
                  <a:schemeClr val="tx1">
                    <a:tint val="75000"/>
                  </a:schemeClr>
                </a:solidFill>
              </a:defRPr>
            </a:lvl2pPr>
            <a:lvl3pPr marL="761787" indent="0">
              <a:buNone/>
              <a:defRPr sz="1333">
                <a:solidFill>
                  <a:schemeClr val="tx1">
                    <a:tint val="75000"/>
                  </a:schemeClr>
                </a:solidFill>
              </a:defRPr>
            </a:lvl3pPr>
            <a:lvl4pPr marL="1142680" indent="0">
              <a:buNone/>
              <a:defRPr sz="1166">
                <a:solidFill>
                  <a:schemeClr val="tx1">
                    <a:tint val="75000"/>
                  </a:schemeClr>
                </a:solidFill>
              </a:defRPr>
            </a:lvl4pPr>
            <a:lvl5pPr marL="1523573" indent="0">
              <a:buNone/>
              <a:defRPr sz="1166">
                <a:solidFill>
                  <a:schemeClr val="tx1">
                    <a:tint val="75000"/>
                  </a:schemeClr>
                </a:solidFill>
              </a:defRPr>
            </a:lvl5pPr>
            <a:lvl6pPr marL="1904467" indent="0">
              <a:buNone/>
              <a:defRPr sz="1166">
                <a:solidFill>
                  <a:schemeClr val="tx1">
                    <a:tint val="75000"/>
                  </a:schemeClr>
                </a:solidFill>
              </a:defRPr>
            </a:lvl6pPr>
            <a:lvl7pPr marL="2285360" indent="0">
              <a:buNone/>
              <a:defRPr sz="1166">
                <a:solidFill>
                  <a:schemeClr val="tx1">
                    <a:tint val="75000"/>
                  </a:schemeClr>
                </a:solidFill>
              </a:defRPr>
            </a:lvl7pPr>
            <a:lvl8pPr marL="2666253" indent="0">
              <a:buNone/>
              <a:defRPr sz="1166">
                <a:solidFill>
                  <a:schemeClr val="tx1">
                    <a:tint val="75000"/>
                  </a:schemeClr>
                </a:solidFill>
              </a:defRPr>
            </a:lvl8pPr>
            <a:lvl9pPr marL="3047147" indent="0">
              <a:buNone/>
              <a:defRPr sz="116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73687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0901" y="1333500"/>
            <a:ext cx="3364624" cy="3771636"/>
          </a:xfrm>
        </p:spPr>
        <p:txBody>
          <a:bodyPr/>
          <a:lstStyle>
            <a:lvl1pPr>
              <a:defRPr sz="2333"/>
            </a:lvl1pPr>
            <a:lvl2pPr>
              <a:defRPr sz="1999"/>
            </a:lvl2pPr>
            <a:lvl3pPr>
              <a:defRPr sz="1666"/>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72491" y="1333500"/>
            <a:ext cx="3364624" cy="3771636"/>
          </a:xfrm>
        </p:spPr>
        <p:txBody>
          <a:bodyPr/>
          <a:lstStyle>
            <a:lvl1pPr>
              <a:defRPr sz="2333"/>
            </a:lvl1pPr>
            <a:lvl2pPr>
              <a:defRPr sz="1999"/>
            </a:lvl2pPr>
            <a:lvl3pPr>
              <a:defRPr sz="1666"/>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01084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0901" y="1279261"/>
            <a:ext cx="3365947" cy="533135"/>
          </a:xfrm>
        </p:spPr>
        <p:txBody>
          <a:bodyPr anchor="b"/>
          <a:lstStyle>
            <a:lvl1pPr marL="0" indent="0">
              <a:buNone/>
              <a:defRPr sz="1999" b="1"/>
            </a:lvl1pPr>
            <a:lvl2pPr marL="380893" indent="0">
              <a:buNone/>
              <a:defRPr sz="1666" b="1"/>
            </a:lvl2pPr>
            <a:lvl3pPr marL="761787" indent="0">
              <a:buNone/>
              <a:defRPr sz="1500" b="1"/>
            </a:lvl3pPr>
            <a:lvl4pPr marL="1142680" indent="0">
              <a:buNone/>
              <a:defRPr sz="1333" b="1"/>
            </a:lvl4pPr>
            <a:lvl5pPr marL="1523573" indent="0">
              <a:buNone/>
              <a:defRPr sz="1333" b="1"/>
            </a:lvl5pPr>
            <a:lvl6pPr marL="1904467" indent="0">
              <a:buNone/>
              <a:defRPr sz="1333" b="1"/>
            </a:lvl6pPr>
            <a:lvl7pPr marL="2285360" indent="0">
              <a:buNone/>
              <a:defRPr sz="1333" b="1"/>
            </a:lvl7pPr>
            <a:lvl8pPr marL="2666253" indent="0">
              <a:buNone/>
              <a:defRPr sz="1333" b="1"/>
            </a:lvl8pPr>
            <a:lvl9pPr marL="3047147" indent="0">
              <a:buNone/>
              <a:defRPr sz="1333" b="1"/>
            </a:lvl9pPr>
          </a:lstStyle>
          <a:p>
            <a:pPr lvl="0"/>
            <a:r>
              <a:rPr lang="en-US"/>
              <a:t>Click to edit Master text styles</a:t>
            </a:r>
          </a:p>
        </p:txBody>
      </p:sp>
      <p:sp>
        <p:nvSpPr>
          <p:cNvPr id="4" name="Content Placeholder 3"/>
          <p:cNvSpPr>
            <a:spLocks noGrp="1"/>
          </p:cNvSpPr>
          <p:nvPr>
            <p:ph sz="half" idx="2"/>
          </p:nvPr>
        </p:nvSpPr>
        <p:spPr>
          <a:xfrm>
            <a:off x="380901" y="1812396"/>
            <a:ext cx="3365947" cy="3292740"/>
          </a:xfrm>
        </p:spPr>
        <p:txBody>
          <a:bodyPr/>
          <a:lstStyle>
            <a:lvl1pPr>
              <a:defRPr sz="1999"/>
            </a:lvl1pPr>
            <a:lvl2pPr>
              <a:defRPr sz="1666"/>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69846" y="1279261"/>
            <a:ext cx="3367269" cy="533135"/>
          </a:xfrm>
        </p:spPr>
        <p:txBody>
          <a:bodyPr anchor="b"/>
          <a:lstStyle>
            <a:lvl1pPr marL="0" indent="0">
              <a:buNone/>
              <a:defRPr sz="1999" b="1"/>
            </a:lvl1pPr>
            <a:lvl2pPr marL="380893" indent="0">
              <a:buNone/>
              <a:defRPr sz="1666" b="1"/>
            </a:lvl2pPr>
            <a:lvl3pPr marL="761787" indent="0">
              <a:buNone/>
              <a:defRPr sz="1500" b="1"/>
            </a:lvl3pPr>
            <a:lvl4pPr marL="1142680" indent="0">
              <a:buNone/>
              <a:defRPr sz="1333" b="1"/>
            </a:lvl4pPr>
            <a:lvl5pPr marL="1523573" indent="0">
              <a:buNone/>
              <a:defRPr sz="1333" b="1"/>
            </a:lvl5pPr>
            <a:lvl6pPr marL="1904467" indent="0">
              <a:buNone/>
              <a:defRPr sz="1333" b="1"/>
            </a:lvl6pPr>
            <a:lvl7pPr marL="2285360" indent="0">
              <a:buNone/>
              <a:defRPr sz="1333" b="1"/>
            </a:lvl7pPr>
            <a:lvl8pPr marL="2666253" indent="0">
              <a:buNone/>
              <a:defRPr sz="1333" b="1"/>
            </a:lvl8pPr>
            <a:lvl9pPr marL="3047147" indent="0">
              <a:buNone/>
              <a:defRPr sz="1333" b="1"/>
            </a:lvl9pPr>
          </a:lstStyle>
          <a:p>
            <a:pPr lvl="0"/>
            <a:r>
              <a:rPr lang="en-US"/>
              <a:t>Click to edit Master text styles</a:t>
            </a:r>
          </a:p>
        </p:txBody>
      </p:sp>
      <p:sp>
        <p:nvSpPr>
          <p:cNvPr id="6" name="Content Placeholder 5"/>
          <p:cNvSpPr>
            <a:spLocks noGrp="1"/>
          </p:cNvSpPr>
          <p:nvPr>
            <p:ph sz="quarter" idx="4"/>
          </p:nvPr>
        </p:nvSpPr>
        <p:spPr>
          <a:xfrm>
            <a:off x="3869846" y="1812396"/>
            <a:ext cx="3367269" cy="3292740"/>
          </a:xfrm>
        </p:spPr>
        <p:txBody>
          <a:bodyPr/>
          <a:lstStyle>
            <a:lvl1pPr>
              <a:defRPr sz="1999"/>
            </a:lvl1pPr>
            <a:lvl2pPr>
              <a:defRPr sz="1666"/>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70488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94422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1152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0901" y="227542"/>
            <a:ext cx="2506275" cy="968375"/>
          </a:xfrm>
        </p:spPr>
        <p:txBody>
          <a:bodyPr anchor="b"/>
          <a:lstStyle>
            <a:lvl1pPr algn="l">
              <a:defRPr sz="1666" b="1"/>
            </a:lvl1pPr>
          </a:lstStyle>
          <a:p>
            <a:r>
              <a:rPr lang="en-US"/>
              <a:t>Click to edit Master title style</a:t>
            </a:r>
          </a:p>
        </p:txBody>
      </p:sp>
      <p:sp>
        <p:nvSpPr>
          <p:cNvPr id="3" name="Content Placeholder 2"/>
          <p:cNvSpPr>
            <a:spLocks noGrp="1"/>
          </p:cNvSpPr>
          <p:nvPr>
            <p:ph idx="1"/>
          </p:nvPr>
        </p:nvSpPr>
        <p:spPr>
          <a:xfrm>
            <a:off x="2978433" y="227542"/>
            <a:ext cx="4258682" cy="4877594"/>
          </a:xfrm>
        </p:spPr>
        <p:txBody>
          <a:bodyPr/>
          <a:lstStyle>
            <a:lvl1pPr>
              <a:defRPr sz="2666"/>
            </a:lvl1pPr>
            <a:lvl2pPr>
              <a:defRPr sz="2333"/>
            </a:lvl2pPr>
            <a:lvl3pPr>
              <a:defRPr sz="1999"/>
            </a:lvl3pPr>
            <a:lvl4pPr>
              <a:defRPr sz="1666"/>
            </a:lvl4pPr>
            <a:lvl5pPr>
              <a:defRPr sz="1666"/>
            </a:lvl5pPr>
            <a:lvl6pPr>
              <a:defRPr sz="1666"/>
            </a:lvl6pPr>
            <a:lvl7pPr>
              <a:defRPr sz="1666"/>
            </a:lvl7pPr>
            <a:lvl8pPr>
              <a:defRPr sz="1666"/>
            </a:lvl8pPr>
            <a:lvl9pPr>
              <a:defRPr sz="16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0901" y="1195917"/>
            <a:ext cx="2506275" cy="3909219"/>
          </a:xfrm>
        </p:spPr>
        <p:txBody>
          <a:bodyPr/>
          <a:lstStyle>
            <a:lvl1pPr marL="0" indent="0">
              <a:buNone/>
              <a:defRPr sz="1166"/>
            </a:lvl1pPr>
            <a:lvl2pPr marL="380893" indent="0">
              <a:buNone/>
              <a:defRPr sz="1000"/>
            </a:lvl2pPr>
            <a:lvl3pPr marL="761787" indent="0">
              <a:buNone/>
              <a:defRPr sz="833"/>
            </a:lvl3pPr>
            <a:lvl4pPr marL="1142680" indent="0">
              <a:buNone/>
              <a:defRPr sz="750"/>
            </a:lvl4pPr>
            <a:lvl5pPr marL="1523573" indent="0">
              <a:buNone/>
              <a:defRPr sz="750"/>
            </a:lvl5pPr>
            <a:lvl6pPr marL="1904467" indent="0">
              <a:buNone/>
              <a:defRPr sz="750"/>
            </a:lvl6pPr>
            <a:lvl7pPr marL="2285360" indent="0">
              <a:buNone/>
              <a:defRPr sz="750"/>
            </a:lvl7pPr>
            <a:lvl8pPr marL="2666253" indent="0">
              <a:buNone/>
              <a:defRPr sz="750"/>
            </a:lvl8pPr>
            <a:lvl9pPr marL="304714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9852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3185" y="4000500"/>
            <a:ext cx="4570809" cy="472282"/>
          </a:xfrm>
        </p:spPr>
        <p:txBody>
          <a:bodyPr anchor="b"/>
          <a:lstStyle>
            <a:lvl1pPr algn="l">
              <a:defRPr sz="1666" b="1"/>
            </a:lvl1pPr>
          </a:lstStyle>
          <a:p>
            <a:r>
              <a:rPr lang="en-US"/>
              <a:t>Click to edit Master title style</a:t>
            </a:r>
          </a:p>
        </p:txBody>
      </p:sp>
      <p:sp>
        <p:nvSpPr>
          <p:cNvPr id="3" name="Picture Placeholder 2"/>
          <p:cNvSpPr>
            <a:spLocks noGrp="1"/>
          </p:cNvSpPr>
          <p:nvPr>
            <p:ph type="pic" idx="1"/>
          </p:nvPr>
        </p:nvSpPr>
        <p:spPr>
          <a:xfrm>
            <a:off x="1493185" y="510646"/>
            <a:ext cx="4570809" cy="3429000"/>
          </a:xfrm>
        </p:spPr>
        <p:txBody>
          <a:bodyPr/>
          <a:lstStyle>
            <a:lvl1pPr marL="0" indent="0">
              <a:buNone/>
              <a:defRPr sz="2666"/>
            </a:lvl1pPr>
            <a:lvl2pPr marL="380893" indent="0">
              <a:buNone/>
              <a:defRPr sz="2333"/>
            </a:lvl2pPr>
            <a:lvl3pPr marL="761787" indent="0">
              <a:buNone/>
              <a:defRPr sz="1999"/>
            </a:lvl3pPr>
            <a:lvl4pPr marL="1142680" indent="0">
              <a:buNone/>
              <a:defRPr sz="1666"/>
            </a:lvl4pPr>
            <a:lvl5pPr marL="1523573" indent="0">
              <a:buNone/>
              <a:defRPr sz="1666"/>
            </a:lvl5pPr>
            <a:lvl6pPr marL="1904467" indent="0">
              <a:buNone/>
              <a:defRPr sz="1666"/>
            </a:lvl6pPr>
            <a:lvl7pPr marL="2285360" indent="0">
              <a:buNone/>
              <a:defRPr sz="1666"/>
            </a:lvl7pPr>
            <a:lvl8pPr marL="2666253" indent="0">
              <a:buNone/>
              <a:defRPr sz="1666"/>
            </a:lvl8pPr>
            <a:lvl9pPr marL="3047147" indent="0">
              <a:buNone/>
              <a:defRPr sz="1666"/>
            </a:lvl9pPr>
          </a:lstStyle>
          <a:p>
            <a:endParaRPr lang="en-US"/>
          </a:p>
        </p:txBody>
      </p:sp>
      <p:sp>
        <p:nvSpPr>
          <p:cNvPr id="4" name="Text Placeholder 3"/>
          <p:cNvSpPr>
            <a:spLocks noGrp="1"/>
          </p:cNvSpPr>
          <p:nvPr>
            <p:ph type="body" sz="half" idx="2"/>
          </p:nvPr>
        </p:nvSpPr>
        <p:spPr>
          <a:xfrm>
            <a:off x="1493185" y="4472782"/>
            <a:ext cx="4570809" cy="670718"/>
          </a:xfrm>
        </p:spPr>
        <p:txBody>
          <a:bodyPr/>
          <a:lstStyle>
            <a:lvl1pPr marL="0" indent="0">
              <a:buNone/>
              <a:defRPr sz="1166"/>
            </a:lvl1pPr>
            <a:lvl2pPr marL="380893" indent="0">
              <a:buNone/>
              <a:defRPr sz="1000"/>
            </a:lvl2pPr>
            <a:lvl3pPr marL="761787" indent="0">
              <a:buNone/>
              <a:defRPr sz="833"/>
            </a:lvl3pPr>
            <a:lvl4pPr marL="1142680" indent="0">
              <a:buNone/>
              <a:defRPr sz="750"/>
            </a:lvl4pPr>
            <a:lvl5pPr marL="1523573" indent="0">
              <a:buNone/>
              <a:defRPr sz="750"/>
            </a:lvl5pPr>
            <a:lvl6pPr marL="1904467" indent="0">
              <a:buNone/>
              <a:defRPr sz="750"/>
            </a:lvl6pPr>
            <a:lvl7pPr marL="2285360" indent="0">
              <a:buNone/>
              <a:defRPr sz="750"/>
            </a:lvl7pPr>
            <a:lvl8pPr marL="2666253" indent="0">
              <a:buNone/>
              <a:defRPr sz="750"/>
            </a:lvl8pPr>
            <a:lvl9pPr marL="304714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79072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47719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3061" y="228865"/>
            <a:ext cx="1714054"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0901" y="228865"/>
            <a:ext cx="5015194"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11853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7039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332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6/15/2026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55712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6"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0901" y="228865"/>
            <a:ext cx="6856214"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01" y="1333500"/>
            <a:ext cx="6856214"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0901" y="5296959"/>
            <a:ext cx="1777537" cy="304271"/>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6/15/2026</a:t>
            </a:fld>
            <a:endParaRPr lang="en-US"/>
          </a:p>
        </p:txBody>
      </p:sp>
      <p:sp>
        <p:nvSpPr>
          <p:cNvPr id="5" name="Footer Placeholder 4"/>
          <p:cNvSpPr>
            <a:spLocks noGrp="1"/>
          </p:cNvSpPr>
          <p:nvPr>
            <p:ph type="ftr" sz="quarter" idx="3"/>
          </p:nvPr>
        </p:nvSpPr>
        <p:spPr>
          <a:xfrm>
            <a:off x="2602822" y="5296959"/>
            <a:ext cx="2412372"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59578" y="5296959"/>
            <a:ext cx="1777537"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478603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7" r:id="rId12"/>
  </p:sldLayoutIdLst>
  <p:txStyles>
    <p:titleStyle>
      <a:lvl1pPr algn="ctr" defTabSz="380893" rtl="0" eaLnBrk="1" latinLnBrk="0" hangingPunct="1">
        <a:spcBef>
          <a:spcPct val="0"/>
        </a:spcBef>
        <a:buNone/>
        <a:defRPr sz="3666" kern="1200">
          <a:solidFill>
            <a:schemeClr val="tx1"/>
          </a:solidFill>
          <a:latin typeface="+mj-lt"/>
          <a:ea typeface="+mj-ea"/>
          <a:cs typeface="+mj-cs"/>
        </a:defRPr>
      </a:lvl1pPr>
    </p:titleStyle>
    <p:bodyStyle>
      <a:lvl1pPr marL="285670" indent="-285670" algn="l" defTabSz="380893" rtl="0" eaLnBrk="1" latinLnBrk="0" hangingPunct="1">
        <a:spcBef>
          <a:spcPct val="20000"/>
        </a:spcBef>
        <a:buFont typeface="Arial"/>
        <a:buChar char="•"/>
        <a:defRPr sz="2666" kern="1200">
          <a:solidFill>
            <a:schemeClr val="tx1"/>
          </a:solidFill>
          <a:latin typeface="+mn-lt"/>
          <a:ea typeface="+mn-ea"/>
          <a:cs typeface="+mn-cs"/>
        </a:defRPr>
      </a:lvl1pPr>
      <a:lvl2pPr marL="618952" indent="-238058" algn="l" defTabSz="380893" rtl="0" eaLnBrk="1" latinLnBrk="0" hangingPunct="1">
        <a:spcBef>
          <a:spcPct val="20000"/>
        </a:spcBef>
        <a:buFont typeface="Arial"/>
        <a:buChar char="–"/>
        <a:defRPr sz="2333" kern="1200">
          <a:solidFill>
            <a:schemeClr val="tx1"/>
          </a:solidFill>
          <a:latin typeface="+mn-lt"/>
          <a:ea typeface="+mn-ea"/>
          <a:cs typeface="+mn-cs"/>
        </a:defRPr>
      </a:lvl2pPr>
      <a:lvl3pPr marL="952233" indent="-190447" algn="l" defTabSz="380893" rtl="0" eaLnBrk="1" latinLnBrk="0" hangingPunct="1">
        <a:spcBef>
          <a:spcPct val="20000"/>
        </a:spcBef>
        <a:buFont typeface="Arial"/>
        <a:buChar char="•"/>
        <a:defRPr sz="1999" kern="1200">
          <a:solidFill>
            <a:schemeClr val="tx1"/>
          </a:solidFill>
          <a:latin typeface="+mn-lt"/>
          <a:ea typeface="+mn-ea"/>
          <a:cs typeface="+mn-cs"/>
        </a:defRPr>
      </a:lvl3pPr>
      <a:lvl4pPr marL="1333127" indent="-190447" algn="l" defTabSz="380893" rtl="0" eaLnBrk="1" latinLnBrk="0" hangingPunct="1">
        <a:spcBef>
          <a:spcPct val="20000"/>
        </a:spcBef>
        <a:buFont typeface="Arial"/>
        <a:buChar char="–"/>
        <a:defRPr sz="1666" kern="1200">
          <a:solidFill>
            <a:schemeClr val="tx1"/>
          </a:solidFill>
          <a:latin typeface="+mn-lt"/>
          <a:ea typeface="+mn-ea"/>
          <a:cs typeface="+mn-cs"/>
        </a:defRPr>
      </a:lvl4pPr>
      <a:lvl5pPr marL="1714020" indent="-190447" algn="l" defTabSz="380893" rtl="0" eaLnBrk="1" latinLnBrk="0" hangingPunct="1">
        <a:spcBef>
          <a:spcPct val="20000"/>
        </a:spcBef>
        <a:buFont typeface="Arial"/>
        <a:buChar char="»"/>
        <a:defRPr sz="1666" kern="1200">
          <a:solidFill>
            <a:schemeClr val="tx1"/>
          </a:solidFill>
          <a:latin typeface="+mn-lt"/>
          <a:ea typeface="+mn-ea"/>
          <a:cs typeface="+mn-cs"/>
        </a:defRPr>
      </a:lvl5pPr>
      <a:lvl6pPr marL="2094913" indent="-190447" algn="l" defTabSz="380893" rtl="0" eaLnBrk="1" latinLnBrk="0" hangingPunct="1">
        <a:spcBef>
          <a:spcPct val="20000"/>
        </a:spcBef>
        <a:buFont typeface="Arial"/>
        <a:buChar char="•"/>
        <a:defRPr sz="1666" kern="1200">
          <a:solidFill>
            <a:schemeClr val="tx1"/>
          </a:solidFill>
          <a:latin typeface="+mn-lt"/>
          <a:ea typeface="+mn-ea"/>
          <a:cs typeface="+mn-cs"/>
        </a:defRPr>
      </a:lvl6pPr>
      <a:lvl7pPr marL="2475807" indent="-190447" algn="l" defTabSz="380893" rtl="0" eaLnBrk="1" latinLnBrk="0" hangingPunct="1">
        <a:spcBef>
          <a:spcPct val="20000"/>
        </a:spcBef>
        <a:buFont typeface="Arial"/>
        <a:buChar char="•"/>
        <a:defRPr sz="1666" kern="1200">
          <a:solidFill>
            <a:schemeClr val="tx1"/>
          </a:solidFill>
          <a:latin typeface="+mn-lt"/>
          <a:ea typeface="+mn-ea"/>
          <a:cs typeface="+mn-cs"/>
        </a:defRPr>
      </a:lvl7pPr>
      <a:lvl8pPr marL="2856700" indent="-190447" algn="l" defTabSz="380893" rtl="0" eaLnBrk="1" latinLnBrk="0" hangingPunct="1">
        <a:spcBef>
          <a:spcPct val="20000"/>
        </a:spcBef>
        <a:buFont typeface="Arial"/>
        <a:buChar char="•"/>
        <a:defRPr sz="1666" kern="1200">
          <a:solidFill>
            <a:schemeClr val="tx1"/>
          </a:solidFill>
          <a:latin typeface="+mn-lt"/>
          <a:ea typeface="+mn-ea"/>
          <a:cs typeface="+mn-cs"/>
        </a:defRPr>
      </a:lvl8pPr>
      <a:lvl9pPr marL="3237593" indent="-190447" algn="l" defTabSz="380893" rtl="0" eaLnBrk="1" latinLnBrk="0" hangingPunct="1">
        <a:spcBef>
          <a:spcPct val="20000"/>
        </a:spcBef>
        <a:buFont typeface="Arial"/>
        <a:buChar char="•"/>
        <a:defRPr sz="1666" kern="1200">
          <a:solidFill>
            <a:schemeClr val="tx1"/>
          </a:solidFill>
          <a:latin typeface="+mn-lt"/>
          <a:ea typeface="+mn-ea"/>
          <a:cs typeface="+mn-cs"/>
        </a:defRPr>
      </a:lvl9pPr>
    </p:bodyStyle>
    <p:otherStyle>
      <a:defPPr>
        <a:defRPr lang="en-US"/>
      </a:defPPr>
      <a:lvl1pPr marL="0" algn="l" defTabSz="380893" rtl="0" eaLnBrk="1" latinLnBrk="0" hangingPunct="1">
        <a:defRPr sz="1500" kern="1200">
          <a:solidFill>
            <a:schemeClr val="tx1"/>
          </a:solidFill>
          <a:latin typeface="+mn-lt"/>
          <a:ea typeface="+mn-ea"/>
          <a:cs typeface="+mn-cs"/>
        </a:defRPr>
      </a:lvl1pPr>
      <a:lvl2pPr marL="380893" algn="l" defTabSz="380893" rtl="0" eaLnBrk="1" latinLnBrk="0" hangingPunct="1">
        <a:defRPr sz="1500" kern="1200">
          <a:solidFill>
            <a:schemeClr val="tx1"/>
          </a:solidFill>
          <a:latin typeface="+mn-lt"/>
          <a:ea typeface="+mn-ea"/>
          <a:cs typeface="+mn-cs"/>
        </a:defRPr>
      </a:lvl2pPr>
      <a:lvl3pPr marL="761787" algn="l" defTabSz="380893" rtl="0" eaLnBrk="1" latinLnBrk="0" hangingPunct="1">
        <a:defRPr sz="1500" kern="1200">
          <a:solidFill>
            <a:schemeClr val="tx1"/>
          </a:solidFill>
          <a:latin typeface="+mn-lt"/>
          <a:ea typeface="+mn-ea"/>
          <a:cs typeface="+mn-cs"/>
        </a:defRPr>
      </a:lvl3pPr>
      <a:lvl4pPr marL="1142680" algn="l" defTabSz="380893" rtl="0" eaLnBrk="1" latinLnBrk="0" hangingPunct="1">
        <a:defRPr sz="1500" kern="1200">
          <a:solidFill>
            <a:schemeClr val="tx1"/>
          </a:solidFill>
          <a:latin typeface="+mn-lt"/>
          <a:ea typeface="+mn-ea"/>
          <a:cs typeface="+mn-cs"/>
        </a:defRPr>
      </a:lvl4pPr>
      <a:lvl5pPr marL="1523573" algn="l" defTabSz="380893" rtl="0" eaLnBrk="1" latinLnBrk="0" hangingPunct="1">
        <a:defRPr sz="1500" kern="1200">
          <a:solidFill>
            <a:schemeClr val="tx1"/>
          </a:solidFill>
          <a:latin typeface="+mn-lt"/>
          <a:ea typeface="+mn-ea"/>
          <a:cs typeface="+mn-cs"/>
        </a:defRPr>
      </a:lvl5pPr>
      <a:lvl6pPr marL="1904467" algn="l" defTabSz="380893" rtl="0" eaLnBrk="1" latinLnBrk="0" hangingPunct="1">
        <a:defRPr sz="1500" kern="1200">
          <a:solidFill>
            <a:schemeClr val="tx1"/>
          </a:solidFill>
          <a:latin typeface="+mn-lt"/>
          <a:ea typeface="+mn-ea"/>
          <a:cs typeface="+mn-cs"/>
        </a:defRPr>
      </a:lvl6pPr>
      <a:lvl7pPr marL="2285360" algn="l" defTabSz="380893" rtl="0" eaLnBrk="1" latinLnBrk="0" hangingPunct="1">
        <a:defRPr sz="1500" kern="1200">
          <a:solidFill>
            <a:schemeClr val="tx1"/>
          </a:solidFill>
          <a:latin typeface="+mn-lt"/>
          <a:ea typeface="+mn-ea"/>
          <a:cs typeface="+mn-cs"/>
        </a:defRPr>
      </a:lvl7pPr>
      <a:lvl8pPr marL="2666253" algn="l" defTabSz="380893" rtl="0" eaLnBrk="1" latinLnBrk="0" hangingPunct="1">
        <a:defRPr sz="1500" kern="1200">
          <a:solidFill>
            <a:schemeClr val="tx1"/>
          </a:solidFill>
          <a:latin typeface="+mn-lt"/>
          <a:ea typeface="+mn-ea"/>
          <a:cs typeface="+mn-cs"/>
        </a:defRPr>
      </a:lvl8pPr>
      <a:lvl9pPr marL="3047147" algn="l" defTabSz="380893"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6622721"/>
      </p:ext>
    </p:extLst>
  </p:cSld>
  <p:clrMap bg1="lt1" tx1="dk1" bg2="lt2" tx2="dk2" accent1="accent1" accent2="accent2" accent3="accent3" accent4="accent4" accent5="accent5" accent6="accent6" hlink="hlink" folHlink="folHlink"/>
  <p:sldLayoutIdLst>
    <p:sldLayoutId id="2147483685" r:id="rId1"/>
  </p:sldLayoutIdLst>
  <p:hf sldNum="0" hdr="0" ftr="0" dt="0"/>
  <p:txStyles>
    <p:titleStyle>
      <a:lvl1pPr algn="ctr" defTabSz="1218895"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1218895"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3732"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6.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E1A"/>
        </a:solidFill>
        <a:effectLst/>
      </p:bgPr>
    </p:bg>
    <p:spTree>
      <p:nvGrpSpPr>
        <p:cNvPr id="1" name=""/>
        <p:cNvGrpSpPr/>
        <p:nvPr/>
      </p:nvGrpSpPr>
      <p:grpSpPr>
        <a:xfrm>
          <a:off x="0" y="0"/>
          <a:ext cx="0" cy="0"/>
          <a:chOff x="0" y="0"/>
          <a:chExt cx="0" cy="0"/>
        </a:xfrm>
      </p:grpSpPr>
      <p:sp>
        <p:nvSpPr>
          <p:cNvPr id="4" name="Rectangle 3"/>
          <p:cNvSpPr/>
          <p:nvPr/>
        </p:nvSpPr>
        <p:spPr>
          <a:xfrm>
            <a:off x="4754880" y="50292"/>
            <a:ext cx="45719" cy="6807708"/>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ndara" panose="020E0502030303020204" pitchFamily="34" charset="0"/>
            </a:endParaRPr>
          </a:p>
        </p:txBody>
      </p:sp>
      <p:sp>
        <p:nvSpPr>
          <p:cNvPr id="5" name="TextBox 4"/>
          <p:cNvSpPr txBox="1"/>
          <p:nvPr/>
        </p:nvSpPr>
        <p:spPr>
          <a:xfrm>
            <a:off x="512941" y="2234881"/>
            <a:ext cx="2281556" cy="1569660"/>
          </a:xfrm>
          <a:prstGeom prst="rect">
            <a:avLst/>
          </a:prstGeom>
          <a:noFill/>
        </p:spPr>
        <p:txBody>
          <a:bodyPr wrap="square">
            <a:spAutoFit/>
          </a:bodyPr>
          <a:lstStyle/>
          <a:p>
            <a:pPr algn="ctr"/>
            <a:r>
              <a:rPr sz="9600" b="1" dirty="0">
                <a:solidFill>
                  <a:srgbClr val="00C896"/>
                </a:solidFill>
                <a:latin typeface="Candara" panose="020E0502030303020204" pitchFamily="34" charset="0"/>
              </a:rPr>
              <a:t>IoT</a:t>
            </a:r>
          </a:p>
        </p:txBody>
      </p:sp>
      <p:sp>
        <p:nvSpPr>
          <p:cNvPr id="12" name="TextBox 11"/>
          <p:cNvSpPr txBox="1"/>
          <p:nvPr/>
        </p:nvSpPr>
        <p:spPr>
          <a:xfrm>
            <a:off x="2685119" y="2119443"/>
            <a:ext cx="1282446"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Backend</a:t>
            </a:r>
          </a:p>
        </p:txBody>
      </p:sp>
      <p:sp>
        <p:nvSpPr>
          <p:cNvPr id="15" name="TextBox 14"/>
          <p:cNvSpPr txBox="1"/>
          <p:nvPr/>
        </p:nvSpPr>
        <p:spPr>
          <a:xfrm>
            <a:off x="2685119" y="1453537"/>
            <a:ext cx="1030756" cy="307777"/>
          </a:xfrm>
          <a:prstGeom prst="rect">
            <a:avLst/>
          </a:prstGeom>
          <a:noFill/>
        </p:spPr>
        <p:txBody>
          <a:bodyPr wrap="square">
            <a:spAutoFit/>
          </a:bodyPr>
          <a:lstStyle/>
          <a:p>
            <a:r>
              <a:rPr sz="1400" b="1" i="0" dirty="0">
                <a:solidFill>
                  <a:srgbClr val="009A72"/>
                </a:solidFill>
                <a:latin typeface="Candara" panose="020E0502030303020204" pitchFamily="34" charset="0"/>
                <a:ea typeface="Cambria Math" panose="02040503050406030204" pitchFamily="18" charset="0"/>
              </a:rPr>
              <a:t>React</a:t>
            </a:r>
            <a:r>
              <a:rPr lang="en-US" sz="1400" b="1" i="0" dirty="0">
                <a:solidFill>
                  <a:srgbClr val="009A72"/>
                </a:solidFill>
                <a:latin typeface="Candara" panose="020E0502030303020204" pitchFamily="34" charset="0"/>
                <a:ea typeface="Cambria Math" panose="02040503050406030204" pitchFamily="18" charset="0"/>
              </a:rPr>
              <a:t> SPA</a:t>
            </a:r>
            <a:endParaRPr sz="1400" b="1" i="0" dirty="0">
              <a:solidFill>
                <a:srgbClr val="009A72"/>
              </a:solidFill>
              <a:latin typeface="Candara" panose="020E0502030303020204" pitchFamily="34" charset="0"/>
              <a:ea typeface="Cambria Math" panose="02040503050406030204" pitchFamily="18" charset="0"/>
            </a:endParaRPr>
          </a:p>
        </p:txBody>
      </p:sp>
      <p:sp>
        <p:nvSpPr>
          <p:cNvPr id="16" name="TextBox 15"/>
          <p:cNvSpPr txBox="1"/>
          <p:nvPr/>
        </p:nvSpPr>
        <p:spPr>
          <a:xfrm>
            <a:off x="2685119" y="1151432"/>
            <a:ext cx="1282446"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Frontend</a:t>
            </a:r>
          </a:p>
        </p:txBody>
      </p:sp>
      <p:sp>
        <p:nvSpPr>
          <p:cNvPr id="19" name="TextBox 18"/>
          <p:cNvSpPr txBox="1"/>
          <p:nvPr/>
        </p:nvSpPr>
        <p:spPr>
          <a:xfrm>
            <a:off x="2685119" y="4313770"/>
            <a:ext cx="1943028" cy="307777"/>
          </a:xfrm>
          <a:prstGeom prst="rect">
            <a:avLst/>
          </a:prstGeom>
          <a:noFill/>
        </p:spPr>
        <p:txBody>
          <a:bodyPr wrap="square">
            <a:spAutoFit/>
          </a:bodyPr>
          <a:lstStyle/>
          <a:p>
            <a:r>
              <a:rPr sz="1400" b="1" i="0" dirty="0" err="1">
                <a:solidFill>
                  <a:srgbClr val="00B8D4"/>
                </a:solidFill>
                <a:latin typeface="Candara" panose="020E0502030303020204" pitchFamily="34" charset="0"/>
                <a:ea typeface="Cambria Math" panose="02040503050406030204" pitchFamily="18" charset="0"/>
              </a:rPr>
              <a:t>SignalR</a:t>
            </a:r>
            <a:r>
              <a:rPr lang="en-US" sz="1400" b="1" i="0" dirty="0">
                <a:solidFill>
                  <a:srgbClr val="00B8D4"/>
                </a:solidFill>
                <a:latin typeface="Candara" panose="020E0502030303020204" pitchFamily="34" charset="0"/>
                <a:ea typeface="Cambria Math" panose="02040503050406030204" pitchFamily="18" charset="0"/>
              </a:rPr>
              <a:t> </a:t>
            </a:r>
            <a:endParaRPr sz="1400" b="1" i="0" dirty="0">
              <a:solidFill>
                <a:srgbClr val="00B8D4"/>
              </a:solidFill>
              <a:latin typeface="Candara" panose="020E0502030303020204" pitchFamily="34" charset="0"/>
              <a:ea typeface="Cambria Math" panose="02040503050406030204" pitchFamily="18" charset="0"/>
            </a:endParaRPr>
          </a:p>
        </p:txBody>
      </p:sp>
      <p:sp>
        <p:nvSpPr>
          <p:cNvPr id="20" name="TextBox 19"/>
          <p:cNvSpPr txBox="1"/>
          <p:nvPr/>
        </p:nvSpPr>
        <p:spPr>
          <a:xfrm>
            <a:off x="2685119" y="4015828"/>
            <a:ext cx="1385909"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Real-Time</a:t>
            </a:r>
          </a:p>
        </p:txBody>
      </p:sp>
      <p:sp>
        <p:nvSpPr>
          <p:cNvPr id="23" name="TextBox 22"/>
          <p:cNvSpPr txBox="1"/>
          <p:nvPr/>
        </p:nvSpPr>
        <p:spPr>
          <a:xfrm>
            <a:off x="2685119" y="3487132"/>
            <a:ext cx="1227295" cy="307777"/>
          </a:xfrm>
          <a:prstGeom prst="rect">
            <a:avLst/>
          </a:prstGeom>
          <a:noFill/>
        </p:spPr>
        <p:txBody>
          <a:bodyPr wrap="square">
            <a:spAutoFit/>
          </a:bodyPr>
          <a:lstStyle/>
          <a:p>
            <a:r>
              <a:rPr sz="1400" b="1" i="0" dirty="0">
                <a:solidFill>
                  <a:srgbClr val="F0A500"/>
                </a:solidFill>
                <a:latin typeface="Candara" panose="020E0502030303020204" pitchFamily="34" charset="0"/>
                <a:ea typeface="Cambria Math" panose="02040503050406030204" pitchFamily="18" charset="0"/>
              </a:rPr>
              <a:t>SQL Server</a:t>
            </a:r>
          </a:p>
        </p:txBody>
      </p:sp>
      <p:sp>
        <p:nvSpPr>
          <p:cNvPr id="24" name="TextBox 23"/>
          <p:cNvSpPr txBox="1"/>
          <p:nvPr/>
        </p:nvSpPr>
        <p:spPr>
          <a:xfrm>
            <a:off x="2685119" y="3188398"/>
            <a:ext cx="1057760"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Database</a:t>
            </a:r>
          </a:p>
        </p:txBody>
      </p:sp>
      <p:sp>
        <p:nvSpPr>
          <p:cNvPr id="27" name="TextBox 26"/>
          <p:cNvSpPr txBox="1"/>
          <p:nvPr/>
        </p:nvSpPr>
        <p:spPr>
          <a:xfrm>
            <a:off x="4846320" y="1657779"/>
            <a:ext cx="7040880" cy="1077218"/>
          </a:xfrm>
          <a:prstGeom prst="rect">
            <a:avLst/>
          </a:prstGeom>
          <a:noFill/>
        </p:spPr>
        <p:txBody>
          <a:bodyPr wrap="square">
            <a:spAutoFit/>
          </a:bodyPr>
          <a:lstStyle/>
          <a:p>
            <a:pPr algn="r"/>
            <a:r>
              <a:rPr sz="3200" b="1" dirty="0">
                <a:solidFill>
                  <a:srgbClr val="E8F5EE"/>
                </a:solidFill>
                <a:latin typeface="Candara" panose="020E0502030303020204" pitchFamily="34" charset="0"/>
              </a:rPr>
              <a:t>Web-Based IoT Device</a:t>
            </a:r>
          </a:p>
          <a:p>
            <a:pPr algn="r"/>
            <a:r>
              <a:rPr sz="3200" b="1" dirty="0">
                <a:solidFill>
                  <a:srgbClr val="00C896"/>
                </a:solidFill>
                <a:latin typeface="Candara" panose="020E0502030303020204" pitchFamily="34" charset="0"/>
              </a:rPr>
              <a:t>Real-Time Monitoring</a:t>
            </a:r>
            <a:r>
              <a:rPr lang="en-US" sz="3200" b="1" dirty="0">
                <a:solidFill>
                  <a:srgbClr val="00C896"/>
                </a:solidFill>
                <a:latin typeface="Candara" panose="020E0502030303020204" pitchFamily="34" charset="0"/>
              </a:rPr>
              <a:t> </a:t>
            </a:r>
            <a:r>
              <a:rPr sz="3200" b="1" dirty="0">
                <a:solidFill>
                  <a:srgbClr val="00C896"/>
                </a:solidFill>
                <a:latin typeface="Candara" panose="020E0502030303020204" pitchFamily="34" charset="0"/>
              </a:rPr>
              <a:t>System</a:t>
            </a:r>
          </a:p>
        </p:txBody>
      </p:sp>
      <p:sp>
        <p:nvSpPr>
          <p:cNvPr id="32" name="TextBox 31"/>
          <p:cNvSpPr txBox="1"/>
          <p:nvPr/>
        </p:nvSpPr>
        <p:spPr>
          <a:xfrm>
            <a:off x="6675120" y="3583216"/>
            <a:ext cx="5120640" cy="1231106"/>
          </a:xfrm>
          <a:prstGeom prst="rect">
            <a:avLst/>
          </a:prstGeom>
          <a:noFill/>
          <a:ln>
            <a:noFill/>
          </a:ln>
        </p:spPr>
        <p:txBody>
          <a:bodyPr wrap="square">
            <a:spAutoFit/>
          </a:bodyPr>
          <a:lstStyle/>
          <a:p>
            <a:pPr algn="r"/>
            <a:r>
              <a:rPr lang="en-US" b="1" dirty="0">
                <a:solidFill>
                  <a:srgbClr val="00C896"/>
                </a:solidFill>
                <a:latin typeface="Candara" panose="020E0502030303020204" pitchFamily="34" charset="0"/>
              </a:rPr>
              <a:t>CAPSTONE PROJECT</a:t>
            </a:r>
          </a:p>
          <a:p>
            <a:pPr algn="r"/>
            <a:endParaRPr lang="en-US" sz="1400" b="0" i="0" dirty="0">
              <a:solidFill>
                <a:srgbClr val="FFC000"/>
              </a:solidFill>
              <a:latin typeface="Candara" panose="020E0502030303020204" pitchFamily="34" charset="0"/>
            </a:endParaRPr>
          </a:p>
          <a:p>
            <a:pPr algn="r"/>
            <a:r>
              <a:rPr sz="1400" b="0" i="0" dirty="0">
                <a:solidFill>
                  <a:srgbClr val="FFC000"/>
                </a:solidFill>
                <a:latin typeface="Candara" panose="020E0502030303020204" pitchFamily="34" charset="0"/>
              </a:rPr>
              <a:t>BAS — Application Development</a:t>
            </a:r>
            <a:endParaRPr lang="en-US" sz="1400" b="0" i="0" dirty="0">
              <a:solidFill>
                <a:srgbClr val="FFC000"/>
              </a:solidFill>
              <a:latin typeface="Candara" panose="020E0502030303020204" pitchFamily="34" charset="0"/>
            </a:endParaRPr>
          </a:p>
          <a:p>
            <a:pPr algn="r"/>
            <a:r>
              <a:rPr lang="en-US" sz="1400" b="0" i="0" dirty="0">
                <a:solidFill>
                  <a:srgbClr val="E8F5EE"/>
                </a:solidFill>
                <a:latin typeface="Candara" panose="020E0502030303020204" pitchFamily="34" charset="0"/>
              </a:rPr>
              <a:t>Instructor | </a:t>
            </a:r>
            <a:r>
              <a:rPr lang="en-US" sz="1400" b="0" i="1" dirty="0">
                <a:solidFill>
                  <a:srgbClr val="E8F5EE"/>
                </a:solidFill>
                <a:latin typeface="Candara" panose="020E0502030303020204" pitchFamily="34" charset="0"/>
              </a:rPr>
              <a:t> </a:t>
            </a:r>
            <a:r>
              <a:rPr lang="en-US" sz="1400" b="0" dirty="0">
                <a:solidFill>
                  <a:srgbClr val="E8F5EE"/>
                </a:solidFill>
                <a:latin typeface="Candara" panose="020E0502030303020204" pitchFamily="34" charset="0"/>
              </a:rPr>
              <a:t>Naser Chowdhury </a:t>
            </a:r>
            <a:endParaRPr lang="en-US" sz="1400" dirty="0">
              <a:solidFill>
                <a:srgbClr val="E8F5EE"/>
              </a:solidFill>
              <a:latin typeface="Candara" panose="020E0502030303020204" pitchFamily="34" charset="0"/>
            </a:endParaRPr>
          </a:p>
          <a:p>
            <a:pPr algn="r"/>
            <a:r>
              <a:rPr lang="en-US" sz="1400" dirty="0">
                <a:solidFill>
                  <a:srgbClr val="E8F5EE"/>
                </a:solidFill>
                <a:latin typeface="Candara" panose="020E0502030303020204" pitchFamily="34" charset="0"/>
              </a:rPr>
              <a:t>Student | Quoc Bao Tran </a:t>
            </a:r>
          </a:p>
        </p:txBody>
      </p:sp>
      <p:sp>
        <p:nvSpPr>
          <p:cNvPr id="45" name="Rectangle 44"/>
          <p:cNvSpPr/>
          <p:nvPr/>
        </p:nvSpPr>
        <p:spPr>
          <a:xfrm flipV="1">
            <a:off x="0" y="6857999"/>
            <a:ext cx="12188952" cy="45719"/>
          </a:xfrm>
          <a:prstGeom prst="rect">
            <a:avLst/>
          </a:prstGeom>
          <a:solidFill>
            <a:srgbClr val="0E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ndara" panose="020E0502030303020204" pitchFamily="34" charset="0"/>
            </a:endParaRPr>
          </a:p>
        </p:txBody>
      </p:sp>
      <p:sp>
        <p:nvSpPr>
          <p:cNvPr id="47" name="TextBox 46">
            <a:extLst>
              <a:ext uri="{FF2B5EF4-FFF2-40B4-BE49-F238E27FC236}">
                <a16:creationId xmlns:a16="http://schemas.microsoft.com/office/drawing/2014/main" id="{E71D83F4-9365-79B9-0BBD-C1AA74F11C60}"/>
              </a:ext>
            </a:extLst>
          </p:cNvPr>
          <p:cNvSpPr txBox="1"/>
          <p:nvPr/>
        </p:nvSpPr>
        <p:spPr>
          <a:xfrm>
            <a:off x="2685118" y="2415632"/>
            <a:ext cx="1589701" cy="523220"/>
          </a:xfrm>
          <a:prstGeom prst="rect">
            <a:avLst/>
          </a:prstGeom>
          <a:noFill/>
        </p:spPr>
        <p:txBody>
          <a:bodyPr wrap="square">
            <a:spAutoFit/>
          </a:bodyPr>
          <a:lstStyle/>
          <a:p>
            <a:r>
              <a:rPr lang="en-US" sz="1400" b="1" dirty="0">
                <a:solidFill>
                  <a:srgbClr val="009A72"/>
                </a:solidFill>
                <a:latin typeface="Candara" panose="020E0502030303020204" pitchFamily="34" charset="0"/>
                <a:ea typeface="Cambria Math" panose="02040503050406030204" pitchFamily="18" charset="0"/>
              </a:rPr>
              <a:t>C#, ASP.NET Core, REST </a:t>
            </a:r>
            <a:r>
              <a:rPr lang="en-US" sz="1400" dirty="0">
                <a:solidFill>
                  <a:srgbClr val="9EC4AE"/>
                </a:solidFill>
                <a:latin typeface="Candara" panose="020E0502030303020204" pitchFamily="34" charset="0"/>
                <a:ea typeface="Cambria Math" panose="02040503050406030204" pitchFamily="18" charset="0"/>
              </a:rPr>
              <a:t>API</a:t>
            </a:r>
            <a:endParaRPr sz="1400" b="1" i="0" dirty="0">
              <a:solidFill>
                <a:srgbClr val="009A72"/>
              </a:solidFill>
              <a:latin typeface="Candara" panose="020E0502030303020204" pitchFamily="34" charset="0"/>
              <a:ea typeface="Cambria Math" panose="02040503050406030204" pitchFamily="18" charset="0"/>
            </a:endParaRPr>
          </a:p>
        </p:txBody>
      </p:sp>
      <p:sp>
        <p:nvSpPr>
          <p:cNvPr id="7" name="TextBox 6">
            <a:extLst>
              <a:ext uri="{FF2B5EF4-FFF2-40B4-BE49-F238E27FC236}">
                <a16:creationId xmlns:a16="http://schemas.microsoft.com/office/drawing/2014/main" id="{3E70D05B-0666-C083-EA65-9FF9DCECD86B}"/>
              </a:ext>
            </a:extLst>
          </p:cNvPr>
          <p:cNvSpPr txBox="1"/>
          <p:nvPr/>
        </p:nvSpPr>
        <p:spPr>
          <a:xfrm>
            <a:off x="2634833" y="4855136"/>
            <a:ext cx="1528909" cy="523220"/>
          </a:xfrm>
          <a:prstGeom prst="rect">
            <a:avLst/>
          </a:prstGeom>
          <a:noFill/>
        </p:spPr>
        <p:txBody>
          <a:bodyPr wrap="square">
            <a:spAutoFit/>
          </a:bodyPr>
          <a:lstStyle/>
          <a:p>
            <a:r>
              <a:rPr lang="en-US" sz="1400" b="1" dirty="0">
                <a:solidFill>
                  <a:srgbClr val="00B050"/>
                </a:solidFill>
                <a:latin typeface="Candara" panose="020E0502030303020204" pitchFamily="34" charset="0"/>
                <a:ea typeface="Cambria Math" panose="02040503050406030204" pitchFamily="18" charset="0"/>
              </a:rPr>
              <a:t>IoT messaging</a:t>
            </a:r>
          </a:p>
          <a:p>
            <a:r>
              <a:rPr lang="en-US" sz="1400" b="1" i="0" dirty="0">
                <a:solidFill>
                  <a:srgbClr val="00B050"/>
                </a:solidFill>
                <a:latin typeface="Candara" panose="020E0502030303020204" pitchFamily="34" charset="0"/>
                <a:ea typeface="Cambria Math" panose="02040503050406030204" pitchFamily="18" charset="0"/>
              </a:rPr>
              <a:t>MQTT </a:t>
            </a:r>
            <a:endParaRPr sz="1400" b="1" i="0" dirty="0">
              <a:solidFill>
                <a:srgbClr val="00B050"/>
              </a:solidFill>
              <a:latin typeface="Candara" panose="020E0502030303020204" pitchFamily="34" charset="0"/>
              <a:ea typeface="Cambria Math"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88952" cy="6858000"/>
          </a:xfrm>
          <a:prstGeom prst="rect">
            <a:avLst/>
          </a:prstGeom>
        </p:spPr>
      </p:pic>
      <p:sp>
        <p:nvSpPr>
          <p:cNvPr id="3" name="TextBox 2"/>
          <p:cNvSpPr txBox="1"/>
          <p:nvPr/>
        </p:nvSpPr>
        <p:spPr>
          <a:xfrm>
            <a:off x="1215390" y="429547"/>
            <a:ext cx="627354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a:ea typeface="+mn-ea"/>
                <a:cs typeface="+mn-cs"/>
              </a:rPr>
              <a:t>Presentation Agenda</a:t>
            </a:r>
          </a:p>
        </p:txBody>
      </p:sp>
      <p:sp>
        <p:nvSpPr>
          <p:cNvPr id="6" name="Rounded Rectangle 5"/>
          <p:cNvSpPr/>
          <p:nvPr/>
        </p:nvSpPr>
        <p:spPr>
          <a:xfrm>
            <a:off x="1353312" y="1408176"/>
            <a:ext cx="3182111" cy="118158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ounded Rectangle 7"/>
          <p:cNvSpPr/>
          <p:nvPr/>
        </p:nvSpPr>
        <p:spPr>
          <a:xfrm>
            <a:off x="1472184" y="1609344"/>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1472184" y="1600200"/>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01</a:t>
            </a:r>
          </a:p>
        </p:txBody>
      </p:sp>
      <p:sp>
        <p:nvSpPr>
          <p:cNvPr id="10" name="TextBox 9"/>
          <p:cNvSpPr txBox="1"/>
          <p:nvPr/>
        </p:nvSpPr>
        <p:spPr>
          <a:xfrm>
            <a:off x="1975104" y="1591056"/>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FFFF"/>
                </a:solidFill>
                <a:effectLst/>
                <a:uLnTx/>
                <a:uFillTx/>
                <a:latin typeface="Candara"/>
                <a:ea typeface="+mn-ea"/>
                <a:cs typeface="+mn-cs"/>
              </a:rPr>
              <a:t>Problem Statement</a:t>
            </a:r>
          </a:p>
        </p:txBody>
      </p:sp>
      <p:sp>
        <p:nvSpPr>
          <p:cNvPr id="11" name="TextBox 10"/>
          <p:cNvSpPr txBox="1"/>
          <p:nvPr/>
        </p:nvSpPr>
        <p:spPr>
          <a:xfrm>
            <a:off x="1975104" y="1975104"/>
            <a:ext cx="2761487"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Why IoT monitoring matters in industrial settings</a:t>
            </a:r>
          </a:p>
        </p:txBody>
      </p:sp>
      <p:sp>
        <p:nvSpPr>
          <p:cNvPr id="12" name="Rounded Rectangle 11"/>
          <p:cNvSpPr/>
          <p:nvPr/>
        </p:nvSpPr>
        <p:spPr>
          <a:xfrm>
            <a:off x="1353312" y="2679192"/>
            <a:ext cx="3182111"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ounded Rectangle 13"/>
          <p:cNvSpPr/>
          <p:nvPr/>
        </p:nvSpPr>
        <p:spPr>
          <a:xfrm>
            <a:off x="1472184" y="288036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1472184" y="2871216"/>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02</a:t>
            </a:r>
          </a:p>
        </p:txBody>
      </p:sp>
      <p:sp>
        <p:nvSpPr>
          <p:cNvPr id="16" name="TextBox 15"/>
          <p:cNvSpPr txBox="1"/>
          <p:nvPr/>
        </p:nvSpPr>
        <p:spPr>
          <a:xfrm>
            <a:off x="1975104" y="2862072"/>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FFFF"/>
                </a:solidFill>
                <a:effectLst/>
                <a:uLnTx/>
                <a:uFillTx/>
                <a:latin typeface="Candara"/>
                <a:ea typeface="+mn-ea"/>
                <a:cs typeface="+mn-cs"/>
              </a:rPr>
              <a:t>Project Goals &amp; Scope</a:t>
            </a:r>
          </a:p>
        </p:txBody>
      </p:sp>
      <p:sp>
        <p:nvSpPr>
          <p:cNvPr id="17" name="TextBox 16"/>
          <p:cNvSpPr txBox="1"/>
          <p:nvPr/>
        </p:nvSpPr>
        <p:spPr>
          <a:xfrm>
            <a:off x="1975105" y="3246120"/>
            <a:ext cx="2487168"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Objectives, requirements, boundaries</a:t>
            </a:r>
          </a:p>
        </p:txBody>
      </p:sp>
      <p:sp>
        <p:nvSpPr>
          <p:cNvPr id="18" name="Rounded Rectangle 17"/>
          <p:cNvSpPr/>
          <p:nvPr/>
        </p:nvSpPr>
        <p:spPr>
          <a:xfrm>
            <a:off x="1353312" y="3950208"/>
            <a:ext cx="3163824" cy="1181587"/>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ounded Rectangle 19"/>
          <p:cNvSpPr/>
          <p:nvPr/>
        </p:nvSpPr>
        <p:spPr>
          <a:xfrm>
            <a:off x="1472184" y="415137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1472184" y="4142232"/>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03</a:t>
            </a:r>
          </a:p>
        </p:txBody>
      </p:sp>
      <p:sp>
        <p:nvSpPr>
          <p:cNvPr id="22" name="TextBox 21"/>
          <p:cNvSpPr txBox="1"/>
          <p:nvPr/>
        </p:nvSpPr>
        <p:spPr>
          <a:xfrm>
            <a:off x="1975104" y="4133088"/>
            <a:ext cx="2487169"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Technology Stack</a:t>
            </a:r>
          </a:p>
        </p:txBody>
      </p:sp>
      <p:sp>
        <p:nvSpPr>
          <p:cNvPr id="23" name="TextBox 22"/>
          <p:cNvSpPr txBox="1"/>
          <p:nvPr/>
        </p:nvSpPr>
        <p:spPr>
          <a:xfrm>
            <a:off x="1975104" y="4517136"/>
            <a:ext cx="2487169"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C#, ASP.NET Core, React, SQL Server</a:t>
            </a:r>
          </a:p>
        </p:txBody>
      </p:sp>
      <p:sp>
        <p:nvSpPr>
          <p:cNvPr id="24" name="Rounded Rectangle 23"/>
          <p:cNvSpPr/>
          <p:nvPr/>
        </p:nvSpPr>
        <p:spPr>
          <a:xfrm>
            <a:off x="1353312" y="5212079"/>
            <a:ext cx="3182111" cy="109014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ounded Rectangle 25"/>
          <p:cNvSpPr/>
          <p:nvPr/>
        </p:nvSpPr>
        <p:spPr>
          <a:xfrm>
            <a:off x="1472184" y="5413247"/>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1472184" y="5404103"/>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04</a:t>
            </a:r>
          </a:p>
        </p:txBody>
      </p:sp>
      <p:sp>
        <p:nvSpPr>
          <p:cNvPr id="28" name="TextBox 27"/>
          <p:cNvSpPr txBox="1"/>
          <p:nvPr/>
        </p:nvSpPr>
        <p:spPr>
          <a:xfrm>
            <a:off x="1975104" y="5394959"/>
            <a:ext cx="2560319"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System Architecture</a:t>
            </a:r>
          </a:p>
        </p:txBody>
      </p:sp>
      <p:sp>
        <p:nvSpPr>
          <p:cNvPr id="29" name="TextBox 28"/>
          <p:cNvSpPr txBox="1"/>
          <p:nvPr/>
        </p:nvSpPr>
        <p:spPr>
          <a:xfrm>
            <a:off x="1975104" y="5779007"/>
            <a:ext cx="2761487"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Edge</a:t>
            </a:r>
            <a:r>
              <a:rPr kumimoji="0" lang="en-US" sz="1400" b="0" i="0" u="none" strike="noStrike" kern="1200" cap="none" spc="0" normalizeH="0" baseline="0" noProof="0" dirty="0">
                <a:ln>
                  <a:noFill/>
                </a:ln>
                <a:solidFill>
                  <a:srgbClr val="7AAB8A"/>
                </a:solidFill>
                <a:effectLst/>
                <a:uLnTx/>
                <a:uFillTx/>
                <a:latin typeface="Candara"/>
                <a:ea typeface="+mn-ea"/>
                <a:cs typeface="+mn-cs"/>
              </a:rPr>
              <a:t> → MQTT</a:t>
            </a:r>
            <a:r>
              <a:rPr kumimoji="0" sz="1400" b="0" i="0" u="none" strike="noStrike" kern="1200" cap="none" spc="0" normalizeH="0" baseline="0" noProof="0" dirty="0">
                <a:ln>
                  <a:noFill/>
                </a:ln>
                <a:solidFill>
                  <a:srgbClr val="7AAB8A"/>
                </a:solidFill>
                <a:effectLst/>
                <a:uLnTx/>
                <a:uFillTx/>
                <a:latin typeface="Candara"/>
                <a:ea typeface="+mn-ea"/>
                <a:cs typeface="+mn-cs"/>
              </a:rPr>
              <a:t> → API → DB → </a:t>
            </a:r>
            <a:r>
              <a:rPr kumimoji="0" sz="1400" b="0" i="0" u="none" strike="noStrike" kern="1200" cap="none" spc="0" normalizeH="0" baseline="0" noProof="0" dirty="0" err="1">
                <a:ln>
                  <a:noFill/>
                </a:ln>
                <a:solidFill>
                  <a:srgbClr val="7AAB8A"/>
                </a:solidFill>
                <a:effectLst/>
                <a:uLnTx/>
                <a:uFillTx/>
                <a:latin typeface="Candara"/>
                <a:ea typeface="+mn-ea"/>
                <a:cs typeface="+mn-cs"/>
              </a:rPr>
              <a:t>SignalR</a:t>
            </a:r>
            <a:r>
              <a:rPr kumimoji="0" sz="1400" b="0" i="0" u="none" strike="noStrike" kern="1200" cap="none" spc="0" normalizeH="0" baseline="0" noProof="0" dirty="0">
                <a:ln>
                  <a:noFill/>
                </a:ln>
                <a:solidFill>
                  <a:srgbClr val="7AAB8A"/>
                </a:solidFill>
                <a:effectLst/>
                <a:uLnTx/>
                <a:uFillTx/>
                <a:latin typeface="Candara"/>
                <a:ea typeface="+mn-ea"/>
                <a:cs typeface="+mn-cs"/>
              </a:rPr>
              <a:t> → React</a:t>
            </a:r>
          </a:p>
        </p:txBody>
      </p:sp>
      <p:sp>
        <p:nvSpPr>
          <p:cNvPr id="30" name="Rounded Rectangle 29"/>
          <p:cNvSpPr/>
          <p:nvPr/>
        </p:nvSpPr>
        <p:spPr>
          <a:xfrm>
            <a:off x="4617720" y="1408176"/>
            <a:ext cx="3113532" cy="118158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4562856" y="1408176"/>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ounded Rectangle 31"/>
          <p:cNvSpPr/>
          <p:nvPr/>
        </p:nvSpPr>
        <p:spPr>
          <a:xfrm>
            <a:off x="4736592" y="1609344"/>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4736592" y="1600200"/>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05</a:t>
            </a:r>
          </a:p>
        </p:txBody>
      </p:sp>
      <p:sp>
        <p:nvSpPr>
          <p:cNvPr id="34" name="TextBox 33"/>
          <p:cNvSpPr txBox="1"/>
          <p:nvPr/>
        </p:nvSpPr>
        <p:spPr>
          <a:xfrm>
            <a:off x="5239511" y="1591056"/>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Database Design</a:t>
            </a:r>
          </a:p>
        </p:txBody>
      </p:sp>
      <p:sp>
        <p:nvSpPr>
          <p:cNvPr id="35" name="TextBox 34"/>
          <p:cNvSpPr txBox="1"/>
          <p:nvPr/>
        </p:nvSpPr>
        <p:spPr>
          <a:xfrm>
            <a:off x="5239511" y="1975104"/>
            <a:ext cx="1993393"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Devices, sensors, readings, alerts</a:t>
            </a:r>
          </a:p>
        </p:txBody>
      </p:sp>
      <p:sp>
        <p:nvSpPr>
          <p:cNvPr id="36" name="Rounded Rectangle 35"/>
          <p:cNvSpPr/>
          <p:nvPr/>
        </p:nvSpPr>
        <p:spPr>
          <a:xfrm>
            <a:off x="4617720" y="2679192"/>
            <a:ext cx="3113532"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p:cNvSpPr/>
          <p:nvPr/>
        </p:nvSpPr>
        <p:spPr>
          <a:xfrm>
            <a:off x="4562856" y="2679192"/>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ounded Rectangle 37"/>
          <p:cNvSpPr/>
          <p:nvPr/>
        </p:nvSpPr>
        <p:spPr>
          <a:xfrm>
            <a:off x="4736592" y="288036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8"/>
          <p:cNvSpPr txBox="1"/>
          <p:nvPr/>
        </p:nvSpPr>
        <p:spPr>
          <a:xfrm>
            <a:off x="4736592" y="2871216"/>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06</a:t>
            </a:r>
          </a:p>
        </p:txBody>
      </p:sp>
      <p:sp>
        <p:nvSpPr>
          <p:cNvPr id="40" name="TextBox 39"/>
          <p:cNvSpPr txBox="1"/>
          <p:nvPr/>
        </p:nvSpPr>
        <p:spPr>
          <a:xfrm>
            <a:off x="5239511" y="2862072"/>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Backend &amp; API</a:t>
            </a:r>
          </a:p>
        </p:txBody>
      </p:sp>
      <p:sp>
        <p:nvSpPr>
          <p:cNvPr id="41" name="TextBox 40"/>
          <p:cNvSpPr txBox="1"/>
          <p:nvPr/>
        </p:nvSpPr>
        <p:spPr>
          <a:xfrm>
            <a:off x="5239511" y="3246120"/>
            <a:ext cx="2249425"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Services, repositories, DTOs</a:t>
            </a:r>
          </a:p>
        </p:txBody>
      </p:sp>
      <p:sp>
        <p:nvSpPr>
          <p:cNvPr id="42" name="Rounded Rectangle 41"/>
          <p:cNvSpPr/>
          <p:nvPr/>
        </p:nvSpPr>
        <p:spPr>
          <a:xfrm>
            <a:off x="4617720" y="3950208"/>
            <a:ext cx="3113532"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4562856" y="3950208"/>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ounded Rectangle 43"/>
          <p:cNvSpPr/>
          <p:nvPr/>
        </p:nvSpPr>
        <p:spPr>
          <a:xfrm>
            <a:off x="4736592" y="415137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TextBox 44"/>
          <p:cNvSpPr txBox="1"/>
          <p:nvPr/>
        </p:nvSpPr>
        <p:spPr>
          <a:xfrm>
            <a:off x="4736592" y="4142232"/>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07</a:t>
            </a:r>
          </a:p>
        </p:txBody>
      </p:sp>
      <p:sp>
        <p:nvSpPr>
          <p:cNvPr id="46" name="TextBox 45"/>
          <p:cNvSpPr txBox="1"/>
          <p:nvPr/>
        </p:nvSpPr>
        <p:spPr>
          <a:xfrm>
            <a:off x="5239511" y="4133088"/>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Frontend Design</a:t>
            </a:r>
          </a:p>
        </p:txBody>
      </p:sp>
      <p:sp>
        <p:nvSpPr>
          <p:cNvPr id="47" name="TextBox 46"/>
          <p:cNvSpPr txBox="1"/>
          <p:nvPr/>
        </p:nvSpPr>
        <p:spPr>
          <a:xfrm>
            <a:off x="5239511" y="4517136"/>
            <a:ext cx="2057401"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React SPA, charts, </a:t>
            </a:r>
            <a:r>
              <a:rPr kumimoji="0" sz="1400" b="0" i="0" u="none" strike="noStrike" kern="1200" cap="none" spc="0" normalizeH="0" baseline="0" noProof="0" dirty="0" err="1">
                <a:ln>
                  <a:noFill/>
                </a:ln>
                <a:solidFill>
                  <a:srgbClr val="7AAB8A"/>
                </a:solidFill>
                <a:effectLst/>
                <a:uLnTx/>
                <a:uFillTx/>
                <a:latin typeface="Candara"/>
                <a:ea typeface="+mn-ea"/>
                <a:cs typeface="+mn-cs"/>
              </a:rPr>
              <a:t>SignalR</a:t>
            </a:r>
            <a:r>
              <a:rPr kumimoji="0" sz="1400" b="0" i="0" u="none" strike="noStrike" kern="1200" cap="none" spc="0" normalizeH="0" baseline="0" noProof="0" dirty="0">
                <a:ln>
                  <a:noFill/>
                </a:ln>
                <a:solidFill>
                  <a:srgbClr val="7AAB8A"/>
                </a:solidFill>
                <a:effectLst/>
                <a:uLnTx/>
                <a:uFillTx/>
                <a:latin typeface="Candara"/>
                <a:ea typeface="+mn-ea"/>
                <a:cs typeface="+mn-cs"/>
              </a:rPr>
              <a:t> client</a:t>
            </a:r>
          </a:p>
        </p:txBody>
      </p:sp>
      <p:sp>
        <p:nvSpPr>
          <p:cNvPr id="48" name="Rounded Rectangle 47"/>
          <p:cNvSpPr/>
          <p:nvPr/>
        </p:nvSpPr>
        <p:spPr>
          <a:xfrm>
            <a:off x="4617720" y="5212079"/>
            <a:ext cx="3113532" cy="109014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Rectangle 48"/>
          <p:cNvSpPr/>
          <p:nvPr/>
        </p:nvSpPr>
        <p:spPr>
          <a:xfrm>
            <a:off x="4562856" y="5212079"/>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Rounded Rectangle 49"/>
          <p:cNvSpPr/>
          <p:nvPr/>
        </p:nvSpPr>
        <p:spPr>
          <a:xfrm>
            <a:off x="4736592" y="5413247"/>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TextBox 50"/>
          <p:cNvSpPr txBox="1"/>
          <p:nvPr/>
        </p:nvSpPr>
        <p:spPr>
          <a:xfrm>
            <a:off x="4736592" y="5404103"/>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08</a:t>
            </a:r>
          </a:p>
        </p:txBody>
      </p:sp>
      <p:sp>
        <p:nvSpPr>
          <p:cNvPr id="52" name="TextBox 51"/>
          <p:cNvSpPr txBox="1"/>
          <p:nvPr/>
        </p:nvSpPr>
        <p:spPr>
          <a:xfrm>
            <a:off x="5239511" y="5394959"/>
            <a:ext cx="2761487"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Candara"/>
                <a:ea typeface="+mn-ea"/>
                <a:cs typeface="+mn-cs"/>
              </a:rPr>
              <a:t>Key Features</a:t>
            </a:r>
          </a:p>
        </p:txBody>
      </p:sp>
      <p:sp>
        <p:nvSpPr>
          <p:cNvPr id="53" name="TextBox 52"/>
          <p:cNvSpPr txBox="1"/>
          <p:nvPr/>
        </p:nvSpPr>
        <p:spPr>
          <a:xfrm>
            <a:off x="5239511" y="5779007"/>
            <a:ext cx="2167129"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Streaming, dashboards, alerts</a:t>
            </a:r>
          </a:p>
        </p:txBody>
      </p:sp>
      <p:sp>
        <p:nvSpPr>
          <p:cNvPr id="54" name="Rounded Rectangle 53"/>
          <p:cNvSpPr/>
          <p:nvPr/>
        </p:nvSpPr>
        <p:spPr>
          <a:xfrm>
            <a:off x="7863840" y="1408176"/>
            <a:ext cx="3154553" cy="115816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7772400" y="1408176"/>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ounded Rectangle 55"/>
          <p:cNvSpPr/>
          <p:nvPr/>
        </p:nvSpPr>
        <p:spPr>
          <a:xfrm>
            <a:off x="7982712" y="1609344"/>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TextBox 56"/>
          <p:cNvSpPr txBox="1"/>
          <p:nvPr/>
        </p:nvSpPr>
        <p:spPr>
          <a:xfrm>
            <a:off x="7982712" y="1600200"/>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3ECF80"/>
                </a:solidFill>
                <a:effectLst/>
                <a:uLnTx/>
                <a:uFillTx/>
                <a:latin typeface="Candara"/>
                <a:ea typeface="+mn-ea"/>
                <a:cs typeface="+mn-cs"/>
              </a:rPr>
              <a:t>09</a:t>
            </a:r>
          </a:p>
        </p:txBody>
      </p:sp>
      <p:sp>
        <p:nvSpPr>
          <p:cNvPr id="58" name="TextBox 57"/>
          <p:cNvSpPr txBox="1"/>
          <p:nvPr/>
        </p:nvSpPr>
        <p:spPr>
          <a:xfrm>
            <a:off x="8485633" y="1591056"/>
            <a:ext cx="2240280"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Live Demo</a:t>
            </a:r>
          </a:p>
        </p:txBody>
      </p:sp>
      <p:sp>
        <p:nvSpPr>
          <p:cNvPr id="59" name="TextBox 58"/>
          <p:cNvSpPr txBox="1"/>
          <p:nvPr/>
        </p:nvSpPr>
        <p:spPr>
          <a:xfrm>
            <a:off x="8485633" y="1975104"/>
            <a:ext cx="2395728"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Edge → API → SignalR → Dashboard</a:t>
            </a:r>
          </a:p>
        </p:txBody>
      </p:sp>
      <p:sp>
        <p:nvSpPr>
          <p:cNvPr id="60" name="Rounded Rectangle 59"/>
          <p:cNvSpPr/>
          <p:nvPr/>
        </p:nvSpPr>
        <p:spPr>
          <a:xfrm>
            <a:off x="7863840" y="2679192"/>
            <a:ext cx="3154553"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7772400" y="2679192"/>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ounded Rectangle 61"/>
          <p:cNvSpPr/>
          <p:nvPr/>
        </p:nvSpPr>
        <p:spPr>
          <a:xfrm>
            <a:off x="7982712" y="288036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7982712" y="2871216"/>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10</a:t>
            </a:r>
          </a:p>
        </p:txBody>
      </p:sp>
      <p:sp>
        <p:nvSpPr>
          <p:cNvPr id="64" name="TextBox 63"/>
          <p:cNvSpPr txBox="1"/>
          <p:nvPr/>
        </p:nvSpPr>
        <p:spPr>
          <a:xfrm>
            <a:off x="8485632" y="2862072"/>
            <a:ext cx="2240281"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Challenges &amp; Solutions</a:t>
            </a:r>
          </a:p>
        </p:txBody>
      </p:sp>
      <p:sp>
        <p:nvSpPr>
          <p:cNvPr id="65" name="TextBox 64"/>
          <p:cNvSpPr txBox="1"/>
          <p:nvPr/>
        </p:nvSpPr>
        <p:spPr>
          <a:xfrm>
            <a:off x="8485632" y="3246120"/>
            <a:ext cx="2240281"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Sync, data volume, design</a:t>
            </a:r>
          </a:p>
        </p:txBody>
      </p:sp>
      <p:sp>
        <p:nvSpPr>
          <p:cNvPr id="66" name="Rounded Rectangle 65"/>
          <p:cNvSpPr/>
          <p:nvPr/>
        </p:nvSpPr>
        <p:spPr>
          <a:xfrm>
            <a:off x="7863840" y="3950208"/>
            <a:ext cx="3154553"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Rectangle 66"/>
          <p:cNvSpPr/>
          <p:nvPr/>
        </p:nvSpPr>
        <p:spPr>
          <a:xfrm>
            <a:off x="7772400" y="3950208"/>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Rounded Rectangle 67"/>
          <p:cNvSpPr/>
          <p:nvPr/>
        </p:nvSpPr>
        <p:spPr>
          <a:xfrm>
            <a:off x="7982712" y="415137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68"/>
          <p:cNvSpPr txBox="1"/>
          <p:nvPr/>
        </p:nvSpPr>
        <p:spPr>
          <a:xfrm>
            <a:off x="7982712" y="4142232"/>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11</a:t>
            </a:r>
          </a:p>
        </p:txBody>
      </p:sp>
      <p:sp>
        <p:nvSpPr>
          <p:cNvPr id="70" name="TextBox 69"/>
          <p:cNvSpPr txBox="1"/>
          <p:nvPr/>
        </p:nvSpPr>
        <p:spPr>
          <a:xfrm>
            <a:off x="8485633" y="4133088"/>
            <a:ext cx="2103120"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Conclusion &amp; Future</a:t>
            </a:r>
          </a:p>
        </p:txBody>
      </p:sp>
      <p:sp>
        <p:nvSpPr>
          <p:cNvPr id="74" name="Rounded Rectangle 65">
            <a:extLst>
              <a:ext uri="{FF2B5EF4-FFF2-40B4-BE49-F238E27FC236}">
                <a16:creationId xmlns:a16="http://schemas.microsoft.com/office/drawing/2014/main" id="{47AB4A4A-A8CE-FF32-418B-F6A5ECDEFA50}"/>
              </a:ext>
            </a:extLst>
          </p:cNvPr>
          <p:cNvSpPr/>
          <p:nvPr/>
        </p:nvSpPr>
        <p:spPr>
          <a:xfrm>
            <a:off x="7885937" y="5212079"/>
            <a:ext cx="3132456" cy="109014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Rectangle 74">
            <a:extLst>
              <a:ext uri="{FF2B5EF4-FFF2-40B4-BE49-F238E27FC236}">
                <a16:creationId xmlns:a16="http://schemas.microsoft.com/office/drawing/2014/main" id="{B7DB0902-45A1-6AAA-C9B7-2054F58EC30E}"/>
              </a:ext>
            </a:extLst>
          </p:cNvPr>
          <p:cNvSpPr/>
          <p:nvPr/>
        </p:nvSpPr>
        <p:spPr>
          <a:xfrm>
            <a:off x="7772400" y="5212079"/>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TextBox 79">
            <a:extLst>
              <a:ext uri="{FF2B5EF4-FFF2-40B4-BE49-F238E27FC236}">
                <a16:creationId xmlns:a16="http://schemas.microsoft.com/office/drawing/2014/main" id="{89B7797C-7309-8EC4-1A4D-B8987CFB0555}"/>
              </a:ext>
            </a:extLst>
          </p:cNvPr>
          <p:cNvSpPr txBox="1"/>
          <p:nvPr/>
        </p:nvSpPr>
        <p:spPr>
          <a:xfrm>
            <a:off x="8517256" y="5409056"/>
            <a:ext cx="2071498"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ndara"/>
                <a:ea typeface="+mn-ea"/>
                <a:cs typeface="+mn-cs"/>
              </a:rPr>
              <a:t>End Of Presentation</a:t>
            </a:r>
            <a:endParaRPr kumimoji="0" sz="1600" b="1" i="0" u="none" strike="noStrike" kern="1200" cap="none" spc="0" normalizeH="0" baseline="0" noProof="0" dirty="0">
              <a:ln>
                <a:noFill/>
              </a:ln>
              <a:solidFill>
                <a:srgbClr val="FFFFFF"/>
              </a:solidFill>
              <a:effectLst/>
              <a:uLnTx/>
              <a:uFillTx/>
              <a:latin typeface="Candara"/>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Box 1"/>
          <p:cNvSpPr txBox="1"/>
          <p:nvPr/>
        </p:nvSpPr>
        <p:spPr>
          <a:xfrm>
            <a:off x="558699" y="578072"/>
            <a:ext cx="4583888"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a:ea typeface="+mn-ea"/>
                <a:cs typeface="+mn-cs"/>
              </a:rPr>
              <a:t>Project Statement</a:t>
            </a:r>
          </a:p>
        </p:txBody>
      </p:sp>
      <p:sp>
        <p:nvSpPr>
          <p:cNvPr id="6" name="Rectangle 5"/>
          <p:cNvSpPr/>
          <p:nvPr/>
        </p:nvSpPr>
        <p:spPr>
          <a:xfrm flipH="1">
            <a:off x="5495799" y="1298448"/>
            <a:ext cx="45719" cy="4352544"/>
          </a:xfrm>
          <a:prstGeom prst="rect">
            <a:avLst/>
          </a:prstGeom>
          <a:solidFill>
            <a:srgbClr val="255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descr="image.png"/>
          <p:cNvPicPr>
            <a:picLocks noChangeAspect="1"/>
          </p:cNvPicPr>
          <p:nvPr/>
        </p:nvPicPr>
        <p:blipFill>
          <a:blip r:embed="rId3"/>
          <a:stretch>
            <a:fillRect/>
          </a:stretch>
        </p:blipFill>
        <p:spPr>
          <a:xfrm>
            <a:off x="5752493" y="1298448"/>
            <a:ext cx="475488" cy="475488"/>
          </a:xfrm>
          <a:prstGeom prst="rect">
            <a:avLst/>
          </a:prstGeom>
        </p:spPr>
      </p:pic>
      <p:sp>
        <p:nvSpPr>
          <p:cNvPr id="8" name="TextBox 7"/>
          <p:cNvSpPr txBox="1"/>
          <p:nvPr/>
        </p:nvSpPr>
        <p:spPr>
          <a:xfrm>
            <a:off x="6374284" y="1316736"/>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Web-Based</a:t>
            </a:r>
          </a:p>
        </p:txBody>
      </p:sp>
      <p:sp>
        <p:nvSpPr>
          <p:cNvPr id="9" name="TextBox 8"/>
          <p:cNvSpPr txBox="1"/>
          <p:nvPr/>
        </p:nvSpPr>
        <p:spPr>
          <a:xfrm>
            <a:off x="6374284" y="1572768"/>
            <a:ext cx="246888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No proprietary hardware required</a:t>
            </a:r>
          </a:p>
        </p:txBody>
      </p:sp>
      <p:pic>
        <p:nvPicPr>
          <p:cNvPr id="10" name="Picture 9" descr="image.png"/>
          <p:cNvPicPr>
            <a:picLocks noChangeAspect="1"/>
          </p:cNvPicPr>
          <p:nvPr/>
        </p:nvPicPr>
        <p:blipFill>
          <a:blip r:embed="rId4"/>
          <a:stretch>
            <a:fillRect/>
          </a:stretch>
        </p:blipFill>
        <p:spPr>
          <a:xfrm>
            <a:off x="8632853" y="1298448"/>
            <a:ext cx="475488" cy="475488"/>
          </a:xfrm>
          <a:prstGeom prst="rect">
            <a:avLst/>
          </a:prstGeom>
        </p:spPr>
      </p:pic>
      <p:sp>
        <p:nvSpPr>
          <p:cNvPr id="11" name="TextBox 10"/>
          <p:cNvSpPr txBox="1"/>
          <p:nvPr/>
        </p:nvSpPr>
        <p:spPr>
          <a:xfrm>
            <a:off x="9254645" y="1316736"/>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FFFFFF"/>
                </a:solidFill>
                <a:effectLst/>
                <a:uLnTx/>
                <a:uFillTx/>
                <a:latin typeface="Candara"/>
                <a:ea typeface="+mn-ea"/>
                <a:cs typeface="+mn-cs"/>
              </a:rPr>
              <a:t>Any Browser</a:t>
            </a:r>
          </a:p>
        </p:txBody>
      </p:sp>
      <p:sp>
        <p:nvSpPr>
          <p:cNvPr id="12" name="TextBox 11"/>
          <p:cNvSpPr txBox="1"/>
          <p:nvPr/>
        </p:nvSpPr>
        <p:spPr>
          <a:xfrm>
            <a:off x="9254645" y="1572768"/>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Accessible from any device</a:t>
            </a:r>
          </a:p>
        </p:txBody>
      </p:sp>
      <p:pic>
        <p:nvPicPr>
          <p:cNvPr id="13" name="Picture 12" descr="image.png"/>
          <p:cNvPicPr>
            <a:picLocks noChangeAspect="1"/>
          </p:cNvPicPr>
          <p:nvPr/>
        </p:nvPicPr>
        <p:blipFill>
          <a:blip r:embed="rId5"/>
          <a:stretch>
            <a:fillRect/>
          </a:stretch>
        </p:blipFill>
        <p:spPr>
          <a:xfrm>
            <a:off x="5752493" y="3236976"/>
            <a:ext cx="475488" cy="475488"/>
          </a:xfrm>
          <a:prstGeom prst="rect">
            <a:avLst/>
          </a:prstGeom>
        </p:spPr>
      </p:pic>
      <p:sp>
        <p:nvSpPr>
          <p:cNvPr id="14" name="TextBox 13"/>
          <p:cNvSpPr txBox="1"/>
          <p:nvPr/>
        </p:nvSpPr>
        <p:spPr>
          <a:xfrm>
            <a:off x="6374284" y="3255264"/>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FFFFFF"/>
                </a:solidFill>
                <a:effectLst/>
                <a:uLnTx/>
                <a:uFillTx/>
                <a:latin typeface="Candara"/>
                <a:ea typeface="+mn-ea"/>
                <a:cs typeface="+mn-cs"/>
              </a:rPr>
              <a:t>Real-Time</a:t>
            </a:r>
          </a:p>
        </p:txBody>
      </p:sp>
      <p:sp>
        <p:nvSpPr>
          <p:cNvPr id="15" name="TextBox 14"/>
          <p:cNvSpPr txBox="1"/>
          <p:nvPr/>
        </p:nvSpPr>
        <p:spPr>
          <a:xfrm>
            <a:off x="6374284" y="3511296"/>
            <a:ext cx="246888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err="1">
                <a:ln>
                  <a:noFill/>
                </a:ln>
                <a:solidFill>
                  <a:srgbClr val="7AAB8A"/>
                </a:solidFill>
                <a:effectLst/>
                <a:uLnTx/>
                <a:uFillTx/>
                <a:latin typeface="Candara"/>
                <a:ea typeface="+mn-ea"/>
                <a:cs typeface="+mn-cs"/>
              </a:rPr>
              <a:t>SignalR</a:t>
            </a:r>
            <a:r>
              <a:rPr kumimoji="0" sz="1400" b="0" i="0" u="none" strike="noStrike" kern="1200" cap="none" spc="0" normalizeH="0" baseline="0" noProof="0" dirty="0">
                <a:ln>
                  <a:noFill/>
                </a:ln>
                <a:solidFill>
                  <a:srgbClr val="7AAB8A"/>
                </a:solidFill>
                <a:effectLst/>
                <a:uLnTx/>
                <a:uFillTx/>
                <a:latin typeface="Candara"/>
                <a:ea typeface="+mn-ea"/>
                <a:cs typeface="+mn-cs"/>
              </a:rPr>
              <a:t> / WebSocket </a:t>
            </a:r>
            <a:endParaRPr kumimoji="0" lang="en-US" sz="1400" b="0" i="0" u="none" strike="noStrike" kern="1200" cap="none" spc="0" normalizeH="0" baseline="0" noProof="0" dirty="0">
              <a:ln>
                <a:noFill/>
              </a:ln>
              <a:solidFill>
                <a:srgbClr val="7AAB8A"/>
              </a:solidFill>
              <a:effectLst/>
              <a:uLnTx/>
              <a:uFillTx/>
              <a:latin typeface="Candara"/>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a:rPr>
              <a:t>Realtime Update</a:t>
            </a:r>
            <a:endParaRPr kumimoji="0" sz="1400" b="0" i="0" u="none" strike="noStrike" kern="1200" cap="none" spc="0" normalizeH="0" baseline="0" noProof="0" dirty="0">
              <a:ln>
                <a:noFill/>
              </a:ln>
              <a:solidFill>
                <a:srgbClr val="7AAB8A"/>
              </a:solidFill>
              <a:effectLst/>
              <a:uLnTx/>
              <a:uFillTx/>
              <a:latin typeface="Candara"/>
              <a:ea typeface="+mn-ea"/>
              <a:cs typeface="+mn-cs"/>
            </a:endParaRPr>
          </a:p>
        </p:txBody>
      </p:sp>
      <p:pic>
        <p:nvPicPr>
          <p:cNvPr id="16" name="Picture 15" descr="image.png"/>
          <p:cNvPicPr>
            <a:picLocks noChangeAspect="1"/>
          </p:cNvPicPr>
          <p:nvPr/>
        </p:nvPicPr>
        <p:blipFill>
          <a:blip r:embed="rId6"/>
          <a:stretch>
            <a:fillRect/>
          </a:stretch>
        </p:blipFill>
        <p:spPr>
          <a:xfrm>
            <a:off x="8632853" y="3236976"/>
            <a:ext cx="475488" cy="475488"/>
          </a:xfrm>
          <a:prstGeom prst="rect">
            <a:avLst/>
          </a:prstGeom>
        </p:spPr>
      </p:pic>
      <p:sp>
        <p:nvSpPr>
          <p:cNvPr id="17" name="TextBox 16"/>
          <p:cNvSpPr txBox="1"/>
          <p:nvPr/>
        </p:nvSpPr>
        <p:spPr>
          <a:xfrm>
            <a:off x="9254645" y="3255264"/>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Cost-Effective</a:t>
            </a:r>
          </a:p>
        </p:txBody>
      </p:sp>
      <p:sp>
        <p:nvSpPr>
          <p:cNvPr id="18" name="TextBox 17"/>
          <p:cNvSpPr txBox="1"/>
          <p:nvPr/>
        </p:nvSpPr>
        <p:spPr>
          <a:xfrm>
            <a:off x="9254645" y="3511296"/>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Open-source technology stack</a:t>
            </a:r>
          </a:p>
        </p:txBody>
      </p:sp>
      <p:pic>
        <p:nvPicPr>
          <p:cNvPr id="19" name="Picture 18" descr="image.png"/>
          <p:cNvPicPr>
            <a:picLocks noChangeAspect="1"/>
          </p:cNvPicPr>
          <p:nvPr/>
        </p:nvPicPr>
        <p:blipFill>
          <a:blip r:embed="rId7"/>
          <a:stretch>
            <a:fillRect/>
          </a:stretch>
        </p:blipFill>
        <p:spPr>
          <a:xfrm>
            <a:off x="5752493" y="5175504"/>
            <a:ext cx="475488" cy="475488"/>
          </a:xfrm>
          <a:prstGeom prst="rect">
            <a:avLst/>
          </a:prstGeom>
        </p:spPr>
      </p:pic>
      <p:sp>
        <p:nvSpPr>
          <p:cNvPr id="20" name="TextBox 19"/>
          <p:cNvSpPr txBox="1"/>
          <p:nvPr/>
        </p:nvSpPr>
        <p:spPr>
          <a:xfrm>
            <a:off x="6374284" y="5193792"/>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SQL Server</a:t>
            </a:r>
          </a:p>
        </p:txBody>
      </p:sp>
      <p:sp>
        <p:nvSpPr>
          <p:cNvPr id="21" name="TextBox 20"/>
          <p:cNvSpPr txBox="1"/>
          <p:nvPr/>
        </p:nvSpPr>
        <p:spPr>
          <a:xfrm>
            <a:off x="6374284" y="5449824"/>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Full historical data storage</a:t>
            </a:r>
          </a:p>
        </p:txBody>
      </p:sp>
      <p:pic>
        <p:nvPicPr>
          <p:cNvPr id="22" name="Picture 21" descr="image.png"/>
          <p:cNvPicPr>
            <a:picLocks noChangeAspect="1"/>
          </p:cNvPicPr>
          <p:nvPr/>
        </p:nvPicPr>
        <p:blipFill>
          <a:blip r:embed="rId8"/>
          <a:stretch>
            <a:fillRect/>
          </a:stretch>
        </p:blipFill>
        <p:spPr>
          <a:xfrm>
            <a:off x="8632853" y="5175504"/>
            <a:ext cx="475488" cy="475488"/>
          </a:xfrm>
          <a:prstGeom prst="rect">
            <a:avLst/>
          </a:prstGeom>
        </p:spPr>
      </p:pic>
      <p:sp>
        <p:nvSpPr>
          <p:cNvPr id="23" name="TextBox 22"/>
          <p:cNvSpPr txBox="1"/>
          <p:nvPr/>
        </p:nvSpPr>
        <p:spPr>
          <a:xfrm>
            <a:off x="9254645" y="5193792"/>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Hardware</a:t>
            </a:r>
          </a:p>
        </p:txBody>
      </p:sp>
      <p:sp>
        <p:nvSpPr>
          <p:cNvPr id="24" name="TextBox 23"/>
          <p:cNvSpPr txBox="1"/>
          <p:nvPr/>
        </p:nvSpPr>
        <p:spPr>
          <a:xfrm>
            <a:off x="9254645" y="5449824"/>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Arduino, ESP32, Raspberry Pi</a:t>
            </a:r>
          </a:p>
        </p:txBody>
      </p:sp>
      <p:sp>
        <p:nvSpPr>
          <p:cNvPr id="28" name="Rounded Rectangle 65">
            <a:extLst>
              <a:ext uri="{FF2B5EF4-FFF2-40B4-BE49-F238E27FC236}">
                <a16:creationId xmlns:a16="http://schemas.microsoft.com/office/drawing/2014/main" id="{E4CE1A21-D746-DD58-B8A0-0DF310D360A3}"/>
              </a:ext>
            </a:extLst>
          </p:cNvPr>
          <p:cNvSpPr/>
          <p:nvPr/>
        </p:nvSpPr>
        <p:spPr>
          <a:xfrm>
            <a:off x="431924" y="1374402"/>
            <a:ext cx="4813075" cy="4276590"/>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29" name="Rounded Rectangle 67">
            <a:extLst>
              <a:ext uri="{FF2B5EF4-FFF2-40B4-BE49-F238E27FC236}">
                <a16:creationId xmlns:a16="http://schemas.microsoft.com/office/drawing/2014/main" id="{3F563196-068C-1563-C9CE-D3B78948976C}"/>
              </a:ext>
            </a:extLst>
          </p:cNvPr>
          <p:cNvSpPr/>
          <p:nvPr/>
        </p:nvSpPr>
        <p:spPr>
          <a:xfrm>
            <a:off x="873492" y="206795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dirty="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71E26511-B6EC-D7A9-0C81-5004617CB2DE}"/>
              </a:ext>
            </a:extLst>
          </p:cNvPr>
          <p:cNvSpPr txBox="1"/>
          <p:nvPr/>
        </p:nvSpPr>
        <p:spPr>
          <a:xfrm>
            <a:off x="1782075" y="1681440"/>
            <a:ext cx="3231123" cy="1508105"/>
          </a:xfrm>
          <a:prstGeom prst="rect">
            <a:avLst/>
          </a:prstGeom>
          <a:noFill/>
        </p:spPr>
        <p:txBody>
          <a:bodyPr wrap="square">
            <a:spAutoFit/>
          </a:bodyPr>
          <a:lstStyle/>
          <a:p>
            <a:r>
              <a:rPr lang="en-US" sz="2000" b="1" dirty="0">
                <a:solidFill>
                  <a:srgbClr val="00B050"/>
                </a:solidFill>
              </a:rPr>
              <a:t>Need</a:t>
            </a:r>
          </a:p>
          <a:p>
            <a:r>
              <a:rPr lang="en-US" dirty="0">
                <a:solidFill>
                  <a:schemeClr val="bg1"/>
                </a:solidFill>
              </a:rPr>
              <a:t>Sites need continuous equipment monitoring.</a:t>
            </a:r>
          </a:p>
          <a:p>
            <a:br>
              <a:rPr lang="en-US" dirty="0">
                <a:solidFill>
                  <a:schemeClr val="bg1"/>
                </a:solidFill>
              </a:rPr>
            </a:br>
            <a:endParaRPr kumimoji="0" b="1" i="0" u="none" strike="noStrike" kern="1200" cap="none" spc="0" normalizeH="0" baseline="0" noProof="0" dirty="0">
              <a:ln>
                <a:noFill/>
              </a:ln>
              <a:solidFill>
                <a:srgbClr val="FFFFFF"/>
              </a:solidFill>
              <a:effectLst/>
              <a:uLnTx/>
              <a:uFillTx/>
              <a:latin typeface="Candara"/>
              <a:ea typeface="+mn-ea"/>
              <a:cs typeface="+mn-cs"/>
            </a:endParaRPr>
          </a:p>
        </p:txBody>
      </p:sp>
      <p:sp>
        <p:nvSpPr>
          <p:cNvPr id="31" name="Rounded Rectangle 67">
            <a:extLst>
              <a:ext uri="{FF2B5EF4-FFF2-40B4-BE49-F238E27FC236}">
                <a16:creationId xmlns:a16="http://schemas.microsoft.com/office/drawing/2014/main" id="{81705BD6-A901-B965-EEFF-0BC3D56B1487}"/>
              </a:ext>
            </a:extLst>
          </p:cNvPr>
          <p:cNvSpPr/>
          <p:nvPr/>
        </p:nvSpPr>
        <p:spPr>
          <a:xfrm>
            <a:off x="877288" y="3395472"/>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748A9D6F-6515-79FE-000D-C26143FEE0E9}"/>
              </a:ext>
            </a:extLst>
          </p:cNvPr>
          <p:cNvSpPr txBox="1"/>
          <p:nvPr/>
        </p:nvSpPr>
        <p:spPr>
          <a:xfrm>
            <a:off x="1782075" y="3058667"/>
            <a:ext cx="3298050" cy="954107"/>
          </a:xfrm>
          <a:prstGeom prst="rect">
            <a:avLst/>
          </a:prstGeom>
          <a:noFill/>
        </p:spPr>
        <p:txBody>
          <a:bodyPr wrap="square">
            <a:spAutoFit/>
          </a:bodyPr>
          <a:lstStyle/>
          <a:p>
            <a:pPr lvl="0">
              <a:defRPr/>
            </a:pPr>
            <a:r>
              <a:rPr lang="en-US" sz="2000" b="1" dirty="0">
                <a:solidFill>
                  <a:srgbClr val="00B050"/>
                </a:solidFill>
              </a:rPr>
              <a:t>Issue</a:t>
            </a:r>
          </a:p>
          <a:p>
            <a:pPr lvl="0">
              <a:defRPr/>
            </a:pPr>
            <a:r>
              <a:rPr lang="en-US" dirty="0">
                <a:solidFill>
                  <a:schemeClr val="bg1"/>
                </a:solidFill>
              </a:rPr>
              <a:t>Traditional lock into proprietary hardware and software, cost.</a:t>
            </a:r>
            <a:endParaRPr kumimoji="0" b="1" i="0" u="none" strike="noStrike" kern="1200" cap="none" spc="0" normalizeH="0" baseline="0" noProof="0" dirty="0">
              <a:ln>
                <a:noFill/>
              </a:ln>
              <a:solidFill>
                <a:srgbClr val="FFFFFF"/>
              </a:solidFill>
              <a:effectLst/>
              <a:uLnTx/>
              <a:uFillTx/>
              <a:latin typeface="Candara"/>
              <a:ea typeface="+mn-ea"/>
              <a:cs typeface="+mn-cs"/>
            </a:endParaRPr>
          </a:p>
        </p:txBody>
      </p:sp>
      <p:sp>
        <p:nvSpPr>
          <p:cNvPr id="33" name="Rounded Rectangle 67">
            <a:extLst>
              <a:ext uri="{FF2B5EF4-FFF2-40B4-BE49-F238E27FC236}">
                <a16:creationId xmlns:a16="http://schemas.microsoft.com/office/drawing/2014/main" id="{B108914F-BA29-3DA7-E8A2-2CA1CD1D024A}"/>
              </a:ext>
            </a:extLst>
          </p:cNvPr>
          <p:cNvSpPr/>
          <p:nvPr/>
        </p:nvSpPr>
        <p:spPr>
          <a:xfrm>
            <a:off x="877288" y="471193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6586F3FA-5B2E-FF03-B3D3-DA3781B93554}"/>
              </a:ext>
            </a:extLst>
          </p:cNvPr>
          <p:cNvSpPr txBox="1"/>
          <p:nvPr/>
        </p:nvSpPr>
        <p:spPr>
          <a:xfrm>
            <a:off x="1782074" y="4341334"/>
            <a:ext cx="3417205" cy="1231106"/>
          </a:xfrm>
          <a:prstGeom prst="rect">
            <a:avLst/>
          </a:prstGeom>
          <a:noFill/>
        </p:spPr>
        <p:txBody>
          <a:bodyPr wrap="square">
            <a:spAutoFit/>
          </a:bodyPr>
          <a:lstStyle/>
          <a:p>
            <a:r>
              <a:rPr lang="en-US" sz="2000" b="1" dirty="0">
                <a:solidFill>
                  <a:srgbClr val="00B050"/>
                </a:solidFill>
              </a:rPr>
              <a:t>Approach</a:t>
            </a:r>
            <a:br>
              <a:rPr lang="en-US" dirty="0">
                <a:solidFill>
                  <a:schemeClr val="bg1"/>
                </a:solidFill>
              </a:rPr>
            </a:br>
            <a:r>
              <a:rPr lang="en-US" dirty="0">
                <a:solidFill>
                  <a:schemeClr val="bg1"/>
                </a:solidFill>
              </a:rPr>
              <a:t>A web dashboard with real-time data, historical storage, and standard IoT hardware.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Box 1"/>
          <p:cNvSpPr txBox="1"/>
          <p:nvPr/>
        </p:nvSpPr>
        <p:spPr>
          <a:xfrm>
            <a:off x="589788" y="733419"/>
            <a:ext cx="5838444"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Project Goals &amp; Scope</a:t>
            </a:r>
          </a:p>
        </p:txBody>
      </p:sp>
      <p:sp>
        <p:nvSpPr>
          <p:cNvPr id="5" name="TextBox 4"/>
          <p:cNvSpPr txBox="1"/>
          <p:nvPr/>
        </p:nvSpPr>
        <p:spPr>
          <a:xfrm>
            <a:off x="1088136" y="1740312"/>
            <a:ext cx="2679352"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00"/>
                </a:solidFill>
                <a:effectLst/>
                <a:uLnTx/>
                <a:uFillTx/>
                <a:latin typeface="Candara" panose="020E0502030303020204" pitchFamily="34" charset="0"/>
                <a:ea typeface="+mn-ea"/>
                <a:cs typeface="+mn-cs"/>
              </a:rPr>
              <a:t>CORE SYSTEM CAPABILITIES</a:t>
            </a:r>
          </a:p>
        </p:txBody>
      </p:sp>
      <p:pic>
        <p:nvPicPr>
          <p:cNvPr id="7" name="Picture 6" descr="image.png"/>
          <p:cNvPicPr>
            <a:picLocks noChangeAspect="1"/>
          </p:cNvPicPr>
          <p:nvPr/>
        </p:nvPicPr>
        <p:blipFill>
          <a:blip r:embed="rId3"/>
          <a:stretch>
            <a:fillRect/>
          </a:stretch>
        </p:blipFill>
        <p:spPr>
          <a:xfrm>
            <a:off x="1271016" y="2524759"/>
            <a:ext cx="420624" cy="420624"/>
          </a:xfrm>
          <a:prstGeom prst="rect">
            <a:avLst/>
          </a:prstGeom>
        </p:spPr>
      </p:pic>
      <p:sp>
        <p:nvSpPr>
          <p:cNvPr id="8" name="TextBox 7"/>
          <p:cNvSpPr txBox="1"/>
          <p:nvPr/>
        </p:nvSpPr>
        <p:spPr>
          <a:xfrm>
            <a:off x="1856232" y="2524759"/>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Devices &amp; Sensors Setup</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9" name="TextBox 8"/>
          <p:cNvSpPr txBox="1"/>
          <p:nvPr/>
        </p:nvSpPr>
        <p:spPr>
          <a:xfrm>
            <a:off x="1856232" y="2898723"/>
            <a:ext cx="4572000" cy="307777"/>
          </a:xfrm>
          <a:prstGeom prst="rect">
            <a:avLst/>
          </a:prstGeom>
          <a:noFill/>
        </p:spPr>
        <p:txBody>
          <a:bodyPr wrap="square">
            <a:spAutoFit/>
          </a:bodyPr>
          <a:lstStyle/>
          <a:p>
            <a:pPr lvl="0">
              <a:defRPr/>
            </a:pPr>
            <a:r>
              <a:rPr lang="en-US" sz="1400" dirty="0">
                <a:solidFill>
                  <a:srgbClr val="7AAB8A"/>
                </a:solidFill>
                <a:latin typeface="Candara" panose="020E0502030303020204" pitchFamily="34" charset="0"/>
              </a:rPr>
              <a:t>Register and configure IoT Devices</a:t>
            </a:r>
            <a:endParaRPr sz="1400" dirty="0">
              <a:solidFill>
                <a:srgbClr val="7AAB8A"/>
              </a:solidFill>
              <a:latin typeface="Candara" panose="020E0502030303020204" pitchFamily="34" charset="0"/>
            </a:endParaRPr>
          </a:p>
        </p:txBody>
      </p:sp>
      <p:sp>
        <p:nvSpPr>
          <p:cNvPr id="10" name="Rectangle 9"/>
          <p:cNvSpPr/>
          <p:nvPr/>
        </p:nvSpPr>
        <p:spPr>
          <a:xfrm>
            <a:off x="1197864" y="2524759"/>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1" name="Picture 10" descr="image.png"/>
          <p:cNvPicPr>
            <a:picLocks noChangeAspect="1"/>
          </p:cNvPicPr>
          <p:nvPr/>
        </p:nvPicPr>
        <p:blipFill>
          <a:blip r:embed="rId4"/>
          <a:stretch>
            <a:fillRect/>
          </a:stretch>
        </p:blipFill>
        <p:spPr>
          <a:xfrm>
            <a:off x="6501383" y="2520484"/>
            <a:ext cx="420624" cy="420624"/>
          </a:xfrm>
          <a:prstGeom prst="rect">
            <a:avLst/>
          </a:prstGeom>
        </p:spPr>
      </p:pic>
      <p:sp>
        <p:nvSpPr>
          <p:cNvPr id="12" name="TextBox 11"/>
          <p:cNvSpPr txBox="1"/>
          <p:nvPr/>
        </p:nvSpPr>
        <p:spPr>
          <a:xfrm>
            <a:off x="7086599" y="2520484"/>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Dashboard</a:t>
            </a:r>
            <a:r>
              <a:rPr kumimoji="0" lang="en-US"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 &amp; Charts</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13" name="TextBox 12"/>
          <p:cNvSpPr txBox="1"/>
          <p:nvPr/>
        </p:nvSpPr>
        <p:spPr>
          <a:xfrm>
            <a:off x="7086599" y="2776517"/>
            <a:ext cx="45720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Gauge, line trends, discrete indicator</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14" name="Rectangle 13"/>
          <p:cNvSpPr/>
          <p:nvPr/>
        </p:nvSpPr>
        <p:spPr>
          <a:xfrm>
            <a:off x="6428231" y="2520484"/>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5" name="Picture 14" descr="image.png"/>
          <p:cNvPicPr>
            <a:picLocks noChangeAspect="1"/>
          </p:cNvPicPr>
          <p:nvPr/>
        </p:nvPicPr>
        <p:blipFill>
          <a:blip r:embed="rId5"/>
          <a:stretch>
            <a:fillRect/>
          </a:stretch>
        </p:blipFill>
        <p:spPr>
          <a:xfrm>
            <a:off x="6501383" y="3915707"/>
            <a:ext cx="420624" cy="420624"/>
          </a:xfrm>
          <a:prstGeom prst="rect">
            <a:avLst/>
          </a:prstGeom>
        </p:spPr>
      </p:pic>
      <p:sp>
        <p:nvSpPr>
          <p:cNvPr id="16" name="TextBox 15"/>
          <p:cNvSpPr txBox="1"/>
          <p:nvPr/>
        </p:nvSpPr>
        <p:spPr>
          <a:xfrm>
            <a:off x="7086599" y="3915707"/>
            <a:ext cx="4572000" cy="92333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Threshold Alerting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17" name="TextBox 16"/>
          <p:cNvSpPr txBox="1"/>
          <p:nvPr/>
        </p:nvSpPr>
        <p:spPr>
          <a:xfrm>
            <a:off x="7086599" y="4171739"/>
            <a:ext cx="3745992" cy="307777"/>
          </a:xfrm>
          <a:prstGeom prst="rect">
            <a:avLst/>
          </a:prstGeom>
          <a:noFill/>
        </p:spPr>
        <p:txBody>
          <a:bodyPr wrap="square">
            <a:spAutoFit/>
          </a:bodyPr>
          <a:lstStyle/>
          <a:p>
            <a:pPr lvl="0">
              <a:defRPr/>
            </a:pPr>
            <a:r>
              <a:rPr lang="en-US" sz="1400" dirty="0">
                <a:solidFill>
                  <a:srgbClr val="7AAB8A"/>
                </a:solidFill>
                <a:latin typeface="Candara" panose="020E0502030303020204" pitchFamily="34" charset="0"/>
              </a:rPr>
              <a:t>Rule-based alerts with real-time notifications</a:t>
            </a:r>
            <a:endParaRPr sz="1400" dirty="0">
              <a:solidFill>
                <a:srgbClr val="7AAB8A"/>
              </a:solidFill>
              <a:latin typeface="Candara" panose="020E0502030303020204" pitchFamily="34" charset="0"/>
            </a:endParaRPr>
          </a:p>
        </p:txBody>
      </p:sp>
      <p:sp>
        <p:nvSpPr>
          <p:cNvPr id="18" name="Rectangle 17"/>
          <p:cNvSpPr/>
          <p:nvPr/>
        </p:nvSpPr>
        <p:spPr>
          <a:xfrm>
            <a:off x="6428231" y="3915707"/>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9" name="Picture 18" descr="image.png"/>
          <p:cNvPicPr>
            <a:picLocks noChangeAspect="1"/>
          </p:cNvPicPr>
          <p:nvPr/>
        </p:nvPicPr>
        <p:blipFill>
          <a:blip r:embed="rId6"/>
          <a:stretch>
            <a:fillRect/>
          </a:stretch>
        </p:blipFill>
        <p:spPr>
          <a:xfrm>
            <a:off x="1271016" y="3948460"/>
            <a:ext cx="420624" cy="420624"/>
          </a:xfrm>
          <a:prstGeom prst="rect">
            <a:avLst/>
          </a:prstGeom>
        </p:spPr>
      </p:pic>
      <p:sp>
        <p:nvSpPr>
          <p:cNvPr id="20" name="TextBox 19"/>
          <p:cNvSpPr txBox="1"/>
          <p:nvPr/>
        </p:nvSpPr>
        <p:spPr>
          <a:xfrm>
            <a:off x="1856231" y="3948460"/>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Real-Time Monitoring</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21" name="TextBox 20"/>
          <p:cNvSpPr txBox="1"/>
          <p:nvPr/>
        </p:nvSpPr>
        <p:spPr>
          <a:xfrm>
            <a:off x="1856231" y="4204493"/>
            <a:ext cx="45720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Live sensor reading &amp; Device on/off-line status</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22" name="Rectangle 21"/>
          <p:cNvSpPr/>
          <p:nvPr/>
        </p:nvSpPr>
        <p:spPr>
          <a:xfrm>
            <a:off x="1197864" y="3948460"/>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23" name="Picture 22" descr="image.png"/>
          <p:cNvPicPr>
            <a:picLocks noChangeAspect="1"/>
          </p:cNvPicPr>
          <p:nvPr/>
        </p:nvPicPr>
        <p:blipFill>
          <a:blip r:embed="rId7"/>
          <a:stretch>
            <a:fillRect/>
          </a:stretch>
        </p:blipFill>
        <p:spPr>
          <a:xfrm>
            <a:off x="1289306" y="5357718"/>
            <a:ext cx="420624" cy="420624"/>
          </a:xfrm>
          <a:prstGeom prst="rect">
            <a:avLst/>
          </a:prstGeom>
        </p:spPr>
      </p:pic>
      <p:sp>
        <p:nvSpPr>
          <p:cNvPr id="24" name="TextBox 23"/>
          <p:cNvSpPr txBox="1"/>
          <p:nvPr/>
        </p:nvSpPr>
        <p:spPr>
          <a:xfrm>
            <a:off x="1874521" y="5357718"/>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Live &amp; History Window</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25" name="TextBox 24"/>
          <p:cNvSpPr txBox="1"/>
          <p:nvPr/>
        </p:nvSpPr>
        <p:spPr>
          <a:xfrm>
            <a:off x="1874521" y="5613751"/>
            <a:ext cx="45720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Store readings &amp; rolling time windows</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26" name="Rectangle 25"/>
          <p:cNvSpPr/>
          <p:nvPr/>
        </p:nvSpPr>
        <p:spPr>
          <a:xfrm>
            <a:off x="1216154" y="5357718"/>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27" name="Picture 26" descr="image.png"/>
          <p:cNvPicPr>
            <a:picLocks noChangeAspect="1"/>
          </p:cNvPicPr>
          <p:nvPr/>
        </p:nvPicPr>
        <p:blipFill>
          <a:blip r:embed="rId8"/>
          <a:stretch>
            <a:fillRect/>
          </a:stretch>
        </p:blipFill>
        <p:spPr>
          <a:xfrm>
            <a:off x="6556249" y="5359400"/>
            <a:ext cx="420624" cy="420624"/>
          </a:xfrm>
          <a:prstGeom prst="rect">
            <a:avLst/>
          </a:prstGeom>
        </p:spPr>
      </p:pic>
      <p:sp>
        <p:nvSpPr>
          <p:cNvPr id="28" name="TextBox 27"/>
          <p:cNvSpPr txBox="1"/>
          <p:nvPr/>
        </p:nvSpPr>
        <p:spPr>
          <a:xfrm>
            <a:off x="7141464" y="5359400"/>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Actuator Commands</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29" name="TextBox 28"/>
          <p:cNvSpPr txBox="1"/>
          <p:nvPr/>
        </p:nvSpPr>
        <p:spPr>
          <a:xfrm>
            <a:off x="7141464" y="5615432"/>
            <a:ext cx="424281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Remote output control with command history</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30" name="Rectangle 29"/>
          <p:cNvSpPr/>
          <p:nvPr/>
        </p:nvSpPr>
        <p:spPr>
          <a:xfrm>
            <a:off x="6483097" y="5359400"/>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Box 1"/>
          <p:cNvSpPr txBox="1"/>
          <p:nvPr/>
        </p:nvSpPr>
        <p:spPr>
          <a:xfrm>
            <a:off x="457200" y="702147"/>
            <a:ext cx="5831305"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Technology Stack</a:t>
            </a:r>
          </a:p>
        </p:txBody>
      </p:sp>
      <p:sp>
        <p:nvSpPr>
          <p:cNvPr id="3" name="TextBox 2"/>
          <p:cNvSpPr txBox="1"/>
          <p:nvPr/>
        </p:nvSpPr>
        <p:spPr>
          <a:xfrm>
            <a:off x="457200" y="1216543"/>
            <a:ext cx="6270498"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FF00"/>
                </a:solidFill>
                <a:effectLst/>
                <a:uLnTx/>
                <a:uFillTx/>
                <a:latin typeface="Candara" panose="020E0502030303020204" pitchFamily="34" charset="0"/>
                <a:ea typeface="+mn-ea"/>
                <a:cs typeface="+mn-cs"/>
              </a:rPr>
              <a:t>Device → MQTT → </a:t>
            </a:r>
            <a:r>
              <a:rPr lang="en-US" sz="1600" b="1" dirty="0">
                <a:solidFill>
                  <a:srgbClr val="FFFF00"/>
                </a:solidFill>
                <a:latin typeface="Candara" panose="020E0502030303020204" pitchFamily="34" charset="0"/>
              </a:rPr>
              <a:t>API → SQL Server . </a:t>
            </a:r>
            <a:r>
              <a:rPr kumimoji="0" sz="1600" b="1" i="0" u="none" strike="noStrike" kern="1200" cap="none" spc="0" normalizeH="0" baseline="0" noProof="0" dirty="0" err="1">
                <a:ln>
                  <a:noFill/>
                </a:ln>
                <a:solidFill>
                  <a:srgbClr val="FFFF00"/>
                </a:solidFill>
                <a:effectLst/>
                <a:uLnTx/>
                <a:uFillTx/>
                <a:latin typeface="Candara" panose="020E0502030303020204" pitchFamily="34" charset="0"/>
                <a:ea typeface="+mn-ea"/>
                <a:cs typeface="+mn-cs"/>
              </a:rPr>
              <a:t>SignalR</a:t>
            </a:r>
            <a:r>
              <a:rPr kumimoji="0" sz="1600" b="1" i="0" u="none" strike="noStrike" kern="1200" cap="none" spc="0" normalizeH="0" baseline="0" noProof="0" dirty="0">
                <a:ln>
                  <a:noFill/>
                </a:ln>
                <a:solidFill>
                  <a:srgbClr val="FFFF00"/>
                </a:solidFill>
                <a:effectLst/>
                <a:uLnTx/>
                <a:uFillTx/>
                <a:latin typeface="Candara" panose="020E0502030303020204" pitchFamily="34" charset="0"/>
                <a:ea typeface="+mn-ea"/>
                <a:cs typeface="+mn-cs"/>
              </a:rPr>
              <a:t> → UI</a:t>
            </a:r>
          </a:p>
        </p:txBody>
      </p:sp>
      <p:sp>
        <p:nvSpPr>
          <p:cNvPr id="5" name="Rounded Rectangle 4"/>
          <p:cNvSpPr/>
          <p:nvPr/>
        </p:nvSpPr>
        <p:spPr>
          <a:xfrm>
            <a:off x="457200" y="1991771"/>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7" name="Picture 6" descr="image.png"/>
          <p:cNvPicPr>
            <a:picLocks noChangeAspect="1"/>
          </p:cNvPicPr>
          <p:nvPr/>
        </p:nvPicPr>
        <p:blipFill>
          <a:blip r:embed="rId3"/>
          <a:stretch>
            <a:fillRect/>
          </a:stretch>
        </p:blipFill>
        <p:spPr>
          <a:xfrm>
            <a:off x="3090672" y="2586131"/>
            <a:ext cx="804672" cy="804672"/>
          </a:xfrm>
          <a:prstGeom prst="rect">
            <a:avLst/>
          </a:prstGeom>
        </p:spPr>
      </p:pic>
      <p:sp>
        <p:nvSpPr>
          <p:cNvPr id="8" name="TextBox 7"/>
          <p:cNvSpPr txBox="1"/>
          <p:nvPr/>
        </p:nvSpPr>
        <p:spPr>
          <a:xfrm>
            <a:off x="640080" y="2174651"/>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Backend</a:t>
            </a:r>
          </a:p>
        </p:txBody>
      </p:sp>
      <p:sp>
        <p:nvSpPr>
          <p:cNvPr id="9" name="TextBox 8"/>
          <p:cNvSpPr txBox="1"/>
          <p:nvPr/>
        </p:nvSpPr>
        <p:spPr>
          <a:xfrm>
            <a:off x="640080" y="2503835"/>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C# / ASP.NET Core</a:t>
            </a:r>
            <a:r>
              <a:rPr kumimoji="0" lang="en-US"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 8</a:t>
            </a:r>
            <a:endPar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endParaRPr>
          </a:p>
        </p:txBody>
      </p:sp>
      <p:sp>
        <p:nvSpPr>
          <p:cNvPr id="10" name="TextBox 9"/>
          <p:cNvSpPr txBox="1"/>
          <p:nvPr/>
        </p:nvSpPr>
        <p:spPr>
          <a:xfrm>
            <a:off x="640080" y="2769011"/>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Rest</a:t>
            </a: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APIs</a:t>
            </a: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MQTT Ingest, JWT Authentication</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11" name="Rounded Rectangle 10"/>
          <p:cNvSpPr/>
          <p:nvPr/>
        </p:nvSpPr>
        <p:spPr>
          <a:xfrm>
            <a:off x="4219956" y="1991771"/>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12" name="Rectangle 11"/>
          <p:cNvSpPr/>
          <p:nvPr/>
        </p:nvSpPr>
        <p:spPr>
          <a:xfrm>
            <a:off x="4091940" y="1964791"/>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3" name="Picture 12" descr="image.png"/>
          <p:cNvPicPr>
            <a:picLocks noChangeAspect="1"/>
          </p:cNvPicPr>
          <p:nvPr/>
        </p:nvPicPr>
        <p:blipFill>
          <a:blip r:embed="rId4"/>
          <a:stretch>
            <a:fillRect/>
          </a:stretch>
        </p:blipFill>
        <p:spPr>
          <a:xfrm>
            <a:off x="6853428" y="2586131"/>
            <a:ext cx="804672" cy="804672"/>
          </a:xfrm>
          <a:prstGeom prst="rect">
            <a:avLst/>
          </a:prstGeom>
        </p:spPr>
      </p:pic>
      <p:sp>
        <p:nvSpPr>
          <p:cNvPr id="14" name="TextBox 13"/>
          <p:cNvSpPr txBox="1"/>
          <p:nvPr/>
        </p:nvSpPr>
        <p:spPr>
          <a:xfrm>
            <a:off x="4402836" y="2174651"/>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IoT Messaging</a:t>
            </a:r>
          </a:p>
        </p:txBody>
      </p:sp>
      <p:sp>
        <p:nvSpPr>
          <p:cNvPr id="15" name="TextBox 14"/>
          <p:cNvSpPr txBox="1"/>
          <p:nvPr/>
        </p:nvSpPr>
        <p:spPr>
          <a:xfrm>
            <a:off x="4402836" y="2503835"/>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MQTT + Broker (</a:t>
            </a:r>
            <a:r>
              <a:rPr kumimoji="0" sz="1400" b="0" i="0" u="none" strike="noStrike" kern="1200" cap="none" spc="0" normalizeH="0" baseline="0" noProof="0" dirty="0" err="1">
                <a:ln>
                  <a:noFill/>
                </a:ln>
                <a:solidFill>
                  <a:srgbClr val="3ECF80"/>
                </a:solidFill>
                <a:effectLst/>
                <a:uLnTx/>
                <a:uFillTx/>
                <a:latin typeface="Candara" panose="020E0502030303020204" pitchFamily="34" charset="0"/>
                <a:ea typeface="+mn-ea"/>
                <a:cs typeface="+mn-cs"/>
              </a:rPr>
              <a:t>Mosquit</a:t>
            </a:r>
            <a:r>
              <a:rPr kumimoji="0" lang="en-US" sz="1400" b="0" i="0" u="none" strike="noStrike" kern="1200" cap="none" spc="0" normalizeH="0" baseline="0" noProof="0" dirty="0" err="1">
                <a:ln>
                  <a:noFill/>
                </a:ln>
                <a:solidFill>
                  <a:srgbClr val="3ECF80"/>
                </a:solidFill>
                <a:effectLst/>
                <a:uLnTx/>
                <a:uFillTx/>
                <a:latin typeface="Candara" panose="020E0502030303020204" pitchFamily="34" charset="0"/>
                <a:ea typeface="+mn-ea"/>
                <a:cs typeface="+mn-cs"/>
              </a:rPr>
              <a:t>t</a:t>
            </a:r>
            <a:r>
              <a:rPr kumimoji="0" sz="1400" b="0" i="0" u="none" strike="noStrike" kern="1200" cap="none" spc="0" normalizeH="0" baseline="0" noProof="0" dirty="0" err="1">
                <a:ln>
                  <a:noFill/>
                </a:ln>
                <a:solidFill>
                  <a:srgbClr val="3ECF80"/>
                </a:solidFill>
                <a:effectLst/>
                <a:uLnTx/>
                <a:uFillTx/>
                <a:latin typeface="Candara" panose="020E0502030303020204" pitchFamily="34" charset="0"/>
                <a:ea typeface="+mn-ea"/>
                <a:cs typeface="+mn-cs"/>
              </a:rPr>
              <a:t>o</a:t>
            </a: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/EMQX)</a:t>
            </a:r>
          </a:p>
        </p:txBody>
      </p:sp>
      <p:sp>
        <p:nvSpPr>
          <p:cNvPr id="16" name="TextBox 15"/>
          <p:cNvSpPr txBox="1"/>
          <p:nvPr/>
        </p:nvSpPr>
        <p:spPr>
          <a:xfrm>
            <a:off x="4350258" y="3027055"/>
            <a:ext cx="2759202"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Device → Broker → Backend</a:t>
            </a: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Command to Actuator</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17" name="Rounded Rectangle 16"/>
          <p:cNvSpPr/>
          <p:nvPr/>
        </p:nvSpPr>
        <p:spPr>
          <a:xfrm>
            <a:off x="7982712" y="1991771"/>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18" name="Rectangle 17"/>
          <p:cNvSpPr/>
          <p:nvPr/>
        </p:nvSpPr>
        <p:spPr>
          <a:xfrm>
            <a:off x="7863840" y="2014744"/>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9" name="Picture 18" descr="image.png"/>
          <p:cNvPicPr>
            <a:picLocks noChangeAspect="1"/>
          </p:cNvPicPr>
          <p:nvPr/>
        </p:nvPicPr>
        <p:blipFill>
          <a:blip r:embed="rId5"/>
          <a:stretch>
            <a:fillRect/>
          </a:stretch>
        </p:blipFill>
        <p:spPr>
          <a:xfrm>
            <a:off x="10616184" y="2586131"/>
            <a:ext cx="804672" cy="804672"/>
          </a:xfrm>
          <a:prstGeom prst="rect">
            <a:avLst/>
          </a:prstGeom>
        </p:spPr>
      </p:pic>
      <p:sp>
        <p:nvSpPr>
          <p:cNvPr id="20" name="TextBox 19"/>
          <p:cNvSpPr txBox="1"/>
          <p:nvPr/>
        </p:nvSpPr>
        <p:spPr>
          <a:xfrm>
            <a:off x="8165592" y="2174651"/>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Real-Time</a:t>
            </a:r>
          </a:p>
        </p:txBody>
      </p:sp>
      <p:sp>
        <p:nvSpPr>
          <p:cNvPr id="21" name="TextBox 20"/>
          <p:cNvSpPr txBox="1"/>
          <p:nvPr/>
        </p:nvSpPr>
        <p:spPr>
          <a:xfrm>
            <a:off x="8165592" y="2503835"/>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3ECF80"/>
                </a:solidFill>
                <a:effectLst/>
                <a:uLnTx/>
                <a:uFillTx/>
                <a:latin typeface="Candara" panose="020E0502030303020204" pitchFamily="34" charset="0"/>
                <a:ea typeface="+mn-ea"/>
                <a:cs typeface="+mn-cs"/>
              </a:rPr>
              <a:t>SignalR</a:t>
            </a:r>
          </a:p>
        </p:txBody>
      </p:sp>
      <p:sp>
        <p:nvSpPr>
          <p:cNvPr id="22" name="TextBox 21"/>
          <p:cNvSpPr txBox="1"/>
          <p:nvPr/>
        </p:nvSpPr>
        <p:spPr>
          <a:xfrm>
            <a:off x="8165592" y="2769011"/>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Server-to-client live </a:t>
            </a: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sensor and alert </a:t>
            </a: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updates</a:t>
            </a:r>
          </a:p>
        </p:txBody>
      </p:sp>
      <p:sp>
        <p:nvSpPr>
          <p:cNvPr id="23" name="Rounded Rectangle 22"/>
          <p:cNvSpPr/>
          <p:nvPr/>
        </p:nvSpPr>
        <p:spPr>
          <a:xfrm>
            <a:off x="457200" y="4213763"/>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25" name="Picture 24" descr="image.png"/>
          <p:cNvPicPr>
            <a:picLocks noChangeAspect="1"/>
          </p:cNvPicPr>
          <p:nvPr/>
        </p:nvPicPr>
        <p:blipFill>
          <a:blip r:embed="rId6"/>
          <a:stretch>
            <a:fillRect/>
          </a:stretch>
        </p:blipFill>
        <p:spPr>
          <a:xfrm>
            <a:off x="3090672" y="4808123"/>
            <a:ext cx="804672" cy="804672"/>
          </a:xfrm>
          <a:prstGeom prst="rect">
            <a:avLst/>
          </a:prstGeom>
        </p:spPr>
      </p:pic>
      <p:sp>
        <p:nvSpPr>
          <p:cNvPr id="26" name="TextBox 25"/>
          <p:cNvSpPr txBox="1"/>
          <p:nvPr/>
        </p:nvSpPr>
        <p:spPr>
          <a:xfrm>
            <a:off x="640080" y="4396643"/>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Frontend</a:t>
            </a:r>
          </a:p>
        </p:txBody>
      </p:sp>
      <p:sp>
        <p:nvSpPr>
          <p:cNvPr id="27" name="TextBox 26"/>
          <p:cNvSpPr txBox="1"/>
          <p:nvPr/>
        </p:nvSpPr>
        <p:spPr>
          <a:xfrm>
            <a:off x="640080" y="4725827"/>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3ECF80"/>
                </a:solidFill>
                <a:effectLst/>
                <a:uLnTx/>
                <a:uFillTx/>
                <a:latin typeface="Candara" panose="020E0502030303020204" pitchFamily="34" charset="0"/>
                <a:ea typeface="+mn-ea"/>
                <a:cs typeface="+mn-cs"/>
              </a:rPr>
              <a:t>React + TypeScript</a:t>
            </a:r>
          </a:p>
        </p:txBody>
      </p:sp>
      <p:sp>
        <p:nvSpPr>
          <p:cNvPr id="28" name="Rounded Rectangle 27"/>
          <p:cNvSpPr/>
          <p:nvPr/>
        </p:nvSpPr>
        <p:spPr>
          <a:xfrm>
            <a:off x="4219956" y="4213763"/>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29" name="Rectangle 28"/>
          <p:cNvSpPr/>
          <p:nvPr/>
        </p:nvSpPr>
        <p:spPr>
          <a:xfrm>
            <a:off x="4107942" y="4213763"/>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30" name="Picture 29" descr="image.png"/>
          <p:cNvPicPr>
            <a:picLocks noChangeAspect="1"/>
          </p:cNvPicPr>
          <p:nvPr/>
        </p:nvPicPr>
        <p:blipFill>
          <a:blip r:embed="rId7"/>
          <a:stretch>
            <a:fillRect/>
          </a:stretch>
        </p:blipFill>
        <p:spPr>
          <a:xfrm>
            <a:off x="6853428" y="4808123"/>
            <a:ext cx="804672" cy="804672"/>
          </a:xfrm>
          <a:prstGeom prst="rect">
            <a:avLst/>
          </a:prstGeom>
        </p:spPr>
      </p:pic>
      <p:sp>
        <p:nvSpPr>
          <p:cNvPr id="31" name="TextBox 30"/>
          <p:cNvSpPr txBox="1"/>
          <p:nvPr/>
        </p:nvSpPr>
        <p:spPr>
          <a:xfrm>
            <a:off x="4402836" y="4396643"/>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Database</a:t>
            </a:r>
          </a:p>
        </p:txBody>
      </p:sp>
      <p:sp>
        <p:nvSpPr>
          <p:cNvPr id="32" name="TextBox 31"/>
          <p:cNvSpPr txBox="1"/>
          <p:nvPr/>
        </p:nvSpPr>
        <p:spPr>
          <a:xfrm>
            <a:off x="4402836" y="4725827"/>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3ECF80"/>
                </a:solidFill>
                <a:effectLst/>
                <a:uLnTx/>
                <a:uFillTx/>
                <a:latin typeface="Candara" panose="020E0502030303020204" pitchFamily="34" charset="0"/>
                <a:ea typeface="+mn-ea"/>
                <a:cs typeface="+mn-cs"/>
              </a:rPr>
              <a:t>SQL Server + EF Core</a:t>
            </a:r>
          </a:p>
        </p:txBody>
      </p:sp>
      <p:sp>
        <p:nvSpPr>
          <p:cNvPr id="33" name="Rounded Rectangle 32"/>
          <p:cNvSpPr/>
          <p:nvPr/>
        </p:nvSpPr>
        <p:spPr>
          <a:xfrm>
            <a:off x="7982712" y="4213763"/>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34" name="Rectangle 33"/>
          <p:cNvSpPr/>
          <p:nvPr/>
        </p:nvSpPr>
        <p:spPr>
          <a:xfrm>
            <a:off x="7863840" y="4204619"/>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35" name="Picture 34" descr="image.png"/>
          <p:cNvPicPr>
            <a:picLocks noChangeAspect="1"/>
          </p:cNvPicPr>
          <p:nvPr/>
        </p:nvPicPr>
        <p:blipFill>
          <a:blip r:embed="rId8"/>
          <a:stretch>
            <a:fillRect/>
          </a:stretch>
        </p:blipFill>
        <p:spPr>
          <a:xfrm>
            <a:off x="10616184" y="4808123"/>
            <a:ext cx="804672" cy="804672"/>
          </a:xfrm>
          <a:prstGeom prst="rect">
            <a:avLst/>
          </a:prstGeom>
        </p:spPr>
      </p:pic>
      <p:sp>
        <p:nvSpPr>
          <p:cNvPr id="36" name="TextBox 35"/>
          <p:cNvSpPr txBox="1"/>
          <p:nvPr/>
        </p:nvSpPr>
        <p:spPr>
          <a:xfrm>
            <a:off x="8165592" y="4396643"/>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DevOps</a:t>
            </a:r>
          </a:p>
        </p:txBody>
      </p:sp>
      <p:sp>
        <p:nvSpPr>
          <p:cNvPr id="37" name="TextBox 36"/>
          <p:cNvSpPr txBox="1"/>
          <p:nvPr/>
        </p:nvSpPr>
        <p:spPr>
          <a:xfrm>
            <a:off x="8165592" y="4725827"/>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Git + GitHub</a:t>
            </a:r>
            <a:r>
              <a:rPr kumimoji="0" lang="en-US"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 + Azure</a:t>
            </a:r>
            <a:endPar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endParaRPr>
          </a:p>
        </p:txBody>
      </p:sp>
      <p:sp>
        <p:nvSpPr>
          <p:cNvPr id="6" name="TextBox 5">
            <a:extLst>
              <a:ext uri="{FF2B5EF4-FFF2-40B4-BE49-F238E27FC236}">
                <a16:creationId xmlns:a16="http://schemas.microsoft.com/office/drawing/2014/main" id="{B3AB9396-4401-9411-228D-360974B3A709}"/>
              </a:ext>
            </a:extLst>
          </p:cNvPr>
          <p:cNvSpPr txBox="1"/>
          <p:nvPr/>
        </p:nvSpPr>
        <p:spPr>
          <a:xfrm>
            <a:off x="670941" y="5196646"/>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Dashboard, live chart, gauge, device management UI</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24" name="TextBox 23">
            <a:extLst>
              <a:ext uri="{FF2B5EF4-FFF2-40B4-BE49-F238E27FC236}">
                <a16:creationId xmlns:a16="http://schemas.microsoft.com/office/drawing/2014/main" id="{40DB0B09-998E-0007-29E6-E282B550F991}"/>
              </a:ext>
            </a:extLst>
          </p:cNvPr>
          <p:cNvSpPr txBox="1"/>
          <p:nvPr/>
        </p:nvSpPr>
        <p:spPr>
          <a:xfrm>
            <a:off x="4475988" y="5210459"/>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Sensor readings, devices, alerts, command history</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38" name="TextBox 37">
            <a:extLst>
              <a:ext uri="{FF2B5EF4-FFF2-40B4-BE49-F238E27FC236}">
                <a16:creationId xmlns:a16="http://schemas.microsoft.com/office/drawing/2014/main" id="{2FA83AE0-6E7E-9387-397F-A238EB405207}"/>
              </a:ext>
            </a:extLst>
          </p:cNvPr>
          <p:cNvSpPr txBox="1"/>
          <p:nvPr/>
        </p:nvSpPr>
        <p:spPr>
          <a:xfrm>
            <a:off x="8202168" y="5205622"/>
            <a:ext cx="2377440" cy="523220"/>
          </a:xfrm>
          <a:prstGeom prst="rect">
            <a:avLst/>
          </a:prstGeom>
          <a:noFill/>
        </p:spPr>
        <p:txBody>
          <a:bodyPr wrap="square">
            <a:spAutoFit/>
          </a:bodyPr>
          <a:lstStyle/>
          <a:p>
            <a:pPr lvl="0">
              <a:defRPr/>
            </a:pPr>
            <a:r>
              <a:rPr lang="en-US" sz="1400" dirty="0">
                <a:solidFill>
                  <a:srgbClr val="7AAB8A"/>
                </a:solidFill>
                <a:latin typeface="Candara" panose="020E0502030303020204" pitchFamily="34" charset="0"/>
              </a:rPr>
              <a:t>CI/CD: API (Azure Web App) + SPA (Static Web Apps)</a:t>
            </a:r>
            <a:endParaRPr sz="1400" dirty="0">
              <a:solidFill>
                <a:srgbClr val="7AAB8A"/>
              </a:solidFill>
              <a:latin typeface="Candara" panose="020E0502030303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164549" y="272165"/>
            <a:ext cx="11518440" cy="457081"/>
          </a:xfrm>
          <a:prstGeom prst="rect">
            <a:avLst/>
          </a:prstGeom>
          <a:noFill/>
          <a:ln/>
        </p:spPr>
        <p:txBody>
          <a:bodyPr wrap="square" lIns="0" tIns="0" rIns="0" bIns="0" rtlCol="0" anchor="ctr"/>
          <a:lstStyle/>
          <a:p>
            <a:r>
              <a:rPr lang="en-US" sz="3200" b="1" dirty="0">
                <a:solidFill>
                  <a:srgbClr val="FFFFFF"/>
                </a:solidFill>
                <a:latin typeface="Candara" panose="020E0502030303020204" pitchFamily="34" charset="0"/>
                <a:ea typeface="Calibri" pitchFamily="34" charset="-122"/>
                <a:cs typeface="Calibri" pitchFamily="34" charset="-120"/>
              </a:rPr>
              <a:t>System Architecture </a:t>
            </a:r>
            <a:r>
              <a:rPr lang="en-US" sz="3200" b="1" dirty="0">
                <a:solidFill>
                  <a:srgbClr val="3ECF80"/>
                </a:solidFill>
                <a:latin typeface="Candara" panose="020E0502030303020204" pitchFamily="34" charset="0"/>
                <a:ea typeface="Calibri" pitchFamily="34" charset="-122"/>
                <a:cs typeface="Calibri" pitchFamily="34" charset="-120"/>
              </a:rPr>
              <a:t>Overview</a:t>
            </a:r>
            <a:endParaRPr lang="en-US" sz="3200" dirty="0">
              <a:latin typeface="Candara" panose="020E0502030303020204" pitchFamily="34" charset="0"/>
            </a:endParaRPr>
          </a:p>
        </p:txBody>
      </p:sp>
      <p:sp>
        <p:nvSpPr>
          <p:cNvPr id="3" name="Shape 1"/>
          <p:cNvSpPr/>
          <p:nvPr/>
        </p:nvSpPr>
        <p:spPr>
          <a:xfrm>
            <a:off x="164549" y="904875"/>
            <a:ext cx="1874032" cy="5842532"/>
          </a:xfrm>
          <a:prstGeom prst="roundRect">
            <a:avLst>
              <a:gd name="adj" fmla="val 3902"/>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4" name="Text 2"/>
          <p:cNvSpPr/>
          <p:nvPr/>
        </p:nvSpPr>
        <p:spPr>
          <a:xfrm>
            <a:off x="255965" y="1145188"/>
            <a:ext cx="1691199" cy="319957"/>
          </a:xfrm>
          <a:prstGeom prst="rect">
            <a:avLst/>
          </a:prstGeom>
          <a:noFill/>
          <a:ln/>
        </p:spPr>
        <p:txBody>
          <a:bodyPr wrap="square" lIns="0" tIns="0" rIns="0" bIns="0" rtlCol="0" anchor="ctr"/>
          <a:lstStyle/>
          <a:p>
            <a:pPr algn="ctr"/>
            <a:r>
              <a:rPr lang="en-US" b="1" dirty="0">
                <a:solidFill>
                  <a:srgbClr val="00B050"/>
                </a:solidFill>
                <a:latin typeface="Candara" panose="020E0502030303020204" pitchFamily="34" charset="0"/>
                <a:ea typeface="Calibri" pitchFamily="34" charset="-122"/>
                <a:cs typeface="Calibri" pitchFamily="34" charset="-120"/>
              </a:rPr>
              <a:t>External Systems</a:t>
            </a:r>
            <a:endParaRPr lang="en-US" dirty="0">
              <a:solidFill>
                <a:srgbClr val="00B050"/>
              </a:solidFill>
              <a:latin typeface="Candara" panose="020E0502030303020204" pitchFamily="34" charset="0"/>
            </a:endParaRPr>
          </a:p>
        </p:txBody>
      </p:sp>
      <p:sp>
        <p:nvSpPr>
          <p:cNvPr id="5" name="Shape 3"/>
          <p:cNvSpPr/>
          <p:nvPr/>
        </p:nvSpPr>
        <p:spPr>
          <a:xfrm>
            <a:off x="2148280" y="904875"/>
            <a:ext cx="2102572" cy="5842532"/>
          </a:xfrm>
          <a:prstGeom prst="roundRect">
            <a:avLst>
              <a:gd name="adj" fmla="val 3478"/>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6" name="Text 4"/>
          <p:cNvSpPr/>
          <p:nvPr/>
        </p:nvSpPr>
        <p:spPr>
          <a:xfrm>
            <a:off x="2239696" y="1145188"/>
            <a:ext cx="1919740" cy="319957"/>
          </a:xfrm>
          <a:prstGeom prst="rect">
            <a:avLst/>
          </a:prstGeom>
          <a:noFill/>
          <a:ln/>
        </p:spPr>
        <p:txBody>
          <a:bodyPr wrap="square" lIns="0" tIns="0" rIns="0" bIns="0" rtlCol="0" anchor="ctr"/>
          <a:lstStyle/>
          <a:p>
            <a:pPr algn="ctr"/>
            <a:r>
              <a:rPr lang="en-US" b="1" dirty="0">
                <a:solidFill>
                  <a:srgbClr val="3ECF80"/>
                </a:solidFill>
                <a:latin typeface="Candara" panose="020E0502030303020204" pitchFamily="34" charset="0"/>
                <a:ea typeface="Calibri" pitchFamily="34" charset="-122"/>
                <a:cs typeface="Calibri" pitchFamily="34" charset="-120"/>
              </a:rPr>
              <a:t>Frontend</a:t>
            </a:r>
            <a:endParaRPr lang="en-US" dirty="0">
              <a:latin typeface="Candara" panose="020E0502030303020204" pitchFamily="34" charset="0"/>
            </a:endParaRPr>
          </a:p>
        </p:txBody>
      </p:sp>
      <p:sp>
        <p:nvSpPr>
          <p:cNvPr id="7" name="Shape 5"/>
          <p:cNvSpPr/>
          <p:nvPr/>
        </p:nvSpPr>
        <p:spPr>
          <a:xfrm>
            <a:off x="4360552" y="904873"/>
            <a:ext cx="5759220" cy="5842533"/>
          </a:xfrm>
          <a:prstGeom prst="roundRect">
            <a:avLst>
              <a:gd name="adj" fmla="val 1270"/>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8" name="Text 6"/>
          <p:cNvSpPr/>
          <p:nvPr/>
        </p:nvSpPr>
        <p:spPr>
          <a:xfrm>
            <a:off x="4451968" y="1145188"/>
            <a:ext cx="5576387" cy="319957"/>
          </a:xfrm>
          <a:prstGeom prst="rect">
            <a:avLst/>
          </a:prstGeom>
          <a:noFill/>
          <a:ln/>
        </p:spPr>
        <p:txBody>
          <a:bodyPr wrap="square" lIns="0" tIns="0" rIns="0" bIns="0" rtlCol="0" anchor="ctr"/>
          <a:lstStyle/>
          <a:p>
            <a:pPr algn="ctr"/>
            <a:r>
              <a:rPr lang="en-US" b="1" dirty="0">
                <a:solidFill>
                  <a:srgbClr val="3ECF80"/>
                </a:solidFill>
                <a:latin typeface="Candara" panose="020E0502030303020204" pitchFamily="34" charset="0"/>
                <a:ea typeface="Calibri" pitchFamily="34" charset="-122"/>
                <a:cs typeface="Calibri" pitchFamily="34" charset="-120"/>
              </a:rPr>
              <a:t>Backend</a:t>
            </a:r>
            <a:endParaRPr lang="en-US" dirty="0">
              <a:latin typeface="Candara" panose="020E0502030303020204" pitchFamily="34" charset="0"/>
            </a:endParaRPr>
          </a:p>
        </p:txBody>
      </p:sp>
      <p:sp>
        <p:nvSpPr>
          <p:cNvPr id="9" name="Shape 7"/>
          <p:cNvSpPr/>
          <p:nvPr/>
        </p:nvSpPr>
        <p:spPr>
          <a:xfrm>
            <a:off x="10229471" y="904875"/>
            <a:ext cx="1828324" cy="5842532"/>
          </a:xfrm>
          <a:prstGeom prst="roundRect">
            <a:avLst>
              <a:gd name="adj" fmla="val 4000"/>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10" name="Text 8"/>
          <p:cNvSpPr/>
          <p:nvPr/>
        </p:nvSpPr>
        <p:spPr>
          <a:xfrm>
            <a:off x="10320887" y="1145188"/>
            <a:ext cx="1645491" cy="319957"/>
          </a:xfrm>
          <a:prstGeom prst="rect">
            <a:avLst/>
          </a:prstGeom>
          <a:noFill/>
          <a:ln/>
        </p:spPr>
        <p:txBody>
          <a:bodyPr wrap="square" lIns="0" tIns="0" rIns="0" bIns="0" rtlCol="0" anchor="ctr"/>
          <a:lstStyle/>
          <a:p>
            <a:pPr algn="ctr"/>
            <a:r>
              <a:rPr lang="en-US" b="1" dirty="0">
                <a:solidFill>
                  <a:srgbClr val="3ECF80"/>
                </a:solidFill>
                <a:latin typeface="Candara" panose="020E0502030303020204" pitchFamily="34" charset="0"/>
                <a:ea typeface="Calibri" pitchFamily="34" charset="-122"/>
                <a:cs typeface="Calibri" pitchFamily="34" charset="-120"/>
              </a:rPr>
              <a:t>Data Layer</a:t>
            </a:r>
            <a:endParaRPr lang="en-US" dirty="0">
              <a:latin typeface="Candara" panose="020E0502030303020204" pitchFamily="34" charset="0"/>
            </a:endParaRPr>
          </a:p>
        </p:txBody>
      </p:sp>
      <p:sp>
        <p:nvSpPr>
          <p:cNvPr id="11" name="Shape 9"/>
          <p:cNvSpPr/>
          <p:nvPr/>
        </p:nvSpPr>
        <p:spPr>
          <a:xfrm>
            <a:off x="1832894" y="2004501"/>
            <a:ext cx="452510"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2" name="Shape 10"/>
          <p:cNvSpPr/>
          <p:nvPr/>
        </p:nvSpPr>
        <p:spPr>
          <a:xfrm>
            <a:off x="4113728" y="3604284"/>
            <a:ext cx="338240"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3" name="Shape 11"/>
          <p:cNvSpPr/>
          <p:nvPr/>
        </p:nvSpPr>
        <p:spPr>
          <a:xfrm>
            <a:off x="4113728" y="4838402"/>
            <a:ext cx="338240"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4" name="Shape 12"/>
          <p:cNvSpPr/>
          <p:nvPr/>
        </p:nvSpPr>
        <p:spPr>
          <a:xfrm>
            <a:off x="1832894" y="6026813"/>
            <a:ext cx="2619074"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6" name="Shape 14"/>
          <p:cNvSpPr/>
          <p:nvPr/>
        </p:nvSpPr>
        <p:spPr>
          <a:xfrm>
            <a:off x="6371708" y="3604284"/>
            <a:ext cx="164549"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7" name="Shape 15"/>
          <p:cNvSpPr/>
          <p:nvPr/>
        </p:nvSpPr>
        <p:spPr>
          <a:xfrm>
            <a:off x="8684537" y="3604284"/>
            <a:ext cx="201116"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8" name="Shape 16"/>
          <p:cNvSpPr/>
          <p:nvPr/>
        </p:nvSpPr>
        <p:spPr>
          <a:xfrm>
            <a:off x="6280292" y="4838402"/>
            <a:ext cx="255965"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0" name="Shape 18"/>
          <p:cNvSpPr/>
          <p:nvPr/>
        </p:nvSpPr>
        <p:spPr>
          <a:xfrm>
            <a:off x="1101565" y="3787116"/>
            <a:ext cx="0" cy="1965448"/>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2" name="Shape 20"/>
          <p:cNvSpPr/>
          <p:nvPr/>
        </p:nvSpPr>
        <p:spPr>
          <a:xfrm>
            <a:off x="3016734" y="2370165"/>
            <a:ext cx="0" cy="982724"/>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3" name="Shape 21"/>
          <p:cNvSpPr/>
          <p:nvPr/>
        </p:nvSpPr>
        <p:spPr>
          <a:xfrm>
            <a:off x="3382398" y="2370165"/>
            <a:ext cx="0" cy="2193989"/>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4" name="Shape 22"/>
          <p:cNvSpPr/>
          <p:nvPr/>
        </p:nvSpPr>
        <p:spPr>
          <a:xfrm>
            <a:off x="397660" y="1734823"/>
            <a:ext cx="1462659" cy="594205"/>
          </a:xfrm>
          <a:prstGeom prst="roundRect">
            <a:avLst>
              <a:gd name="adj" fmla="val 9231"/>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25" name="Shape 23"/>
          <p:cNvSpPr/>
          <p:nvPr/>
        </p:nvSpPr>
        <p:spPr>
          <a:xfrm>
            <a:off x="370235" y="1707398"/>
            <a:ext cx="1462659" cy="594205"/>
          </a:xfrm>
          <a:prstGeom prst="roundRect">
            <a:avLst>
              <a:gd name="adj" fmla="val 9231"/>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26" name="Text 24"/>
          <p:cNvSpPr/>
          <p:nvPr/>
        </p:nvSpPr>
        <p:spPr>
          <a:xfrm>
            <a:off x="425085" y="1743965"/>
            <a:ext cx="1352960" cy="521072"/>
          </a:xfrm>
          <a:prstGeom prst="rect">
            <a:avLst/>
          </a:prstGeom>
          <a:noFill/>
          <a:ln/>
        </p:spPr>
        <p:txBody>
          <a:bodyPr wrap="square" lIns="0" tIns="0" rIns="0" bIns="0" rtlCol="0" anchor="ctr"/>
          <a:lstStyle/>
          <a:p>
            <a:pPr algn="ctr"/>
            <a:r>
              <a:rPr lang="en-US" sz="1400" b="1" dirty="0">
                <a:solidFill>
                  <a:srgbClr val="FFC000"/>
                </a:solidFill>
                <a:latin typeface="Candara" panose="020E0502030303020204" pitchFamily="34" charset="0"/>
                <a:ea typeface="Calibri" pitchFamily="34" charset="-122"/>
                <a:cs typeface="Calibri" pitchFamily="34" charset="-120"/>
              </a:rPr>
              <a:t>Operator</a:t>
            </a:r>
            <a:endParaRPr lang="en-US" sz="1400" b="1" dirty="0">
              <a:solidFill>
                <a:srgbClr val="FFC000"/>
              </a:solidFill>
              <a:latin typeface="Candara" panose="020E0502030303020204" pitchFamily="34" charset="0"/>
            </a:endParaRPr>
          </a:p>
          <a:p>
            <a:pPr algn="ctr"/>
            <a:r>
              <a:rPr lang="en-US" sz="1400" b="1" dirty="0">
                <a:solidFill>
                  <a:srgbClr val="FFC000"/>
                </a:solidFill>
                <a:latin typeface="Candara" panose="020E0502030303020204" pitchFamily="34" charset="0"/>
                <a:ea typeface="Calibri" pitchFamily="34" charset="-122"/>
                <a:cs typeface="Calibri" pitchFamily="34" charset="-120"/>
              </a:rPr>
              <a:t>Web Browser</a:t>
            </a:r>
            <a:endParaRPr lang="en-US" sz="1400" b="1" dirty="0">
              <a:solidFill>
                <a:srgbClr val="FFC000"/>
              </a:solidFill>
              <a:latin typeface="Candara" panose="020E0502030303020204" pitchFamily="34" charset="0"/>
            </a:endParaRPr>
          </a:p>
        </p:txBody>
      </p:sp>
      <p:sp>
        <p:nvSpPr>
          <p:cNvPr id="27" name="Shape 25"/>
          <p:cNvSpPr/>
          <p:nvPr/>
        </p:nvSpPr>
        <p:spPr>
          <a:xfrm>
            <a:off x="397660" y="3266044"/>
            <a:ext cx="1462659"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28" name="Shape 26"/>
          <p:cNvSpPr/>
          <p:nvPr/>
        </p:nvSpPr>
        <p:spPr>
          <a:xfrm>
            <a:off x="370235" y="3238619"/>
            <a:ext cx="1462659"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29" name="Text 27"/>
          <p:cNvSpPr/>
          <p:nvPr/>
        </p:nvSpPr>
        <p:spPr>
          <a:xfrm>
            <a:off x="425085" y="3275186"/>
            <a:ext cx="1352960" cy="475364"/>
          </a:xfrm>
          <a:prstGeom prst="rect">
            <a:avLst/>
          </a:prstGeom>
          <a:noFill/>
          <a:ln/>
        </p:spPr>
        <p:txBody>
          <a:bodyPr wrap="square" lIns="0" tIns="0" rIns="0" bIns="0" rtlCol="0" anchor="ctr"/>
          <a:lstStyle/>
          <a:p>
            <a:pPr algn="ctr"/>
            <a:r>
              <a:rPr lang="en-US" sz="1400" b="1" dirty="0">
                <a:solidFill>
                  <a:srgbClr val="FFC000"/>
                </a:solidFill>
                <a:latin typeface="Candara" panose="020E0502030303020204" pitchFamily="34" charset="0"/>
                <a:ea typeface="Calibri" pitchFamily="34" charset="-122"/>
                <a:cs typeface="Calibri" pitchFamily="34" charset="-120"/>
              </a:rPr>
              <a:t>IoT Devices</a:t>
            </a:r>
            <a:endParaRPr lang="en-US" sz="1400" b="1" dirty="0">
              <a:solidFill>
                <a:srgbClr val="FFC000"/>
              </a:solidFill>
              <a:latin typeface="Candara" panose="020E0502030303020204" pitchFamily="34" charset="0"/>
            </a:endParaRPr>
          </a:p>
          <a:p>
            <a:pPr algn="ctr"/>
            <a:r>
              <a:rPr lang="en-US" sz="1400" b="1" dirty="0">
                <a:solidFill>
                  <a:srgbClr val="FFC000"/>
                </a:solidFill>
                <a:latin typeface="Candara" panose="020E0502030303020204" pitchFamily="34" charset="0"/>
                <a:ea typeface="Calibri" pitchFamily="34" charset="-122"/>
                <a:cs typeface="Calibri" pitchFamily="34" charset="-120"/>
              </a:rPr>
              <a:t>/Gateway</a:t>
            </a:r>
            <a:endParaRPr lang="en-US" sz="1300" b="1" dirty="0">
              <a:solidFill>
                <a:srgbClr val="FFC000"/>
              </a:solidFill>
              <a:latin typeface="Candara" panose="020E0502030303020204" pitchFamily="34" charset="0"/>
            </a:endParaRPr>
          </a:p>
        </p:txBody>
      </p:sp>
      <p:sp>
        <p:nvSpPr>
          <p:cNvPr id="30" name="Shape 28"/>
          <p:cNvSpPr/>
          <p:nvPr/>
        </p:nvSpPr>
        <p:spPr>
          <a:xfrm>
            <a:off x="397660" y="5779989"/>
            <a:ext cx="1462659"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31" name="Shape 29"/>
          <p:cNvSpPr/>
          <p:nvPr/>
        </p:nvSpPr>
        <p:spPr>
          <a:xfrm>
            <a:off x="370235" y="5752564"/>
            <a:ext cx="1462659"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32" name="Text 30"/>
          <p:cNvSpPr/>
          <p:nvPr/>
        </p:nvSpPr>
        <p:spPr>
          <a:xfrm>
            <a:off x="425085" y="5789131"/>
            <a:ext cx="1352960" cy="475364"/>
          </a:xfrm>
          <a:prstGeom prst="rect">
            <a:avLst/>
          </a:prstGeom>
          <a:noFill/>
          <a:ln/>
        </p:spPr>
        <p:txBody>
          <a:bodyPr wrap="square" lIns="0" tIns="0" rIns="0" bIns="0" rtlCol="0" anchor="ctr"/>
          <a:lstStyle/>
          <a:p>
            <a:pPr algn="ctr"/>
            <a:r>
              <a:rPr lang="en-US" sz="1400" b="1" dirty="0">
                <a:solidFill>
                  <a:srgbClr val="FFC000"/>
                </a:solidFill>
                <a:latin typeface="Candara" panose="020E0502030303020204" pitchFamily="34" charset="0"/>
                <a:ea typeface="Calibri" pitchFamily="34" charset="-122"/>
                <a:cs typeface="Calibri" pitchFamily="34" charset="-120"/>
              </a:rPr>
              <a:t>MQTT</a:t>
            </a:r>
            <a:endParaRPr lang="en-US" sz="1400" b="1" dirty="0">
              <a:solidFill>
                <a:srgbClr val="FFC000"/>
              </a:solidFill>
              <a:latin typeface="Candara" panose="020E0502030303020204" pitchFamily="34" charset="0"/>
            </a:endParaRPr>
          </a:p>
          <a:p>
            <a:pPr algn="ctr"/>
            <a:r>
              <a:rPr lang="en-US" sz="1400" b="1" dirty="0">
                <a:solidFill>
                  <a:srgbClr val="FFC000"/>
                </a:solidFill>
                <a:latin typeface="Candara" panose="020E0502030303020204" pitchFamily="34" charset="0"/>
                <a:ea typeface="Calibri" pitchFamily="34" charset="-122"/>
                <a:cs typeface="Calibri" pitchFamily="34" charset="-120"/>
              </a:rPr>
              <a:t>Broker</a:t>
            </a:r>
            <a:endParaRPr lang="en-US" sz="1400" b="1" dirty="0">
              <a:solidFill>
                <a:srgbClr val="FFC000"/>
              </a:solidFill>
              <a:latin typeface="Candara" panose="020E0502030303020204" pitchFamily="34" charset="0"/>
            </a:endParaRPr>
          </a:p>
        </p:txBody>
      </p:sp>
      <p:sp>
        <p:nvSpPr>
          <p:cNvPr id="33" name="Shape 31"/>
          <p:cNvSpPr/>
          <p:nvPr/>
        </p:nvSpPr>
        <p:spPr>
          <a:xfrm>
            <a:off x="2312829" y="1666260"/>
            <a:ext cx="1828324" cy="731330"/>
          </a:xfrm>
          <a:prstGeom prst="roundRect">
            <a:avLst>
              <a:gd name="adj" fmla="val 75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34" name="Shape 32"/>
          <p:cNvSpPr/>
          <p:nvPr/>
        </p:nvSpPr>
        <p:spPr>
          <a:xfrm>
            <a:off x="2285404" y="1638836"/>
            <a:ext cx="1828324" cy="731330"/>
          </a:xfrm>
          <a:prstGeom prst="roundRect">
            <a:avLst>
              <a:gd name="adj" fmla="val 75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35" name="Text 33"/>
          <p:cNvSpPr/>
          <p:nvPr/>
        </p:nvSpPr>
        <p:spPr>
          <a:xfrm>
            <a:off x="2340254" y="1675402"/>
            <a:ext cx="1718624" cy="658197"/>
          </a:xfrm>
          <a:prstGeom prst="rect">
            <a:avLst/>
          </a:prstGeom>
          <a:noFill/>
          <a:ln/>
        </p:spPr>
        <p:txBody>
          <a:bodyPr wrap="square" lIns="0" tIns="0" rIns="0" bIns="0" rtlCol="0" anchor="ctr"/>
          <a:lstStyle/>
          <a:p>
            <a:pPr algn="ctr"/>
            <a:r>
              <a:rPr lang="en-US" sz="1400" b="1" dirty="0">
                <a:solidFill>
                  <a:srgbClr val="FFFF00"/>
                </a:solidFill>
                <a:latin typeface="Candara" panose="020E0502030303020204" pitchFamily="34" charset="0"/>
                <a:ea typeface="Calibri" pitchFamily="34" charset="-122"/>
                <a:cs typeface="Calibri" pitchFamily="34" charset="-120"/>
              </a:rPr>
              <a:t>React SPA</a:t>
            </a:r>
            <a:endParaRPr lang="en-US" sz="1400" b="1" dirty="0">
              <a:solidFill>
                <a:srgbClr val="FFFF0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(MUI + React Router)</a:t>
            </a:r>
            <a:endParaRPr lang="en-US" sz="1300" dirty="0">
              <a:latin typeface="Candara" panose="020E0502030303020204" pitchFamily="34" charset="0"/>
            </a:endParaRPr>
          </a:p>
        </p:txBody>
      </p:sp>
      <p:sp>
        <p:nvSpPr>
          <p:cNvPr id="36" name="Shape 34"/>
          <p:cNvSpPr/>
          <p:nvPr/>
        </p:nvSpPr>
        <p:spPr>
          <a:xfrm>
            <a:off x="2312829" y="3380314"/>
            <a:ext cx="1828324"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37" name="Shape 35"/>
          <p:cNvSpPr/>
          <p:nvPr/>
        </p:nvSpPr>
        <p:spPr>
          <a:xfrm>
            <a:off x="2285404" y="3352889"/>
            <a:ext cx="1828324"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38" name="Text 36"/>
          <p:cNvSpPr/>
          <p:nvPr/>
        </p:nvSpPr>
        <p:spPr>
          <a:xfrm>
            <a:off x="2340254" y="3389456"/>
            <a:ext cx="1718624" cy="429656"/>
          </a:xfrm>
          <a:prstGeom prst="rect">
            <a:avLst/>
          </a:prstGeom>
          <a:noFill/>
          <a:ln/>
        </p:spPr>
        <p:txBody>
          <a:bodyPr wrap="square" lIns="0" tIns="0" rIns="0" bIns="0" rtlCol="0" anchor="ctr"/>
          <a:lstStyle/>
          <a:p>
            <a:pPr algn="ctr"/>
            <a:r>
              <a:rPr lang="en-US" sz="1400" b="1" dirty="0">
                <a:solidFill>
                  <a:srgbClr val="FFFF00"/>
                </a:solidFill>
                <a:latin typeface="Candara" panose="020E0502030303020204" pitchFamily="34" charset="0"/>
                <a:ea typeface="Calibri" pitchFamily="34" charset="-122"/>
                <a:cs typeface="Calibri" pitchFamily="34" charset="-120"/>
              </a:rPr>
              <a:t>REST client</a:t>
            </a:r>
            <a:endParaRPr lang="en-US" sz="1400" b="1" dirty="0">
              <a:solidFill>
                <a:srgbClr val="FFFF0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t>
            </a:r>
            <a:r>
              <a:rPr lang="en-US" sz="1300" dirty="0" err="1">
                <a:solidFill>
                  <a:srgbClr val="FFFFFF"/>
                </a:solidFill>
                <a:latin typeface="Candara" panose="020E0502030303020204" pitchFamily="34" charset="0"/>
                <a:ea typeface="Calibri" pitchFamily="34" charset="-122"/>
                <a:cs typeface="Calibri" pitchFamily="34" charset="-120"/>
              </a:rPr>
              <a:t>api.ts</a:t>
            </a:r>
            <a:r>
              <a:rPr lang="en-US" sz="1300" dirty="0">
                <a:solidFill>
                  <a:srgbClr val="FFFFFF"/>
                </a:solidFill>
                <a:latin typeface="Candara" panose="020E0502030303020204" pitchFamily="34" charset="0"/>
                <a:ea typeface="Calibri" pitchFamily="34" charset="-122"/>
                <a:cs typeface="Calibri" pitchFamily="34" charset="-120"/>
              </a:rPr>
              <a:t> )</a:t>
            </a:r>
            <a:endParaRPr lang="en-US" sz="1300" dirty="0">
              <a:latin typeface="Candara" panose="020E0502030303020204" pitchFamily="34" charset="0"/>
            </a:endParaRPr>
          </a:p>
        </p:txBody>
      </p:sp>
      <p:sp>
        <p:nvSpPr>
          <p:cNvPr id="39" name="Shape 37"/>
          <p:cNvSpPr/>
          <p:nvPr/>
        </p:nvSpPr>
        <p:spPr>
          <a:xfrm>
            <a:off x="2312829" y="4591579"/>
            <a:ext cx="1828324"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0" name="Shape 38"/>
          <p:cNvSpPr/>
          <p:nvPr/>
        </p:nvSpPr>
        <p:spPr>
          <a:xfrm>
            <a:off x="2285404" y="4564154"/>
            <a:ext cx="1828324"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41" name="Text 39"/>
          <p:cNvSpPr/>
          <p:nvPr/>
        </p:nvSpPr>
        <p:spPr>
          <a:xfrm>
            <a:off x="2340254" y="4600720"/>
            <a:ext cx="1718624" cy="475364"/>
          </a:xfrm>
          <a:prstGeom prst="rect">
            <a:avLst/>
          </a:prstGeom>
          <a:noFill/>
          <a:ln/>
        </p:spPr>
        <p:txBody>
          <a:bodyPr wrap="square" lIns="0" tIns="0" rIns="0" bIns="0" rtlCol="0" anchor="ctr"/>
          <a:lstStyle/>
          <a:p>
            <a:pPr algn="ctr"/>
            <a:r>
              <a:rPr lang="en-US" sz="1400" b="1" dirty="0" err="1">
                <a:solidFill>
                  <a:srgbClr val="FFFF00"/>
                </a:solidFill>
                <a:latin typeface="Candara" panose="020E0502030303020204" pitchFamily="34" charset="0"/>
                <a:ea typeface="Calibri" pitchFamily="34" charset="-122"/>
                <a:cs typeface="Calibri" pitchFamily="34" charset="-120"/>
              </a:rPr>
              <a:t>SignalR</a:t>
            </a:r>
            <a:r>
              <a:rPr lang="en-US" sz="1400" b="1" dirty="0">
                <a:solidFill>
                  <a:srgbClr val="FFFF00"/>
                </a:solidFill>
                <a:latin typeface="Candara" panose="020E0502030303020204" pitchFamily="34" charset="0"/>
                <a:ea typeface="Calibri" pitchFamily="34" charset="-122"/>
                <a:cs typeface="Calibri" pitchFamily="34" charset="-120"/>
              </a:rPr>
              <a:t> client</a:t>
            </a:r>
          </a:p>
          <a:p>
            <a:pPr algn="ctr"/>
            <a:r>
              <a:rPr lang="en-US" sz="1300" dirty="0">
                <a:solidFill>
                  <a:srgbClr val="FFFFFF"/>
                </a:solidFill>
                <a:latin typeface="Candara" panose="020E0502030303020204" pitchFamily="34" charset="0"/>
                <a:ea typeface="Calibri" pitchFamily="34" charset="-122"/>
                <a:cs typeface="Calibri" pitchFamily="34" charset="-120"/>
              </a:rPr>
              <a:t>(</a:t>
            </a:r>
            <a:r>
              <a:rPr lang="en-US" sz="1300" dirty="0" err="1">
                <a:solidFill>
                  <a:srgbClr val="FFFFFF"/>
                </a:solidFill>
                <a:latin typeface="Candara" panose="020E0502030303020204" pitchFamily="34" charset="0"/>
                <a:ea typeface="Calibri" pitchFamily="34" charset="-122"/>
                <a:cs typeface="Calibri" pitchFamily="34" charset="-120"/>
              </a:rPr>
              <a:t>signalRService.ts</a:t>
            </a:r>
            <a:r>
              <a:rPr lang="en-US" sz="1300" dirty="0">
                <a:solidFill>
                  <a:srgbClr val="FFFFFF"/>
                </a:solidFill>
                <a:latin typeface="Candara" panose="020E0502030303020204" pitchFamily="34" charset="0"/>
                <a:ea typeface="Calibri" pitchFamily="34" charset="-122"/>
                <a:cs typeface="Calibri" pitchFamily="34" charset="-120"/>
              </a:rPr>
              <a:t>)</a:t>
            </a:r>
            <a:endParaRPr lang="en-US" sz="1300" dirty="0">
              <a:latin typeface="Candara" panose="020E0502030303020204" pitchFamily="34" charset="0"/>
            </a:endParaRPr>
          </a:p>
        </p:txBody>
      </p:sp>
      <p:sp>
        <p:nvSpPr>
          <p:cNvPr id="42" name="Shape 40"/>
          <p:cNvSpPr/>
          <p:nvPr/>
        </p:nvSpPr>
        <p:spPr>
          <a:xfrm>
            <a:off x="4479393" y="3128920"/>
            <a:ext cx="1919740" cy="1005578"/>
          </a:xfrm>
          <a:prstGeom prst="roundRect">
            <a:avLst>
              <a:gd name="adj" fmla="val 5455"/>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3" name="Shape 41"/>
          <p:cNvSpPr/>
          <p:nvPr/>
        </p:nvSpPr>
        <p:spPr>
          <a:xfrm>
            <a:off x="4451968" y="3101495"/>
            <a:ext cx="1919740" cy="1005578"/>
          </a:xfrm>
          <a:prstGeom prst="roundRect">
            <a:avLst>
              <a:gd name="adj" fmla="val 5455"/>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44" name="Text 42"/>
          <p:cNvSpPr/>
          <p:nvPr/>
        </p:nvSpPr>
        <p:spPr>
          <a:xfrm>
            <a:off x="4506817" y="3138061"/>
            <a:ext cx="1810041" cy="932445"/>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REST Controllers</a:t>
            </a:r>
            <a:endParaRPr lang="en-US" sz="1400" b="1" dirty="0">
              <a:solidFill>
                <a:srgbClr val="00B0F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Devices, Sensors,</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SensorReadings,</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Alerts, AlertRules,</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Health</a:t>
            </a:r>
            <a:endParaRPr lang="en-US" sz="1300" dirty="0">
              <a:latin typeface="Candara" panose="020E0502030303020204" pitchFamily="34" charset="0"/>
            </a:endParaRPr>
          </a:p>
        </p:txBody>
      </p:sp>
      <p:sp>
        <p:nvSpPr>
          <p:cNvPr id="45" name="Shape 43"/>
          <p:cNvSpPr/>
          <p:nvPr/>
        </p:nvSpPr>
        <p:spPr>
          <a:xfrm>
            <a:off x="6563682" y="3037504"/>
            <a:ext cx="2148280" cy="1188410"/>
          </a:xfrm>
          <a:prstGeom prst="roundRect">
            <a:avLst>
              <a:gd name="adj" fmla="val 4615"/>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6" name="Shape 44"/>
          <p:cNvSpPr/>
          <p:nvPr/>
        </p:nvSpPr>
        <p:spPr>
          <a:xfrm>
            <a:off x="6536257" y="3010079"/>
            <a:ext cx="2148280" cy="1188410"/>
          </a:xfrm>
          <a:prstGeom prst="roundRect">
            <a:avLst>
              <a:gd name="adj" fmla="val 4615"/>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47" name="Text 45"/>
          <p:cNvSpPr/>
          <p:nvPr/>
        </p:nvSpPr>
        <p:spPr>
          <a:xfrm>
            <a:off x="6591107" y="3046645"/>
            <a:ext cx="2038581" cy="1115277"/>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Application Services</a:t>
            </a:r>
            <a:endParaRPr lang="en-US" sz="1400" b="1" dirty="0">
              <a:solidFill>
                <a:srgbClr val="00B0F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DeviceService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SensorService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SensorReadingService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AlertService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AlertRuleService</a:t>
            </a:r>
            <a:endParaRPr lang="en-US" sz="1300" dirty="0">
              <a:latin typeface="Candara" panose="020E0502030303020204" pitchFamily="34" charset="0"/>
            </a:endParaRPr>
          </a:p>
        </p:txBody>
      </p:sp>
      <p:sp>
        <p:nvSpPr>
          <p:cNvPr id="48" name="Shape 46"/>
          <p:cNvSpPr/>
          <p:nvPr/>
        </p:nvSpPr>
        <p:spPr>
          <a:xfrm>
            <a:off x="8913078" y="3380314"/>
            <a:ext cx="1188410"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9" name="Shape 47"/>
          <p:cNvSpPr/>
          <p:nvPr/>
        </p:nvSpPr>
        <p:spPr>
          <a:xfrm>
            <a:off x="8885653" y="3352889"/>
            <a:ext cx="1188410"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50" name="Text 48"/>
          <p:cNvSpPr/>
          <p:nvPr/>
        </p:nvSpPr>
        <p:spPr>
          <a:xfrm>
            <a:off x="8940503" y="3389456"/>
            <a:ext cx="1078711" cy="429656"/>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Repositories</a:t>
            </a:r>
            <a:endParaRPr lang="en-US" sz="1400" b="1" dirty="0">
              <a:solidFill>
                <a:srgbClr val="00B0F0"/>
              </a:solidFill>
              <a:latin typeface="Candara" panose="020E0502030303020204" pitchFamily="34" charset="0"/>
            </a:endParaRPr>
          </a:p>
        </p:txBody>
      </p:sp>
      <p:sp>
        <p:nvSpPr>
          <p:cNvPr id="51" name="Shape 49"/>
          <p:cNvSpPr/>
          <p:nvPr/>
        </p:nvSpPr>
        <p:spPr>
          <a:xfrm>
            <a:off x="4479393" y="4591579"/>
            <a:ext cx="1828324"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52" name="Shape 50"/>
          <p:cNvSpPr/>
          <p:nvPr/>
        </p:nvSpPr>
        <p:spPr>
          <a:xfrm>
            <a:off x="4451968" y="4564154"/>
            <a:ext cx="1828324"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53" name="Text 51"/>
          <p:cNvSpPr/>
          <p:nvPr/>
        </p:nvSpPr>
        <p:spPr>
          <a:xfrm>
            <a:off x="4474823" y="4600720"/>
            <a:ext cx="1718624" cy="475364"/>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MonitoringHub</a:t>
            </a:r>
            <a:endParaRPr lang="en-US" sz="1400" b="1" dirty="0">
              <a:solidFill>
                <a:srgbClr val="00B0F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(SignalR)</a:t>
            </a:r>
            <a:endParaRPr lang="en-US" sz="1300" dirty="0">
              <a:latin typeface="Candara" panose="020E0502030303020204" pitchFamily="34" charset="0"/>
            </a:endParaRPr>
          </a:p>
        </p:txBody>
      </p:sp>
      <p:sp>
        <p:nvSpPr>
          <p:cNvPr id="57" name="Shape 55"/>
          <p:cNvSpPr/>
          <p:nvPr/>
        </p:nvSpPr>
        <p:spPr>
          <a:xfrm>
            <a:off x="8775954" y="4614433"/>
            <a:ext cx="1462659"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58" name="Shape 56"/>
          <p:cNvSpPr/>
          <p:nvPr/>
        </p:nvSpPr>
        <p:spPr>
          <a:xfrm>
            <a:off x="8293735" y="5674860"/>
            <a:ext cx="1554074"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59" name="Text 57"/>
          <p:cNvSpPr/>
          <p:nvPr/>
        </p:nvSpPr>
        <p:spPr>
          <a:xfrm>
            <a:off x="8260632" y="5702285"/>
            <a:ext cx="1604355" cy="429656"/>
          </a:xfrm>
          <a:prstGeom prst="rect">
            <a:avLst/>
          </a:prstGeom>
          <a:noFill/>
          <a:ln/>
        </p:spPr>
        <p:txBody>
          <a:bodyPr wrap="square" lIns="0" tIns="0" rIns="0" bIns="0" rtlCol="0" anchor="ctr"/>
          <a:lstStyle/>
          <a:p>
            <a:pPr algn="ctr"/>
            <a:r>
              <a:rPr lang="en-US" sz="1200" b="1" dirty="0">
                <a:solidFill>
                  <a:srgbClr val="00B0F0"/>
                </a:solidFill>
                <a:latin typeface="Candara" panose="020E0502030303020204" pitchFamily="34" charset="0"/>
                <a:ea typeface="Calibri" pitchFamily="34" charset="-122"/>
                <a:cs typeface="Calibri" pitchFamily="34" charset="-120"/>
              </a:rPr>
              <a:t>ApplicationDbContext</a:t>
            </a:r>
            <a:endParaRPr lang="en-US" sz="1200" b="1" dirty="0">
              <a:solidFill>
                <a:srgbClr val="00B0F0"/>
              </a:solidFill>
              <a:latin typeface="Candara" panose="020E0502030303020204" pitchFamily="34" charset="0"/>
            </a:endParaRPr>
          </a:p>
        </p:txBody>
      </p:sp>
      <p:sp>
        <p:nvSpPr>
          <p:cNvPr id="60" name="Shape 58"/>
          <p:cNvSpPr/>
          <p:nvPr/>
        </p:nvSpPr>
        <p:spPr>
          <a:xfrm>
            <a:off x="4479393" y="5802843"/>
            <a:ext cx="1554075"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61" name="Shape 59"/>
          <p:cNvSpPr/>
          <p:nvPr/>
        </p:nvSpPr>
        <p:spPr>
          <a:xfrm>
            <a:off x="4451968" y="5775418"/>
            <a:ext cx="1554075"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62" name="Text 60"/>
          <p:cNvSpPr/>
          <p:nvPr/>
        </p:nvSpPr>
        <p:spPr>
          <a:xfrm>
            <a:off x="4506817" y="5811985"/>
            <a:ext cx="1444376" cy="429656"/>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MqttService</a:t>
            </a:r>
            <a:endParaRPr lang="en-US" sz="1400" b="1" dirty="0">
              <a:solidFill>
                <a:srgbClr val="00B0F0"/>
              </a:solidFill>
              <a:latin typeface="Candara" panose="020E0502030303020204" pitchFamily="34" charset="0"/>
            </a:endParaRPr>
          </a:p>
        </p:txBody>
      </p:sp>
      <p:sp>
        <p:nvSpPr>
          <p:cNvPr id="63" name="Shape 61"/>
          <p:cNvSpPr/>
          <p:nvPr/>
        </p:nvSpPr>
        <p:spPr>
          <a:xfrm>
            <a:off x="10348312" y="4614433"/>
            <a:ext cx="1554075"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64" name="Shape 62"/>
          <p:cNvSpPr/>
          <p:nvPr/>
        </p:nvSpPr>
        <p:spPr>
          <a:xfrm>
            <a:off x="10351367" y="4587008"/>
            <a:ext cx="1554075"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cxnSp>
        <p:nvCxnSpPr>
          <p:cNvPr id="68" name="Connector: Elbow 67">
            <a:extLst>
              <a:ext uri="{FF2B5EF4-FFF2-40B4-BE49-F238E27FC236}">
                <a16:creationId xmlns:a16="http://schemas.microsoft.com/office/drawing/2014/main" id="{C0FD3DCC-31CA-A452-10B7-396F1C1F1B53}"/>
              </a:ext>
            </a:extLst>
          </p:cNvPr>
          <p:cNvCxnSpPr>
            <a:cxnSpLocks/>
            <a:stCxn id="61" idx="3"/>
            <a:endCxn id="47" idx="2"/>
          </p:cNvCxnSpPr>
          <p:nvPr/>
        </p:nvCxnSpPr>
        <p:spPr>
          <a:xfrm flipV="1">
            <a:off x="6006043" y="4161922"/>
            <a:ext cx="1604355" cy="1864891"/>
          </a:xfrm>
          <a:prstGeom prst="bentConnector2">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65" name="Text 63"/>
          <p:cNvSpPr/>
          <p:nvPr/>
        </p:nvSpPr>
        <p:spPr>
          <a:xfrm>
            <a:off x="10375737" y="4623574"/>
            <a:ext cx="1444376" cy="429656"/>
          </a:xfrm>
          <a:prstGeom prst="rect">
            <a:avLst/>
          </a:prstGeom>
          <a:noFill/>
          <a:ln/>
        </p:spPr>
        <p:txBody>
          <a:bodyPr wrap="square" lIns="0" tIns="0" rIns="0" bIns="0" rtlCol="0" anchor="ctr"/>
          <a:lstStyle/>
          <a:p>
            <a:pPr algn="ctr"/>
            <a:r>
              <a:rPr lang="en-US" sz="1400" b="1" dirty="0">
                <a:solidFill>
                  <a:srgbClr val="FFFF00"/>
                </a:solidFill>
                <a:latin typeface="Candara" panose="020E0502030303020204" pitchFamily="34" charset="0"/>
                <a:ea typeface="Calibri" pitchFamily="34" charset="-122"/>
                <a:cs typeface="Calibri" pitchFamily="34" charset="-120"/>
              </a:rPr>
              <a:t>SQL Server</a:t>
            </a:r>
            <a:endParaRPr lang="en-US" sz="1400" b="1" dirty="0">
              <a:solidFill>
                <a:srgbClr val="FFFF00"/>
              </a:solidFill>
              <a:latin typeface="Candara" panose="020E0502030303020204" pitchFamily="34" charset="0"/>
            </a:endParaRPr>
          </a:p>
        </p:txBody>
      </p:sp>
      <p:cxnSp>
        <p:nvCxnSpPr>
          <p:cNvPr id="92" name="Connector: Elbow 91">
            <a:extLst>
              <a:ext uri="{FF2B5EF4-FFF2-40B4-BE49-F238E27FC236}">
                <a16:creationId xmlns:a16="http://schemas.microsoft.com/office/drawing/2014/main" id="{609D8D8D-3039-15F4-7D4F-9402F6BA4E37}"/>
              </a:ext>
            </a:extLst>
          </p:cNvPr>
          <p:cNvCxnSpPr>
            <a:endCxn id="64" idx="2"/>
          </p:cNvCxnSpPr>
          <p:nvPr/>
        </p:nvCxnSpPr>
        <p:spPr>
          <a:xfrm flipV="1">
            <a:off x="9847808" y="5089797"/>
            <a:ext cx="1280597" cy="836457"/>
          </a:xfrm>
          <a:prstGeom prst="bentConnector2">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7AB37563-7569-444A-16FF-C05FD823FFB6}"/>
              </a:ext>
            </a:extLst>
          </p:cNvPr>
          <p:cNvCxnSpPr>
            <a:cxnSpLocks/>
            <a:stCxn id="49" idx="2"/>
            <a:endCxn id="58" idx="0"/>
          </p:cNvCxnSpPr>
          <p:nvPr/>
        </p:nvCxnSpPr>
        <p:spPr>
          <a:xfrm rot="5400000">
            <a:off x="8365724" y="4560726"/>
            <a:ext cx="1819182" cy="409086"/>
          </a:xfrm>
          <a:prstGeom prst="bentConnector3">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4A6EE4DA-84AD-A815-928B-2D0D1848F883}"/>
              </a:ext>
            </a:extLst>
          </p:cNvPr>
          <p:cNvCxnSpPr>
            <a:cxnSpLocks/>
            <a:endCxn id="45" idx="2"/>
          </p:cNvCxnSpPr>
          <p:nvPr/>
        </p:nvCxnSpPr>
        <p:spPr>
          <a:xfrm flipH="1" flipV="1">
            <a:off x="7610398" y="4161922"/>
            <a:ext cx="1074139" cy="676481"/>
          </a:xfrm>
          <a:prstGeom prst="bentConnector4">
            <a:avLst>
              <a:gd name="adj1" fmla="val -21282"/>
              <a:gd name="adj2" fmla="val 68581"/>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Shape 35">
            <a:extLst>
              <a:ext uri="{FF2B5EF4-FFF2-40B4-BE49-F238E27FC236}">
                <a16:creationId xmlns:a16="http://schemas.microsoft.com/office/drawing/2014/main" id="{766D3456-FCD0-C032-B4BC-AA3FDC6CFF4B}"/>
              </a:ext>
            </a:extLst>
          </p:cNvPr>
          <p:cNvSpPr/>
          <p:nvPr/>
        </p:nvSpPr>
        <p:spPr>
          <a:xfrm>
            <a:off x="6463124" y="4557822"/>
            <a:ext cx="2340255" cy="502789"/>
          </a:xfrm>
          <a:prstGeom prst="roundRect">
            <a:avLst>
              <a:gd name="adj" fmla="val 10909"/>
            </a:avLst>
          </a:prstGeom>
          <a:solidFill>
            <a:srgbClr val="0D2117"/>
          </a:solidFill>
          <a:ln w="15875">
            <a:solidFill>
              <a:srgbClr val="3ECF80"/>
            </a:solidFill>
            <a:prstDash val="solid"/>
          </a:ln>
        </p:spPr>
        <p:txBody>
          <a:bodyPr/>
          <a:lstStyle/>
          <a:p>
            <a:pPr algn="ctr"/>
            <a:endParaRPr lang="en-US" sz="1400" b="1" dirty="0">
              <a:solidFill>
                <a:srgbClr val="00B0F0"/>
              </a:solidFill>
              <a:latin typeface="Candara" panose="020E0502030303020204" pitchFamily="34" charset="0"/>
            </a:endParaRPr>
          </a:p>
        </p:txBody>
      </p:sp>
      <p:sp>
        <p:nvSpPr>
          <p:cNvPr id="103" name="Text 51">
            <a:extLst>
              <a:ext uri="{FF2B5EF4-FFF2-40B4-BE49-F238E27FC236}">
                <a16:creationId xmlns:a16="http://schemas.microsoft.com/office/drawing/2014/main" id="{3170471E-CF4F-AE1D-197E-5EB96B08784F}"/>
              </a:ext>
            </a:extLst>
          </p:cNvPr>
          <p:cNvSpPr/>
          <p:nvPr/>
        </p:nvSpPr>
        <p:spPr>
          <a:xfrm>
            <a:off x="6488264" y="4539527"/>
            <a:ext cx="2287689" cy="475364"/>
          </a:xfrm>
          <a:prstGeom prst="rect">
            <a:avLst/>
          </a:prstGeom>
          <a:noFill/>
          <a:ln/>
        </p:spPr>
        <p:txBody>
          <a:bodyPr wrap="square" lIns="0" tIns="0" rIns="0" bIns="0" rtlCol="0" anchor="ctr"/>
          <a:lstStyle/>
          <a:p>
            <a:pPr algn="ctr"/>
            <a:r>
              <a:rPr lang="en-US" sz="1400" b="1" dirty="0" err="1">
                <a:solidFill>
                  <a:srgbClr val="00B0F0"/>
                </a:solidFill>
                <a:latin typeface="Candara" panose="020E0502030303020204" pitchFamily="34" charset="0"/>
                <a:ea typeface="Calibri" pitchFamily="34" charset="-122"/>
                <a:cs typeface="Calibri" pitchFamily="34" charset="-120"/>
              </a:rPr>
              <a:t>SignalRNotificationServices</a:t>
            </a:r>
            <a:endParaRPr lang="en-US" sz="1400" b="1" dirty="0">
              <a:solidFill>
                <a:srgbClr val="00B0F0"/>
              </a:solidFill>
              <a:latin typeface="Candara" panose="020E05020303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080" y="110592"/>
            <a:ext cx="11244191" cy="411373"/>
          </a:xfrm>
          <a:prstGeom prst="rect">
            <a:avLst/>
          </a:prstGeom>
          <a:noFill/>
          <a:ln/>
        </p:spPr>
        <p:txBody>
          <a:bodyPr wrap="square" lIns="0" tIns="0" rIns="0" bIns="0" rtlCol="0" anchor="ctr"/>
          <a:lstStyle/>
          <a:p>
            <a:r>
              <a:rPr lang="en-US" sz="3200" b="1" dirty="0">
                <a:solidFill>
                  <a:srgbClr val="FFFFFF"/>
                </a:solidFill>
                <a:latin typeface="Candara" panose="020E0502030303020204" pitchFamily="34" charset="0"/>
                <a:ea typeface="Calibri" pitchFamily="34" charset="-122"/>
                <a:cs typeface="Calibri" pitchFamily="34" charset="-120"/>
              </a:rPr>
              <a:t>Database Schema Map</a:t>
            </a:r>
            <a:endParaRPr lang="en-US" sz="3200" dirty="0">
              <a:latin typeface="Candara" panose="020E0502030303020204" pitchFamily="34" charset="0"/>
            </a:endParaRPr>
          </a:p>
        </p:txBody>
      </p:sp>
      <p:sp>
        <p:nvSpPr>
          <p:cNvPr id="3" name="Text 1"/>
          <p:cNvSpPr/>
          <p:nvPr/>
        </p:nvSpPr>
        <p:spPr>
          <a:xfrm>
            <a:off x="457080" y="549390"/>
            <a:ext cx="11244191" cy="228540"/>
          </a:xfrm>
          <a:prstGeom prst="rect">
            <a:avLst/>
          </a:prstGeom>
          <a:noFill/>
          <a:ln/>
        </p:spPr>
        <p:txBody>
          <a:bodyPr wrap="square" lIns="0" tIns="0" rIns="0" bIns="0" rtlCol="0" anchor="ctr"/>
          <a:lstStyle/>
          <a:p>
            <a:r>
              <a:rPr lang="en-US" sz="1200" dirty="0">
                <a:solidFill>
                  <a:srgbClr val="7AB896"/>
                </a:solidFill>
                <a:latin typeface="Candara" panose="020E0502030303020204" pitchFamily="34" charset="0"/>
                <a:ea typeface="Calibri" pitchFamily="34" charset="-122"/>
                <a:cs typeface="Calibri" pitchFamily="34" charset="-120"/>
              </a:rPr>
              <a:t>11 tables  •  Devices = central hub  •  Key fields and relationships shown</a:t>
            </a:r>
            <a:endParaRPr lang="en-US" sz="1200" dirty="0">
              <a:latin typeface="Candara" panose="020E0502030303020204" pitchFamily="34" charset="0"/>
            </a:endParaRPr>
          </a:p>
        </p:txBody>
      </p:sp>
      <p:sp>
        <p:nvSpPr>
          <p:cNvPr id="4" name="Shape 2"/>
          <p:cNvSpPr/>
          <p:nvPr/>
        </p:nvSpPr>
        <p:spPr>
          <a:xfrm>
            <a:off x="2651069" y="2079339"/>
            <a:ext cx="2422529" cy="998981"/>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5" name="Shape 3"/>
          <p:cNvSpPr/>
          <p:nvPr/>
        </p:nvSpPr>
        <p:spPr>
          <a:xfrm flipV="1">
            <a:off x="2651069" y="3534459"/>
            <a:ext cx="2422529" cy="9989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6" name="Shape 4"/>
          <p:cNvSpPr/>
          <p:nvPr/>
        </p:nvSpPr>
        <p:spPr>
          <a:xfrm flipV="1">
            <a:off x="7084754" y="1888637"/>
            <a:ext cx="2559653" cy="1151844"/>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7" name="Shape 5"/>
          <p:cNvSpPr/>
          <p:nvPr/>
        </p:nvSpPr>
        <p:spPr>
          <a:xfrm flipV="1">
            <a:off x="7084754" y="3100816"/>
            <a:ext cx="2559653" cy="281562"/>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8" name="Shape 6"/>
          <p:cNvSpPr/>
          <p:nvPr/>
        </p:nvSpPr>
        <p:spPr>
          <a:xfrm>
            <a:off x="7084754" y="3704163"/>
            <a:ext cx="2559653" cy="537527"/>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9" name="Shape 7"/>
          <p:cNvSpPr/>
          <p:nvPr/>
        </p:nvSpPr>
        <p:spPr>
          <a:xfrm>
            <a:off x="7084754" y="4025947"/>
            <a:ext cx="2559653" cy="1356617"/>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0" name="Shape 8"/>
          <p:cNvSpPr/>
          <p:nvPr/>
        </p:nvSpPr>
        <p:spPr>
          <a:xfrm flipV="1">
            <a:off x="4316367" y="4059772"/>
            <a:ext cx="1148797" cy="106042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1" name="Shape 9"/>
          <p:cNvSpPr/>
          <p:nvPr/>
        </p:nvSpPr>
        <p:spPr>
          <a:xfrm flipV="1">
            <a:off x="5977475" y="4059772"/>
            <a:ext cx="66277" cy="106042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2" name="Shape 10"/>
          <p:cNvSpPr/>
          <p:nvPr/>
        </p:nvSpPr>
        <p:spPr>
          <a:xfrm>
            <a:off x="6610533" y="4059772"/>
            <a:ext cx="994151" cy="1060428"/>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3" name="Shape 11"/>
          <p:cNvSpPr/>
          <p:nvPr/>
        </p:nvSpPr>
        <p:spPr>
          <a:xfrm flipV="1">
            <a:off x="2651069" y="1461649"/>
            <a:ext cx="6993338" cy="177496"/>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4" name="Shape 12"/>
          <p:cNvSpPr/>
          <p:nvPr/>
        </p:nvSpPr>
        <p:spPr>
          <a:xfrm>
            <a:off x="2560069" y="2231448"/>
            <a:ext cx="4661395" cy="2888752"/>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5" name="Shape 13"/>
          <p:cNvSpPr/>
          <p:nvPr/>
        </p:nvSpPr>
        <p:spPr>
          <a:xfrm>
            <a:off x="2651069" y="2139382"/>
            <a:ext cx="6993338" cy="3301424"/>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6" name="Shape 14"/>
          <p:cNvSpPr/>
          <p:nvPr/>
        </p:nvSpPr>
        <p:spPr>
          <a:xfrm>
            <a:off x="1645491" y="2231448"/>
            <a:ext cx="0" cy="877595"/>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7" name="Shape 15"/>
          <p:cNvSpPr/>
          <p:nvPr/>
        </p:nvSpPr>
        <p:spPr>
          <a:xfrm>
            <a:off x="9141618" y="5778396"/>
            <a:ext cx="502789" cy="4570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8" name="Shape 16"/>
          <p:cNvSpPr/>
          <p:nvPr/>
        </p:nvSpPr>
        <p:spPr>
          <a:xfrm>
            <a:off x="2651069" y="4146521"/>
            <a:ext cx="2285405" cy="1069764"/>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9" name="Shape 17"/>
          <p:cNvSpPr/>
          <p:nvPr/>
        </p:nvSpPr>
        <p:spPr>
          <a:xfrm>
            <a:off x="5101023" y="2953636"/>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20" name="Shape 18"/>
          <p:cNvSpPr/>
          <p:nvPr/>
        </p:nvSpPr>
        <p:spPr>
          <a:xfrm>
            <a:off x="5073598" y="2926211"/>
            <a:ext cx="2011156" cy="1133561"/>
          </a:xfrm>
          <a:prstGeom prst="roundRect">
            <a:avLst>
              <a:gd name="adj" fmla="val 6452"/>
            </a:avLst>
          </a:prstGeom>
          <a:solidFill>
            <a:srgbClr val="112B1D"/>
          </a:solidFill>
          <a:ln w="19050">
            <a:solidFill>
              <a:srgbClr val="3ECF80"/>
            </a:solidFill>
            <a:prstDash val="solid"/>
          </a:ln>
        </p:spPr>
        <p:txBody>
          <a:bodyPr/>
          <a:lstStyle/>
          <a:p>
            <a:endParaRPr lang="en-US" sz="1799">
              <a:latin typeface="Candara" panose="020E0502030303020204" pitchFamily="34" charset="0"/>
            </a:endParaRPr>
          </a:p>
        </p:txBody>
      </p:sp>
      <p:sp>
        <p:nvSpPr>
          <p:cNvPr id="21" name="Shape 19"/>
          <p:cNvSpPr/>
          <p:nvPr/>
        </p:nvSpPr>
        <p:spPr>
          <a:xfrm>
            <a:off x="5073598" y="2999344"/>
            <a:ext cx="50279" cy="987295"/>
          </a:xfrm>
          <a:prstGeom prst="rect">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2" name="Shape 20"/>
          <p:cNvSpPr/>
          <p:nvPr/>
        </p:nvSpPr>
        <p:spPr>
          <a:xfrm>
            <a:off x="5073598" y="2926211"/>
            <a:ext cx="50279" cy="164549"/>
          </a:xfrm>
          <a:prstGeom prst="roundRect">
            <a:avLst>
              <a:gd name="adj" fmla="val 72727"/>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3" name="Shape 21"/>
          <p:cNvSpPr/>
          <p:nvPr/>
        </p:nvSpPr>
        <p:spPr>
          <a:xfrm>
            <a:off x="6581965" y="2981061"/>
            <a:ext cx="438798" cy="182832"/>
          </a:xfrm>
          <a:prstGeom prst="roundRect">
            <a:avLst>
              <a:gd name="adj" fmla="val 20000"/>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4" name="Text 22"/>
          <p:cNvSpPr/>
          <p:nvPr/>
        </p:nvSpPr>
        <p:spPr>
          <a:xfrm>
            <a:off x="6581965" y="2981061"/>
            <a:ext cx="438798" cy="182832"/>
          </a:xfrm>
          <a:prstGeom prst="rect">
            <a:avLst/>
          </a:prstGeom>
          <a:noFill/>
          <a:ln/>
        </p:spPr>
        <p:txBody>
          <a:bodyPr wrap="square" lIns="0" tIns="0" rIns="0" bIns="0" rtlCol="0" anchor="ctr"/>
          <a:lstStyle/>
          <a:p>
            <a:pPr algn="ctr"/>
            <a:r>
              <a:rPr lang="en-US" sz="800" b="1" kern="0" spc="300" dirty="0">
                <a:solidFill>
                  <a:srgbClr val="0D2117"/>
                </a:solidFill>
                <a:latin typeface="Candara" panose="020E0502030303020204" pitchFamily="34" charset="0"/>
                <a:ea typeface="Calibri" pitchFamily="34" charset="-122"/>
                <a:cs typeface="Calibri" pitchFamily="34" charset="-120"/>
              </a:rPr>
              <a:t>HUB</a:t>
            </a:r>
            <a:endParaRPr lang="en-US" sz="800" dirty="0">
              <a:latin typeface="Candara" panose="020E0502030303020204" pitchFamily="34" charset="0"/>
            </a:endParaRPr>
          </a:p>
        </p:txBody>
      </p:sp>
      <p:sp>
        <p:nvSpPr>
          <p:cNvPr id="25" name="Text 23"/>
          <p:cNvSpPr/>
          <p:nvPr/>
        </p:nvSpPr>
        <p:spPr>
          <a:xfrm>
            <a:off x="5219864" y="2944494"/>
            <a:ext cx="1810041" cy="237682"/>
          </a:xfrm>
          <a:prstGeom prst="rect">
            <a:avLst/>
          </a:prstGeom>
          <a:noFill/>
          <a:ln/>
        </p:spPr>
        <p:txBody>
          <a:bodyPr wrap="square" lIns="0" tIns="0" rIns="0" bIns="0" rtlCol="0" anchor="ctr"/>
          <a:lstStyle/>
          <a:p>
            <a:r>
              <a:rPr lang="en-US" sz="1300" b="1" dirty="0">
                <a:solidFill>
                  <a:srgbClr val="FFFFFF"/>
                </a:solidFill>
                <a:latin typeface="Candara" panose="020E0502030303020204" pitchFamily="34" charset="0"/>
                <a:ea typeface="Calibri" pitchFamily="34" charset="-122"/>
                <a:cs typeface="Calibri" pitchFamily="34" charset="-120"/>
              </a:rPr>
              <a:t>Devices</a:t>
            </a:r>
            <a:endParaRPr lang="en-US" sz="1300" dirty="0">
              <a:latin typeface="Candara" panose="020E0502030303020204" pitchFamily="34" charset="0"/>
            </a:endParaRPr>
          </a:p>
        </p:txBody>
      </p:sp>
      <p:sp>
        <p:nvSpPr>
          <p:cNvPr id="26" name="Text 24"/>
          <p:cNvSpPr/>
          <p:nvPr/>
        </p:nvSpPr>
        <p:spPr>
          <a:xfrm>
            <a:off x="5219864" y="3218743"/>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IoT equipment registry</a:t>
            </a:r>
            <a:endParaRPr lang="en-US" sz="850" dirty="0">
              <a:latin typeface="Candara" panose="020E0502030303020204" pitchFamily="34" charset="0"/>
            </a:endParaRPr>
          </a:p>
        </p:txBody>
      </p:sp>
      <p:sp>
        <p:nvSpPr>
          <p:cNvPr id="27" name="Shape 25"/>
          <p:cNvSpPr/>
          <p:nvPr/>
        </p:nvSpPr>
        <p:spPr>
          <a:xfrm>
            <a:off x="5201580" y="3401575"/>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28" name="Text 26"/>
          <p:cNvSpPr/>
          <p:nvPr/>
        </p:nvSpPr>
        <p:spPr>
          <a:xfrm>
            <a:off x="5219864" y="3438142"/>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29" name="Text 27"/>
          <p:cNvSpPr/>
          <p:nvPr/>
        </p:nvSpPr>
        <p:spPr>
          <a:xfrm>
            <a:off x="5512396" y="3438142"/>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30" name="Text 28"/>
          <p:cNvSpPr/>
          <p:nvPr/>
        </p:nvSpPr>
        <p:spPr>
          <a:xfrm>
            <a:off x="6517974" y="3438142"/>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31" name="Text 29"/>
          <p:cNvSpPr/>
          <p:nvPr/>
        </p:nvSpPr>
        <p:spPr>
          <a:xfrm>
            <a:off x="5512396" y="3579837"/>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DeviceName</a:t>
            </a:r>
            <a:endParaRPr lang="en-US" sz="850" dirty="0">
              <a:latin typeface="Candara" panose="020E0502030303020204" pitchFamily="34" charset="0"/>
            </a:endParaRPr>
          </a:p>
        </p:txBody>
      </p:sp>
      <p:sp>
        <p:nvSpPr>
          <p:cNvPr id="32" name="Text 30"/>
          <p:cNvSpPr/>
          <p:nvPr/>
        </p:nvSpPr>
        <p:spPr>
          <a:xfrm>
            <a:off x="6517974" y="357983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33" name="Text 31"/>
          <p:cNvSpPr/>
          <p:nvPr/>
        </p:nvSpPr>
        <p:spPr>
          <a:xfrm>
            <a:off x="5512396" y="3721532"/>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DeviceType</a:t>
            </a:r>
            <a:endParaRPr lang="en-US" sz="850" dirty="0">
              <a:latin typeface="Candara" panose="020E0502030303020204" pitchFamily="34" charset="0"/>
            </a:endParaRPr>
          </a:p>
        </p:txBody>
      </p:sp>
      <p:sp>
        <p:nvSpPr>
          <p:cNvPr id="34" name="Text 32"/>
          <p:cNvSpPr/>
          <p:nvPr/>
        </p:nvSpPr>
        <p:spPr>
          <a:xfrm>
            <a:off x="6517974" y="3721532"/>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35" name="Text 33"/>
          <p:cNvSpPr/>
          <p:nvPr/>
        </p:nvSpPr>
        <p:spPr>
          <a:xfrm>
            <a:off x="5512396" y="3863227"/>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IsActive</a:t>
            </a:r>
            <a:endParaRPr lang="en-US" sz="850" dirty="0">
              <a:latin typeface="Candara" panose="020E0502030303020204" pitchFamily="34" charset="0"/>
            </a:endParaRPr>
          </a:p>
        </p:txBody>
      </p:sp>
      <p:sp>
        <p:nvSpPr>
          <p:cNvPr id="36" name="Text 34"/>
          <p:cNvSpPr/>
          <p:nvPr/>
        </p:nvSpPr>
        <p:spPr>
          <a:xfrm>
            <a:off x="6517974" y="386322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bool</a:t>
            </a:r>
            <a:endParaRPr lang="en-US" sz="750" dirty="0">
              <a:latin typeface="Candara" panose="020E0502030303020204" pitchFamily="34" charset="0"/>
            </a:endParaRPr>
          </a:p>
        </p:txBody>
      </p:sp>
      <p:sp>
        <p:nvSpPr>
          <p:cNvPr id="37" name="Shape 35"/>
          <p:cNvSpPr/>
          <p:nvPr/>
        </p:nvSpPr>
        <p:spPr>
          <a:xfrm>
            <a:off x="667338" y="1125312"/>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38" name="Shape 36"/>
          <p:cNvSpPr/>
          <p:nvPr/>
        </p:nvSpPr>
        <p:spPr>
          <a:xfrm>
            <a:off x="639913" y="1097887"/>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39" name="Shape 37"/>
          <p:cNvSpPr/>
          <p:nvPr/>
        </p:nvSpPr>
        <p:spPr>
          <a:xfrm>
            <a:off x="639913" y="1171020"/>
            <a:ext cx="50279" cy="987295"/>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40" name="Shape 38"/>
          <p:cNvSpPr/>
          <p:nvPr/>
        </p:nvSpPr>
        <p:spPr>
          <a:xfrm>
            <a:off x="639913" y="1097887"/>
            <a:ext cx="50279" cy="164549"/>
          </a:xfrm>
          <a:prstGeom prst="roundRect">
            <a:avLst>
              <a:gd name="adj" fmla="val 72727"/>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41" name="Text 39"/>
          <p:cNvSpPr/>
          <p:nvPr/>
        </p:nvSpPr>
        <p:spPr>
          <a:xfrm>
            <a:off x="786178" y="1116171"/>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Sensors</a:t>
            </a:r>
            <a:endParaRPr lang="en-US" sz="1100" dirty="0">
              <a:latin typeface="Candara" panose="020E0502030303020204" pitchFamily="34" charset="0"/>
            </a:endParaRPr>
          </a:p>
        </p:txBody>
      </p:sp>
      <p:sp>
        <p:nvSpPr>
          <p:cNvPr id="42" name="Text 40"/>
          <p:cNvSpPr/>
          <p:nvPr/>
        </p:nvSpPr>
        <p:spPr>
          <a:xfrm>
            <a:off x="786178" y="1390419"/>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Inputs on each device</a:t>
            </a:r>
            <a:endParaRPr lang="en-US" sz="850" dirty="0">
              <a:latin typeface="Candara" panose="020E0502030303020204" pitchFamily="34" charset="0"/>
            </a:endParaRPr>
          </a:p>
        </p:txBody>
      </p:sp>
      <p:sp>
        <p:nvSpPr>
          <p:cNvPr id="43" name="Shape 41"/>
          <p:cNvSpPr/>
          <p:nvPr/>
        </p:nvSpPr>
        <p:spPr>
          <a:xfrm>
            <a:off x="767895" y="1573251"/>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44" name="Text 42"/>
          <p:cNvSpPr/>
          <p:nvPr/>
        </p:nvSpPr>
        <p:spPr>
          <a:xfrm>
            <a:off x="786178" y="1609818"/>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45" name="Text 43"/>
          <p:cNvSpPr/>
          <p:nvPr/>
        </p:nvSpPr>
        <p:spPr>
          <a:xfrm>
            <a:off x="1078711" y="1609818"/>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46" name="Text 44"/>
          <p:cNvSpPr/>
          <p:nvPr/>
        </p:nvSpPr>
        <p:spPr>
          <a:xfrm>
            <a:off x="2084289" y="160981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47" name="Text 45"/>
          <p:cNvSpPr/>
          <p:nvPr/>
        </p:nvSpPr>
        <p:spPr>
          <a:xfrm>
            <a:off x="786178" y="1751513"/>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48" name="Text 46"/>
          <p:cNvSpPr/>
          <p:nvPr/>
        </p:nvSpPr>
        <p:spPr>
          <a:xfrm>
            <a:off x="1078711" y="1751513"/>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49" name="Text 47"/>
          <p:cNvSpPr/>
          <p:nvPr/>
        </p:nvSpPr>
        <p:spPr>
          <a:xfrm>
            <a:off x="2084289" y="175151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50" name="Text 48"/>
          <p:cNvSpPr/>
          <p:nvPr/>
        </p:nvSpPr>
        <p:spPr>
          <a:xfrm>
            <a:off x="1078711" y="1893208"/>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SensorName</a:t>
            </a:r>
            <a:endParaRPr lang="en-US" sz="850" dirty="0">
              <a:latin typeface="Candara" panose="020E0502030303020204" pitchFamily="34" charset="0"/>
            </a:endParaRPr>
          </a:p>
        </p:txBody>
      </p:sp>
      <p:sp>
        <p:nvSpPr>
          <p:cNvPr id="51" name="Text 49"/>
          <p:cNvSpPr/>
          <p:nvPr/>
        </p:nvSpPr>
        <p:spPr>
          <a:xfrm>
            <a:off x="2084289" y="189320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52" name="Text 50"/>
          <p:cNvSpPr/>
          <p:nvPr/>
        </p:nvSpPr>
        <p:spPr>
          <a:xfrm>
            <a:off x="1078711" y="2034903"/>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SensorType</a:t>
            </a:r>
            <a:endParaRPr lang="en-US" sz="850" dirty="0">
              <a:latin typeface="Candara" panose="020E0502030303020204" pitchFamily="34" charset="0"/>
            </a:endParaRPr>
          </a:p>
        </p:txBody>
      </p:sp>
      <p:sp>
        <p:nvSpPr>
          <p:cNvPr id="53" name="Text 51"/>
          <p:cNvSpPr/>
          <p:nvPr/>
        </p:nvSpPr>
        <p:spPr>
          <a:xfrm>
            <a:off x="2084289" y="203490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54" name="Shape 52"/>
          <p:cNvSpPr/>
          <p:nvPr/>
        </p:nvSpPr>
        <p:spPr>
          <a:xfrm>
            <a:off x="667338" y="3136468"/>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55" name="Shape 53"/>
          <p:cNvSpPr/>
          <p:nvPr/>
        </p:nvSpPr>
        <p:spPr>
          <a:xfrm>
            <a:off x="639913" y="3109043"/>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56" name="Shape 54"/>
          <p:cNvSpPr/>
          <p:nvPr/>
        </p:nvSpPr>
        <p:spPr>
          <a:xfrm>
            <a:off x="639913" y="3182176"/>
            <a:ext cx="50279" cy="987295"/>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57" name="Shape 55"/>
          <p:cNvSpPr/>
          <p:nvPr/>
        </p:nvSpPr>
        <p:spPr>
          <a:xfrm>
            <a:off x="639913" y="3109043"/>
            <a:ext cx="50279" cy="164549"/>
          </a:xfrm>
          <a:prstGeom prst="roundRect">
            <a:avLst>
              <a:gd name="adj" fmla="val 72727"/>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58" name="Text 56"/>
          <p:cNvSpPr/>
          <p:nvPr/>
        </p:nvSpPr>
        <p:spPr>
          <a:xfrm>
            <a:off x="786178" y="3127327"/>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Actuators</a:t>
            </a:r>
            <a:endParaRPr lang="en-US" sz="1100" dirty="0">
              <a:latin typeface="Candara" panose="020E0502030303020204" pitchFamily="34" charset="0"/>
            </a:endParaRPr>
          </a:p>
        </p:txBody>
      </p:sp>
      <p:sp>
        <p:nvSpPr>
          <p:cNvPr id="59" name="Text 57"/>
          <p:cNvSpPr/>
          <p:nvPr/>
        </p:nvSpPr>
        <p:spPr>
          <a:xfrm>
            <a:off x="786178" y="3401575"/>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Controllable outputs</a:t>
            </a:r>
            <a:endParaRPr lang="en-US" sz="850" dirty="0">
              <a:latin typeface="Candara" panose="020E0502030303020204" pitchFamily="34" charset="0"/>
            </a:endParaRPr>
          </a:p>
        </p:txBody>
      </p:sp>
      <p:sp>
        <p:nvSpPr>
          <p:cNvPr id="60" name="Shape 58"/>
          <p:cNvSpPr/>
          <p:nvPr/>
        </p:nvSpPr>
        <p:spPr>
          <a:xfrm>
            <a:off x="767895" y="3584408"/>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61" name="Text 59"/>
          <p:cNvSpPr/>
          <p:nvPr/>
        </p:nvSpPr>
        <p:spPr>
          <a:xfrm>
            <a:off x="786178" y="3620974"/>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62" name="Text 60"/>
          <p:cNvSpPr/>
          <p:nvPr/>
        </p:nvSpPr>
        <p:spPr>
          <a:xfrm>
            <a:off x="1078711" y="3620974"/>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ActuatorId</a:t>
            </a:r>
            <a:endParaRPr lang="en-US" sz="850" dirty="0">
              <a:latin typeface="Candara" panose="020E0502030303020204" pitchFamily="34" charset="0"/>
            </a:endParaRPr>
          </a:p>
        </p:txBody>
      </p:sp>
      <p:sp>
        <p:nvSpPr>
          <p:cNvPr id="63" name="Text 61"/>
          <p:cNvSpPr/>
          <p:nvPr/>
        </p:nvSpPr>
        <p:spPr>
          <a:xfrm>
            <a:off x="2084289" y="3620974"/>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64" name="Text 62"/>
          <p:cNvSpPr/>
          <p:nvPr/>
        </p:nvSpPr>
        <p:spPr>
          <a:xfrm>
            <a:off x="786178" y="3762669"/>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65" name="Text 63"/>
          <p:cNvSpPr/>
          <p:nvPr/>
        </p:nvSpPr>
        <p:spPr>
          <a:xfrm>
            <a:off x="1078711" y="3762669"/>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66" name="Text 64"/>
          <p:cNvSpPr/>
          <p:nvPr/>
        </p:nvSpPr>
        <p:spPr>
          <a:xfrm>
            <a:off x="2084289" y="3762669"/>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67" name="Text 65"/>
          <p:cNvSpPr/>
          <p:nvPr/>
        </p:nvSpPr>
        <p:spPr>
          <a:xfrm>
            <a:off x="786178" y="3904364"/>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68" name="Text 66"/>
          <p:cNvSpPr/>
          <p:nvPr/>
        </p:nvSpPr>
        <p:spPr>
          <a:xfrm>
            <a:off x="1078711" y="3904364"/>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FeedbackSensorId</a:t>
            </a:r>
            <a:endParaRPr lang="en-US" sz="850" dirty="0">
              <a:latin typeface="Candara" panose="020E0502030303020204" pitchFamily="34" charset="0"/>
            </a:endParaRPr>
          </a:p>
        </p:txBody>
      </p:sp>
      <p:sp>
        <p:nvSpPr>
          <p:cNvPr id="69" name="Text 67"/>
          <p:cNvSpPr/>
          <p:nvPr/>
        </p:nvSpPr>
        <p:spPr>
          <a:xfrm>
            <a:off x="2084289" y="3904364"/>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70" name="Text 68"/>
          <p:cNvSpPr/>
          <p:nvPr/>
        </p:nvSpPr>
        <p:spPr>
          <a:xfrm>
            <a:off x="1078711" y="4046059"/>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Kind</a:t>
            </a:r>
            <a:endParaRPr lang="en-US" sz="850" dirty="0">
              <a:latin typeface="Candara" panose="020E0502030303020204" pitchFamily="34" charset="0"/>
            </a:endParaRPr>
          </a:p>
        </p:txBody>
      </p:sp>
      <p:sp>
        <p:nvSpPr>
          <p:cNvPr id="71" name="Text 69"/>
          <p:cNvSpPr/>
          <p:nvPr/>
        </p:nvSpPr>
        <p:spPr>
          <a:xfrm>
            <a:off x="2084289" y="4046059"/>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string(20)</a:t>
            </a:r>
            <a:endParaRPr lang="en-US" sz="750" dirty="0">
              <a:latin typeface="Candara" panose="020E0502030303020204" pitchFamily="34" charset="0"/>
            </a:endParaRPr>
          </a:p>
        </p:txBody>
      </p:sp>
      <p:sp>
        <p:nvSpPr>
          <p:cNvPr id="72" name="Shape 70"/>
          <p:cNvSpPr/>
          <p:nvPr/>
        </p:nvSpPr>
        <p:spPr>
          <a:xfrm>
            <a:off x="667338" y="5147624"/>
            <a:ext cx="2011156" cy="1334676"/>
          </a:xfrm>
          <a:prstGeom prst="roundRect">
            <a:avLst>
              <a:gd name="adj" fmla="val 5479"/>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73" name="Shape 71"/>
          <p:cNvSpPr/>
          <p:nvPr/>
        </p:nvSpPr>
        <p:spPr>
          <a:xfrm>
            <a:off x="639913" y="5120200"/>
            <a:ext cx="2011156" cy="1334676"/>
          </a:xfrm>
          <a:prstGeom prst="roundRect">
            <a:avLst>
              <a:gd name="adj" fmla="val 5479"/>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74" name="Shape 72"/>
          <p:cNvSpPr/>
          <p:nvPr/>
        </p:nvSpPr>
        <p:spPr>
          <a:xfrm>
            <a:off x="639913" y="5193333"/>
            <a:ext cx="50279" cy="1188410"/>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75" name="Shape 73"/>
          <p:cNvSpPr/>
          <p:nvPr/>
        </p:nvSpPr>
        <p:spPr>
          <a:xfrm>
            <a:off x="639913" y="5120200"/>
            <a:ext cx="50279" cy="164549"/>
          </a:xfrm>
          <a:prstGeom prst="roundRect">
            <a:avLst>
              <a:gd name="adj" fmla="val 72727"/>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76" name="Text 74"/>
          <p:cNvSpPr/>
          <p:nvPr/>
        </p:nvSpPr>
        <p:spPr>
          <a:xfrm>
            <a:off x="786178"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Users</a:t>
            </a:r>
            <a:endParaRPr lang="en-US" sz="1100" dirty="0">
              <a:latin typeface="Candara" panose="020E0502030303020204" pitchFamily="34" charset="0"/>
            </a:endParaRPr>
          </a:p>
        </p:txBody>
      </p:sp>
      <p:sp>
        <p:nvSpPr>
          <p:cNvPr id="77" name="Text 75"/>
          <p:cNvSpPr/>
          <p:nvPr/>
        </p:nvSpPr>
        <p:spPr>
          <a:xfrm>
            <a:off x="786178"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App login and roles</a:t>
            </a:r>
            <a:endParaRPr lang="en-US" sz="850" dirty="0">
              <a:latin typeface="Candara" panose="020E0502030303020204" pitchFamily="34" charset="0"/>
            </a:endParaRPr>
          </a:p>
        </p:txBody>
      </p:sp>
      <p:sp>
        <p:nvSpPr>
          <p:cNvPr id="78" name="Shape 76"/>
          <p:cNvSpPr/>
          <p:nvPr/>
        </p:nvSpPr>
        <p:spPr>
          <a:xfrm>
            <a:off x="767895"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79" name="Text 77"/>
          <p:cNvSpPr/>
          <p:nvPr/>
        </p:nvSpPr>
        <p:spPr>
          <a:xfrm>
            <a:off x="786178"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80" name="Text 78"/>
          <p:cNvSpPr/>
          <p:nvPr/>
        </p:nvSpPr>
        <p:spPr>
          <a:xfrm>
            <a:off x="1078711"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UserId</a:t>
            </a:r>
            <a:endParaRPr lang="en-US" sz="850" dirty="0">
              <a:latin typeface="Candara" panose="020E0502030303020204" pitchFamily="34" charset="0"/>
            </a:endParaRPr>
          </a:p>
        </p:txBody>
      </p:sp>
      <p:sp>
        <p:nvSpPr>
          <p:cNvPr id="81" name="Text 79"/>
          <p:cNvSpPr/>
          <p:nvPr/>
        </p:nvSpPr>
        <p:spPr>
          <a:xfrm>
            <a:off x="2084289"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82" name="Text 80"/>
          <p:cNvSpPr/>
          <p:nvPr/>
        </p:nvSpPr>
        <p:spPr>
          <a:xfrm>
            <a:off x="1078711" y="577382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Username</a:t>
            </a:r>
            <a:endParaRPr lang="en-US" sz="850" dirty="0">
              <a:latin typeface="Candara" panose="020E0502030303020204" pitchFamily="34" charset="0"/>
            </a:endParaRPr>
          </a:p>
        </p:txBody>
      </p:sp>
      <p:sp>
        <p:nvSpPr>
          <p:cNvPr id="83" name="Text 81"/>
          <p:cNvSpPr/>
          <p:nvPr/>
        </p:nvSpPr>
        <p:spPr>
          <a:xfrm>
            <a:off x="2084289"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84" name="Text 82"/>
          <p:cNvSpPr/>
          <p:nvPr/>
        </p:nvSpPr>
        <p:spPr>
          <a:xfrm>
            <a:off x="1078711" y="5915520"/>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Role</a:t>
            </a:r>
            <a:endParaRPr lang="en-US" sz="850" dirty="0">
              <a:latin typeface="Candara" panose="020E0502030303020204" pitchFamily="34" charset="0"/>
            </a:endParaRPr>
          </a:p>
        </p:txBody>
      </p:sp>
      <p:sp>
        <p:nvSpPr>
          <p:cNvPr id="85" name="Text 83"/>
          <p:cNvSpPr/>
          <p:nvPr/>
        </p:nvSpPr>
        <p:spPr>
          <a:xfrm>
            <a:off x="2084289"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string(20)</a:t>
            </a:r>
            <a:endParaRPr lang="en-US" sz="750" dirty="0">
              <a:latin typeface="Candara" panose="020E0502030303020204" pitchFamily="34" charset="0"/>
            </a:endParaRPr>
          </a:p>
        </p:txBody>
      </p:sp>
      <p:sp>
        <p:nvSpPr>
          <p:cNvPr id="86" name="Text 84"/>
          <p:cNvSpPr/>
          <p:nvPr/>
        </p:nvSpPr>
        <p:spPr>
          <a:xfrm>
            <a:off x="1078711"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IsActive</a:t>
            </a:r>
            <a:endParaRPr lang="en-US" sz="850" dirty="0">
              <a:latin typeface="Candara" panose="020E0502030303020204" pitchFamily="34" charset="0"/>
            </a:endParaRPr>
          </a:p>
        </p:txBody>
      </p:sp>
      <p:sp>
        <p:nvSpPr>
          <p:cNvPr id="87" name="Text 85"/>
          <p:cNvSpPr/>
          <p:nvPr/>
        </p:nvSpPr>
        <p:spPr>
          <a:xfrm>
            <a:off x="2084289"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bool</a:t>
            </a:r>
            <a:endParaRPr lang="en-US" sz="750" dirty="0">
              <a:latin typeface="Candara" panose="020E0502030303020204" pitchFamily="34" charset="0"/>
            </a:endParaRPr>
          </a:p>
        </p:txBody>
      </p:sp>
      <p:sp>
        <p:nvSpPr>
          <p:cNvPr id="88" name="Text 86"/>
          <p:cNvSpPr/>
          <p:nvPr/>
        </p:nvSpPr>
        <p:spPr>
          <a:xfrm>
            <a:off x="786178" y="6253760"/>
            <a:ext cx="1810041" cy="164549"/>
          </a:xfrm>
          <a:prstGeom prst="rect">
            <a:avLst/>
          </a:prstGeom>
          <a:noFill/>
          <a:ln/>
        </p:spPr>
        <p:txBody>
          <a:bodyPr wrap="square" lIns="0" tIns="0" rIns="0" bIns="0" rtlCol="0" anchor="ctr"/>
          <a:lstStyle/>
          <a:p>
            <a:r>
              <a:rPr lang="en-US" sz="700" i="1" dirty="0">
                <a:solidFill>
                  <a:srgbClr val="7AB896"/>
                </a:solidFill>
                <a:latin typeface="Candara" panose="020E0502030303020204" pitchFamily="34" charset="0"/>
                <a:ea typeface="Calibri" pitchFamily="34" charset="-122"/>
                <a:cs typeface="Calibri" pitchFamily="34" charset="-120"/>
              </a:rPr>
              <a:t>⊘  standalone — no FK links</a:t>
            </a:r>
            <a:endParaRPr lang="en-US" sz="700" dirty="0">
              <a:latin typeface="Candara" panose="020E0502030303020204" pitchFamily="34" charset="0"/>
            </a:endParaRPr>
          </a:p>
        </p:txBody>
      </p:sp>
      <p:sp>
        <p:nvSpPr>
          <p:cNvPr id="89" name="Shape 87"/>
          <p:cNvSpPr/>
          <p:nvPr/>
        </p:nvSpPr>
        <p:spPr>
          <a:xfrm>
            <a:off x="9671832" y="896771"/>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90" name="Shape 88"/>
          <p:cNvSpPr/>
          <p:nvPr/>
        </p:nvSpPr>
        <p:spPr>
          <a:xfrm>
            <a:off x="9644407" y="869347"/>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91" name="Shape 89"/>
          <p:cNvSpPr/>
          <p:nvPr/>
        </p:nvSpPr>
        <p:spPr>
          <a:xfrm>
            <a:off x="9644407" y="942480"/>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92" name="Shape 90"/>
          <p:cNvSpPr/>
          <p:nvPr/>
        </p:nvSpPr>
        <p:spPr>
          <a:xfrm>
            <a:off x="9644407" y="869347"/>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93" name="Text 91"/>
          <p:cNvSpPr/>
          <p:nvPr/>
        </p:nvSpPr>
        <p:spPr>
          <a:xfrm>
            <a:off x="9790673" y="887630"/>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SensorReadings</a:t>
            </a:r>
            <a:endParaRPr lang="en-US" sz="1100" dirty="0">
              <a:latin typeface="Candara" panose="020E0502030303020204" pitchFamily="34" charset="0"/>
            </a:endParaRPr>
          </a:p>
        </p:txBody>
      </p:sp>
      <p:sp>
        <p:nvSpPr>
          <p:cNvPr id="94" name="Text 92"/>
          <p:cNvSpPr/>
          <p:nvPr/>
        </p:nvSpPr>
        <p:spPr>
          <a:xfrm>
            <a:off x="9790673" y="1161879"/>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Raw measurements over time</a:t>
            </a:r>
            <a:endParaRPr lang="en-US" sz="850" dirty="0">
              <a:latin typeface="Candara" panose="020E0502030303020204" pitchFamily="34" charset="0"/>
            </a:endParaRPr>
          </a:p>
        </p:txBody>
      </p:sp>
      <p:sp>
        <p:nvSpPr>
          <p:cNvPr id="95" name="Shape 93"/>
          <p:cNvSpPr/>
          <p:nvPr/>
        </p:nvSpPr>
        <p:spPr>
          <a:xfrm>
            <a:off x="9772390" y="1344711"/>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96" name="Text 94"/>
          <p:cNvSpPr/>
          <p:nvPr/>
        </p:nvSpPr>
        <p:spPr>
          <a:xfrm>
            <a:off x="9790673" y="1381277"/>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97" name="Text 95"/>
          <p:cNvSpPr/>
          <p:nvPr/>
        </p:nvSpPr>
        <p:spPr>
          <a:xfrm>
            <a:off x="10083205" y="1381277"/>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ReadingId</a:t>
            </a:r>
            <a:endParaRPr lang="en-US" sz="850" dirty="0">
              <a:latin typeface="Candara" panose="020E0502030303020204" pitchFamily="34" charset="0"/>
            </a:endParaRPr>
          </a:p>
        </p:txBody>
      </p:sp>
      <p:sp>
        <p:nvSpPr>
          <p:cNvPr id="98" name="Text 96"/>
          <p:cNvSpPr/>
          <p:nvPr/>
        </p:nvSpPr>
        <p:spPr>
          <a:xfrm>
            <a:off x="11088783" y="138127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99" name="Text 97"/>
          <p:cNvSpPr/>
          <p:nvPr/>
        </p:nvSpPr>
        <p:spPr>
          <a:xfrm>
            <a:off x="9790673" y="1522973"/>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00" name="Text 98"/>
          <p:cNvSpPr/>
          <p:nvPr/>
        </p:nvSpPr>
        <p:spPr>
          <a:xfrm>
            <a:off x="10083205" y="1522973"/>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01" name="Text 99"/>
          <p:cNvSpPr/>
          <p:nvPr/>
        </p:nvSpPr>
        <p:spPr>
          <a:xfrm>
            <a:off x="11088783" y="152297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02" name="Text 100"/>
          <p:cNvSpPr/>
          <p:nvPr/>
        </p:nvSpPr>
        <p:spPr>
          <a:xfrm>
            <a:off x="9790673" y="1664668"/>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03" name="Text 101"/>
          <p:cNvSpPr/>
          <p:nvPr/>
        </p:nvSpPr>
        <p:spPr>
          <a:xfrm>
            <a:off x="10083205" y="1664668"/>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104" name="Text 102"/>
          <p:cNvSpPr/>
          <p:nvPr/>
        </p:nvSpPr>
        <p:spPr>
          <a:xfrm>
            <a:off x="11088783" y="166466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05" name="Text 103"/>
          <p:cNvSpPr/>
          <p:nvPr/>
        </p:nvSpPr>
        <p:spPr>
          <a:xfrm>
            <a:off x="10083205" y="1806363"/>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Value</a:t>
            </a:r>
            <a:endParaRPr lang="en-US" sz="850" dirty="0">
              <a:latin typeface="Candara" panose="020E0502030303020204" pitchFamily="34" charset="0"/>
            </a:endParaRPr>
          </a:p>
        </p:txBody>
      </p:sp>
      <p:sp>
        <p:nvSpPr>
          <p:cNvPr id="106" name="Text 104"/>
          <p:cNvSpPr/>
          <p:nvPr/>
        </p:nvSpPr>
        <p:spPr>
          <a:xfrm>
            <a:off x="11088783" y="180636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dec(18,4)</a:t>
            </a:r>
            <a:endParaRPr lang="en-US" sz="750" dirty="0">
              <a:latin typeface="Candara" panose="020E0502030303020204" pitchFamily="34" charset="0"/>
            </a:endParaRPr>
          </a:p>
        </p:txBody>
      </p:sp>
      <p:sp>
        <p:nvSpPr>
          <p:cNvPr id="107" name="Shape 105"/>
          <p:cNvSpPr/>
          <p:nvPr/>
        </p:nvSpPr>
        <p:spPr>
          <a:xfrm>
            <a:off x="9671832" y="2450847"/>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08" name="Shape 106"/>
          <p:cNvSpPr/>
          <p:nvPr/>
        </p:nvSpPr>
        <p:spPr>
          <a:xfrm>
            <a:off x="9644407" y="2423422"/>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09" name="Shape 107"/>
          <p:cNvSpPr/>
          <p:nvPr/>
        </p:nvSpPr>
        <p:spPr>
          <a:xfrm>
            <a:off x="9644407" y="2496555"/>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10" name="Shape 108"/>
          <p:cNvSpPr/>
          <p:nvPr/>
        </p:nvSpPr>
        <p:spPr>
          <a:xfrm>
            <a:off x="9644407" y="2423422"/>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11" name="Text 109"/>
          <p:cNvSpPr/>
          <p:nvPr/>
        </p:nvSpPr>
        <p:spPr>
          <a:xfrm>
            <a:off x="9790673" y="2441705"/>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DeviceStatusHistories</a:t>
            </a:r>
            <a:endParaRPr lang="en-US" sz="1100" dirty="0">
              <a:latin typeface="Candara" panose="020E0502030303020204" pitchFamily="34" charset="0"/>
            </a:endParaRPr>
          </a:p>
        </p:txBody>
      </p:sp>
      <p:sp>
        <p:nvSpPr>
          <p:cNvPr id="112" name="Text 110"/>
          <p:cNvSpPr/>
          <p:nvPr/>
        </p:nvSpPr>
        <p:spPr>
          <a:xfrm>
            <a:off x="9790673" y="2715954"/>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Device status change log</a:t>
            </a:r>
            <a:endParaRPr lang="en-US" sz="850" dirty="0">
              <a:latin typeface="Candara" panose="020E0502030303020204" pitchFamily="34" charset="0"/>
            </a:endParaRPr>
          </a:p>
        </p:txBody>
      </p:sp>
      <p:sp>
        <p:nvSpPr>
          <p:cNvPr id="113" name="Shape 111"/>
          <p:cNvSpPr/>
          <p:nvPr/>
        </p:nvSpPr>
        <p:spPr>
          <a:xfrm>
            <a:off x="9772390" y="2898786"/>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14" name="Text 112"/>
          <p:cNvSpPr/>
          <p:nvPr/>
        </p:nvSpPr>
        <p:spPr>
          <a:xfrm>
            <a:off x="9790673" y="2935353"/>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15" name="Text 113"/>
          <p:cNvSpPr/>
          <p:nvPr/>
        </p:nvSpPr>
        <p:spPr>
          <a:xfrm>
            <a:off x="10083205" y="2935353"/>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StatusHistoryId</a:t>
            </a:r>
            <a:endParaRPr lang="en-US" sz="850" dirty="0">
              <a:latin typeface="Candara" panose="020E0502030303020204" pitchFamily="34" charset="0"/>
            </a:endParaRPr>
          </a:p>
        </p:txBody>
      </p:sp>
      <p:sp>
        <p:nvSpPr>
          <p:cNvPr id="116" name="Text 114"/>
          <p:cNvSpPr/>
          <p:nvPr/>
        </p:nvSpPr>
        <p:spPr>
          <a:xfrm>
            <a:off x="11088783" y="293535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117" name="Text 115"/>
          <p:cNvSpPr/>
          <p:nvPr/>
        </p:nvSpPr>
        <p:spPr>
          <a:xfrm>
            <a:off x="9790673" y="3077048"/>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18" name="Text 116"/>
          <p:cNvSpPr/>
          <p:nvPr/>
        </p:nvSpPr>
        <p:spPr>
          <a:xfrm>
            <a:off x="10083205" y="3077048"/>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19" name="Text 117"/>
          <p:cNvSpPr/>
          <p:nvPr/>
        </p:nvSpPr>
        <p:spPr>
          <a:xfrm>
            <a:off x="11088783" y="307704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20" name="Text 118"/>
          <p:cNvSpPr/>
          <p:nvPr/>
        </p:nvSpPr>
        <p:spPr>
          <a:xfrm>
            <a:off x="10083205" y="3218743"/>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Status</a:t>
            </a:r>
            <a:endParaRPr lang="en-US" sz="850" dirty="0">
              <a:latin typeface="Candara" panose="020E0502030303020204" pitchFamily="34" charset="0"/>
            </a:endParaRPr>
          </a:p>
        </p:txBody>
      </p:sp>
      <p:sp>
        <p:nvSpPr>
          <p:cNvPr id="121" name="Text 119"/>
          <p:cNvSpPr/>
          <p:nvPr/>
        </p:nvSpPr>
        <p:spPr>
          <a:xfrm>
            <a:off x="11088783" y="321874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122" name="Text 120"/>
          <p:cNvSpPr/>
          <p:nvPr/>
        </p:nvSpPr>
        <p:spPr>
          <a:xfrm>
            <a:off x="10083205" y="3360438"/>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Timestamp</a:t>
            </a:r>
            <a:endParaRPr lang="en-US" sz="850" dirty="0">
              <a:latin typeface="Candara" panose="020E0502030303020204" pitchFamily="34" charset="0"/>
            </a:endParaRPr>
          </a:p>
        </p:txBody>
      </p:sp>
      <p:sp>
        <p:nvSpPr>
          <p:cNvPr id="123" name="Text 121"/>
          <p:cNvSpPr/>
          <p:nvPr/>
        </p:nvSpPr>
        <p:spPr>
          <a:xfrm>
            <a:off x="11088783" y="336043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DateTime</a:t>
            </a:r>
            <a:endParaRPr lang="en-US" sz="750" dirty="0">
              <a:latin typeface="Candara" panose="020E0502030303020204" pitchFamily="34" charset="0"/>
            </a:endParaRPr>
          </a:p>
        </p:txBody>
      </p:sp>
      <p:sp>
        <p:nvSpPr>
          <p:cNvPr id="124" name="Shape 122"/>
          <p:cNvSpPr/>
          <p:nvPr/>
        </p:nvSpPr>
        <p:spPr>
          <a:xfrm>
            <a:off x="9671832" y="3913506"/>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25" name="Shape 123"/>
          <p:cNvSpPr/>
          <p:nvPr/>
        </p:nvSpPr>
        <p:spPr>
          <a:xfrm>
            <a:off x="9644407" y="3886081"/>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26" name="Shape 124"/>
          <p:cNvSpPr/>
          <p:nvPr/>
        </p:nvSpPr>
        <p:spPr>
          <a:xfrm>
            <a:off x="9644407" y="3959214"/>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27" name="Shape 125"/>
          <p:cNvSpPr/>
          <p:nvPr/>
        </p:nvSpPr>
        <p:spPr>
          <a:xfrm>
            <a:off x="9644407" y="3886081"/>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28" name="Text 126"/>
          <p:cNvSpPr/>
          <p:nvPr/>
        </p:nvSpPr>
        <p:spPr>
          <a:xfrm>
            <a:off x="9790673" y="3904364"/>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OperationalMetrics</a:t>
            </a:r>
            <a:endParaRPr lang="en-US" sz="1100" dirty="0">
              <a:latin typeface="Candara" panose="020E0502030303020204" pitchFamily="34" charset="0"/>
            </a:endParaRPr>
          </a:p>
        </p:txBody>
      </p:sp>
      <p:sp>
        <p:nvSpPr>
          <p:cNvPr id="129" name="Text 127"/>
          <p:cNvSpPr/>
          <p:nvPr/>
        </p:nvSpPr>
        <p:spPr>
          <a:xfrm>
            <a:off x="9790673" y="4178613"/>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Calculated KPIs per device</a:t>
            </a:r>
            <a:endParaRPr lang="en-US" sz="850" dirty="0">
              <a:latin typeface="Candara" panose="020E0502030303020204" pitchFamily="34" charset="0"/>
            </a:endParaRPr>
          </a:p>
        </p:txBody>
      </p:sp>
      <p:sp>
        <p:nvSpPr>
          <p:cNvPr id="130" name="Shape 128"/>
          <p:cNvSpPr/>
          <p:nvPr/>
        </p:nvSpPr>
        <p:spPr>
          <a:xfrm>
            <a:off x="9772390" y="4361445"/>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31" name="Text 129"/>
          <p:cNvSpPr/>
          <p:nvPr/>
        </p:nvSpPr>
        <p:spPr>
          <a:xfrm>
            <a:off x="9790673" y="4398012"/>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32" name="Text 130"/>
          <p:cNvSpPr/>
          <p:nvPr/>
        </p:nvSpPr>
        <p:spPr>
          <a:xfrm>
            <a:off x="10083205" y="4398012"/>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MetricId</a:t>
            </a:r>
            <a:endParaRPr lang="en-US" sz="850" dirty="0">
              <a:latin typeface="Candara" panose="020E0502030303020204" pitchFamily="34" charset="0"/>
            </a:endParaRPr>
          </a:p>
        </p:txBody>
      </p:sp>
      <p:sp>
        <p:nvSpPr>
          <p:cNvPr id="133" name="Text 131"/>
          <p:cNvSpPr/>
          <p:nvPr/>
        </p:nvSpPr>
        <p:spPr>
          <a:xfrm>
            <a:off x="11088783" y="4398012"/>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134" name="Text 132"/>
          <p:cNvSpPr/>
          <p:nvPr/>
        </p:nvSpPr>
        <p:spPr>
          <a:xfrm>
            <a:off x="9790673" y="4539707"/>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35" name="Text 133"/>
          <p:cNvSpPr/>
          <p:nvPr/>
        </p:nvSpPr>
        <p:spPr>
          <a:xfrm>
            <a:off x="10083205" y="4539707"/>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36" name="Text 134"/>
          <p:cNvSpPr/>
          <p:nvPr/>
        </p:nvSpPr>
        <p:spPr>
          <a:xfrm>
            <a:off x="11088783" y="453970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37" name="Text 135"/>
          <p:cNvSpPr/>
          <p:nvPr/>
        </p:nvSpPr>
        <p:spPr>
          <a:xfrm>
            <a:off x="10083205" y="4681402"/>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MetricType</a:t>
            </a:r>
            <a:endParaRPr lang="en-US" sz="850" dirty="0">
              <a:latin typeface="Candara" panose="020E0502030303020204" pitchFamily="34" charset="0"/>
            </a:endParaRPr>
          </a:p>
        </p:txBody>
      </p:sp>
      <p:sp>
        <p:nvSpPr>
          <p:cNvPr id="138" name="Text 136"/>
          <p:cNvSpPr/>
          <p:nvPr/>
        </p:nvSpPr>
        <p:spPr>
          <a:xfrm>
            <a:off x="11088783" y="4681402"/>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139" name="Text 137"/>
          <p:cNvSpPr/>
          <p:nvPr/>
        </p:nvSpPr>
        <p:spPr>
          <a:xfrm>
            <a:off x="10083205" y="4823097"/>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MetricValue</a:t>
            </a:r>
            <a:endParaRPr lang="en-US" sz="850" dirty="0">
              <a:latin typeface="Candara" panose="020E0502030303020204" pitchFamily="34" charset="0"/>
            </a:endParaRPr>
          </a:p>
        </p:txBody>
      </p:sp>
      <p:sp>
        <p:nvSpPr>
          <p:cNvPr id="140" name="Text 138"/>
          <p:cNvSpPr/>
          <p:nvPr/>
        </p:nvSpPr>
        <p:spPr>
          <a:xfrm>
            <a:off x="11088783" y="482309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dec(18,4)</a:t>
            </a:r>
            <a:endParaRPr lang="en-US" sz="750" dirty="0">
              <a:latin typeface="Candara" panose="020E0502030303020204" pitchFamily="34" charset="0"/>
            </a:endParaRPr>
          </a:p>
        </p:txBody>
      </p:sp>
      <p:sp>
        <p:nvSpPr>
          <p:cNvPr id="141" name="Shape 139"/>
          <p:cNvSpPr/>
          <p:nvPr/>
        </p:nvSpPr>
        <p:spPr>
          <a:xfrm>
            <a:off x="9671832" y="5376165"/>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42" name="Shape 140"/>
          <p:cNvSpPr/>
          <p:nvPr/>
        </p:nvSpPr>
        <p:spPr>
          <a:xfrm>
            <a:off x="9644407" y="5348740"/>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43" name="Shape 141"/>
          <p:cNvSpPr/>
          <p:nvPr/>
        </p:nvSpPr>
        <p:spPr>
          <a:xfrm>
            <a:off x="9644407" y="5421873"/>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44" name="Shape 142"/>
          <p:cNvSpPr/>
          <p:nvPr/>
        </p:nvSpPr>
        <p:spPr>
          <a:xfrm>
            <a:off x="9644407" y="5348740"/>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45" name="Text 143"/>
          <p:cNvSpPr/>
          <p:nvPr/>
        </p:nvSpPr>
        <p:spPr>
          <a:xfrm>
            <a:off x="9790673" y="536702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Alerts</a:t>
            </a:r>
            <a:endParaRPr lang="en-US" sz="1100" dirty="0">
              <a:latin typeface="Candara" panose="020E0502030303020204" pitchFamily="34" charset="0"/>
            </a:endParaRPr>
          </a:p>
        </p:txBody>
      </p:sp>
      <p:sp>
        <p:nvSpPr>
          <p:cNvPr id="146" name="Text 144"/>
          <p:cNvSpPr/>
          <p:nvPr/>
        </p:nvSpPr>
        <p:spPr>
          <a:xfrm>
            <a:off x="9790673" y="5641272"/>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Fired alert records</a:t>
            </a:r>
            <a:endParaRPr lang="en-US" sz="850" dirty="0">
              <a:latin typeface="Candara" panose="020E0502030303020204" pitchFamily="34" charset="0"/>
            </a:endParaRPr>
          </a:p>
        </p:txBody>
      </p:sp>
      <p:sp>
        <p:nvSpPr>
          <p:cNvPr id="147" name="Shape 145"/>
          <p:cNvSpPr/>
          <p:nvPr/>
        </p:nvSpPr>
        <p:spPr>
          <a:xfrm>
            <a:off x="9772390" y="582410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48" name="Text 146"/>
          <p:cNvSpPr/>
          <p:nvPr/>
        </p:nvSpPr>
        <p:spPr>
          <a:xfrm>
            <a:off x="9790673" y="5860671"/>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49" name="Text 147"/>
          <p:cNvSpPr/>
          <p:nvPr/>
        </p:nvSpPr>
        <p:spPr>
          <a:xfrm>
            <a:off x="10083205" y="5860671"/>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AlertId</a:t>
            </a:r>
            <a:endParaRPr lang="en-US" sz="850" dirty="0">
              <a:latin typeface="Candara" panose="020E0502030303020204" pitchFamily="34" charset="0"/>
            </a:endParaRPr>
          </a:p>
        </p:txBody>
      </p:sp>
      <p:sp>
        <p:nvSpPr>
          <p:cNvPr id="150" name="Text 148"/>
          <p:cNvSpPr/>
          <p:nvPr/>
        </p:nvSpPr>
        <p:spPr>
          <a:xfrm>
            <a:off x="11088783" y="5860671"/>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151" name="Text 149"/>
          <p:cNvSpPr/>
          <p:nvPr/>
        </p:nvSpPr>
        <p:spPr>
          <a:xfrm>
            <a:off x="9790673" y="6002366"/>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52" name="Text 150"/>
          <p:cNvSpPr/>
          <p:nvPr/>
        </p:nvSpPr>
        <p:spPr>
          <a:xfrm>
            <a:off x="10083205" y="6002366"/>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AlertRuleId</a:t>
            </a:r>
            <a:endParaRPr lang="en-US" sz="850" dirty="0">
              <a:latin typeface="Candara" panose="020E0502030303020204" pitchFamily="34" charset="0"/>
            </a:endParaRPr>
          </a:p>
        </p:txBody>
      </p:sp>
      <p:sp>
        <p:nvSpPr>
          <p:cNvPr id="153" name="Text 151"/>
          <p:cNvSpPr/>
          <p:nvPr/>
        </p:nvSpPr>
        <p:spPr>
          <a:xfrm>
            <a:off x="11088783" y="6002366"/>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54" name="Text 152"/>
          <p:cNvSpPr/>
          <p:nvPr/>
        </p:nvSpPr>
        <p:spPr>
          <a:xfrm>
            <a:off x="9790673" y="6144061"/>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55" name="Text 153"/>
          <p:cNvSpPr/>
          <p:nvPr/>
        </p:nvSpPr>
        <p:spPr>
          <a:xfrm>
            <a:off x="10083205" y="6144061"/>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56" name="Text 154"/>
          <p:cNvSpPr/>
          <p:nvPr/>
        </p:nvSpPr>
        <p:spPr>
          <a:xfrm>
            <a:off x="11088783" y="6144061"/>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57" name="Text 155"/>
          <p:cNvSpPr/>
          <p:nvPr/>
        </p:nvSpPr>
        <p:spPr>
          <a:xfrm>
            <a:off x="9790673" y="6285756"/>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58" name="Text 156"/>
          <p:cNvSpPr/>
          <p:nvPr/>
        </p:nvSpPr>
        <p:spPr>
          <a:xfrm>
            <a:off x="10083205" y="6285756"/>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159" name="Text 157"/>
          <p:cNvSpPr/>
          <p:nvPr/>
        </p:nvSpPr>
        <p:spPr>
          <a:xfrm>
            <a:off x="11088783" y="6285756"/>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60" name="Shape 158"/>
          <p:cNvSpPr/>
          <p:nvPr/>
        </p:nvSpPr>
        <p:spPr>
          <a:xfrm>
            <a:off x="2724202" y="5147624"/>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61" name="Shape 159"/>
          <p:cNvSpPr/>
          <p:nvPr/>
        </p:nvSpPr>
        <p:spPr>
          <a:xfrm>
            <a:off x="2696777" y="5120199"/>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62" name="Shape 160"/>
          <p:cNvSpPr/>
          <p:nvPr/>
        </p:nvSpPr>
        <p:spPr>
          <a:xfrm>
            <a:off x="2696777" y="5193332"/>
            <a:ext cx="50279" cy="987295"/>
          </a:xfrm>
          <a:prstGeom prst="rect">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163" name="Shape 161"/>
          <p:cNvSpPr/>
          <p:nvPr/>
        </p:nvSpPr>
        <p:spPr>
          <a:xfrm>
            <a:off x="2696777" y="5120200"/>
            <a:ext cx="50279" cy="164549"/>
          </a:xfrm>
          <a:prstGeom prst="roundRect">
            <a:avLst>
              <a:gd name="adj" fmla="val 72727"/>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164" name="Text 162"/>
          <p:cNvSpPr/>
          <p:nvPr/>
        </p:nvSpPr>
        <p:spPr>
          <a:xfrm>
            <a:off x="2843043"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DeviceConfigurations</a:t>
            </a:r>
            <a:endParaRPr lang="en-US" sz="1100" dirty="0">
              <a:latin typeface="Candara" panose="020E0502030303020204" pitchFamily="34" charset="0"/>
            </a:endParaRPr>
          </a:p>
        </p:txBody>
      </p:sp>
      <p:sp>
        <p:nvSpPr>
          <p:cNvPr id="165" name="Text 163"/>
          <p:cNvSpPr/>
          <p:nvPr/>
        </p:nvSpPr>
        <p:spPr>
          <a:xfrm>
            <a:off x="2843043"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Per-device settings</a:t>
            </a:r>
            <a:endParaRPr lang="en-US" sz="850" dirty="0">
              <a:latin typeface="Candara" panose="020E0502030303020204" pitchFamily="34" charset="0"/>
            </a:endParaRPr>
          </a:p>
        </p:txBody>
      </p:sp>
      <p:sp>
        <p:nvSpPr>
          <p:cNvPr id="166" name="Shape 164"/>
          <p:cNvSpPr/>
          <p:nvPr/>
        </p:nvSpPr>
        <p:spPr>
          <a:xfrm>
            <a:off x="2824760"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67" name="Text 165"/>
          <p:cNvSpPr/>
          <p:nvPr/>
        </p:nvSpPr>
        <p:spPr>
          <a:xfrm>
            <a:off x="2843043"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68" name="Text 166"/>
          <p:cNvSpPr/>
          <p:nvPr/>
        </p:nvSpPr>
        <p:spPr>
          <a:xfrm>
            <a:off x="3135575"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ConfigurationId</a:t>
            </a:r>
            <a:endParaRPr lang="en-US" sz="850" dirty="0">
              <a:latin typeface="Candara" panose="020E0502030303020204" pitchFamily="34" charset="0"/>
            </a:endParaRPr>
          </a:p>
        </p:txBody>
      </p:sp>
      <p:sp>
        <p:nvSpPr>
          <p:cNvPr id="169" name="Text 167"/>
          <p:cNvSpPr/>
          <p:nvPr/>
        </p:nvSpPr>
        <p:spPr>
          <a:xfrm>
            <a:off x="4141153"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70" name="Text 168"/>
          <p:cNvSpPr/>
          <p:nvPr/>
        </p:nvSpPr>
        <p:spPr>
          <a:xfrm>
            <a:off x="2843043" y="5773825"/>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71" name="Text 169"/>
          <p:cNvSpPr/>
          <p:nvPr/>
        </p:nvSpPr>
        <p:spPr>
          <a:xfrm>
            <a:off x="3135575" y="5773825"/>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72" name="Text 170"/>
          <p:cNvSpPr/>
          <p:nvPr/>
        </p:nvSpPr>
        <p:spPr>
          <a:xfrm>
            <a:off x="4141153"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73" name="Text 171"/>
          <p:cNvSpPr/>
          <p:nvPr/>
        </p:nvSpPr>
        <p:spPr>
          <a:xfrm>
            <a:off x="3135575" y="5915520"/>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ConfigurationKey</a:t>
            </a:r>
            <a:endParaRPr lang="en-US" sz="850" dirty="0">
              <a:latin typeface="Candara" panose="020E0502030303020204" pitchFamily="34" charset="0"/>
            </a:endParaRPr>
          </a:p>
        </p:txBody>
      </p:sp>
      <p:sp>
        <p:nvSpPr>
          <p:cNvPr id="174" name="Text 172"/>
          <p:cNvSpPr/>
          <p:nvPr/>
        </p:nvSpPr>
        <p:spPr>
          <a:xfrm>
            <a:off x="4141153"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175" name="Text 173"/>
          <p:cNvSpPr/>
          <p:nvPr/>
        </p:nvSpPr>
        <p:spPr>
          <a:xfrm>
            <a:off x="3135575"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ConfigurationValue</a:t>
            </a:r>
            <a:endParaRPr lang="en-US" sz="850" dirty="0">
              <a:latin typeface="Candara" panose="020E0502030303020204" pitchFamily="34" charset="0"/>
            </a:endParaRPr>
          </a:p>
        </p:txBody>
      </p:sp>
      <p:sp>
        <p:nvSpPr>
          <p:cNvPr id="176" name="Text 174"/>
          <p:cNvSpPr/>
          <p:nvPr/>
        </p:nvSpPr>
        <p:spPr>
          <a:xfrm>
            <a:off x="4141153"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string(500)</a:t>
            </a:r>
            <a:endParaRPr lang="en-US" sz="750" dirty="0">
              <a:latin typeface="Candara" panose="020E0502030303020204" pitchFamily="34" charset="0"/>
            </a:endParaRPr>
          </a:p>
        </p:txBody>
      </p:sp>
      <p:sp>
        <p:nvSpPr>
          <p:cNvPr id="177" name="Shape 175"/>
          <p:cNvSpPr/>
          <p:nvPr/>
        </p:nvSpPr>
        <p:spPr>
          <a:xfrm>
            <a:off x="4963899" y="5147624"/>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78" name="Shape 176"/>
          <p:cNvSpPr/>
          <p:nvPr/>
        </p:nvSpPr>
        <p:spPr>
          <a:xfrm>
            <a:off x="4936474" y="5120199"/>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79" name="Shape 177"/>
          <p:cNvSpPr/>
          <p:nvPr/>
        </p:nvSpPr>
        <p:spPr>
          <a:xfrm>
            <a:off x="4936474" y="5193332"/>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80" name="Shape 178"/>
          <p:cNvSpPr/>
          <p:nvPr/>
        </p:nvSpPr>
        <p:spPr>
          <a:xfrm>
            <a:off x="4936474" y="5120200"/>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81" name="Text 179"/>
          <p:cNvSpPr/>
          <p:nvPr/>
        </p:nvSpPr>
        <p:spPr>
          <a:xfrm>
            <a:off x="5082739"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DeviceCommands</a:t>
            </a:r>
            <a:endParaRPr lang="en-US" sz="1100" dirty="0">
              <a:latin typeface="Candara" panose="020E0502030303020204" pitchFamily="34" charset="0"/>
            </a:endParaRPr>
          </a:p>
        </p:txBody>
      </p:sp>
      <p:sp>
        <p:nvSpPr>
          <p:cNvPr id="182" name="Text 180"/>
          <p:cNvSpPr/>
          <p:nvPr/>
        </p:nvSpPr>
        <p:spPr>
          <a:xfrm>
            <a:off x="5082739"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Commands sent to device / actuator</a:t>
            </a:r>
            <a:endParaRPr lang="en-US" sz="850" dirty="0">
              <a:latin typeface="Candara" panose="020E0502030303020204" pitchFamily="34" charset="0"/>
            </a:endParaRPr>
          </a:p>
        </p:txBody>
      </p:sp>
      <p:sp>
        <p:nvSpPr>
          <p:cNvPr id="183" name="Shape 181"/>
          <p:cNvSpPr/>
          <p:nvPr/>
        </p:nvSpPr>
        <p:spPr>
          <a:xfrm>
            <a:off x="5064456"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84" name="Text 182"/>
          <p:cNvSpPr/>
          <p:nvPr/>
        </p:nvSpPr>
        <p:spPr>
          <a:xfrm>
            <a:off x="5082739"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85" name="Text 183"/>
          <p:cNvSpPr/>
          <p:nvPr/>
        </p:nvSpPr>
        <p:spPr>
          <a:xfrm>
            <a:off x="5375271"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CommandId</a:t>
            </a:r>
            <a:endParaRPr lang="en-US" sz="850" dirty="0">
              <a:latin typeface="Candara" panose="020E0502030303020204" pitchFamily="34" charset="0"/>
            </a:endParaRPr>
          </a:p>
        </p:txBody>
      </p:sp>
      <p:sp>
        <p:nvSpPr>
          <p:cNvPr id="186" name="Text 184"/>
          <p:cNvSpPr/>
          <p:nvPr/>
        </p:nvSpPr>
        <p:spPr>
          <a:xfrm>
            <a:off x="6380849"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187" name="Text 185"/>
          <p:cNvSpPr/>
          <p:nvPr/>
        </p:nvSpPr>
        <p:spPr>
          <a:xfrm>
            <a:off x="5082739" y="5773825"/>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88" name="Text 186"/>
          <p:cNvSpPr/>
          <p:nvPr/>
        </p:nvSpPr>
        <p:spPr>
          <a:xfrm>
            <a:off x="5375271" y="5773825"/>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89" name="Text 187"/>
          <p:cNvSpPr/>
          <p:nvPr/>
        </p:nvSpPr>
        <p:spPr>
          <a:xfrm>
            <a:off x="6380849"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90" name="Text 188"/>
          <p:cNvSpPr/>
          <p:nvPr/>
        </p:nvSpPr>
        <p:spPr>
          <a:xfrm>
            <a:off x="5082739" y="5915520"/>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91" name="Text 189"/>
          <p:cNvSpPr/>
          <p:nvPr/>
        </p:nvSpPr>
        <p:spPr>
          <a:xfrm>
            <a:off x="5375271" y="5915520"/>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ActuatorId</a:t>
            </a:r>
            <a:endParaRPr lang="en-US" sz="850" dirty="0">
              <a:latin typeface="Candara" panose="020E0502030303020204" pitchFamily="34" charset="0"/>
            </a:endParaRPr>
          </a:p>
        </p:txBody>
      </p:sp>
      <p:sp>
        <p:nvSpPr>
          <p:cNvPr id="192" name="Text 190"/>
          <p:cNvSpPr/>
          <p:nvPr/>
        </p:nvSpPr>
        <p:spPr>
          <a:xfrm>
            <a:off x="6380849"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93" name="Text 191"/>
          <p:cNvSpPr/>
          <p:nvPr/>
        </p:nvSpPr>
        <p:spPr>
          <a:xfrm>
            <a:off x="5375271"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CommandType</a:t>
            </a:r>
            <a:endParaRPr lang="en-US" sz="850" dirty="0">
              <a:latin typeface="Candara" panose="020E0502030303020204" pitchFamily="34" charset="0"/>
            </a:endParaRPr>
          </a:p>
        </p:txBody>
      </p:sp>
      <p:sp>
        <p:nvSpPr>
          <p:cNvPr id="194" name="Text 192"/>
          <p:cNvSpPr/>
          <p:nvPr/>
        </p:nvSpPr>
        <p:spPr>
          <a:xfrm>
            <a:off x="6380849"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195" name="Shape 193"/>
          <p:cNvSpPr/>
          <p:nvPr/>
        </p:nvSpPr>
        <p:spPr>
          <a:xfrm>
            <a:off x="7157887" y="5147624"/>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96" name="Shape 194"/>
          <p:cNvSpPr/>
          <p:nvPr/>
        </p:nvSpPr>
        <p:spPr>
          <a:xfrm>
            <a:off x="7130462" y="5120199"/>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97" name="Shape 195"/>
          <p:cNvSpPr/>
          <p:nvPr/>
        </p:nvSpPr>
        <p:spPr>
          <a:xfrm>
            <a:off x="7130462" y="5193332"/>
            <a:ext cx="50279" cy="987295"/>
          </a:xfrm>
          <a:prstGeom prst="rect">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198" name="Shape 196"/>
          <p:cNvSpPr/>
          <p:nvPr/>
        </p:nvSpPr>
        <p:spPr>
          <a:xfrm>
            <a:off x="7130462" y="5120200"/>
            <a:ext cx="50279" cy="164549"/>
          </a:xfrm>
          <a:prstGeom prst="roundRect">
            <a:avLst>
              <a:gd name="adj" fmla="val 72727"/>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199" name="Text 197"/>
          <p:cNvSpPr/>
          <p:nvPr/>
        </p:nvSpPr>
        <p:spPr>
          <a:xfrm>
            <a:off x="7276728"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AlertRules</a:t>
            </a:r>
            <a:endParaRPr lang="en-US" sz="1100" dirty="0">
              <a:latin typeface="Candara" panose="020E0502030303020204" pitchFamily="34" charset="0"/>
            </a:endParaRPr>
          </a:p>
        </p:txBody>
      </p:sp>
      <p:sp>
        <p:nvSpPr>
          <p:cNvPr id="200" name="Text 198"/>
          <p:cNvSpPr/>
          <p:nvPr/>
        </p:nvSpPr>
        <p:spPr>
          <a:xfrm>
            <a:off x="7276728"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Alert / threshold rules</a:t>
            </a:r>
            <a:endParaRPr lang="en-US" sz="850" dirty="0">
              <a:latin typeface="Candara" panose="020E0502030303020204" pitchFamily="34" charset="0"/>
            </a:endParaRPr>
          </a:p>
        </p:txBody>
      </p:sp>
      <p:sp>
        <p:nvSpPr>
          <p:cNvPr id="201" name="Shape 199"/>
          <p:cNvSpPr/>
          <p:nvPr/>
        </p:nvSpPr>
        <p:spPr>
          <a:xfrm>
            <a:off x="7258445"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202" name="Text 200"/>
          <p:cNvSpPr/>
          <p:nvPr/>
        </p:nvSpPr>
        <p:spPr>
          <a:xfrm>
            <a:off x="7276728"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203" name="Text 201"/>
          <p:cNvSpPr/>
          <p:nvPr/>
        </p:nvSpPr>
        <p:spPr>
          <a:xfrm>
            <a:off x="7569260"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AlertRuleId</a:t>
            </a:r>
            <a:endParaRPr lang="en-US" sz="850" dirty="0">
              <a:latin typeface="Candara" panose="020E0502030303020204" pitchFamily="34" charset="0"/>
            </a:endParaRPr>
          </a:p>
        </p:txBody>
      </p:sp>
      <p:sp>
        <p:nvSpPr>
          <p:cNvPr id="204" name="Text 202"/>
          <p:cNvSpPr/>
          <p:nvPr/>
        </p:nvSpPr>
        <p:spPr>
          <a:xfrm>
            <a:off x="8574838"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205" name="Text 203"/>
          <p:cNvSpPr/>
          <p:nvPr/>
        </p:nvSpPr>
        <p:spPr>
          <a:xfrm>
            <a:off x="7276728" y="5773825"/>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206" name="Text 204"/>
          <p:cNvSpPr/>
          <p:nvPr/>
        </p:nvSpPr>
        <p:spPr>
          <a:xfrm>
            <a:off x="7569260" y="5773825"/>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207" name="Text 205"/>
          <p:cNvSpPr/>
          <p:nvPr/>
        </p:nvSpPr>
        <p:spPr>
          <a:xfrm>
            <a:off x="8574838"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208" name="Text 206"/>
          <p:cNvSpPr/>
          <p:nvPr/>
        </p:nvSpPr>
        <p:spPr>
          <a:xfrm>
            <a:off x="7276728" y="5915520"/>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209" name="Text 207"/>
          <p:cNvSpPr/>
          <p:nvPr/>
        </p:nvSpPr>
        <p:spPr>
          <a:xfrm>
            <a:off x="7569260" y="5915520"/>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210" name="Text 208"/>
          <p:cNvSpPr/>
          <p:nvPr/>
        </p:nvSpPr>
        <p:spPr>
          <a:xfrm>
            <a:off x="8574838"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211" name="Text 209"/>
          <p:cNvSpPr/>
          <p:nvPr/>
        </p:nvSpPr>
        <p:spPr>
          <a:xfrm>
            <a:off x="7569260"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Severity</a:t>
            </a:r>
            <a:endParaRPr lang="en-US" sz="850" dirty="0">
              <a:latin typeface="Candara" panose="020E0502030303020204" pitchFamily="34" charset="0"/>
            </a:endParaRPr>
          </a:p>
        </p:txBody>
      </p:sp>
      <p:sp>
        <p:nvSpPr>
          <p:cNvPr id="212" name="Text 210"/>
          <p:cNvSpPr/>
          <p:nvPr/>
        </p:nvSpPr>
        <p:spPr>
          <a:xfrm>
            <a:off x="8574838"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string(20)</a:t>
            </a:r>
            <a:endParaRPr lang="en-US" sz="750" dirty="0">
              <a:latin typeface="Candara" panose="020E0502030303020204" pitchFamily="34" charset="0"/>
            </a:endParaRPr>
          </a:p>
        </p:txBody>
      </p:sp>
      <p:sp>
        <p:nvSpPr>
          <p:cNvPr id="213" name="Text 211"/>
          <p:cNvSpPr/>
          <p:nvPr/>
        </p:nvSpPr>
        <p:spPr>
          <a:xfrm>
            <a:off x="4756524" y="281430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14" name="Text 212"/>
          <p:cNvSpPr/>
          <p:nvPr/>
        </p:nvSpPr>
        <p:spPr>
          <a:xfrm>
            <a:off x="2547629" y="216052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15" name="Text 213"/>
          <p:cNvSpPr/>
          <p:nvPr/>
        </p:nvSpPr>
        <p:spPr>
          <a:xfrm>
            <a:off x="4694035" y="3331082"/>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16" name="Text 214"/>
          <p:cNvSpPr/>
          <p:nvPr/>
        </p:nvSpPr>
        <p:spPr>
          <a:xfrm>
            <a:off x="2610118" y="365490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17" name="Text 215"/>
          <p:cNvSpPr/>
          <p:nvPr/>
        </p:nvSpPr>
        <p:spPr>
          <a:xfrm>
            <a:off x="7073321" y="2989914"/>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18" name="Text 216"/>
          <p:cNvSpPr/>
          <p:nvPr/>
        </p:nvSpPr>
        <p:spPr>
          <a:xfrm>
            <a:off x="9235326" y="1756373"/>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19" name="Text 217"/>
          <p:cNvSpPr/>
          <p:nvPr/>
        </p:nvSpPr>
        <p:spPr>
          <a:xfrm>
            <a:off x="7051054" y="339109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0" name="Text 218"/>
          <p:cNvSpPr/>
          <p:nvPr/>
        </p:nvSpPr>
        <p:spPr>
          <a:xfrm>
            <a:off x="9257593" y="2909264"/>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1" name="Text 219"/>
          <p:cNvSpPr/>
          <p:nvPr/>
        </p:nvSpPr>
        <p:spPr>
          <a:xfrm>
            <a:off x="7011109" y="376286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2" name="Text 220"/>
          <p:cNvSpPr/>
          <p:nvPr/>
        </p:nvSpPr>
        <p:spPr>
          <a:xfrm>
            <a:off x="9297538" y="4000152"/>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3" name="Text 221"/>
          <p:cNvSpPr/>
          <p:nvPr/>
        </p:nvSpPr>
        <p:spPr>
          <a:xfrm>
            <a:off x="6964236" y="4116594"/>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4" name="Text 222"/>
          <p:cNvSpPr/>
          <p:nvPr/>
        </p:nvSpPr>
        <p:spPr>
          <a:xfrm>
            <a:off x="9344412" y="510908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5" name="Text 223"/>
          <p:cNvSpPr/>
          <p:nvPr/>
        </p:nvSpPr>
        <p:spPr>
          <a:xfrm>
            <a:off x="5053388" y="399264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6" name="Text 224"/>
          <p:cNvSpPr/>
          <p:nvPr/>
        </p:nvSpPr>
        <p:spPr>
          <a:xfrm>
            <a:off x="4307629" y="500449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7" name="Text 225"/>
          <p:cNvSpPr/>
          <p:nvPr/>
        </p:nvSpPr>
        <p:spPr>
          <a:xfrm>
            <a:off x="5704622" y="412517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8" name="Text 226"/>
          <p:cNvSpPr/>
          <p:nvPr/>
        </p:nvSpPr>
        <p:spPr>
          <a:xfrm>
            <a:off x="5896092" y="487196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9" name="Text 227"/>
          <p:cNvSpPr/>
          <p:nvPr/>
        </p:nvSpPr>
        <p:spPr>
          <a:xfrm>
            <a:off x="6426119" y="4169680"/>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0" name="Text 228"/>
          <p:cNvSpPr/>
          <p:nvPr/>
        </p:nvSpPr>
        <p:spPr>
          <a:xfrm>
            <a:off x="7368583" y="4827459"/>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1" name="Text 229"/>
          <p:cNvSpPr/>
          <p:nvPr/>
        </p:nvSpPr>
        <p:spPr>
          <a:xfrm>
            <a:off x="2608323" y="1662357"/>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32" name="Text 230"/>
          <p:cNvSpPr/>
          <p:nvPr/>
        </p:nvSpPr>
        <p:spPr>
          <a:xfrm>
            <a:off x="9266639" y="1255605"/>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3" name="Text 231"/>
          <p:cNvSpPr/>
          <p:nvPr/>
        </p:nvSpPr>
        <p:spPr>
          <a:xfrm>
            <a:off x="2427079" y="2327727"/>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4" name="Text 232"/>
          <p:cNvSpPr/>
          <p:nvPr/>
        </p:nvSpPr>
        <p:spPr>
          <a:xfrm>
            <a:off x="6933939" y="484108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5" name="Text 233"/>
          <p:cNvSpPr/>
          <p:nvPr/>
        </p:nvSpPr>
        <p:spPr>
          <a:xfrm>
            <a:off x="2538879" y="222568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6" name="Text 234"/>
          <p:cNvSpPr/>
          <p:nvPr/>
        </p:nvSpPr>
        <p:spPr>
          <a:xfrm>
            <a:off x="9336083" y="5171675"/>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7" name="Text 235"/>
          <p:cNvSpPr/>
          <p:nvPr/>
        </p:nvSpPr>
        <p:spPr>
          <a:xfrm>
            <a:off x="1316393" y="230458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8" name="Text 236"/>
          <p:cNvSpPr/>
          <p:nvPr/>
        </p:nvSpPr>
        <p:spPr>
          <a:xfrm>
            <a:off x="1554075" y="285307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9" name="Text 237"/>
          <p:cNvSpPr/>
          <p:nvPr/>
        </p:nvSpPr>
        <p:spPr>
          <a:xfrm>
            <a:off x="9084475" y="5820230"/>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40" name="Text 238"/>
          <p:cNvSpPr/>
          <p:nvPr/>
        </p:nvSpPr>
        <p:spPr>
          <a:xfrm>
            <a:off x="9281036" y="559943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41" name="Text 239"/>
          <p:cNvSpPr/>
          <p:nvPr/>
        </p:nvSpPr>
        <p:spPr>
          <a:xfrm>
            <a:off x="2539461" y="423249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42" name="Text 240"/>
          <p:cNvSpPr/>
          <p:nvPr/>
        </p:nvSpPr>
        <p:spPr>
          <a:xfrm>
            <a:off x="4627567" y="494747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43" name="Shape 241"/>
          <p:cNvSpPr/>
          <p:nvPr/>
        </p:nvSpPr>
        <p:spPr>
          <a:xfrm>
            <a:off x="457080" y="6619425"/>
            <a:ext cx="50279" cy="164549"/>
          </a:xfrm>
          <a:prstGeom prst="rect">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44" name="Text 242"/>
          <p:cNvSpPr/>
          <p:nvPr/>
        </p:nvSpPr>
        <p:spPr>
          <a:xfrm>
            <a:off x="566780" y="6601142"/>
            <a:ext cx="1554075"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Hub (Devices)</a:t>
            </a:r>
            <a:endParaRPr lang="en-US" sz="900" dirty="0">
              <a:latin typeface="Candara" panose="020E0502030303020204" pitchFamily="34" charset="0"/>
            </a:endParaRPr>
          </a:p>
        </p:txBody>
      </p:sp>
      <p:sp>
        <p:nvSpPr>
          <p:cNvPr id="245" name="Shape 243"/>
          <p:cNvSpPr/>
          <p:nvPr/>
        </p:nvSpPr>
        <p:spPr>
          <a:xfrm>
            <a:off x="2056864" y="6619425"/>
            <a:ext cx="50279" cy="164549"/>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246" name="Text 244"/>
          <p:cNvSpPr/>
          <p:nvPr/>
        </p:nvSpPr>
        <p:spPr>
          <a:xfrm>
            <a:off x="2166563" y="6601142"/>
            <a:ext cx="1554075"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Primary entities</a:t>
            </a:r>
            <a:endParaRPr lang="en-US" sz="900" dirty="0">
              <a:latin typeface="Candara" panose="020E0502030303020204" pitchFamily="34" charset="0"/>
            </a:endParaRPr>
          </a:p>
        </p:txBody>
      </p:sp>
      <p:sp>
        <p:nvSpPr>
          <p:cNvPr id="247" name="Shape 245"/>
          <p:cNvSpPr/>
          <p:nvPr/>
        </p:nvSpPr>
        <p:spPr>
          <a:xfrm>
            <a:off x="3793771" y="6619425"/>
            <a:ext cx="50279" cy="164549"/>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248" name="Text 246"/>
          <p:cNvSpPr/>
          <p:nvPr/>
        </p:nvSpPr>
        <p:spPr>
          <a:xfrm>
            <a:off x="3903471" y="6601142"/>
            <a:ext cx="1554075"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Event / log tables</a:t>
            </a:r>
            <a:endParaRPr lang="en-US" sz="900" dirty="0">
              <a:latin typeface="Candara" panose="020E0502030303020204" pitchFamily="34" charset="0"/>
            </a:endParaRPr>
          </a:p>
        </p:txBody>
      </p:sp>
      <p:sp>
        <p:nvSpPr>
          <p:cNvPr id="249" name="Shape 247"/>
          <p:cNvSpPr/>
          <p:nvPr/>
        </p:nvSpPr>
        <p:spPr>
          <a:xfrm>
            <a:off x="5667803" y="6619425"/>
            <a:ext cx="50279" cy="164549"/>
          </a:xfrm>
          <a:prstGeom prst="rect">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250" name="Text 248"/>
          <p:cNvSpPr/>
          <p:nvPr/>
        </p:nvSpPr>
        <p:spPr>
          <a:xfrm>
            <a:off x="5777503" y="6601142"/>
            <a:ext cx="1554075"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Configuration</a:t>
            </a:r>
            <a:endParaRPr lang="en-US" sz="900" dirty="0">
              <a:latin typeface="Candara" panose="020E0502030303020204" pitchFamily="34" charset="0"/>
            </a:endParaRPr>
          </a:p>
        </p:txBody>
      </p:sp>
      <p:sp>
        <p:nvSpPr>
          <p:cNvPr id="251" name="Shape 249"/>
          <p:cNvSpPr/>
          <p:nvPr/>
        </p:nvSpPr>
        <p:spPr>
          <a:xfrm>
            <a:off x="7359003" y="6665133"/>
            <a:ext cx="0" cy="91416"/>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252" name="Shape 250"/>
          <p:cNvSpPr/>
          <p:nvPr/>
        </p:nvSpPr>
        <p:spPr>
          <a:xfrm>
            <a:off x="7496127" y="6701700"/>
            <a:ext cx="319957" cy="0"/>
          </a:xfrm>
          <a:prstGeom prst="line">
            <a:avLst/>
          </a:prstGeom>
          <a:noFill/>
          <a:ln w="15875">
            <a:solidFill>
              <a:srgbClr val="3ECF80"/>
            </a:solidFill>
            <a:prstDash val="solid"/>
          </a:ln>
        </p:spPr>
        <p:txBody>
          <a:bodyPr/>
          <a:lstStyle/>
          <a:p>
            <a:endParaRPr lang="en-US" sz="1799">
              <a:latin typeface="Candara" panose="020E0502030303020204" pitchFamily="34" charset="0"/>
            </a:endParaRPr>
          </a:p>
        </p:txBody>
      </p:sp>
      <p:sp>
        <p:nvSpPr>
          <p:cNvPr id="253" name="Text 251"/>
          <p:cNvSpPr/>
          <p:nvPr/>
        </p:nvSpPr>
        <p:spPr>
          <a:xfrm>
            <a:off x="7724668" y="6601142"/>
            <a:ext cx="420514" cy="201116"/>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54" name="Text 252"/>
          <p:cNvSpPr/>
          <p:nvPr/>
        </p:nvSpPr>
        <p:spPr>
          <a:xfrm>
            <a:off x="8172607" y="6601142"/>
            <a:ext cx="1096994"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required (1)</a:t>
            </a:r>
            <a:endParaRPr lang="en-US" sz="900" dirty="0">
              <a:latin typeface="Candara" panose="020E0502030303020204" pitchFamily="34" charset="0"/>
            </a:endParaRPr>
          </a:p>
        </p:txBody>
      </p:sp>
      <p:sp>
        <p:nvSpPr>
          <p:cNvPr id="255" name="Shape 253"/>
          <p:cNvSpPr/>
          <p:nvPr/>
        </p:nvSpPr>
        <p:spPr>
          <a:xfrm>
            <a:off x="8867370" y="6701700"/>
            <a:ext cx="319957" cy="0"/>
          </a:xfrm>
          <a:prstGeom prst="line">
            <a:avLst/>
          </a:prstGeom>
          <a:noFill/>
          <a:ln w="15875">
            <a:solidFill>
              <a:srgbClr val="2A6646"/>
            </a:solidFill>
            <a:prstDash val="dash"/>
          </a:ln>
        </p:spPr>
        <p:txBody>
          <a:bodyPr/>
          <a:lstStyle/>
          <a:p>
            <a:endParaRPr lang="en-US" sz="1799">
              <a:latin typeface="Candara" panose="020E0502030303020204" pitchFamily="34" charset="0"/>
            </a:endParaRPr>
          </a:p>
        </p:txBody>
      </p:sp>
      <p:sp>
        <p:nvSpPr>
          <p:cNvPr id="256" name="Text 254"/>
          <p:cNvSpPr/>
          <p:nvPr/>
        </p:nvSpPr>
        <p:spPr>
          <a:xfrm>
            <a:off x="9095910" y="6601142"/>
            <a:ext cx="420514" cy="201116"/>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57" name="Text 255"/>
          <p:cNvSpPr/>
          <p:nvPr/>
        </p:nvSpPr>
        <p:spPr>
          <a:xfrm>
            <a:off x="9543850" y="6601142"/>
            <a:ext cx="1096994"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optional (0..1)</a:t>
            </a:r>
            <a:endParaRPr lang="en-US" sz="900" dirty="0">
              <a:latin typeface="Candara" panose="020E0502030303020204" pitchFamily="34" charset="0"/>
            </a:endParaRPr>
          </a:p>
        </p:txBody>
      </p:sp>
      <p:sp>
        <p:nvSpPr>
          <p:cNvPr id="258" name="Shape 256"/>
          <p:cNvSpPr/>
          <p:nvPr/>
        </p:nvSpPr>
        <p:spPr>
          <a:xfrm>
            <a:off x="10421445" y="6701700"/>
            <a:ext cx="319957" cy="0"/>
          </a:xfrm>
          <a:prstGeom prst="line">
            <a:avLst/>
          </a:prstGeom>
          <a:noFill/>
          <a:ln w="15875">
            <a:solidFill>
              <a:srgbClr val="3ECF80"/>
            </a:solidFill>
            <a:prstDash val="solid"/>
          </a:ln>
        </p:spPr>
        <p:txBody>
          <a:bodyPr/>
          <a:lstStyle/>
          <a:p>
            <a:endParaRPr lang="en-US" sz="1799">
              <a:latin typeface="Candara" panose="020E0502030303020204" pitchFamily="34" charset="0"/>
            </a:endParaRPr>
          </a:p>
        </p:txBody>
      </p:sp>
      <p:sp>
        <p:nvSpPr>
          <p:cNvPr id="259" name="Text 257"/>
          <p:cNvSpPr/>
          <p:nvPr/>
        </p:nvSpPr>
        <p:spPr>
          <a:xfrm>
            <a:off x="10649986" y="6601142"/>
            <a:ext cx="420514" cy="201116"/>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60" name="Text 258"/>
          <p:cNvSpPr/>
          <p:nvPr/>
        </p:nvSpPr>
        <p:spPr>
          <a:xfrm>
            <a:off x="11097925" y="6601142"/>
            <a:ext cx="1096994"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many (0..*)</a:t>
            </a:r>
            <a:endParaRPr lang="en-US" sz="900" dirty="0">
              <a:latin typeface="Candara" panose="020E0502030303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201115" y="92309"/>
            <a:ext cx="6399133" cy="420514"/>
          </a:xfrm>
          <a:prstGeom prst="rect">
            <a:avLst/>
          </a:prstGeom>
          <a:noFill/>
          <a:ln/>
        </p:spPr>
        <p:txBody>
          <a:bodyPr wrap="square" lIns="0" tIns="0" rIns="0" bIns="0" rtlCol="0" anchor="ctr"/>
          <a:lstStyle/>
          <a:p>
            <a:r>
              <a:rPr lang="en-US" sz="2800" b="1" dirty="0">
                <a:solidFill>
                  <a:srgbClr val="FFFFFF"/>
                </a:solidFill>
                <a:latin typeface="Candara" panose="020E0502030303020204" pitchFamily="34" charset="0"/>
                <a:ea typeface="Calibri" pitchFamily="34" charset="-122"/>
                <a:cs typeface="Calibri" pitchFamily="34" charset="-120"/>
              </a:rPr>
              <a:t>Backend &amp; API Design</a:t>
            </a:r>
            <a:endParaRPr lang="en-US" sz="2800" dirty="0">
              <a:latin typeface="Candara" panose="020E0502030303020204" pitchFamily="34" charset="0"/>
            </a:endParaRPr>
          </a:p>
        </p:txBody>
      </p:sp>
      <p:sp>
        <p:nvSpPr>
          <p:cNvPr id="3" name="Text 1"/>
          <p:cNvSpPr/>
          <p:nvPr/>
        </p:nvSpPr>
        <p:spPr>
          <a:xfrm>
            <a:off x="201115" y="531107"/>
            <a:ext cx="4753642" cy="219399"/>
          </a:xfrm>
          <a:prstGeom prst="rect">
            <a:avLst/>
          </a:prstGeom>
          <a:noFill/>
          <a:ln/>
        </p:spPr>
        <p:txBody>
          <a:bodyPr wrap="square" lIns="0" tIns="0" rIns="0" bIns="0" rtlCol="0" anchor="ctr"/>
          <a:lstStyle/>
          <a:p>
            <a:r>
              <a:rPr lang="en-US" sz="1200" dirty="0">
                <a:solidFill>
                  <a:srgbClr val="7AB896"/>
                </a:solidFill>
                <a:latin typeface="Candara" panose="020E0502030303020204" pitchFamily="34" charset="0"/>
                <a:ea typeface="Calibri" pitchFamily="34" charset="-122"/>
                <a:cs typeface="Calibri" pitchFamily="34" charset="-120"/>
              </a:rPr>
              <a:t>Layered architecture  ·  RESTful APIs  ·  real-time streaming</a:t>
            </a:r>
            <a:endParaRPr lang="en-US" sz="1200" dirty="0">
              <a:latin typeface="Candara" panose="020E0502030303020204" pitchFamily="34" charset="0"/>
            </a:endParaRPr>
          </a:p>
        </p:txBody>
      </p:sp>
      <p:sp>
        <p:nvSpPr>
          <p:cNvPr id="4" name="Text 2"/>
          <p:cNvSpPr/>
          <p:nvPr/>
        </p:nvSpPr>
        <p:spPr>
          <a:xfrm>
            <a:off x="5210722" y="531107"/>
            <a:ext cx="6810506" cy="219399"/>
          </a:xfrm>
          <a:prstGeom prst="rect">
            <a:avLst/>
          </a:prstGeom>
          <a:noFill/>
          <a:ln/>
        </p:spPr>
        <p:txBody>
          <a:bodyPr wrap="square" lIns="0" tIns="0" rIns="0" bIns="0" rtlCol="0" anchor="ctr"/>
          <a:lstStyle/>
          <a:p>
            <a:pPr algn="r"/>
            <a:r>
              <a:rPr lang="en-US" sz="1200" dirty="0">
                <a:solidFill>
                  <a:srgbClr val="3ECF80"/>
                </a:solidFill>
                <a:latin typeface="Candara" panose="020E0502030303020204" pitchFamily="34" charset="0"/>
                <a:ea typeface="Consolas" pitchFamily="34" charset="-122"/>
                <a:cs typeface="Consolas" pitchFamily="34" charset="-120"/>
              </a:rPr>
              <a:t>Base:  https://host/api/v1</a:t>
            </a:r>
            <a:endParaRPr lang="en-US" sz="1200" dirty="0">
              <a:latin typeface="Candara" panose="020E0502030303020204" pitchFamily="34" charset="0"/>
            </a:endParaRPr>
          </a:p>
        </p:txBody>
      </p:sp>
      <p:sp>
        <p:nvSpPr>
          <p:cNvPr id="5" name="Shape 3"/>
          <p:cNvSpPr/>
          <p:nvPr/>
        </p:nvSpPr>
        <p:spPr>
          <a:xfrm>
            <a:off x="201115" y="823639"/>
            <a:ext cx="11792688" cy="0"/>
          </a:xfrm>
          <a:prstGeom prst="line">
            <a:avLst/>
          </a:prstGeom>
          <a:noFill/>
          <a:ln w="6350">
            <a:solidFill>
              <a:srgbClr val="1C3D28"/>
            </a:solidFill>
            <a:prstDash val="solid"/>
          </a:ln>
        </p:spPr>
        <p:txBody>
          <a:bodyPr/>
          <a:lstStyle/>
          <a:p>
            <a:endParaRPr lang="en-US" sz="1200">
              <a:latin typeface="Candara" panose="020E0502030303020204" pitchFamily="34" charset="0"/>
            </a:endParaRPr>
          </a:p>
        </p:txBody>
      </p:sp>
      <p:sp>
        <p:nvSpPr>
          <p:cNvPr id="6" name="Shape 4"/>
          <p:cNvSpPr/>
          <p:nvPr/>
        </p:nvSpPr>
        <p:spPr>
          <a:xfrm>
            <a:off x="1526650" y="1728659"/>
            <a:ext cx="0" cy="557639"/>
          </a:xfrm>
          <a:prstGeom prst="line">
            <a:avLst/>
          </a:prstGeom>
          <a:noFill/>
          <a:ln w="9525">
            <a:solidFill>
              <a:srgbClr val="3A6B52"/>
            </a:solidFill>
            <a:prstDash val="sysDot"/>
          </a:ln>
        </p:spPr>
        <p:txBody>
          <a:bodyPr/>
          <a:lstStyle/>
          <a:p>
            <a:endParaRPr lang="en-US" sz="1100">
              <a:latin typeface="Candara" panose="020E0502030303020204" pitchFamily="34" charset="0"/>
            </a:endParaRPr>
          </a:p>
        </p:txBody>
      </p:sp>
      <p:sp>
        <p:nvSpPr>
          <p:cNvPr id="7" name="Text 5"/>
          <p:cNvSpPr/>
          <p:nvPr/>
        </p:nvSpPr>
        <p:spPr>
          <a:xfrm>
            <a:off x="1389525" y="1728659"/>
            <a:ext cx="274249" cy="557639"/>
          </a:xfrm>
          <a:prstGeom prst="rect">
            <a:avLst/>
          </a:prstGeom>
          <a:noFill/>
          <a:ln/>
        </p:spPr>
        <p:txBody>
          <a:bodyPr wrap="square" lIns="0" tIns="0" rIns="0" bIns="0" rtlCol="0" anchor="ctr"/>
          <a:lstStyle/>
          <a:p>
            <a:pPr algn="ctr"/>
            <a:r>
              <a:rPr lang="en-US" sz="1100" dirty="0">
                <a:solidFill>
                  <a:srgbClr val="3A6B52"/>
                </a:solidFill>
                <a:latin typeface="Candara" panose="020E0502030303020204" pitchFamily="34" charset="0"/>
              </a:rPr>
              <a:t>↓</a:t>
            </a:r>
            <a:endParaRPr lang="en-US" sz="1100" dirty="0">
              <a:latin typeface="Candara" panose="020E0502030303020204" pitchFamily="34" charset="0"/>
            </a:endParaRPr>
          </a:p>
        </p:txBody>
      </p:sp>
      <p:sp>
        <p:nvSpPr>
          <p:cNvPr id="8" name="Shape 6"/>
          <p:cNvSpPr/>
          <p:nvPr/>
        </p:nvSpPr>
        <p:spPr>
          <a:xfrm>
            <a:off x="228540" y="988188"/>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9" name="Shape 7"/>
          <p:cNvSpPr/>
          <p:nvPr/>
        </p:nvSpPr>
        <p:spPr>
          <a:xfrm>
            <a:off x="201115" y="960763"/>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1" name="Shape 9"/>
          <p:cNvSpPr/>
          <p:nvPr/>
        </p:nvSpPr>
        <p:spPr>
          <a:xfrm>
            <a:off x="319956" y="1097887"/>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12" name="Text 10"/>
          <p:cNvSpPr/>
          <p:nvPr/>
        </p:nvSpPr>
        <p:spPr>
          <a:xfrm>
            <a:off x="319956" y="1097887"/>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1</a:t>
            </a:r>
            <a:endParaRPr lang="en-US" sz="1100" dirty="0">
              <a:latin typeface="Candara" panose="020E0502030303020204" pitchFamily="34" charset="0"/>
            </a:endParaRPr>
          </a:p>
        </p:txBody>
      </p:sp>
      <p:sp>
        <p:nvSpPr>
          <p:cNvPr id="13" name="Text 11"/>
          <p:cNvSpPr/>
          <p:nvPr/>
        </p:nvSpPr>
        <p:spPr>
          <a:xfrm>
            <a:off x="676479" y="1052179"/>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Presentation Layer</a:t>
            </a:r>
            <a:endParaRPr lang="en-US" sz="1100" dirty="0">
              <a:latin typeface="Candara" panose="020E0502030303020204" pitchFamily="34" charset="0"/>
            </a:endParaRPr>
          </a:p>
        </p:txBody>
      </p:sp>
      <p:sp>
        <p:nvSpPr>
          <p:cNvPr id="14" name="Text 12"/>
          <p:cNvSpPr/>
          <p:nvPr/>
        </p:nvSpPr>
        <p:spPr>
          <a:xfrm>
            <a:off x="676479" y="1362994"/>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Controllers  ·  SignalR Hub</a:t>
            </a:r>
            <a:endParaRPr lang="en-US" sz="1100" dirty="0">
              <a:latin typeface="Candara" panose="020E0502030303020204" pitchFamily="34" charset="0"/>
            </a:endParaRPr>
          </a:p>
        </p:txBody>
      </p:sp>
      <p:sp>
        <p:nvSpPr>
          <p:cNvPr id="15" name="Shape 13"/>
          <p:cNvSpPr/>
          <p:nvPr/>
        </p:nvSpPr>
        <p:spPr>
          <a:xfrm>
            <a:off x="1526650" y="3054194"/>
            <a:ext cx="0" cy="557639"/>
          </a:xfrm>
          <a:prstGeom prst="line">
            <a:avLst/>
          </a:prstGeom>
          <a:noFill/>
          <a:ln w="9525">
            <a:solidFill>
              <a:srgbClr val="3A6B52"/>
            </a:solidFill>
            <a:prstDash val="sysDot"/>
          </a:ln>
        </p:spPr>
        <p:txBody>
          <a:bodyPr/>
          <a:lstStyle/>
          <a:p>
            <a:endParaRPr lang="en-US" sz="1100">
              <a:latin typeface="Candara" panose="020E0502030303020204" pitchFamily="34" charset="0"/>
            </a:endParaRPr>
          </a:p>
        </p:txBody>
      </p:sp>
      <p:sp>
        <p:nvSpPr>
          <p:cNvPr id="16" name="Text 14"/>
          <p:cNvSpPr/>
          <p:nvPr/>
        </p:nvSpPr>
        <p:spPr>
          <a:xfrm>
            <a:off x="1389525" y="3054194"/>
            <a:ext cx="274249" cy="557639"/>
          </a:xfrm>
          <a:prstGeom prst="rect">
            <a:avLst/>
          </a:prstGeom>
          <a:noFill/>
          <a:ln/>
        </p:spPr>
        <p:txBody>
          <a:bodyPr wrap="square" lIns="0" tIns="0" rIns="0" bIns="0" rtlCol="0" anchor="ctr"/>
          <a:lstStyle/>
          <a:p>
            <a:pPr algn="ctr"/>
            <a:r>
              <a:rPr lang="en-US" sz="1100" dirty="0">
                <a:solidFill>
                  <a:srgbClr val="3A6B52"/>
                </a:solidFill>
                <a:latin typeface="Candara" panose="020E0502030303020204" pitchFamily="34" charset="0"/>
              </a:rPr>
              <a:t>↓</a:t>
            </a:r>
            <a:endParaRPr lang="en-US" sz="1100" dirty="0">
              <a:latin typeface="Candara" panose="020E0502030303020204" pitchFamily="34" charset="0"/>
            </a:endParaRPr>
          </a:p>
        </p:txBody>
      </p:sp>
      <p:sp>
        <p:nvSpPr>
          <p:cNvPr id="17" name="Shape 15"/>
          <p:cNvSpPr/>
          <p:nvPr/>
        </p:nvSpPr>
        <p:spPr>
          <a:xfrm>
            <a:off x="228540" y="2313723"/>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8" name="Shape 16"/>
          <p:cNvSpPr/>
          <p:nvPr/>
        </p:nvSpPr>
        <p:spPr>
          <a:xfrm>
            <a:off x="201115" y="2286298"/>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20" name="Shape 18"/>
          <p:cNvSpPr/>
          <p:nvPr/>
        </p:nvSpPr>
        <p:spPr>
          <a:xfrm>
            <a:off x="319956" y="2423422"/>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21" name="Text 19"/>
          <p:cNvSpPr/>
          <p:nvPr/>
        </p:nvSpPr>
        <p:spPr>
          <a:xfrm>
            <a:off x="319956" y="2423422"/>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2</a:t>
            </a:r>
            <a:endParaRPr lang="en-US" sz="1100" dirty="0">
              <a:latin typeface="Candara" panose="020E0502030303020204" pitchFamily="34" charset="0"/>
            </a:endParaRPr>
          </a:p>
        </p:txBody>
      </p:sp>
      <p:sp>
        <p:nvSpPr>
          <p:cNvPr id="22" name="Text 20"/>
          <p:cNvSpPr/>
          <p:nvPr/>
        </p:nvSpPr>
        <p:spPr>
          <a:xfrm>
            <a:off x="676479" y="2377714"/>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Service Layer</a:t>
            </a:r>
            <a:endParaRPr lang="en-US" sz="1100" dirty="0">
              <a:latin typeface="Candara" panose="020E0502030303020204" pitchFamily="34" charset="0"/>
            </a:endParaRPr>
          </a:p>
        </p:txBody>
      </p:sp>
      <p:sp>
        <p:nvSpPr>
          <p:cNvPr id="23" name="Text 21"/>
          <p:cNvSpPr/>
          <p:nvPr/>
        </p:nvSpPr>
        <p:spPr>
          <a:xfrm>
            <a:off x="676479" y="2688529"/>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Business Logic  ·  Validation</a:t>
            </a:r>
            <a:endParaRPr lang="en-US" sz="1100" dirty="0">
              <a:latin typeface="Candara" panose="020E0502030303020204" pitchFamily="34" charset="0"/>
            </a:endParaRPr>
          </a:p>
        </p:txBody>
      </p:sp>
      <p:sp>
        <p:nvSpPr>
          <p:cNvPr id="24" name="Shape 22"/>
          <p:cNvSpPr/>
          <p:nvPr/>
        </p:nvSpPr>
        <p:spPr>
          <a:xfrm>
            <a:off x="1526650" y="4379728"/>
            <a:ext cx="0" cy="557639"/>
          </a:xfrm>
          <a:prstGeom prst="line">
            <a:avLst/>
          </a:prstGeom>
          <a:noFill/>
          <a:ln w="9525">
            <a:solidFill>
              <a:srgbClr val="3A6B52"/>
            </a:solidFill>
            <a:prstDash val="sysDot"/>
          </a:ln>
        </p:spPr>
        <p:txBody>
          <a:bodyPr/>
          <a:lstStyle/>
          <a:p>
            <a:endParaRPr lang="en-US" sz="1100">
              <a:latin typeface="Candara" panose="020E0502030303020204" pitchFamily="34" charset="0"/>
            </a:endParaRPr>
          </a:p>
        </p:txBody>
      </p:sp>
      <p:sp>
        <p:nvSpPr>
          <p:cNvPr id="25" name="Text 23"/>
          <p:cNvSpPr/>
          <p:nvPr/>
        </p:nvSpPr>
        <p:spPr>
          <a:xfrm>
            <a:off x="1389525" y="4379728"/>
            <a:ext cx="274249" cy="557639"/>
          </a:xfrm>
          <a:prstGeom prst="rect">
            <a:avLst/>
          </a:prstGeom>
          <a:noFill/>
          <a:ln/>
        </p:spPr>
        <p:txBody>
          <a:bodyPr wrap="square" lIns="0" tIns="0" rIns="0" bIns="0" rtlCol="0" anchor="ctr"/>
          <a:lstStyle/>
          <a:p>
            <a:pPr algn="ctr"/>
            <a:r>
              <a:rPr lang="en-US" sz="1100" dirty="0">
                <a:solidFill>
                  <a:srgbClr val="3A6B52"/>
                </a:solidFill>
                <a:latin typeface="Candara" panose="020E0502030303020204" pitchFamily="34" charset="0"/>
              </a:rPr>
              <a:t>↓</a:t>
            </a:r>
            <a:endParaRPr lang="en-US" sz="1100" dirty="0">
              <a:latin typeface="Candara" panose="020E0502030303020204" pitchFamily="34" charset="0"/>
            </a:endParaRPr>
          </a:p>
        </p:txBody>
      </p:sp>
      <p:sp>
        <p:nvSpPr>
          <p:cNvPr id="26" name="Shape 24"/>
          <p:cNvSpPr/>
          <p:nvPr/>
        </p:nvSpPr>
        <p:spPr>
          <a:xfrm>
            <a:off x="228540" y="3639257"/>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7" name="Shape 25"/>
          <p:cNvSpPr/>
          <p:nvPr/>
        </p:nvSpPr>
        <p:spPr>
          <a:xfrm>
            <a:off x="201115" y="3611832"/>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29" name="Shape 27"/>
          <p:cNvSpPr/>
          <p:nvPr/>
        </p:nvSpPr>
        <p:spPr>
          <a:xfrm>
            <a:off x="319956" y="3748956"/>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30" name="Text 28"/>
          <p:cNvSpPr/>
          <p:nvPr/>
        </p:nvSpPr>
        <p:spPr>
          <a:xfrm>
            <a:off x="319956" y="3748956"/>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3</a:t>
            </a:r>
            <a:endParaRPr lang="en-US" sz="1100" dirty="0">
              <a:latin typeface="Candara" panose="020E0502030303020204" pitchFamily="34" charset="0"/>
            </a:endParaRPr>
          </a:p>
        </p:txBody>
      </p:sp>
      <p:sp>
        <p:nvSpPr>
          <p:cNvPr id="31" name="Text 29"/>
          <p:cNvSpPr/>
          <p:nvPr/>
        </p:nvSpPr>
        <p:spPr>
          <a:xfrm>
            <a:off x="676479" y="3703249"/>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Data Access Layer</a:t>
            </a:r>
            <a:endParaRPr lang="en-US" sz="1100" dirty="0">
              <a:latin typeface="Candara" panose="020E0502030303020204" pitchFamily="34" charset="0"/>
            </a:endParaRPr>
          </a:p>
        </p:txBody>
      </p:sp>
      <p:sp>
        <p:nvSpPr>
          <p:cNvPr id="32" name="Text 30"/>
          <p:cNvSpPr/>
          <p:nvPr/>
        </p:nvSpPr>
        <p:spPr>
          <a:xfrm>
            <a:off x="676479" y="4014064"/>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EF Core  ·  Repository Pattern</a:t>
            </a:r>
            <a:endParaRPr lang="en-US" sz="1100" dirty="0">
              <a:latin typeface="Candara" panose="020E0502030303020204" pitchFamily="34" charset="0"/>
            </a:endParaRPr>
          </a:p>
        </p:txBody>
      </p:sp>
      <p:sp>
        <p:nvSpPr>
          <p:cNvPr id="33" name="Shape 31"/>
          <p:cNvSpPr/>
          <p:nvPr/>
        </p:nvSpPr>
        <p:spPr>
          <a:xfrm>
            <a:off x="228540" y="4964792"/>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34" name="Shape 32"/>
          <p:cNvSpPr/>
          <p:nvPr/>
        </p:nvSpPr>
        <p:spPr>
          <a:xfrm>
            <a:off x="201115" y="4937367"/>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36" name="Shape 34"/>
          <p:cNvSpPr/>
          <p:nvPr/>
        </p:nvSpPr>
        <p:spPr>
          <a:xfrm>
            <a:off x="319956" y="5074491"/>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37" name="Text 35"/>
          <p:cNvSpPr/>
          <p:nvPr/>
        </p:nvSpPr>
        <p:spPr>
          <a:xfrm>
            <a:off x="319956" y="5074491"/>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4</a:t>
            </a:r>
            <a:endParaRPr lang="en-US" sz="1100" dirty="0">
              <a:latin typeface="Candara" panose="020E0502030303020204" pitchFamily="34" charset="0"/>
            </a:endParaRPr>
          </a:p>
        </p:txBody>
      </p:sp>
      <p:sp>
        <p:nvSpPr>
          <p:cNvPr id="38" name="Text 36"/>
          <p:cNvSpPr/>
          <p:nvPr/>
        </p:nvSpPr>
        <p:spPr>
          <a:xfrm>
            <a:off x="676479" y="5028783"/>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Database Layer</a:t>
            </a:r>
            <a:endParaRPr lang="en-US" sz="1100" dirty="0">
              <a:latin typeface="Candara" panose="020E0502030303020204" pitchFamily="34" charset="0"/>
            </a:endParaRPr>
          </a:p>
        </p:txBody>
      </p:sp>
      <p:sp>
        <p:nvSpPr>
          <p:cNvPr id="39" name="Text 37"/>
          <p:cNvSpPr/>
          <p:nvPr/>
        </p:nvSpPr>
        <p:spPr>
          <a:xfrm>
            <a:off x="676479" y="5339598"/>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SQL Server  ·  IoTMonitoringDB</a:t>
            </a:r>
            <a:endParaRPr lang="en-US" sz="1100" dirty="0">
              <a:latin typeface="Candara" panose="020E0502030303020204" pitchFamily="34" charset="0"/>
            </a:endParaRPr>
          </a:p>
        </p:txBody>
      </p:sp>
      <p:sp>
        <p:nvSpPr>
          <p:cNvPr id="41" name="Shape 39"/>
          <p:cNvSpPr/>
          <p:nvPr/>
        </p:nvSpPr>
        <p:spPr>
          <a:xfrm>
            <a:off x="3204137" y="937910"/>
            <a:ext cx="4296561"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42" name="Shape 40"/>
          <p:cNvSpPr/>
          <p:nvPr/>
        </p:nvSpPr>
        <p:spPr>
          <a:xfrm>
            <a:off x="3181283" y="915056"/>
            <a:ext cx="4296561"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43" name="Shape 41"/>
          <p:cNvSpPr/>
          <p:nvPr/>
        </p:nvSpPr>
        <p:spPr>
          <a:xfrm>
            <a:off x="3181283" y="915055"/>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44" name="Shape 42"/>
          <p:cNvSpPr/>
          <p:nvPr/>
        </p:nvSpPr>
        <p:spPr>
          <a:xfrm>
            <a:off x="3181283" y="1097887"/>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45" name="Text 43"/>
          <p:cNvSpPr/>
          <p:nvPr/>
        </p:nvSpPr>
        <p:spPr>
          <a:xfrm>
            <a:off x="3272699" y="915055"/>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 APIs</a:t>
            </a:r>
            <a:endParaRPr lang="en-US" sz="1100" dirty="0">
              <a:latin typeface="Candara" panose="020E0502030303020204" pitchFamily="34" charset="0"/>
            </a:endParaRPr>
          </a:p>
        </p:txBody>
      </p:sp>
      <p:sp>
        <p:nvSpPr>
          <p:cNvPr id="46" name="Shape 44"/>
          <p:cNvSpPr/>
          <p:nvPr/>
        </p:nvSpPr>
        <p:spPr>
          <a:xfrm>
            <a:off x="3236133" y="1152737"/>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47" name="Shape 45"/>
          <p:cNvSpPr/>
          <p:nvPr/>
        </p:nvSpPr>
        <p:spPr>
          <a:xfrm>
            <a:off x="3254416" y="118930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48" name="Text 46"/>
          <p:cNvSpPr/>
          <p:nvPr/>
        </p:nvSpPr>
        <p:spPr>
          <a:xfrm>
            <a:off x="3254416" y="118930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49" name="Text 47"/>
          <p:cNvSpPr/>
          <p:nvPr/>
        </p:nvSpPr>
        <p:spPr>
          <a:xfrm>
            <a:off x="3876046" y="117102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a:t>
            </a:r>
            <a:endParaRPr lang="en-US" sz="1100" dirty="0">
              <a:latin typeface="Candara" panose="020E0502030303020204" pitchFamily="34" charset="0"/>
            </a:endParaRPr>
          </a:p>
        </p:txBody>
      </p:sp>
      <p:sp>
        <p:nvSpPr>
          <p:cNvPr id="50" name="Shape 48"/>
          <p:cNvSpPr/>
          <p:nvPr/>
        </p:nvSpPr>
        <p:spPr>
          <a:xfrm>
            <a:off x="3217849" y="1309973"/>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51" name="Shape 49"/>
          <p:cNvSpPr/>
          <p:nvPr/>
        </p:nvSpPr>
        <p:spPr>
          <a:xfrm>
            <a:off x="3254416" y="132825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52" name="Text 50"/>
          <p:cNvSpPr/>
          <p:nvPr/>
        </p:nvSpPr>
        <p:spPr>
          <a:xfrm>
            <a:off x="3254416" y="132825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53" name="Text 51"/>
          <p:cNvSpPr/>
          <p:nvPr/>
        </p:nvSpPr>
        <p:spPr>
          <a:xfrm>
            <a:off x="3876046" y="1309973"/>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a:t>
            </a:r>
            <a:endParaRPr lang="en-US" sz="1100" dirty="0">
              <a:latin typeface="Candara" panose="020E0502030303020204" pitchFamily="34" charset="0"/>
            </a:endParaRPr>
          </a:p>
        </p:txBody>
      </p:sp>
      <p:sp>
        <p:nvSpPr>
          <p:cNvPr id="54" name="Shape 52"/>
          <p:cNvSpPr/>
          <p:nvPr/>
        </p:nvSpPr>
        <p:spPr>
          <a:xfrm>
            <a:off x="3254416" y="1467210"/>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55" name="Text 53"/>
          <p:cNvSpPr/>
          <p:nvPr/>
        </p:nvSpPr>
        <p:spPr>
          <a:xfrm>
            <a:off x="3254416" y="1467210"/>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56" name="Text 54"/>
          <p:cNvSpPr/>
          <p:nvPr/>
        </p:nvSpPr>
        <p:spPr>
          <a:xfrm>
            <a:off x="3876046" y="1448926"/>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a:t>
            </a:r>
            <a:endParaRPr lang="en-US" sz="1100" dirty="0">
              <a:latin typeface="Candara" panose="020E0502030303020204" pitchFamily="34" charset="0"/>
            </a:endParaRPr>
          </a:p>
        </p:txBody>
      </p:sp>
      <p:sp>
        <p:nvSpPr>
          <p:cNvPr id="57" name="Shape 55"/>
          <p:cNvSpPr/>
          <p:nvPr/>
        </p:nvSpPr>
        <p:spPr>
          <a:xfrm>
            <a:off x="3217849" y="1587878"/>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58" name="Shape 56"/>
          <p:cNvSpPr/>
          <p:nvPr/>
        </p:nvSpPr>
        <p:spPr>
          <a:xfrm>
            <a:off x="3254416" y="1606161"/>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59" name="Text 57"/>
          <p:cNvSpPr/>
          <p:nvPr/>
        </p:nvSpPr>
        <p:spPr>
          <a:xfrm>
            <a:off x="3254416" y="1606161"/>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60" name="Text 58"/>
          <p:cNvSpPr/>
          <p:nvPr/>
        </p:nvSpPr>
        <p:spPr>
          <a:xfrm>
            <a:off x="3876046" y="1587878"/>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a:t>
            </a:r>
            <a:endParaRPr lang="en-US" sz="1100" dirty="0">
              <a:latin typeface="Candara" panose="020E0502030303020204" pitchFamily="34" charset="0"/>
            </a:endParaRPr>
          </a:p>
        </p:txBody>
      </p:sp>
      <p:sp>
        <p:nvSpPr>
          <p:cNvPr id="61" name="Shape 59"/>
          <p:cNvSpPr/>
          <p:nvPr/>
        </p:nvSpPr>
        <p:spPr>
          <a:xfrm>
            <a:off x="3254416" y="1745114"/>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62" name="Text 60"/>
          <p:cNvSpPr/>
          <p:nvPr/>
        </p:nvSpPr>
        <p:spPr>
          <a:xfrm>
            <a:off x="3254416" y="1745114"/>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63" name="Text 61"/>
          <p:cNvSpPr/>
          <p:nvPr/>
        </p:nvSpPr>
        <p:spPr>
          <a:xfrm>
            <a:off x="3876046" y="172683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a:t>
            </a:r>
            <a:endParaRPr lang="en-US" sz="1100" dirty="0">
              <a:latin typeface="Candara" panose="020E0502030303020204" pitchFamily="34" charset="0"/>
            </a:endParaRPr>
          </a:p>
        </p:txBody>
      </p:sp>
      <p:sp>
        <p:nvSpPr>
          <p:cNvPr id="64" name="Shape 62"/>
          <p:cNvSpPr/>
          <p:nvPr/>
        </p:nvSpPr>
        <p:spPr>
          <a:xfrm>
            <a:off x="3217849" y="1865784"/>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65" name="Shape 63"/>
          <p:cNvSpPr/>
          <p:nvPr/>
        </p:nvSpPr>
        <p:spPr>
          <a:xfrm>
            <a:off x="3254416" y="188406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66" name="Text 64"/>
          <p:cNvSpPr/>
          <p:nvPr/>
        </p:nvSpPr>
        <p:spPr>
          <a:xfrm>
            <a:off x="3254416" y="188406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67" name="Text 65"/>
          <p:cNvSpPr/>
          <p:nvPr/>
        </p:nvSpPr>
        <p:spPr>
          <a:xfrm>
            <a:off x="3876046" y="1865784"/>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/devices/{id}/status</a:t>
            </a:r>
            <a:endParaRPr lang="en-US" sz="1100" dirty="0">
              <a:latin typeface="Candara" panose="020E0502030303020204" pitchFamily="34" charset="0"/>
            </a:endParaRPr>
          </a:p>
        </p:txBody>
      </p:sp>
      <p:sp>
        <p:nvSpPr>
          <p:cNvPr id="68" name="Shape 66"/>
          <p:cNvSpPr/>
          <p:nvPr/>
        </p:nvSpPr>
        <p:spPr>
          <a:xfrm>
            <a:off x="3204137" y="2192139"/>
            <a:ext cx="4296561" cy="1014720"/>
          </a:xfrm>
          <a:prstGeom prst="roundRect">
            <a:avLst>
              <a:gd name="adj" fmla="val 6306"/>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69" name="Shape 67"/>
          <p:cNvSpPr/>
          <p:nvPr/>
        </p:nvSpPr>
        <p:spPr>
          <a:xfrm>
            <a:off x="3181283" y="2169285"/>
            <a:ext cx="4296561" cy="1014720"/>
          </a:xfrm>
          <a:prstGeom prst="roundRect">
            <a:avLst>
              <a:gd name="adj" fmla="val 6306"/>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70" name="Shape 68"/>
          <p:cNvSpPr/>
          <p:nvPr/>
        </p:nvSpPr>
        <p:spPr>
          <a:xfrm>
            <a:off x="3181283" y="2169285"/>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71" name="Shape 69"/>
          <p:cNvSpPr/>
          <p:nvPr/>
        </p:nvSpPr>
        <p:spPr>
          <a:xfrm>
            <a:off x="3181283" y="2352117"/>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72" name="Text 70"/>
          <p:cNvSpPr/>
          <p:nvPr/>
        </p:nvSpPr>
        <p:spPr>
          <a:xfrm>
            <a:off x="3272699" y="2169285"/>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 APIs</a:t>
            </a:r>
            <a:endParaRPr lang="en-US" sz="1100" dirty="0">
              <a:latin typeface="Candara" panose="020E0502030303020204" pitchFamily="34" charset="0"/>
            </a:endParaRPr>
          </a:p>
        </p:txBody>
      </p:sp>
      <p:sp>
        <p:nvSpPr>
          <p:cNvPr id="73" name="Shape 71"/>
          <p:cNvSpPr/>
          <p:nvPr/>
        </p:nvSpPr>
        <p:spPr>
          <a:xfrm>
            <a:off x="3236133" y="2406967"/>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74" name="Shape 72"/>
          <p:cNvSpPr/>
          <p:nvPr/>
        </p:nvSpPr>
        <p:spPr>
          <a:xfrm>
            <a:off x="3254416" y="244353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75" name="Text 73"/>
          <p:cNvSpPr/>
          <p:nvPr/>
        </p:nvSpPr>
        <p:spPr>
          <a:xfrm>
            <a:off x="3254416" y="244353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76" name="Text 74"/>
          <p:cNvSpPr/>
          <p:nvPr/>
        </p:nvSpPr>
        <p:spPr>
          <a:xfrm>
            <a:off x="3876046" y="242525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/sensors/devices/{deviceId}/sensors</a:t>
            </a:r>
            <a:endParaRPr lang="en-US" sz="1100" dirty="0">
              <a:latin typeface="Candara" panose="020E0502030303020204" pitchFamily="34" charset="0"/>
            </a:endParaRPr>
          </a:p>
        </p:txBody>
      </p:sp>
      <p:sp>
        <p:nvSpPr>
          <p:cNvPr id="77" name="Shape 75"/>
          <p:cNvSpPr/>
          <p:nvPr/>
        </p:nvSpPr>
        <p:spPr>
          <a:xfrm>
            <a:off x="3217849" y="2564204"/>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78" name="Shape 76"/>
          <p:cNvSpPr/>
          <p:nvPr/>
        </p:nvSpPr>
        <p:spPr>
          <a:xfrm>
            <a:off x="3254416" y="258248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79" name="Text 77"/>
          <p:cNvSpPr/>
          <p:nvPr/>
        </p:nvSpPr>
        <p:spPr>
          <a:xfrm>
            <a:off x="3254416" y="258248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80" name="Text 78"/>
          <p:cNvSpPr/>
          <p:nvPr/>
        </p:nvSpPr>
        <p:spPr>
          <a:xfrm>
            <a:off x="3876046" y="2564204"/>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/sensors/{id}</a:t>
            </a:r>
            <a:endParaRPr lang="en-US" sz="1100" dirty="0">
              <a:latin typeface="Candara" panose="020E0502030303020204" pitchFamily="34" charset="0"/>
            </a:endParaRPr>
          </a:p>
        </p:txBody>
      </p:sp>
      <p:sp>
        <p:nvSpPr>
          <p:cNvPr id="81" name="Shape 79"/>
          <p:cNvSpPr/>
          <p:nvPr/>
        </p:nvSpPr>
        <p:spPr>
          <a:xfrm>
            <a:off x="3254416" y="2721439"/>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82" name="Text 80"/>
          <p:cNvSpPr/>
          <p:nvPr/>
        </p:nvSpPr>
        <p:spPr>
          <a:xfrm>
            <a:off x="3254416" y="2721439"/>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83" name="Text 81"/>
          <p:cNvSpPr/>
          <p:nvPr/>
        </p:nvSpPr>
        <p:spPr>
          <a:xfrm>
            <a:off x="3876046" y="2703155"/>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/sensors/devices/{deviceId}/sensors</a:t>
            </a:r>
            <a:endParaRPr lang="en-US" sz="1100" dirty="0">
              <a:latin typeface="Candara" panose="020E0502030303020204" pitchFamily="34" charset="0"/>
            </a:endParaRPr>
          </a:p>
        </p:txBody>
      </p:sp>
      <p:sp>
        <p:nvSpPr>
          <p:cNvPr id="84" name="Shape 82"/>
          <p:cNvSpPr/>
          <p:nvPr/>
        </p:nvSpPr>
        <p:spPr>
          <a:xfrm>
            <a:off x="3217849" y="2842108"/>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85" name="Shape 83"/>
          <p:cNvSpPr/>
          <p:nvPr/>
        </p:nvSpPr>
        <p:spPr>
          <a:xfrm>
            <a:off x="3254416" y="2860392"/>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86" name="Text 84"/>
          <p:cNvSpPr/>
          <p:nvPr/>
        </p:nvSpPr>
        <p:spPr>
          <a:xfrm>
            <a:off x="3254416" y="2860392"/>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87" name="Text 85"/>
          <p:cNvSpPr/>
          <p:nvPr/>
        </p:nvSpPr>
        <p:spPr>
          <a:xfrm>
            <a:off x="3876046" y="2842108"/>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/sensors/{id}</a:t>
            </a:r>
            <a:endParaRPr lang="en-US" sz="1100" dirty="0">
              <a:latin typeface="Candara" panose="020E0502030303020204" pitchFamily="34" charset="0"/>
            </a:endParaRPr>
          </a:p>
        </p:txBody>
      </p:sp>
      <p:sp>
        <p:nvSpPr>
          <p:cNvPr id="88" name="Shape 86"/>
          <p:cNvSpPr/>
          <p:nvPr/>
        </p:nvSpPr>
        <p:spPr>
          <a:xfrm>
            <a:off x="3254416" y="2999345"/>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89" name="Text 87"/>
          <p:cNvSpPr/>
          <p:nvPr/>
        </p:nvSpPr>
        <p:spPr>
          <a:xfrm>
            <a:off x="3254416" y="2999345"/>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90" name="Text 88"/>
          <p:cNvSpPr/>
          <p:nvPr/>
        </p:nvSpPr>
        <p:spPr>
          <a:xfrm>
            <a:off x="3876046" y="298106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/sensors/{id}</a:t>
            </a:r>
            <a:endParaRPr lang="en-US" sz="1100" dirty="0">
              <a:latin typeface="Candara" panose="020E0502030303020204" pitchFamily="34" charset="0"/>
            </a:endParaRPr>
          </a:p>
        </p:txBody>
      </p:sp>
      <p:sp>
        <p:nvSpPr>
          <p:cNvPr id="91" name="Shape 89"/>
          <p:cNvSpPr/>
          <p:nvPr/>
        </p:nvSpPr>
        <p:spPr>
          <a:xfrm>
            <a:off x="3204137" y="3307417"/>
            <a:ext cx="4296561"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92" name="Shape 90"/>
          <p:cNvSpPr/>
          <p:nvPr/>
        </p:nvSpPr>
        <p:spPr>
          <a:xfrm>
            <a:off x="3181283" y="3284563"/>
            <a:ext cx="4296561"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93" name="Shape 91"/>
          <p:cNvSpPr/>
          <p:nvPr/>
        </p:nvSpPr>
        <p:spPr>
          <a:xfrm>
            <a:off x="3181283" y="3284563"/>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94" name="Shape 92"/>
          <p:cNvSpPr/>
          <p:nvPr/>
        </p:nvSpPr>
        <p:spPr>
          <a:xfrm>
            <a:off x="3181283" y="3467395"/>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95" name="Text 93"/>
          <p:cNvSpPr/>
          <p:nvPr/>
        </p:nvSpPr>
        <p:spPr>
          <a:xfrm>
            <a:off x="3272699" y="3284563"/>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 Readings  —  Core IoT</a:t>
            </a:r>
            <a:endParaRPr lang="en-US" sz="1100" dirty="0">
              <a:latin typeface="Candara" panose="020E0502030303020204" pitchFamily="34" charset="0"/>
            </a:endParaRPr>
          </a:p>
        </p:txBody>
      </p:sp>
      <p:sp>
        <p:nvSpPr>
          <p:cNvPr id="96" name="Shape 94"/>
          <p:cNvSpPr/>
          <p:nvPr/>
        </p:nvSpPr>
        <p:spPr>
          <a:xfrm>
            <a:off x="3236133" y="3522245"/>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97" name="Shape 95"/>
          <p:cNvSpPr/>
          <p:nvPr/>
        </p:nvSpPr>
        <p:spPr>
          <a:xfrm>
            <a:off x="3254416" y="3558812"/>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98" name="Text 96"/>
          <p:cNvSpPr/>
          <p:nvPr/>
        </p:nvSpPr>
        <p:spPr>
          <a:xfrm>
            <a:off x="3254416" y="3558812"/>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99" name="Text 97"/>
          <p:cNvSpPr/>
          <p:nvPr/>
        </p:nvSpPr>
        <p:spPr>
          <a:xfrm>
            <a:off x="3876046" y="3540528"/>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a:t>
            </a:r>
            <a:endParaRPr lang="en-US" sz="1100" dirty="0">
              <a:latin typeface="Candara" panose="020E0502030303020204" pitchFamily="34" charset="0"/>
            </a:endParaRPr>
          </a:p>
        </p:txBody>
      </p:sp>
      <p:sp>
        <p:nvSpPr>
          <p:cNvPr id="100" name="Shape 98"/>
          <p:cNvSpPr/>
          <p:nvPr/>
        </p:nvSpPr>
        <p:spPr>
          <a:xfrm>
            <a:off x="3217849" y="3679481"/>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01" name="Shape 99"/>
          <p:cNvSpPr/>
          <p:nvPr/>
        </p:nvSpPr>
        <p:spPr>
          <a:xfrm>
            <a:off x="3254416" y="3697765"/>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02" name="Text 100"/>
          <p:cNvSpPr/>
          <p:nvPr/>
        </p:nvSpPr>
        <p:spPr>
          <a:xfrm>
            <a:off x="3254416" y="3697765"/>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03" name="Text 101"/>
          <p:cNvSpPr/>
          <p:nvPr/>
        </p:nvSpPr>
        <p:spPr>
          <a:xfrm>
            <a:off x="3876046" y="367948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/sensorreadings/batch</a:t>
            </a:r>
            <a:endParaRPr lang="en-US" sz="1100" dirty="0">
              <a:latin typeface="Candara" panose="020E0502030303020204" pitchFamily="34" charset="0"/>
            </a:endParaRPr>
          </a:p>
        </p:txBody>
      </p:sp>
      <p:sp>
        <p:nvSpPr>
          <p:cNvPr id="104" name="Shape 102"/>
          <p:cNvSpPr/>
          <p:nvPr/>
        </p:nvSpPr>
        <p:spPr>
          <a:xfrm>
            <a:off x="3254416" y="3836716"/>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05" name="Text 103"/>
          <p:cNvSpPr/>
          <p:nvPr/>
        </p:nvSpPr>
        <p:spPr>
          <a:xfrm>
            <a:off x="3254416" y="3836716"/>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06" name="Text 104"/>
          <p:cNvSpPr/>
          <p:nvPr/>
        </p:nvSpPr>
        <p:spPr>
          <a:xfrm>
            <a:off x="3876046" y="3818433"/>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a:t>
            </a:r>
            <a:endParaRPr lang="en-US" sz="1100" dirty="0">
              <a:latin typeface="Candara" panose="020E0502030303020204" pitchFamily="34" charset="0"/>
            </a:endParaRPr>
          </a:p>
        </p:txBody>
      </p:sp>
      <p:sp>
        <p:nvSpPr>
          <p:cNvPr id="107" name="Shape 105"/>
          <p:cNvSpPr/>
          <p:nvPr/>
        </p:nvSpPr>
        <p:spPr>
          <a:xfrm>
            <a:off x="3217849" y="3957386"/>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08" name="Shape 106"/>
          <p:cNvSpPr/>
          <p:nvPr/>
        </p:nvSpPr>
        <p:spPr>
          <a:xfrm>
            <a:off x="3254416" y="3975669"/>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09" name="Text 107"/>
          <p:cNvSpPr/>
          <p:nvPr/>
        </p:nvSpPr>
        <p:spPr>
          <a:xfrm>
            <a:off x="3254416" y="3975669"/>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10" name="Text 108"/>
          <p:cNvSpPr/>
          <p:nvPr/>
        </p:nvSpPr>
        <p:spPr>
          <a:xfrm>
            <a:off x="3876046" y="3957386"/>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/sensorreadings/{id}</a:t>
            </a:r>
            <a:endParaRPr lang="en-US" sz="1100" dirty="0">
              <a:latin typeface="Candara" panose="020E0502030303020204" pitchFamily="34" charset="0"/>
            </a:endParaRPr>
          </a:p>
        </p:txBody>
      </p:sp>
      <p:sp>
        <p:nvSpPr>
          <p:cNvPr id="111" name="Shape 109"/>
          <p:cNvSpPr/>
          <p:nvPr/>
        </p:nvSpPr>
        <p:spPr>
          <a:xfrm>
            <a:off x="3254416" y="4114622"/>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12" name="Text 110"/>
          <p:cNvSpPr/>
          <p:nvPr/>
        </p:nvSpPr>
        <p:spPr>
          <a:xfrm>
            <a:off x="3254416" y="4114622"/>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13" name="Text 111"/>
          <p:cNvSpPr/>
          <p:nvPr/>
        </p:nvSpPr>
        <p:spPr>
          <a:xfrm>
            <a:off x="3876046" y="4096339"/>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/sensorreadings/devices/{deviceId}/readings</a:t>
            </a:r>
            <a:endParaRPr lang="en-US" sz="1100" dirty="0">
              <a:latin typeface="Candara" panose="020E0502030303020204" pitchFamily="34" charset="0"/>
            </a:endParaRPr>
          </a:p>
        </p:txBody>
      </p:sp>
      <p:sp>
        <p:nvSpPr>
          <p:cNvPr id="114" name="Shape 112"/>
          <p:cNvSpPr/>
          <p:nvPr/>
        </p:nvSpPr>
        <p:spPr>
          <a:xfrm>
            <a:off x="3217849" y="4235291"/>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15" name="Shape 113"/>
          <p:cNvSpPr/>
          <p:nvPr/>
        </p:nvSpPr>
        <p:spPr>
          <a:xfrm>
            <a:off x="3254416" y="4253575"/>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16" name="Text 114"/>
          <p:cNvSpPr/>
          <p:nvPr/>
        </p:nvSpPr>
        <p:spPr>
          <a:xfrm>
            <a:off x="3254416" y="4253575"/>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17" name="Text 115"/>
          <p:cNvSpPr/>
          <p:nvPr/>
        </p:nvSpPr>
        <p:spPr>
          <a:xfrm>
            <a:off x="3876046" y="423529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/sensorreadings/sensors/{sensorId}/readings</a:t>
            </a:r>
            <a:endParaRPr lang="en-US" sz="1100" dirty="0">
              <a:latin typeface="Candara" panose="020E0502030303020204" pitchFamily="34" charset="0"/>
            </a:endParaRPr>
          </a:p>
        </p:txBody>
      </p:sp>
      <p:sp>
        <p:nvSpPr>
          <p:cNvPr id="118" name="Shape 116"/>
          <p:cNvSpPr/>
          <p:nvPr/>
        </p:nvSpPr>
        <p:spPr>
          <a:xfrm>
            <a:off x="3204137" y="4561647"/>
            <a:ext cx="4296561" cy="1014720"/>
          </a:xfrm>
          <a:prstGeom prst="roundRect">
            <a:avLst>
              <a:gd name="adj" fmla="val 6306"/>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19" name="Shape 117"/>
          <p:cNvSpPr/>
          <p:nvPr/>
        </p:nvSpPr>
        <p:spPr>
          <a:xfrm>
            <a:off x="3181283" y="4538793"/>
            <a:ext cx="4296561" cy="1014720"/>
          </a:xfrm>
          <a:prstGeom prst="roundRect">
            <a:avLst>
              <a:gd name="adj" fmla="val 6306"/>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20" name="Shape 118"/>
          <p:cNvSpPr/>
          <p:nvPr/>
        </p:nvSpPr>
        <p:spPr>
          <a:xfrm>
            <a:off x="3181283" y="4538793"/>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21" name="Shape 119"/>
          <p:cNvSpPr/>
          <p:nvPr/>
        </p:nvSpPr>
        <p:spPr>
          <a:xfrm>
            <a:off x="3181283" y="4721625"/>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22" name="Text 120"/>
          <p:cNvSpPr/>
          <p:nvPr/>
        </p:nvSpPr>
        <p:spPr>
          <a:xfrm>
            <a:off x="3272699" y="4538793"/>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 APIs</a:t>
            </a:r>
            <a:endParaRPr lang="en-US" sz="1100" dirty="0">
              <a:latin typeface="Candara" panose="020E0502030303020204" pitchFamily="34" charset="0"/>
            </a:endParaRPr>
          </a:p>
        </p:txBody>
      </p:sp>
      <p:sp>
        <p:nvSpPr>
          <p:cNvPr id="123" name="Shape 121"/>
          <p:cNvSpPr/>
          <p:nvPr/>
        </p:nvSpPr>
        <p:spPr>
          <a:xfrm>
            <a:off x="3236133" y="4776475"/>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124" name="Shape 122"/>
          <p:cNvSpPr/>
          <p:nvPr/>
        </p:nvSpPr>
        <p:spPr>
          <a:xfrm>
            <a:off x="3254416" y="4813042"/>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25" name="Text 123"/>
          <p:cNvSpPr/>
          <p:nvPr/>
        </p:nvSpPr>
        <p:spPr>
          <a:xfrm>
            <a:off x="3254416" y="4813042"/>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26" name="Text 124"/>
          <p:cNvSpPr/>
          <p:nvPr/>
        </p:nvSpPr>
        <p:spPr>
          <a:xfrm>
            <a:off x="3876046" y="4794759"/>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a:t>
            </a:r>
            <a:endParaRPr lang="en-US" sz="1100" dirty="0">
              <a:latin typeface="Candara" panose="020E0502030303020204" pitchFamily="34" charset="0"/>
            </a:endParaRPr>
          </a:p>
        </p:txBody>
      </p:sp>
      <p:sp>
        <p:nvSpPr>
          <p:cNvPr id="127" name="Shape 125"/>
          <p:cNvSpPr/>
          <p:nvPr/>
        </p:nvSpPr>
        <p:spPr>
          <a:xfrm>
            <a:off x="3217849" y="4933710"/>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28" name="Shape 126"/>
          <p:cNvSpPr/>
          <p:nvPr/>
        </p:nvSpPr>
        <p:spPr>
          <a:xfrm>
            <a:off x="3254416" y="495199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29" name="Text 127"/>
          <p:cNvSpPr/>
          <p:nvPr/>
        </p:nvSpPr>
        <p:spPr>
          <a:xfrm>
            <a:off x="3254416" y="495199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30" name="Text 128"/>
          <p:cNvSpPr/>
          <p:nvPr/>
        </p:nvSpPr>
        <p:spPr>
          <a:xfrm>
            <a:off x="3876046" y="4933710"/>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/alerts/active</a:t>
            </a:r>
            <a:endParaRPr lang="en-US" sz="1100" dirty="0">
              <a:latin typeface="Candara" panose="020E0502030303020204" pitchFamily="34" charset="0"/>
            </a:endParaRPr>
          </a:p>
        </p:txBody>
      </p:sp>
      <p:sp>
        <p:nvSpPr>
          <p:cNvPr id="131" name="Shape 129"/>
          <p:cNvSpPr/>
          <p:nvPr/>
        </p:nvSpPr>
        <p:spPr>
          <a:xfrm>
            <a:off x="3254416" y="509094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32" name="Text 130"/>
          <p:cNvSpPr/>
          <p:nvPr/>
        </p:nvSpPr>
        <p:spPr>
          <a:xfrm>
            <a:off x="3254416" y="509094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33" name="Text 131"/>
          <p:cNvSpPr/>
          <p:nvPr/>
        </p:nvSpPr>
        <p:spPr>
          <a:xfrm>
            <a:off x="3876046" y="5072663"/>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/alerts/{id}</a:t>
            </a:r>
            <a:endParaRPr lang="en-US" sz="1100" dirty="0">
              <a:latin typeface="Candara" panose="020E0502030303020204" pitchFamily="34" charset="0"/>
            </a:endParaRPr>
          </a:p>
        </p:txBody>
      </p:sp>
      <p:sp>
        <p:nvSpPr>
          <p:cNvPr id="134" name="Shape 132"/>
          <p:cNvSpPr/>
          <p:nvPr/>
        </p:nvSpPr>
        <p:spPr>
          <a:xfrm>
            <a:off x="3217849" y="5211616"/>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35" name="Shape 133"/>
          <p:cNvSpPr/>
          <p:nvPr/>
        </p:nvSpPr>
        <p:spPr>
          <a:xfrm>
            <a:off x="3254416" y="5229900"/>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36" name="Text 134"/>
          <p:cNvSpPr/>
          <p:nvPr/>
        </p:nvSpPr>
        <p:spPr>
          <a:xfrm>
            <a:off x="3254416" y="5229900"/>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137" name="Text 135"/>
          <p:cNvSpPr/>
          <p:nvPr/>
        </p:nvSpPr>
        <p:spPr>
          <a:xfrm>
            <a:off x="3876046" y="5211616"/>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/alerts/{id}/acknowledge</a:t>
            </a:r>
            <a:endParaRPr lang="en-US" sz="1100" dirty="0">
              <a:latin typeface="Candara" panose="020E0502030303020204" pitchFamily="34" charset="0"/>
            </a:endParaRPr>
          </a:p>
        </p:txBody>
      </p:sp>
      <p:sp>
        <p:nvSpPr>
          <p:cNvPr id="138" name="Shape 136"/>
          <p:cNvSpPr/>
          <p:nvPr/>
        </p:nvSpPr>
        <p:spPr>
          <a:xfrm>
            <a:off x="3254416" y="5368852"/>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39" name="Text 137"/>
          <p:cNvSpPr/>
          <p:nvPr/>
        </p:nvSpPr>
        <p:spPr>
          <a:xfrm>
            <a:off x="3254416" y="5368852"/>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140" name="Text 138"/>
          <p:cNvSpPr/>
          <p:nvPr/>
        </p:nvSpPr>
        <p:spPr>
          <a:xfrm>
            <a:off x="3876046" y="5350569"/>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/alerts/{id}/resolve</a:t>
            </a:r>
            <a:endParaRPr lang="en-US" sz="1100" dirty="0">
              <a:latin typeface="Candara" panose="020E0502030303020204" pitchFamily="34" charset="0"/>
            </a:endParaRPr>
          </a:p>
        </p:txBody>
      </p:sp>
      <p:sp>
        <p:nvSpPr>
          <p:cNvPr id="141" name="Shape 139"/>
          <p:cNvSpPr/>
          <p:nvPr/>
        </p:nvSpPr>
        <p:spPr>
          <a:xfrm>
            <a:off x="7610397" y="937910"/>
            <a:ext cx="4433685"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42" name="Shape 140"/>
          <p:cNvSpPr/>
          <p:nvPr/>
        </p:nvSpPr>
        <p:spPr>
          <a:xfrm>
            <a:off x="7587543" y="915056"/>
            <a:ext cx="4433685"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43" name="Shape 141"/>
          <p:cNvSpPr/>
          <p:nvPr/>
        </p:nvSpPr>
        <p:spPr>
          <a:xfrm>
            <a:off x="7587543" y="915055"/>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44" name="Shape 142"/>
          <p:cNvSpPr/>
          <p:nvPr/>
        </p:nvSpPr>
        <p:spPr>
          <a:xfrm>
            <a:off x="7587543" y="1097887"/>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45" name="Text 143"/>
          <p:cNvSpPr/>
          <p:nvPr/>
        </p:nvSpPr>
        <p:spPr>
          <a:xfrm>
            <a:off x="7678959" y="915055"/>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 Rules</a:t>
            </a:r>
            <a:endParaRPr lang="en-US" sz="1100" dirty="0">
              <a:latin typeface="Candara" panose="020E0502030303020204" pitchFamily="34" charset="0"/>
            </a:endParaRPr>
          </a:p>
        </p:txBody>
      </p:sp>
      <p:sp>
        <p:nvSpPr>
          <p:cNvPr id="146" name="Shape 144"/>
          <p:cNvSpPr/>
          <p:nvPr/>
        </p:nvSpPr>
        <p:spPr>
          <a:xfrm>
            <a:off x="7642393" y="1152737"/>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147" name="Shape 145"/>
          <p:cNvSpPr/>
          <p:nvPr/>
        </p:nvSpPr>
        <p:spPr>
          <a:xfrm>
            <a:off x="7660676" y="118930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48" name="Text 146"/>
          <p:cNvSpPr/>
          <p:nvPr/>
        </p:nvSpPr>
        <p:spPr>
          <a:xfrm>
            <a:off x="7660676" y="118930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49" name="Text 147"/>
          <p:cNvSpPr/>
          <p:nvPr/>
        </p:nvSpPr>
        <p:spPr>
          <a:xfrm>
            <a:off x="8282306" y="117102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a:t>
            </a:r>
            <a:endParaRPr lang="en-US" sz="1100" dirty="0">
              <a:latin typeface="Candara" panose="020E0502030303020204" pitchFamily="34" charset="0"/>
            </a:endParaRPr>
          </a:p>
        </p:txBody>
      </p:sp>
      <p:sp>
        <p:nvSpPr>
          <p:cNvPr id="150" name="Shape 148"/>
          <p:cNvSpPr/>
          <p:nvPr/>
        </p:nvSpPr>
        <p:spPr>
          <a:xfrm>
            <a:off x="7624110" y="1309973"/>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51" name="Shape 149"/>
          <p:cNvSpPr/>
          <p:nvPr/>
        </p:nvSpPr>
        <p:spPr>
          <a:xfrm>
            <a:off x="7660676" y="132825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52" name="Text 150"/>
          <p:cNvSpPr/>
          <p:nvPr/>
        </p:nvSpPr>
        <p:spPr>
          <a:xfrm>
            <a:off x="7660676" y="132825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53" name="Text 151"/>
          <p:cNvSpPr/>
          <p:nvPr/>
        </p:nvSpPr>
        <p:spPr>
          <a:xfrm>
            <a:off x="8282306" y="1309973"/>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/alertrules/{id}</a:t>
            </a:r>
            <a:endParaRPr lang="en-US" sz="1100" dirty="0">
              <a:latin typeface="Candara" panose="020E0502030303020204" pitchFamily="34" charset="0"/>
            </a:endParaRPr>
          </a:p>
        </p:txBody>
      </p:sp>
      <p:sp>
        <p:nvSpPr>
          <p:cNvPr id="154" name="Shape 152"/>
          <p:cNvSpPr/>
          <p:nvPr/>
        </p:nvSpPr>
        <p:spPr>
          <a:xfrm>
            <a:off x="7660676" y="1467210"/>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55" name="Text 153"/>
          <p:cNvSpPr/>
          <p:nvPr/>
        </p:nvSpPr>
        <p:spPr>
          <a:xfrm>
            <a:off x="7660676" y="1467210"/>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56" name="Text 154"/>
          <p:cNvSpPr/>
          <p:nvPr/>
        </p:nvSpPr>
        <p:spPr>
          <a:xfrm>
            <a:off x="8282306" y="1448926"/>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/alertrules/devices/{deviceId}</a:t>
            </a:r>
            <a:endParaRPr lang="en-US" sz="1100" dirty="0">
              <a:latin typeface="Candara" panose="020E0502030303020204" pitchFamily="34" charset="0"/>
            </a:endParaRPr>
          </a:p>
        </p:txBody>
      </p:sp>
      <p:sp>
        <p:nvSpPr>
          <p:cNvPr id="157" name="Shape 155"/>
          <p:cNvSpPr/>
          <p:nvPr/>
        </p:nvSpPr>
        <p:spPr>
          <a:xfrm>
            <a:off x="7624110" y="1587878"/>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58" name="Shape 156"/>
          <p:cNvSpPr/>
          <p:nvPr/>
        </p:nvSpPr>
        <p:spPr>
          <a:xfrm>
            <a:off x="7660676" y="1606161"/>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59" name="Text 157"/>
          <p:cNvSpPr/>
          <p:nvPr/>
        </p:nvSpPr>
        <p:spPr>
          <a:xfrm>
            <a:off x="7660676" y="1606161"/>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60" name="Text 158"/>
          <p:cNvSpPr/>
          <p:nvPr/>
        </p:nvSpPr>
        <p:spPr>
          <a:xfrm>
            <a:off x="8282306" y="1587878"/>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a:t>
            </a:r>
            <a:endParaRPr lang="en-US" sz="1100" dirty="0">
              <a:latin typeface="Candara" panose="020E0502030303020204" pitchFamily="34" charset="0"/>
            </a:endParaRPr>
          </a:p>
        </p:txBody>
      </p:sp>
      <p:sp>
        <p:nvSpPr>
          <p:cNvPr id="161" name="Shape 159"/>
          <p:cNvSpPr/>
          <p:nvPr/>
        </p:nvSpPr>
        <p:spPr>
          <a:xfrm>
            <a:off x="7660676" y="1745114"/>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62" name="Text 160"/>
          <p:cNvSpPr/>
          <p:nvPr/>
        </p:nvSpPr>
        <p:spPr>
          <a:xfrm>
            <a:off x="7660676" y="1745114"/>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163" name="Text 161"/>
          <p:cNvSpPr/>
          <p:nvPr/>
        </p:nvSpPr>
        <p:spPr>
          <a:xfrm>
            <a:off x="8282306" y="172683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/alertrules/{id}</a:t>
            </a:r>
            <a:endParaRPr lang="en-US" sz="1100" dirty="0">
              <a:latin typeface="Candara" panose="020E0502030303020204" pitchFamily="34" charset="0"/>
            </a:endParaRPr>
          </a:p>
        </p:txBody>
      </p:sp>
      <p:sp>
        <p:nvSpPr>
          <p:cNvPr id="164" name="Shape 162"/>
          <p:cNvSpPr/>
          <p:nvPr/>
        </p:nvSpPr>
        <p:spPr>
          <a:xfrm>
            <a:off x="7624110" y="1865784"/>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65" name="Shape 163"/>
          <p:cNvSpPr/>
          <p:nvPr/>
        </p:nvSpPr>
        <p:spPr>
          <a:xfrm>
            <a:off x="7660676" y="1884067"/>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166" name="Text 164"/>
          <p:cNvSpPr/>
          <p:nvPr/>
        </p:nvSpPr>
        <p:spPr>
          <a:xfrm>
            <a:off x="7660676" y="1884067"/>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167" name="Text 165"/>
          <p:cNvSpPr/>
          <p:nvPr/>
        </p:nvSpPr>
        <p:spPr>
          <a:xfrm>
            <a:off x="8282306" y="1865784"/>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/alertrules/{id}</a:t>
            </a:r>
            <a:endParaRPr lang="en-US" sz="1100" dirty="0">
              <a:latin typeface="Candara" panose="020E0502030303020204" pitchFamily="34" charset="0"/>
            </a:endParaRPr>
          </a:p>
        </p:txBody>
      </p:sp>
      <p:sp>
        <p:nvSpPr>
          <p:cNvPr id="168" name="Shape 166"/>
          <p:cNvSpPr/>
          <p:nvPr/>
        </p:nvSpPr>
        <p:spPr>
          <a:xfrm>
            <a:off x="7610397" y="2192140"/>
            <a:ext cx="4433685"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69" name="Shape 167"/>
          <p:cNvSpPr/>
          <p:nvPr/>
        </p:nvSpPr>
        <p:spPr>
          <a:xfrm>
            <a:off x="7587543" y="2169286"/>
            <a:ext cx="4433685"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70" name="Shape 168"/>
          <p:cNvSpPr/>
          <p:nvPr/>
        </p:nvSpPr>
        <p:spPr>
          <a:xfrm>
            <a:off x="7587543" y="2169285"/>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71" name="Shape 169"/>
          <p:cNvSpPr/>
          <p:nvPr/>
        </p:nvSpPr>
        <p:spPr>
          <a:xfrm>
            <a:off x="7587543" y="2352117"/>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72" name="Text 170"/>
          <p:cNvSpPr/>
          <p:nvPr/>
        </p:nvSpPr>
        <p:spPr>
          <a:xfrm>
            <a:off x="7678959" y="2169285"/>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Actuators &amp; Commands</a:t>
            </a:r>
            <a:endParaRPr lang="en-US" sz="1100" dirty="0">
              <a:latin typeface="Candara" panose="020E0502030303020204" pitchFamily="34" charset="0"/>
            </a:endParaRPr>
          </a:p>
        </p:txBody>
      </p:sp>
      <p:sp>
        <p:nvSpPr>
          <p:cNvPr id="173" name="Shape 171"/>
          <p:cNvSpPr/>
          <p:nvPr/>
        </p:nvSpPr>
        <p:spPr>
          <a:xfrm>
            <a:off x="7642393" y="2406967"/>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174" name="Shape 172"/>
          <p:cNvSpPr/>
          <p:nvPr/>
        </p:nvSpPr>
        <p:spPr>
          <a:xfrm>
            <a:off x="7660676" y="244353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75" name="Text 173"/>
          <p:cNvSpPr/>
          <p:nvPr/>
        </p:nvSpPr>
        <p:spPr>
          <a:xfrm>
            <a:off x="7660676" y="244353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76" name="Text 174"/>
          <p:cNvSpPr/>
          <p:nvPr/>
        </p:nvSpPr>
        <p:spPr>
          <a:xfrm>
            <a:off x="8282306" y="242525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/actuators/devices/{deviceId}/actuators</a:t>
            </a:r>
            <a:endParaRPr lang="en-US" sz="1100" dirty="0">
              <a:latin typeface="Candara" panose="020E0502030303020204" pitchFamily="34" charset="0"/>
            </a:endParaRPr>
          </a:p>
        </p:txBody>
      </p:sp>
      <p:sp>
        <p:nvSpPr>
          <p:cNvPr id="177" name="Shape 175"/>
          <p:cNvSpPr/>
          <p:nvPr/>
        </p:nvSpPr>
        <p:spPr>
          <a:xfrm>
            <a:off x="7624110" y="2564204"/>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78" name="Shape 176"/>
          <p:cNvSpPr/>
          <p:nvPr/>
        </p:nvSpPr>
        <p:spPr>
          <a:xfrm>
            <a:off x="7660676" y="2582487"/>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79" name="Text 177"/>
          <p:cNvSpPr/>
          <p:nvPr/>
        </p:nvSpPr>
        <p:spPr>
          <a:xfrm>
            <a:off x="7660676" y="2582487"/>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80" name="Text 178"/>
          <p:cNvSpPr/>
          <p:nvPr/>
        </p:nvSpPr>
        <p:spPr>
          <a:xfrm>
            <a:off x="8282306" y="2564204"/>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/actuators/devices/{deviceId}/actuators</a:t>
            </a:r>
            <a:endParaRPr lang="en-US" sz="1100" dirty="0">
              <a:latin typeface="Candara" panose="020E0502030303020204" pitchFamily="34" charset="0"/>
            </a:endParaRPr>
          </a:p>
        </p:txBody>
      </p:sp>
      <p:sp>
        <p:nvSpPr>
          <p:cNvPr id="181" name="Shape 179"/>
          <p:cNvSpPr/>
          <p:nvPr/>
        </p:nvSpPr>
        <p:spPr>
          <a:xfrm>
            <a:off x="7660676" y="2721439"/>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82" name="Text 180"/>
          <p:cNvSpPr/>
          <p:nvPr/>
        </p:nvSpPr>
        <p:spPr>
          <a:xfrm>
            <a:off x="7660676" y="2721439"/>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PUT/DELETE</a:t>
            </a:r>
            <a:endParaRPr lang="en-US" sz="1100" dirty="0">
              <a:latin typeface="Candara" panose="020E0502030303020204" pitchFamily="34" charset="0"/>
            </a:endParaRPr>
          </a:p>
        </p:txBody>
      </p:sp>
      <p:sp>
        <p:nvSpPr>
          <p:cNvPr id="183" name="Text 181"/>
          <p:cNvSpPr/>
          <p:nvPr/>
        </p:nvSpPr>
        <p:spPr>
          <a:xfrm>
            <a:off x="8282306" y="2703155"/>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/actuators/devices/{deviceId}/actuators/{id}</a:t>
            </a:r>
            <a:endParaRPr lang="en-US" sz="1100" dirty="0">
              <a:latin typeface="Candara" panose="020E0502030303020204" pitchFamily="34" charset="0"/>
            </a:endParaRPr>
          </a:p>
        </p:txBody>
      </p:sp>
      <p:sp>
        <p:nvSpPr>
          <p:cNvPr id="184" name="Shape 182"/>
          <p:cNvSpPr/>
          <p:nvPr/>
        </p:nvSpPr>
        <p:spPr>
          <a:xfrm>
            <a:off x="7624110" y="2842108"/>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85" name="Shape 183"/>
          <p:cNvSpPr/>
          <p:nvPr/>
        </p:nvSpPr>
        <p:spPr>
          <a:xfrm>
            <a:off x="7660676" y="2860392"/>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86" name="Text 184"/>
          <p:cNvSpPr/>
          <p:nvPr/>
        </p:nvSpPr>
        <p:spPr>
          <a:xfrm>
            <a:off x="7660676" y="2860392"/>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87" name="Text 185"/>
          <p:cNvSpPr/>
          <p:nvPr/>
        </p:nvSpPr>
        <p:spPr>
          <a:xfrm>
            <a:off x="8282306" y="2842108"/>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/devices/{deviceId}/commands</a:t>
            </a:r>
            <a:endParaRPr lang="en-US" sz="1100" dirty="0">
              <a:latin typeface="Candara" panose="020E0502030303020204" pitchFamily="34" charset="0"/>
            </a:endParaRPr>
          </a:p>
        </p:txBody>
      </p:sp>
      <p:sp>
        <p:nvSpPr>
          <p:cNvPr id="188" name="Shape 186"/>
          <p:cNvSpPr/>
          <p:nvPr/>
        </p:nvSpPr>
        <p:spPr>
          <a:xfrm>
            <a:off x="7660676" y="2999345"/>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89" name="Text 187"/>
          <p:cNvSpPr/>
          <p:nvPr/>
        </p:nvSpPr>
        <p:spPr>
          <a:xfrm>
            <a:off x="7660676" y="2999345"/>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90" name="Text 188"/>
          <p:cNvSpPr/>
          <p:nvPr/>
        </p:nvSpPr>
        <p:spPr>
          <a:xfrm>
            <a:off x="8282306" y="298106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/devices/{deviceId}/commands</a:t>
            </a:r>
            <a:endParaRPr lang="en-US" sz="1100" dirty="0">
              <a:latin typeface="Candara" panose="020E0502030303020204" pitchFamily="34" charset="0"/>
            </a:endParaRPr>
          </a:p>
        </p:txBody>
      </p:sp>
      <p:sp>
        <p:nvSpPr>
          <p:cNvPr id="191" name="Shape 189"/>
          <p:cNvSpPr/>
          <p:nvPr/>
        </p:nvSpPr>
        <p:spPr>
          <a:xfrm>
            <a:off x="7624110" y="3120014"/>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92" name="Shape 190"/>
          <p:cNvSpPr/>
          <p:nvPr/>
        </p:nvSpPr>
        <p:spPr>
          <a:xfrm>
            <a:off x="7660676" y="313829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93" name="Text 191"/>
          <p:cNvSpPr/>
          <p:nvPr/>
        </p:nvSpPr>
        <p:spPr>
          <a:xfrm>
            <a:off x="7660676" y="313829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94" name="Text 192"/>
          <p:cNvSpPr/>
          <p:nvPr/>
        </p:nvSpPr>
        <p:spPr>
          <a:xfrm>
            <a:off x="8282306" y="3120014"/>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/commands/{commandId}</a:t>
            </a:r>
            <a:endParaRPr lang="en-US" sz="1100" dirty="0">
              <a:latin typeface="Candara" panose="020E0502030303020204" pitchFamily="34" charset="0"/>
            </a:endParaRPr>
          </a:p>
        </p:txBody>
      </p:sp>
      <p:sp>
        <p:nvSpPr>
          <p:cNvPr id="195" name="Shape 193"/>
          <p:cNvSpPr/>
          <p:nvPr/>
        </p:nvSpPr>
        <p:spPr>
          <a:xfrm>
            <a:off x="7610397" y="3446370"/>
            <a:ext cx="4433685" cy="875767"/>
          </a:xfrm>
          <a:prstGeom prst="roundRect">
            <a:avLst>
              <a:gd name="adj" fmla="val 730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96" name="Shape 194"/>
          <p:cNvSpPr/>
          <p:nvPr/>
        </p:nvSpPr>
        <p:spPr>
          <a:xfrm>
            <a:off x="7587543" y="3423516"/>
            <a:ext cx="4433685" cy="875767"/>
          </a:xfrm>
          <a:prstGeom prst="roundRect">
            <a:avLst>
              <a:gd name="adj" fmla="val 730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97" name="Shape 195"/>
          <p:cNvSpPr/>
          <p:nvPr/>
        </p:nvSpPr>
        <p:spPr>
          <a:xfrm>
            <a:off x="7587543" y="3423515"/>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98" name="Shape 196"/>
          <p:cNvSpPr/>
          <p:nvPr/>
        </p:nvSpPr>
        <p:spPr>
          <a:xfrm>
            <a:off x="7587543" y="3606348"/>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99" name="Text 197"/>
          <p:cNvSpPr/>
          <p:nvPr/>
        </p:nvSpPr>
        <p:spPr>
          <a:xfrm>
            <a:off x="7678959" y="3423515"/>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Auth &amp; Health</a:t>
            </a:r>
            <a:endParaRPr lang="en-US" sz="1100" dirty="0">
              <a:latin typeface="Candara" panose="020E0502030303020204" pitchFamily="34" charset="0"/>
            </a:endParaRPr>
          </a:p>
        </p:txBody>
      </p:sp>
      <p:sp>
        <p:nvSpPr>
          <p:cNvPr id="200" name="Shape 198"/>
          <p:cNvSpPr/>
          <p:nvPr/>
        </p:nvSpPr>
        <p:spPr>
          <a:xfrm>
            <a:off x="7642393" y="3661198"/>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201" name="Shape 199"/>
          <p:cNvSpPr/>
          <p:nvPr/>
        </p:nvSpPr>
        <p:spPr>
          <a:xfrm>
            <a:off x="7660676" y="3697765"/>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202" name="Text 200"/>
          <p:cNvSpPr/>
          <p:nvPr/>
        </p:nvSpPr>
        <p:spPr>
          <a:xfrm>
            <a:off x="7660676" y="3697765"/>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203" name="Text 201"/>
          <p:cNvSpPr/>
          <p:nvPr/>
        </p:nvSpPr>
        <p:spPr>
          <a:xfrm>
            <a:off x="8282306" y="367948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/auth/login</a:t>
            </a:r>
            <a:endParaRPr lang="en-US" sz="1100" dirty="0">
              <a:latin typeface="Candara" panose="020E0502030303020204" pitchFamily="34" charset="0"/>
            </a:endParaRPr>
          </a:p>
        </p:txBody>
      </p:sp>
      <p:sp>
        <p:nvSpPr>
          <p:cNvPr id="204" name="Shape 202"/>
          <p:cNvSpPr/>
          <p:nvPr/>
        </p:nvSpPr>
        <p:spPr>
          <a:xfrm>
            <a:off x="7624110" y="3818433"/>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05" name="Shape 203"/>
          <p:cNvSpPr/>
          <p:nvPr/>
        </p:nvSpPr>
        <p:spPr>
          <a:xfrm>
            <a:off x="7660676" y="3836716"/>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206" name="Text 204"/>
          <p:cNvSpPr/>
          <p:nvPr/>
        </p:nvSpPr>
        <p:spPr>
          <a:xfrm>
            <a:off x="7660676" y="3836716"/>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GET/POST</a:t>
            </a:r>
            <a:endParaRPr lang="en-US" sz="1100" dirty="0">
              <a:latin typeface="Candara" panose="020E0502030303020204" pitchFamily="34" charset="0"/>
            </a:endParaRPr>
          </a:p>
        </p:txBody>
      </p:sp>
      <p:sp>
        <p:nvSpPr>
          <p:cNvPr id="207" name="Text 205"/>
          <p:cNvSpPr/>
          <p:nvPr/>
        </p:nvSpPr>
        <p:spPr>
          <a:xfrm>
            <a:off x="8282306" y="3818433"/>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/auth/users  ·  /auth/change-password</a:t>
            </a:r>
            <a:endParaRPr lang="en-US" sz="1100" dirty="0">
              <a:latin typeface="Candara" panose="020E0502030303020204" pitchFamily="34" charset="0"/>
            </a:endParaRPr>
          </a:p>
        </p:txBody>
      </p:sp>
      <p:sp>
        <p:nvSpPr>
          <p:cNvPr id="208" name="Shape 206"/>
          <p:cNvSpPr/>
          <p:nvPr/>
        </p:nvSpPr>
        <p:spPr>
          <a:xfrm>
            <a:off x="7660676" y="3975669"/>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209" name="Text 207"/>
          <p:cNvSpPr/>
          <p:nvPr/>
        </p:nvSpPr>
        <p:spPr>
          <a:xfrm>
            <a:off x="7660676" y="3975669"/>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210" name="Text 208"/>
          <p:cNvSpPr/>
          <p:nvPr/>
        </p:nvSpPr>
        <p:spPr>
          <a:xfrm>
            <a:off x="8282306" y="3957386"/>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/auth/users</a:t>
            </a:r>
            <a:endParaRPr lang="en-US" sz="1100" dirty="0">
              <a:latin typeface="Candara" panose="020E0502030303020204" pitchFamily="34" charset="0"/>
            </a:endParaRPr>
          </a:p>
        </p:txBody>
      </p:sp>
      <p:sp>
        <p:nvSpPr>
          <p:cNvPr id="211" name="Shape 209"/>
          <p:cNvSpPr/>
          <p:nvPr/>
        </p:nvSpPr>
        <p:spPr>
          <a:xfrm>
            <a:off x="7624110" y="4096339"/>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12" name="Shape 210"/>
          <p:cNvSpPr/>
          <p:nvPr/>
        </p:nvSpPr>
        <p:spPr>
          <a:xfrm>
            <a:off x="7660676" y="4114622"/>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213" name="Text 211"/>
          <p:cNvSpPr/>
          <p:nvPr/>
        </p:nvSpPr>
        <p:spPr>
          <a:xfrm>
            <a:off x="7660676" y="4114622"/>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214" name="Text 212"/>
          <p:cNvSpPr/>
          <p:nvPr/>
        </p:nvSpPr>
        <p:spPr>
          <a:xfrm>
            <a:off x="8282306" y="4096339"/>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/health  ·  /health/mqtt</a:t>
            </a:r>
            <a:endParaRPr lang="en-US" sz="1100" dirty="0">
              <a:latin typeface="Candara" panose="020E0502030303020204" pitchFamily="34" charset="0"/>
            </a:endParaRPr>
          </a:p>
        </p:txBody>
      </p:sp>
      <p:sp>
        <p:nvSpPr>
          <p:cNvPr id="215" name="Shape 213"/>
          <p:cNvSpPr/>
          <p:nvPr/>
        </p:nvSpPr>
        <p:spPr>
          <a:xfrm>
            <a:off x="7610397" y="4422694"/>
            <a:ext cx="4433685" cy="597862"/>
          </a:xfrm>
          <a:prstGeom prst="roundRect">
            <a:avLst>
              <a:gd name="adj" fmla="val 10703"/>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16" name="Shape 214"/>
          <p:cNvSpPr/>
          <p:nvPr/>
        </p:nvSpPr>
        <p:spPr>
          <a:xfrm>
            <a:off x="7587543" y="4399840"/>
            <a:ext cx="4433685" cy="597862"/>
          </a:xfrm>
          <a:prstGeom prst="roundRect">
            <a:avLst>
              <a:gd name="adj" fmla="val 1070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217" name="Shape 215"/>
          <p:cNvSpPr/>
          <p:nvPr/>
        </p:nvSpPr>
        <p:spPr>
          <a:xfrm>
            <a:off x="7587543" y="4399840"/>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218" name="Shape 216"/>
          <p:cNvSpPr/>
          <p:nvPr/>
        </p:nvSpPr>
        <p:spPr>
          <a:xfrm>
            <a:off x="7587543" y="4582672"/>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219" name="Text 217"/>
          <p:cNvSpPr/>
          <p:nvPr/>
        </p:nvSpPr>
        <p:spPr>
          <a:xfrm>
            <a:off x="7678959" y="4399840"/>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 Configuration</a:t>
            </a:r>
            <a:endParaRPr lang="en-US" sz="1100" dirty="0">
              <a:latin typeface="Candara" panose="020E0502030303020204" pitchFamily="34" charset="0"/>
            </a:endParaRPr>
          </a:p>
        </p:txBody>
      </p:sp>
      <p:sp>
        <p:nvSpPr>
          <p:cNvPr id="220" name="Shape 218"/>
          <p:cNvSpPr/>
          <p:nvPr/>
        </p:nvSpPr>
        <p:spPr>
          <a:xfrm>
            <a:off x="7642393" y="4637522"/>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221" name="Shape 219"/>
          <p:cNvSpPr/>
          <p:nvPr/>
        </p:nvSpPr>
        <p:spPr>
          <a:xfrm>
            <a:off x="7660676" y="4674089"/>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222" name="Text 220"/>
          <p:cNvSpPr/>
          <p:nvPr/>
        </p:nvSpPr>
        <p:spPr>
          <a:xfrm>
            <a:off x="7660676" y="4674089"/>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223" name="Text 221"/>
          <p:cNvSpPr/>
          <p:nvPr/>
        </p:nvSpPr>
        <p:spPr>
          <a:xfrm>
            <a:off x="8282306" y="4655806"/>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/devices/{deviceId}/configurations</a:t>
            </a:r>
            <a:endParaRPr lang="en-US" sz="1100" dirty="0">
              <a:latin typeface="Candara" panose="020E0502030303020204" pitchFamily="34" charset="0"/>
            </a:endParaRPr>
          </a:p>
        </p:txBody>
      </p:sp>
      <p:sp>
        <p:nvSpPr>
          <p:cNvPr id="224" name="Shape 222"/>
          <p:cNvSpPr/>
          <p:nvPr/>
        </p:nvSpPr>
        <p:spPr>
          <a:xfrm>
            <a:off x="7624110" y="4794759"/>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25" name="Shape 223"/>
          <p:cNvSpPr/>
          <p:nvPr/>
        </p:nvSpPr>
        <p:spPr>
          <a:xfrm>
            <a:off x="7660676" y="4813042"/>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226" name="Text 224"/>
          <p:cNvSpPr/>
          <p:nvPr/>
        </p:nvSpPr>
        <p:spPr>
          <a:xfrm>
            <a:off x="7660676" y="4813042"/>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227" name="Text 225"/>
          <p:cNvSpPr/>
          <p:nvPr/>
        </p:nvSpPr>
        <p:spPr>
          <a:xfrm>
            <a:off x="8282306" y="4794759"/>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/devices/{deviceId}/configurations</a:t>
            </a:r>
            <a:endParaRPr lang="en-US" sz="1100" dirty="0">
              <a:latin typeface="Candara" panose="020E0502030303020204" pitchFamily="34" charset="0"/>
            </a:endParaRPr>
          </a:p>
        </p:txBody>
      </p:sp>
      <p:sp>
        <p:nvSpPr>
          <p:cNvPr id="228" name="Shape 226"/>
          <p:cNvSpPr/>
          <p:nvPr/>
        </p:nvSpPr>
        <p:spPr>
          <a:xfrm>
            <a:off x="201115" y="6518867"/>
            <a:ext cx="11792688" cy="0"/>
          </a:xfrm>
          <a:prstGeom prst="line">
            <a:avLst/>
          </a:prstGeom>
          <a:noFill/>
          <a:ln w="6350">
            <a:solidFill>
              <a:srgbClr val="1C3D28"/>
            </a:solidFill>
            <a:prstDash val="solid"/>
          </a:ln>
        </p:spPr>
        <p:txBody>
          <a:bodyPr/>
          <a:lstStyle/>
          <a:p>
            <a:endParaRPr lang="en-US" sz="1200">
              <a:latin typeface="Candara" panose="020E0502030303020204" pitchFamily="34" charset="0"/>
            </a:endParaRPr>
          </a:p>
        </p:txBody>
      </p:sp>
      <p:sp>
        <p:nvSpPr>
          <p:cNvPr id="229" name="Text 227"/>
          <p:cNvSpPr/>
          <p:nvPr/>
        </p:nvSpPr>
        <p:spPr>
          <a:xfrm>
            <a:off x="201115" y="6564575"/>
            <a:ext cx="5027890" cy="219399"/>
          </a:xfrm>
          <a:prstGeom prst="rect">
            <a:avLst/>
          </a:prstGeom>
          <a:noFill/>
          <a:ln/>
        </p:spPr>
        <p:txBody>
          <a:bodyPr wrap="square" lIns="0" tIns="0" rIns="0" bIns="0" rtlCol="0" anchor="ctr"/>
          <a:lstStyle/>
          <a:p>
            <a:r>
              <a:rPr lang="en-US" sz="1200" b="1" dirty="0">
                <a:solidFill>
                  <a:srgbClr val="3ECF80"/>
                </a:solidFill>
                <a:latin typeface="Candara" panose="020E0502030303020204" pitchFamily="34" charset="0"/>
                <a:ea typeface="Calibri" pitchFamily="34" charset="-122"/>
                <a:cs typeface="Calibri" pitchFamily="34" charset="-120"/>
              </a:rPr>
              <a:t>⚡  MQTT → Broker → API → SignalR → Frontend</a:t>
            </a:r>
            <a:r>
              <a:rPr lang="en-US" sz="1200" dirty="0">
                <a:solidFill>
                  <a:srgbClr val="7AB896"/>
                </a:solidFill>
                <a:latin typeface="Candara" panose="020E0502030303020204" pitchFamily="34" charset="0"/>
                <a:ea typeface="Calibri" pitchFamily="34" charset="-122"/>
                <a:cs typeface="Calibri" pitchFamily="34" charset="-120"/>
              </a:rPr>
              <a:t>  (&lt;2s real-time updates)</a:t>
            </a:r>
            <a:endParaRPr lang="en-US" sz="1200" dirty="0">
              <a:latin typeface="Candara" panose="020E0502030303020204" pitchFamily="34" charset="0"/>
            </a:endParaRPr>
          </a:p>
        </p:txBody>
      </p:sp>
      <p:sp>
        <p:nvSpPr>
          <p:cNvPr id="230" name="Text 228"/>
          <p:cNvSpPr/>
          <p:nvPr/>
        </p:nvSpPr>
        <p:spPr>
          <a:xfrm>
            <a:off x="5302138" y="6564575"/>
            <a:ext cx="6719090" cy="219399"/>
          </a:xfrm>
          <a:prstGeom prst="rect">
            <a:avLst/>
          </a:prstGeom>
          <a:noFill/>
          <a:ln/>
        </p:spPr>
        <p:txBody>
          <a:bodyPr wrap="square" lIns="0" tIns="0" rIns="0" bIns="0" rtlCol="0" anchor="ctr"/>
          <a:lstStyle/>
          <a:p>
            <a:pPr algn="r"/>
            <a:r>
              <a:rPr lang="en-US" sz="1200" dirty="0">
                <a:solidFill>
                  <a:srgbClr val="7AB896"/>
                </a:solidFill>
                <a:latin typeface="Candara" panose="020E0502030303020204" pitchFamily="34" charset="0"/>
                <a:ea typeface="Calibri" pitchFamily="34" charset="-122"/>
                <a:cs typeface="Calibri" pitchFamily="34" charset="-120"/>
              </a:rPr>
              <a:t>🔐  Most endpoints [Authorize]  ·  Admin / Operator on writes  ·  JWT Bearer  ·  SignalR: ?access_token</a:t>
            </a:r>
            <a:endParaRPr lang="en-US" sz="1200" dirty="0">
              <a:latin typeface="Candara" panose="020E0502030303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 0"/>
          <p:cNvSpPr/>
          <p:nvPr/>
        </p:nvSpPr>
        <p:spPr>
          <a:xfrm>
            <a:off x="296432" y="435122"/>
            <a:ext cx="11646422" cy="420514"/>
          </a:xfrm>
          <a:prstGeom prst="rect">
            <a:avLst/>
          </a:prstGeom>
          <a:noFill/>
          <a:ln/>
        </p:spPr>
        <p:txBody>
          <a:bodyPr wrap="square" lIns="0" tIns="0" rIns="0" bIns="0" rtlCol="0" anchor="ctr"/>
          <a:lstStyle/>
          <a:p>
            <a:pPr defTabSz="914126"/>
            <a:r>
              <a:rPr lang="en-US" sz="2800" b="1" dirty="0">
                <a:solidFill>
                  <a:srgbClr val="FFFFFF"/>
                </a:solidFill>
                <a:latin typeface="Candara" panose="020E0502030303020204" pitchFamily="34" charset="0"/>
                <a:ea typeface="Calibri" pitchFamily="34" charset="-122"/>
                <a:cs typeface="Calibri" pitchFamily="34" charset="-120"/>
              </a:rPr>
              <a:t>Frontend Design</a:t>
            </a:r>
            <a:r>
              <a:rPr lang="en-US" sz="2800" b="1" dirty="0">
                <a:solidFill>
                  <a:srgbClr val="3ECF80"/>
                </a:solidFill>
                <a:latin typeface="Candara" panose="020E0502030303020204" pitchFamily="34" charset="0"/>
                <a:ea typeface="Calibri" pitchFamily="34" charset="-122"/>
                <a:cs typeface="Calibri" pitchFamily="34" charset="-120"/>
              </a:rPr>
              <a:t> | Components &amp; Navigation</a:t>
            </a:r>
            <a:endParaRPr lang="en-US" sz="2800" dirty="0">
              <a:solidFill>
                <a:prstClr val="black"/>
              </a:solidFill>
              <a:latin typeface="Candara" panose="020E0502030303020204" pitchFamily="34" charset="0"/>
            </a:endParaRPr>
          </a:p>
        </p:txBody>
      </p:sp>
      <p:sp>
        <p:nvSpPr>
          <p:cNvPr id="3" name="Text 1"/>
          <p:cNvSpPr/>
          <p:nvPr/>
        </p:nvSpPr>
        <p:spPr>
          <a:xfrm>
            <a:off x="365664" y="836875"/>
            <a:ext cx="6668928" cy="228542"/>
          </a:xfrm>
          <a:prstGeom prst="rect">
            <a:avLst/>
          </a:prstGeom>
          <a:noFill/>
          <a:ln/>
        </p:spPr>
        <p:txBody>
          <a:bodyPr wrap="square" lIns="0" tIns="0" rIns="0" bIns="0" rtlCol="0" anchor="ctr"/>
          <a:lstStyle/>
          <a:p>
            <a:pPr defTabSz="914126"/>
            <a:r>
              <a:rPr lang="en-US" sz="1200" dirty="0">
                <a:solidFill>
                  <a:srgbClr val="7AB896"/>
                </a:solidFill>
                <a:latin typeface="Candara" panose="020E0502030303020204" pitchFamily="34" charset="0"/>
                <a:ea typeface="Calibri" pitchFamily="34" charset="-122"/>
                <a:cs typeface="Calibri" pitchFamily="34" charset="-120"/>
              </a:rPr>
              <a:t>App shell  ·  ProtectedRoute guard  ·  10 route-level pages  ·  JWT role-based routing</a:t>
            </a:r>
            <a:endParaRPr lang="en-US" sz="1200" dirty="0">
              <a:solidFill>
                <a:prstClr val="black"/>
              </a:solidFill>
              <a:latin typeface="Candara" panose="020E0502030303020204" pitchFamily="34" charset="0"/>
            </a:endParaRPr>
          </a:p>
        </p:txBody>
      </p:sp>
      <p:sp>
        <p:nvSpPr>
          <p:cNvPr id="4" name="Shape 2"/>
          <p:cNvSpPr/>
          <p:nvPr/>
        </p:nvSpPr>
        <p:spPr>
          <a:xfrm>
            <a:off x="255965" y="823639"/>
            <a:ext cx="11646422" cy="0"/>
          </a:xfrm>
          <a:prstGeom prst="line">
            <a:avLst/>
          </a:prstGeom>
          <a:no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 name="Shape 4"/>
          <p:cNvSpPr/>
          <p:nvPr/>
        </p:nvSpPr>
        <p:spPr>
          <a:xfrm>
            <a:off x="1462659" y="2789087"/>
            <a:ext cx="102843"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7" name="Shape 5"/>
          <p:cNvSpPr/>
          <p:nvPr/>
        </p:nvSpPr>
        <p:spPr>
          <a:xfrm>
            <a:off x="1565502" y="1417844"/>
            <a:ext cx="0" cy="2742486"/>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 name="Shape 6"/>
          <p:cNvSpPr/>
          <p:nvPr/>
        </p:nvSpPr>
        <p:spPr>
          <a:xfrm>
            <a:off x="1565502" y="1417844"/>
            <a:ext cx="102843"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9" name="Shape 7"/>
          <p:cNvSpPr/>
          <p:nvPr/>
        </p:nvSpPr>
        <p:spPr>
          <a:xfrm>
            <a:off x="1565502" y="4160330"/>
            <a:ext cx="102843"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0" name="Shape 8"/>
          <p:cNvSpPr/>
          <p:nvPr/>
        </p:nvSpPr>
        <p:spPr>
          <a:xfrm>
            <a:off x="3085296" y="4160330"/>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1" name="Shape 9"/>
          <p:cNvSpPr/>
          <p:nvPr/>
        </p:nvSpPr>
        <p:spPr>
          <a:xfrm>
            <a:off x="3222420" y="2103466"/>
            <a:ext cx="0" cy="4113728"/>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2" name="Shape 10"/>
          <p:cNvSpPr/>
          <p:nvPr/>
        </p:nvSpPr>
        <p:spPr>
          <a:xfrm>
            <a:off x="3222420" y="2103465"/>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3" name="Shape 11"/>
          <p:cNvSpPr/>
          <p:nvPr/>
        </p:nvSpPr>
        <p:spPr>
          <a:xfrm>
            <a:off x="3222420" y="2560546"/>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4" name="Shape 12"/>
          <p:cNvSpPr/>
          <p:nvPr/>
        </p:nvSpPr>
        <p:spPr>
          <a:xfrm>
            <a:off x="3222420" y="3017627"/>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5" name="Shape 13"/>
          <p:cNvSpPr/>
          <p:nvPr/>
        </p:nvSpPr>
        <p:spPr>
          <a:xfrm>
            <a:off x="3222420" y="3474708"/>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6" name="Shape 14"/>
          <p:cNvSpPr/>
          <p:nvPr/>
        </p:nvSpPr>
        <p:spPr>
          <a:xfrm>
            <a:off x="3222420" y="3931789"/>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7" name="Shape 15"/>
          <p:cNvSpPr/>
          <p:nvPr/>
        </p:nvSpPr>
        <p:spPr>
          <a:xfrm>
            <a:off x="3222420" y="4388870"/>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8" name="Shape 16"/>
          <p:cNvSpPr/>
          <p:nvPr/>
        </p:nvSpPr>
        <p:spPr>
          <a:xfrm>
            <a:off x="3222420" y="4845951"/>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9" name="Shape 17"/>
          <p:cNvSpPr/>
          <p:nvPr/>
        </p:nvSpPr>
        <p:spPr>
          <a:xfrm>
            <a:off x="3222420" y="5303032"/>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0" name="Shape 18"/>
          <p:cNvSpPr/>
          <p:nvPr/>
        </p:nvSpPr>
        <p:spPr>
          <a:xfrm>
            <a:off x="3222420" y="5760113"/>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2" name="Shape 20"/>
          <p:cNvSpPr/>
          <p:nvPr/>
        </p:nvSpPr>
        <p:spPr>
          <a:xfrm>
            <a:off x="388518" y="2674816"/>
            <a:ext cx="1096994"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3" name="Shape 21"/>
          <p:cNvSpPr/>
          <p:nvPr/>
        </p:nvSpPr>
        <p:spPr>
          <a:xfrm>
            <a:off x="365664" y="2651962"/>
            <a:ext cx="1096994" cy="274249"/>
          </a:xfrm>
          <a:prstGeom prst="roundRect">
            <a:avLst>
              <a:gd name="adj" fmla="val 16667"/>
            </a:avLst>
          </a:prstGeom>
          <a:solidFill>
            <a:srgbClr val="0D3322"/>
          </a:solidFill>
          <a:ln w="9525">
            <a:solidFill>
              <a:srgbClr val="3ECF8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4" name="Text 22"/>
          <p:cNvSpPr/>
          <p:nvPr/>
        </p:nvSpPr>
        <p:spPr>
          <a:xfrm>
            <a:off x="438797" y="2651962"/>
            <a:ext cx="950728" cy="274249"/>
          </a:xfrm>
          <a:prstGeom prst="rect">
            <a:avLst/>
          </a:prstGeom>
          <a:noFill/>
          <a:ln/>
        </p:spPr>
        <p:txBody>
          <a:bodyPr wrap="square" lIns="0" tIns="0" rIns="0" bIns="0" rtlCol="0" anchor="ctr"/>
          <a:lstStyle/>
          <a:p>
            <a:pPr algn="ctr" defTabSz="914126"/>
            <a:r>
              <a:rPr lang="en-US" sz="1200" dirty="0">
                <a:solidFill>
                  <a:srgbClr val="FFFFFF"/>
                </a:solidFill>
                <a:latin typeface="Candara" panose="020E0502030303020204" pitchFamily="34" charset="0"/>
                <a:ea typeface="Consolas" pitchFamily="34" charset="-122"/>
                <a:cs typeface="Consolas" pitchFamily="34" charset="-120"/>
              </a:rPr>
              <a:t>App.tsx</a:t>
            </a:r>
            <a:endParaRPr lang="en-US" sz="1200" dirty="0">
              <a:solidFill>
                <a:prstClr val="black"/>
              </a:solidFill>
              <a:latin typeface="Candara" panose="020E0502030303020204" pitchFamily="34" charset="0"/>
            </a:endParaRPr>
          </a:p>
        </p:txBody>
      </p:sp>
      <p:sp>
        <p:nvSpPr>
          <p:cNvPr id="25" name="Shape 23"/>
          <p:cNvSpPr/>
          <p:nvPr/>
        </p:nvSpPr>
        <p:spPr>
          <a:xfrm>
            <a:off x="1691199" y="1303573"/>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6" name="Shape 24"/>
          <p:cNvSpPr/>
          <p:nvPr/>
        </p:nvSpPr>
        <p:spPr>
          <a:xfrm>
            <a:off x="1668345" y="1280719"/>
            <a:ext cx="1416951" cy="274249"/>
          </a:xfrm>
          <a:prstGeom prst="roundRect">
            <a:avLst>
              <a:gd name="adj" fmla="val 16667"/>
            </a:avLst>
          </a:prstGeom>
          <a:solidFill>
            <a:srgbClr val="0D1F3C"/>
          </a:solidFill>
          <a:ln w="9525">
            <a:solidFill>
              <a:srgbClr val="7EC8E3"/>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7" name="Text 25"/>
          <p:cNvSpPr/>
          <p:nvPr/>
        </p:nvSpPr>
        <p:spPr>
          <a:xfrm>
            <a:off x="1741478" y="1280719"/>
            <a:ext cx="1270685" cy="274249"/>
          </a:xfrm>
          <a:prstGeom prst="rect">
            <a:avLst/>
          </a:prstGeom>
          <a:noFill/>
          <a:ln/>
        </p:spPr>
        <p:txBody>
          <a:bodyPr wrap="square" lIns="0" tIns="0" rIns="0" bIns="0" rtlCol="0" anchor="ctr"/>
          <a:lstStyle/>
          <a:p>
            <a:pPr algn="ctr" defTabSz="914126"/>
            <a:r>
              <a:rPr lang="en-US" sz="1200" dirty="0">
                <a:solidFill>
                  <a:srgbClr val="FFFFFF"/>
                </a:solidFill>
                <a:latin typeface="Candara" panose="020E0502030303020204" pitchFamily="34" charset="0"/>
                <a:ea typeface="Consolas" pitchFamily="34" charset="-122"/>
                <a:cs typeface="Consolas" pitchFamily="34" charset="-120"/>
              </a:rPr>
              <a:t>LoginPage</a:t>
            </a:r>
            <a:endParaRPr lang="en-US" sz="1200" dirty="0">
              <a:solidFill>
                <a:prstClr val="black"/>
              </a:solidFill>
              <a:latin typeface="Candara" panose="020E0502030303020204" pitchFamily="34" charset="0"/>
            </a:endParaRPr>
          </a:p>
        </p:txBody>
      </p:sp>
      <p:sp>
        <p:nvSpPr>
          <p:cNvPr id="28" name="Shape 26"/>
          <p:cNvSpPr/>
          <p:nvPr/>
        </p:nvSpPr>
        <p:spPr>
          <a:xfrm>
            <a:off x="1691199" y="4018635"/>
            <a:ext cx="1416951" cy="329098"/>
          </a:xfrm>
          <a:prstGeom prst="roundRect">
            <a:avLst>
              <a:gd name="adj" fmla="val 13889"/>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9" name="Shape 27"/>
          <p:cNvSpPr/>
          <p:nvPr/>
        </p:nvSpPr>
        <p:spPr>
          <a:xfrm>
            <a:off x="1668345" y="3995781"/>
            <a:ext cx="1416951" cy="329098"/>
          </a:xfrm>
          <a:prstGeom prst="roundRect">
            <a:avLst>
              <a:gd name="adj" fmla="val 13889"/>
            </a:avLst>
          </a:prstGeom>
          <a:solidFill>
            <a:srgbClr val="0D1F3C"/>
          </a:solidFill>
          <a:ln w="9525">
            <a:solidFill>
              <a:srgbClr val="3ECF8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0" name="Text 28"/>
          <p:cNvSpPr/>
          <p:nvPr/>
        </p:nvSpPr>
        <p:spPr>
          <a:xfrm>
            <a:off x="1741478" y="3995781"/>
            <a:ext cx="1270685" cy="329098"/>
          </a:xfrm>
          <a:prstGeom prst="rect">
            <a:avLst/>
          </a:prstGeom>
          <a:noFill/>
          <a:ln/>
        </p:spPr>
        <p:txBody>
          <a:bodyPr wrap="square" lIns="0" tIns="0" rIns="0" bIns="0" rtlCol="0" anchor="ctr"/>
          <a:lstStyle/>
          <a:p>
            <a:pPr algn="ctr" defTabSz="914126"/>
            <a:r>
              <a:rPr lang="en-US" sz="1200" dirty="0">
                <a:solidFill>
                  <a:srgbClr val="FFFFFF"/>
                </a:solidFill>
                <a:latin typeface="Candara" panose="020E0502030303020204" pitchFamily="34" charset="0"/>
                <a:ea typeface="Consolas" pitchFamily="34" charset="-122"/>
                <a:cs typeface="Consolas" pitchFamily="34" charset="-120"/>
              </a:rPr>
              <a:t>ProtectedRoute</a:t>
            </a:r>
            <a:endParaRPr lang="en-US" sz="1200" dirty="0">
              <a:solidFill>
                <a:prstClr val="black"/>
              </a:solidFill>
              <a:latin typeface="Candara" panose="020E0502030303020204" pitchFamily="34" charset="0"/>
            </a:endParaRPr>
          </a:p>
        </p:txBody>
      </p:sp>
      <p:sp>
        <p:nvSpPr>
          <p:cNvPr id="31" name="Shape 29"/>
          <p:cNvSpPr/>
          <p:nvPr/>
        </p:nvSpPr>
        <p:spPr>
          <a:xfrm>
            <a:off x="3382398" y="1989195"/>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2" name="Shape 30"/>
          <p:cNvSpPr/>
          <p:nvPr/>
        </p:nvSpPr>
        <p:spPr>
          <a:xfrm>
            <a:off x="3359544" y="1966341"/>
            <a:ext cx="1416951" cy="274249"/>
          </a:xfrm>
          <a:prstGeom prst="roundRect">
            <a:avLst>
              <a:gd name="adj" fmla="val 16667"/>
            </a:avLst>
          </a:prstGeom>
          <a:solidFill>
            <a:srgbClr val="1A2E1A"/>
          </a:solidFill>
          <a:ln w="9525">
            <a:solidFill>
              <a:srgbClr val="9B8FE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3" name="Text 31"/>
          <p:cNvSpPr/>
          <p:nvPr/>
        </p:nvSpPr>
        <p:spPr>
          <a:xfrm>
            <a:off x="3432678" y="1966341"/>
            <a:ext cx="758754"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Navigation</a:t>
            </a:r>
            <a:endParaRPr lang="en-US" sz="1200" dirty="0">
              <a:solidFill>
                <a:prstClr val="black"/>
              </a:solidFill>
              <a:latin typeface="Candara" panose="020E0502030303020204" pitchFamily="34" charset="0"/>
            </a:endParaRPr>
          </a:p>
        </p:txBody>
      </p:sp>
      <p:sp>
        <p:nvSpPr>
          <p:cNvPr id="34" name="Shape 32"/>
          <p:cNvSpPr/>
          <p:nvPr/>
        </p:nvSpPr>
        <p:spPr>
          <a:xfrm>
            <a:off x="4154865" y="2021191"/>
            <a:ext cx="566780" cy="164549"/>
          </a:xfrm>
          <a:prstGeom prst="roundRect">
            <a:avLst>
              <a:gd name="adj" fmla="val 16667"/>
            </a:avLst>
          </a:prstGeom>
          <a:solidFill>
            <a:srgbClr val="9B8FE0">
              <a:alpha val="13000"/>
            </a:srgbClr>
          </a:solidFill>
          <a:ln w="5080">
            <a:solidFill>
              <a:srgbClr val="9B8FE0">
                <a:alpha val="60000"/>
              </a:srgbClr>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5" name="Text 33"/>
          <p:cNvSpPr/>
          <p:nvPr/>
        </p:nvSpPr>
        <p:spPr>
          <a:xfrm>
            <a:off x="4154865" y="2021191"/>
            <a:ext cx="566780" cy="164549"/>
          </a:xfrm>
          <a:prstGeom prst="rect">
            <a:avLst/>
          </a:prstGeom>
          <a:noFill/>
          <a:ln/>
        </p:spPr>
        <p:txBody>
          <a:bodyPr wrap="square" lIns="0" tIns="0" rIns="0" bIns="0" rtlCol="0" anchor="ctr"/>
          <a:lstStyle/>
          <a:p>
            <a:pPr algn="ctr" defTabSz="914126"/>
            <a:r>
              <a:rPr lang="en-US" sz="1200" b="1" dirty="0">
                <a:solidFill>
                  <a:srgbClr val="9B8FE0"/>
                </a:solidFill>
                <a:latin typeface="Candara" panose="020E0502030303020204" pitchFamily="34" charset="0"/>
                <a:ea typeface="Calibri" pitchFamily="34" charset="-122"/>
                <a:cs typeface="Calibri" pitchFamily="34" charset="-120"/>
              </a:rPr>
              <a:t>Shared</a:t>
            </a:r>
            <a:endParaRPr lang="en-US" sz="1200" dirty="0">
              <a:solidFill>
                <a:prstClr val="black"/>
              </a:solidFill>
              <a:latin typeface="Candara" panose="020E0502030303020204" pitchFamily="34" charset="0"/>
            </a:endParaRPr>
          </a:p>
        </p:txBody>
      </p:sp>
      <p:sp>
        <p:nvSpPr>
          <p:cNvPr id="36" name="Shape 34"/>
          <p:cNvSpPr/>
          <p:nvPr/>
        </p:nvSpPr>
        <p:spPr>
          <a:xfrm>
            <a:off x="3382398" y="2446276"/>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7" name="Shape 35"/>
          <p:cNvSpPr/>
          <p:nvPr/>
        </p:nvSpPr>
        <p:spPr>
          <a:xfrm>
            <a:off x="3359544" y="2423422"/>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8" name="Text 36"/>
          <p:cNvSpPr/>
          <p:nvPr/>
        </p:nvSpPr>
        <p:spPr>
          <a:xfrm>
            <a:off x="3432678" y="2423422"/>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Dashboard</a:t>
            </a:r>
            <a:endParaRPr lang="en-US" sz="1200" dirty="0">
              <a:solidFill>
                <a:prstClr val="black"/>
              </a:solidFill>
              <a:latin typeface="Candara" panose="020E0502030303020204" pitchFamily="34" charset="0"/>
            </a:endParaRPr>
          </a:p>
        </p:txBody>
      </p:sp>
      <p:sp>
        <p:nvSpPr>
          <p:cNvPr id="39" name="Shape 37"/>
          <p:cNvSpPr/>
          <p:nvPr/>
        </p:nvSpPr>
        <p:spPr>
          <a:xfrm>
            <a:off x="3382398" y="2903357"/>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0" name="Shape 38"/>
          <p:cNvSpPr/>
          <p:nvPr/>
        </p:nvSpPr>
        <p:spPr>
          <a:xfrm>
            <a:off x="3359544" y="2880503"/>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1" name="Text 39"/>
          <p:cNvSpPr/>
          <p:nvPr/>
        </p:nvSpPr>
        <p:spPr>
          <a:xfrm>
            <a:off x="3432678" y="2880503"/>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DevicesPage</a:t>
            </a:r>
            <a:endParaRPr lang="en-US" sz="1200" dirty="0">
              <a:solidFill>
                <a:prstClr val="black"/>
              </a:solidFill>
              <a:latin typeface="Candara" panose="020E0502030303020204" pitchFamily="34" charset="0"/>
            </a:endParaRPr>
          </a:p>
        </p:txBody>
      </p:sp>
      <p:sp>
        <p:nvSpPr>
          <p:cNvPr id="43" name="Shape 41"/>
          <p:cNvSpPr/>
          <p:nvPr/>
        </p:nvSpPr>
        <p:spPr>
          <a:xfrm>
            <a:off x="3382398" y="3360438"/>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4" name="Shape 42"/>
          <p:cNvSpPr/>
          <p:nvPr/>
        </p:nvSpPr>
        <p:spPr>
          <a:xfrm>
            <a:off x="3359544" y="3337584"/>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5" name="Text 43"/>
          <p:cNvSpPr/>
          <p:nvPr/>
        </p:nvSpPr>
        <p:spPr>
          <a:xfrm>
            <a:off x="3432678" y="3337584"/>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DeviceDetailPage</a:t>
            </a:r>
            <a:endParaRPr lang="en-US" sz="1200" dirty="0">
              <a:solidFill>
                <a:prstClr val="black"/>
              </a:solidFill>
              <a:latin typeface="Candara" panose="020E0502030303020204" pitchFamily="34" charset="0"/>
            </a:endParaRPr>
          </a:p>
        </p:txBody>
      </p:sp>
      <p:sp>
        <p:nvSpPr>
          <p:cNvPr id="47" name="Shape 45"/>
          <p:cNvSpPr/>
          <p:nvPr/>
        </p:nvSpPr>
        <p:spPr>
          <a:xfrm>
            <a:off x="3382398" y="3817519"/>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8" name="Shape 46"/>
          <p:cNvSpPr/>
          <p:nvPr/>
        </p:nvSpPr>
        <p:spPr>
          <a:xfrm>
            <a:off x="3359544" y="3794665"/>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9" name="Text 47"/>
          <p:cNvSpPr/>
          <p:nvPr/>
        </p:nvSpPr>
        <p:spPr>
          <a:xfrm>
            <a:off x="3432678" y="3794665"/>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SensorsPage</a:t>
            </a:r>
            <a:endParaRPr lang="en-US" sz="1200" dirty="0">
              <a:solidFill>
                <a:prstClr val="black"/>
              </a:solidFill>
              <a:latin typeface="Candara" panose="020E0502030303020204" pitchFamily="34" charset="0"/>
            </a:endParaRPr>
          </a:p>
        </p:txBody>
      </p:sp>
      <p:sp>
        <p:nvSpPr>
          <p:cNvPr id="51" name="Shape 49"/>
          <p:cNvSpPr/>
          <p:nvPr/>
        </p:nvSpPr>
        <p:spPr>
          <a:xfrm>
            <a:off x="3382398" y="4274600"/>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2" name="Shape 50"/>
          <p:cNvSpPr/>
          <p:nvPr/>
        </p:nvSpPr>
        <p:spPr>
          <a:xfrm>
            <a:off x="3359544" y="4251745"/>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3" name="Text 51"/>
          <p:cNvSpPr/>
          <p:nvPr/>
        </p:nvSpPr>
        <p:spPr>
          <a:xfrm>
            <a:off x="3432678" y="4251745"/>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ActuatorsPage</a:t>
            </a:r>
            <a:endParaRPr lang="en-US" sz="1200" dirty="0">
              <a:solidFill>
                <a:prstClr val="black"/>
              </a:solidFill>
              <a:latin typeface="Candara" panose="020E0502030303020204" pitchFamily="34" charset="0"/>
            </a:endParaRPr>
          </a:p>
        </p:txBody>
      </p:sp>
      <p:sp>
        <p:nvSpPr>
          <p:cNvPr id="55" name="Shape 53"/>
          <p:cNvSpPr/>
          <p:nvPr/>
        </p:nvSpPr>
        <p:spPr>
          <a:xfrm>
            <a:off x="3382398" y="4731680"/>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6" name="Shape 54"/>
          <p:cNvSpPr/>
          <p:nvPr/>
        </p:nvSpPr>
        <p:spPr>
          <a:xfrm>
            <a:off x="3359544" y="4708826"/>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7" name="Text 55"/>
          <p:cNvSpPr/>
          <p:nvPr/>
        </p:nvSpPr>
        <p:spPr>
          <a:xfrm>
            <a:off x="3432678" y="4708826"/>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AlertRulesPage</a:t>
            </a:r>
            <a:endParaRPr lang="en-US" sz="1200" dirty="0">
              <a:solidFill>
                <a:prstClr val="black"/>
              </a:solidFill>
              <a:latin typeface="Candara" panose="020E0502030303020204" pitchFamily="34" charset="0"/>
            </a:endParaRPr>
          </a:p>
        </p:txBody>
      </p:sp>
      <p:sp>
        <p:nvSpPr>
          <p:cNvPr id="59" name="Shape 57"/>
          <p:cNvSpPr/>
          <p:nvPr/>
        </p:nvSpPr>
        <p:spPr>
          <a:xfrm>
            <a:off x="3382398" y="5188761"/>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0" name="Shape 58"/>
          <p:cNvSpPr/>
          <p:nvPr/>
        </p:nvSpPr>
        <p:spPr>
          <a:xfrm>
            <a:off x="3359544" y="5165907"/>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1" name="Text 59"/>
          <p:cNvSpPr/>
          <p:nvPr/>
        </p:nvSpPr>
        <p:spPr>
          <a:xfrm>
            <a:off x="3432678" y="5165907"/>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AlertsPage</a:t>
            </a:r>
            <a:endParaRPr lang="en-US" sz="1200" dirty="0">
              <a:solidFill>
                <a:prstClr val="black"/>
              </a:solidFill>
              <a:latin typeface="Candara" panose="020E0502030303020204" pitchFamily="34" charset="0"/>
            </a:endParaRPr>
          </a:p>
        </p:txBody>
      </p:sp>
      <p:sp>
        <p:nvSpPr>
          <p:cNvPr id="62" name="Shape 60"/>
          <p:cNvSpPr/>
          <p:nvPr/>
        </p:nvSpPr>
        <p:spPr>
          <a:xfrm>
            <a:off x="3382398" y="5645842"/>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3" name="Shape 61"/>
          <p:cNvSpPr/>
          <p:nvPr/>
        </p:nvSpPr>
        <p:spPr>
          <a:xfrm>
            <a:off x="3359544" y="5622988"/>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4" name="Text 62"/>
          <p:cNvSpPr/>
          <p:nvPr/>
        </p:nvSpPr>
        <p:spPr>
          <a:xfrm>
            <a:off x="3432677" y="5622988"/>
            <a:ext cx="1643175"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CommandHistoryPage</a:t>
            </a:r>
            <a:endParaRPr lang="en-US" sz="1200" dirty="0">
              <a:solidFill>
                <a:prstClr val="black"/>
              </a:solidFill>
              <a:latin typeface="Candara" panose="020E0502030303020204" pitchFamily="34" charset="0"/>
            </a:endParaRPr>
          </a:p>
        </p:txBody>
      </p:sp>
      <p:sp>
        <p:nvSpPr>
          <p:cNvPr id="65" name="Shape 63"/>
          <p:cNvSpPr/>
          <p:nvPr/>
        </p:nvSpPr>
        <p:spPr>
          <a:xfrm>
            <a:off x="3382398" y="6102923"/>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6" name="Shape 64"/>
          <p:cNvSpPr/>
          <p:nvPr/>
        </p:nvSpPr>
        <p:spPr>
          <a:xfrm>
            <a:off x="3359544" y="6080069"/>
            <a:ext cx="1416951" cy="274249"/>
          </a:xfrm>
          <a:prstGeom prst="roundRect">
            <a:avLst>
              <a:gd name="adj" fmla="val 16667"/>
            </a:avLst>
          </a:prstGeom>
          <a:solidFill>
            <a:srgbClr val="2E1A00"/>
          </a:solidFill>
          <a:ln w="9525">
            <a:solidFill>
              <a:srgbClr val="E8B87A"/>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7" name="Text 65"/>
          <p:cNvSpPr/>
          <p:nvPr/>
        </p:nvSpPr>
        <p:spPr>
          <a:xfrm>
            <a:off x="3432678" y="6080069"/>
            <a:ext cx="758754"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UsersPage</a:t>
            </a:r>
            <a:endParaRPr lang="en-US" sz="1200" dirty="0">
              <a:solidFill>
                <a:prstClr val="black"/>
              </a:solidFill>
              <a:latin typeface="Candara" panose="020E0502030303020204" pitchFamily="34" charset="0"/>
            </a:endParaRPr>
          </a:p>
        </p:txBody>
      </p:sp>
      <p:sp>
        <p:nvSpPr>
          <p:cNvPr id="68" name="Shape 66"/>
          <p:cNvSpPr/>
          <p:nvPr/>
        </p:nvSpPr>
        <p:spPr>
          <a:xfrm>
            <a:off x="4154865" y="6134919"/>
            <a:ext cx="566780" cy="164549"/>
          </a:xfrm>
          <a:prstGeom prst="roundRect">
            <a:avLst>
              <a:gd name="adj" fmla="val 16667"/>
            </a:avLst>
          </a:prstGeom>
          <a:solidFill>
            <a:srgbClr val="E8B87A">
              <a:alpha val="13000"/>
            </a:srgbClr>
          </a:solidFill>
          <a:ln w="5080">
            <a:solidFill>
              <a:srgbClr val="E8B87A">
                <a:alpha val="60000"/>
              </a:srgbClr>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9" name="Text 67"/>
          <p:cNvSpPr/>
          <p:nvPr/>
        </p:nvSpPr>
        <p:spPr>
          <a:xfrm>
            <a:off x="4154865" y="6134919"/>
            <a:ext cx="566780" cy="164549"/>
          </a:xfrm>
          <a:prstGeom prst="rect">
            <a:avLst/>
          </a:prstGeom>
          <a:noFill/>
          <a:ln/>
        </p:spPr>
        <p:txBody>
          <a:bodyPr wrap="square" lIns="0" tIns="0" rIns="0" bIns="0" rtlCol="0" anchor="ctr"/>
          <a:lstStyle/>
          <a:p>
            <a:pPr algn="ctr" defTabSz="914126"/>
            <a:r>
              <a:rPr lang="en-US" sz="1200" b="1" dirty="0">
                <a:solidFill>
                  <a:srgbClr val="E8B87A"/>
                </a:solidFill>
                <a:latin typeface="Candara" panose="020E0502030303020204" pitchFamily="34" charset="0"/>
                <a:ea typeface="Calibri" pitchFamily="34" charset="-122"/>
                <a:cs typeface="Calibri" pitchFamily="34" charset="-120"/>
              </a:rPr>
              <a:t>Admin</a:t>
            </a:r>
            <a:endParaRPr lang="en-US" sz="1200" dirty="0">
              <a:solidFill>
                <a:prstClr val="black"/>
              </a:solidFill>
              <a:latin typeface="Candara" panose="020E0502030303020204" pitchFamily="34" charset="0"/>
            </a:endParaRPr>
          </a:p>
        </p:txBody>
      </p:sp>
      <p:sp>
        <p:nvSpPr>
          <p:cNvPr id="80" name="Text 78"/>
          <p:cNvSpPr/>
          <p:nvPr/>
        </p:nvSpPr>
        <p:spPr>
          <a:xfrm>
            <a:off x="6429422" y="1028851"/>
            <a:ext cx="4872483" cy="274249"/>
          </a:xfrm>
          <a:prstGeom prst="rect">
            <a:avLst/>
          </a:prstGeom>
          <a:noFill/>
          <a:ln/>
        </p:spPr>
        <p:txBody>
          <a:bodyPr wrap="square" lIns="0" tIns="0" rIns="0" bIns="0" rtlCol="0" anchor="ctr"/>
          <a:lstStyle/>
          <a:p>
            <a:pPr defTabSz="914126"/>
            <a:r>
              <a:rPr lang="en-US" sz="1200" b="1" dirty="0">
                <a:solidFill>
                  <a:srgbClr val="3ECF80"/>
                </a:solidFill>
                <a:latin typeface="Candara" panose="020E0502030303020204" pitchFamily="34" charset="0"/>
                <a:ea typeface="Calibri" pitchFamily="34" charset="-122"/>
                <a:cs typeface="Calibri" pitchFamily="34" charset="-120"/>
              </a:rPr>
              <a:t>Routes &amp; Navigation</a:t>
            </a:r>
            <a:endParaRPr lang="en-US" sz="1200" dirty="0">
              <a:solidFill>
                <a:prstClr val="black"/>
              </a:solidFill>
              <a:latin typeface="Candara" panose="020E0502030303020204" pitchFamily="34" charset="0"/>
            </a:endParaRPr>
          </a:p>
        </p:txBody>
      </p:sp>
      <p:sp>
        <p:nvSpPr>
          <p:cNvPr id="81" name="Shape 79"/>
          <p:cNvSpPr/>
          <p:nvPr/>
        </p:nvSpPr>
        <p:spPr>
          <a:xfrm>
            <a:off x="6429422" y="1321383"/>
            <a:ext cx="4872483" cy="0"/>
          </a:xfrm>
          <a:prstGeom prst="line">
            <a:avLst/>
          </a:prstGeom>
          <a:no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2" name="Text 80"/>
          <p:cNvSpPr/>
          <p:nvPr/>
        </p:nvSpPr>
        <p:spPr>
          <a:xfrm>
            <a:off x="6022508" y="1357950"/>
            <a:ext cx="1147009" cy="255965"/>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Route</a:t>
            </a:r>
            <a:endParaRPr lang="en-US" sz="1200" dirty="0">
              <a:solidFill>
                <a:prstClr val="black"/>
              </a:solidFill>
              <a:latin typeface="Candara" panose="020E0502030303020204" pitchFamily="34" charset="0"/>
            </a:endParaRPr>
          </a:p>
        </p:txBody>
      </p:sp>
      <p:sp>
        <p:nvSpPr>
          <p:cNvPr id="83" name="Text 81"/>
          <p:cNvSpPr/>
          <p:nvPr/>
        </p:nvSpPr>
        <p:spPr>
          <a:xfrm>
            <a:off x="7034592" y="1357950"/>
            <a:ext cx="1554075" cy="255965"/>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Page</a:t>
            </a:r>
            <a:endParaRPr lang="en-US" sz="1200" b="1" dirty="0">
              <a:solidFill>
                <a:prstClr val="black"/>
              </a:solidFill>
              <a:latin typeface="Candara" panose="020E0502030303020204" pitchFamily="34" charset="0"/>
            </a:endParaRPr>
          </a:p>
        </p:txBody>
      </p:sp>
      <p:sp>
        <p:nvSpPr>
          <p:cNvPr id="84" name="Text 82"/>
          <p:cNvSpPr/>
          <p:nvPr/>
        </p:nvSpPr>
        <p:spPr>
          <a:xfrm>
            <a:off x="9409590" y="1357950"/>
            <a:ext cx="1892315" cy="255965"/>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Note</a:t>
            </a:r>
            <a:endParaRPr lang="en-US" sz="1200" b="1" dirty="0">
              <a:solidFill>
                <a:srgbClr val="FFFF00"/>
              </a:solidFill>
              <a:latin typeface="Candara" panose="020E0502030303020204" pitchFamily="34" charset="0"/>
            </a:endParaRPr>
          </a:p>
        </p:txBody>
      </p:sp>
      <p:sp>
        <p:nvSpPr>
          <p:cNvPr id="85" name="Shape 83"/>
          <p:cNvSpPr/>
          <p:nvPr/>
        </p:nvSpPr>
        <p:spPr>
          <a:xfrm>
            <a:off x="6429422" y="1613915"/>
            <a:ext cx="4872483" cy="0"/>
          </a:xfrm>
          <a:prstGeom prst="line">
            <a:avLst/>
          </a:prstGeom>
          <a:no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6" name="Shape 84"/>
          <p:cNvSpPr/>
          <p:nvPr/>
        </p:nvSpPr>
        <p:spPr>
          <a:xfrm>
            <a:off x="6411139" y="1650482"/>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7" name="Text 85"/>
          <p:cNvSpPr/>
          <p:nvPr/>
        </p:nvSpPr>
        <p:spPr>
          <a:xfrm>
            <a:off x="6022508" y="1650482"/>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/login</a:t>
            </a:r>
            <a:endParaRPr lang="en-US" sz="1200" dirty="0">
              <a:solidFill>
                <a:prstClr val="black"/>
              </a:solidFill>
              <a:latin typeface="Candara" panose="020E0502030303020204" pitchFamily="34" charset="0"/>
            </a:endParaRPr>
          </a:p>
        </p:txBody>
      </p:sp>
      <p:sp>
        <p:nvSpPr>
          <p:cNvPr id="88" name="Text 86"/>
          <p:cNvSpPr/>
          <p:nvPr/>
        </p:nvSpPr>
        <p:spPr>
          <a:xfrm>
            <a:off x="7034128" y="1650482"/>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LoginPage</a:t>
            </a:r>
            <a:endParaRPr lang="en-US" sz="1200" b="1" dirty="0">
              <a:solidFill>
                <a:prstClr val="black"/>
              </a:solidFill>
              <a:latin typeface="Candara" panose="020E0502030303020204" pitchFamily="34" charset="0"/>
            </a:endParaRPr>
          </a:p>
        </p:txBody>
      </p:sp>
      <p:sp>
        <p:nvSpPr>
          <p:cNvPr id="89" name="Shape 87"/>
          <p:cNvSpPr/>
          <p:nvPr/>
        </p:nvSpPr>
        <p:spPr>
          <a:xfrm>
            <a:off x="8449639" y="1756083"/>
            <a:ext cx="718148" cy="241780"/>
          </a:xfrm>
          <a:prstGeom prst="roundRect">
            <a:avLst>
              <a:gd name="adj" fmla="val 10000"/>
            </a:avLst>
          </a:prstGeom>
          <a:solidFill>
            <a:srgbClr val="7EC8E3">
              <a:alpha val="13000"/>
            </a:srgbClr>
          </a:solidFill>
          <a:ln w="5080">
            <a:solidFill>
              <a:srgbClr val="7EC8E3">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90" name="Text 88"/>
          <p:cNvSpPr/>
          <p:nvPr/>
        </p:nvSpPr>
        <p:spPr>
          <a:xfrm>
            <a:off x="8449639" y="1756083"/>
            <a:ext cx="718148" cy="241780"/>
          </a:xfrm>
          <a:prstGeom prst="rect">
            <a:avLst/>
          </a:prstGeom>
          <a:noFill/>
          <a:ln/>
        </p:spPr>
        <p:txBody>
          <a:bodyPr wrap="square" lIns="0" tIns="0" rIns="0" bIns="0" rtlCol="0" anchor="ctr"/>
          <a:lstStyle/>
          <a:p>
            <a:pPr algn="ctr" defTabSz="914126"/>
            <a:r>
              <a:rPr lang="en-US" sz="1200" b="1" dirty="0">
                <a:solidFill>
                  <a:srgbClr val="7EC8E3"/>
                </a:solidFill>
                <a:latin typeface="Candara" panose="020E0502030303020204" pitchFamily="34" charset="0"/>
                <a:ea typeface="Calibri" pitchFamily="34" charset="-122"/>
                <a:cs typeface="Calibri" pitchFamily="34" charset="-120"/>
              </a:rPr>
              <a:t>Public</a:t>
            </a:r>
            <a:endParaRPr lang="en-US" sz="1200" b="1" dirty="0">
              <a:solidFill>
                <a:prstClr val="black"/>
              </a:solidFill>
              <a:latin typeface="Candara" panose="020E0502030303020204" pitchFamily="34" charset="0"/>
            </a:endParaRPr>
          </a:p>
        </p:txBody>
      </p:sp>
      <p:sp>
        <p:nvSpPr>
          <p:cNvPr id="91" name="Text 89"/>
          <p:cNvSpPr/>
          <p:nvPr/>
        </p:nvSpPr>
        <p:spPr>
          <a:xfrm>
            <a:off x="9409590" y="1650482"/>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JWT login · public</a:t>
            </a:r>
            <a:endParaRPr lang="en-US" sz="1200" b="1" dirty="0">
              <a:solidFill>
                <a:srgbClr val="FFFF00"/>
              </a:solidFill>
              <a:latin typeface="Candara" panose="020E0502030303020204" pitchFamily="34" charset="0"/>
            </a:endParaRPr>
          </a:p>
        </p:txBody>
      </p:sp>
      <p:sp>
        <p:nvSpPr>
          <p:cNvPr id="92" name="Text 90"/>
          <p:cNvSpPr/>
          <p:nvPr/>
        </p:nvSpPr>
        <p:spPr>
          <a:xfrm>
            <a:off x="6022508" y="2070996"/>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/dashboard</a:t>
            </a:r>
            <a:endParaRPr lang="en-US" sz="1200" dirty="0">
              <a:solidFill>
                <a:prstClr val="black"/>
              </a:solidFill>
              <a:latin typeface="Candara" panose="020E0502030303020204" pitchFamily="34" charset="0"/>
            </a:endParaRPr>
          </a:p>
        </p:txBody>
      </p:sp>
      <p:sp>
        <p:nvSpPr>
          <p:cNvPr id="93" name="Text 91"/>
          <p:cNvSpPr/>
          <p:nvPr/>
        </p:nvSpPr>
        <p:spPr>
          <a:xfrm>
            <a:off x="7034128" y="2070996"/>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Dashboard</a:t>
            </a:r>
            <a:endParaRPr lang="en-US" sz="1200" b="1" dirty="0">
              <a:solidFill>
                <a:prstClr val="black"/>
              </a:solidFill>
              <a:latin typeface="Candara" panose="020E0502030303020204" pitchFamily="34" charset="0"/>
            </a:endParaRPr>
          </a:p>
        </p:txBody>
      </p:sp>
      <p:sp>
        <p:nvSpPr>
          <p:cNvPr id="94" name="Shape 92"/>
          <p:cNvSpPr/>
          <p:nvPr/>
        </p:nvSpPr>
        <p:spPr>
          <a:xfrm>
            <a:off x="8449639" y="2176598"/>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95" name="Text 93"/>
          <p:cNvSpPr/>
          <p:nvPr/>
        </p:nvSpPr>
        <p:spPr>
          <a:xfrm>
            <a:off x="8449639" y="2176598"/>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96" name="Text 94"/>
          <p:cNvSpPr/>
          <p:nvPr/>
        </p:nvSpPr>
        <p:spPr>
          <a:xfrm>
            <a:off x="9409590" y="2070996"/>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Live overview · SignalR charts</a:t>
            </a:r>
            <a:endParaRPr lang="en-US" sz="1200" b="1" dirty="0">
              <a:solidFill>
                <a:srgbClr val="FFFF00"/>
              </a:solidFill>
              <a:latin typeface="Candara" panose="020E0502030303020204" pitchFamily="34" charset="0"/>
            </a:endParaRPr>
          </a:p>
        </p:txBody>
      </p:sp>
      <p:sp>
        <p:nvSpPr>
          <p:cNvPr id="97" name="Shape 95"/>
          <p:cNvSpPr/>
          <p:nvPr/>
        </p:nvSpPr>
        <p:spPr>
          <a:xfrm>
            <a:off x="6411139" y="2491511"/>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98" name="Text 96"/>
          <p:cNvSpPr/>
          <p:nvPr/>
        </p:nvSpPr>
        <p:spPr>
          <a:xfrm>
            <a:off x="6022508" y="2491511"/>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/devices</a:t>
            </a:r>
            <a:endParaRPr lang="en-US" sz="1200" dirty="0">
              <a:solidFill>
                <a:prstClr val="black"/>
              </a:solidFill>
              <a:latin typeface="Candara" panose="020E0502030303020204" pitchFamily="34" charset="0"/>
            </a:endParaRPr>
          </a:p>
        </p:txBody>
      </p:sp>
      <p:sp>
        <p:nvSpPr>
          <p:cNvPr id="99" name="Text 97"/>
          <p:cNvSpPr/>
          <p:nvPr/>
        </p:nvSpPr>
        <p:spPr>
          <a:xfrm>
            <a:off x="7034128" y="2491511"/>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DevicesPage</a:t>
            </a:r>
            <a:endParaRPr lang="en-US" sz="1200" b="1" dirty="0">
              <a:solidFill>
                <a:prstClr val="black"/>
              </a:solidFill>
              <a:latin typeface="Candara" panose="020E0502030303020204" pitchFamily="34" charset="0"/>
            </a:endParaRPr>
          </a:p>
        </p:txBody>
      </p:sp>
      <p:sp>
        <p:nvSpPr>
          <p:cNvPr id="100" name="Shape 98"/>
          <p:cNvSpPr/>
          <p:nvPr/>
        </p:nvSpPr>
        <p:spPr>
          <a:xfrm>
            <a:off x="8449639" y="2597112"/>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01" name="Text 99"/>
          <p:cNvSpPr/>
          <p:nvPr/>
        </p:nvSpPr>
        <p:spPr>
          <a:xfrm>
            <a:off x="8449639" y="2597112"/>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02" name="Text 100"/>
          <p:cNvSpPr/>
          <p:nvPr/>
        </p:nvSpPr>
        <p:spPr>
          <a:xfrm>
            <a:off x="9409590" y="2491511"/>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Device CRUD</a:t>
            </a:r>
            <a:endParaRPr lang="en-US" sz="1200" b="1" dirty="0">
              <a:solidFill>
                <a:srgbClr val="FFFF00"/>
              </a:solidFill>
              <a:latin typeface="Candara" panose="020E0502030303020204" pitchFamily="34" charset="0"/>
            </a:endParaRPr>
          </a:p>
        </p:txBody>
      </p:sp>
      <p:sp>
        <p:nvSpPr>
          <p:cNvPr id="103" name="Text 101"/>
          <p:cNvSpPr/>
          <p:nvPr/>
        </p:nvSpPr>
        <p:spPr>
          <a:xfrm>
            <a:off x="6022508" y="2912025"/>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/devices/:id</a:t>
            </a:r>
            <a:endParaRPr lang="en-US" sz="1200" dirty="0">
              <a:solidFill>
                <a:prstClr val="black"/>
              </a:solidFill>
              <a:latin typeface="Candara" panose="020E0502030303020204" pitchFamily="34" charset="0"/>
            </a:endParaRPr>
          </a:p>
        </p:txBody>
      </p:sp>
      <p:sp>
        <p:nvSpPr>
          <p:cNvPr id="104" name="Text 102"/>
          <p:cNvSpPr/>
          <p:nvPr/>
        </p:nvSpPr>
        <p:spPr>
          <a:xfrm>
            <a:off x="7034128" y="2912025"/>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DeviceDetailPage</a:t>
            </a:r>
            <a:endParaRPr lang="en-US" sz="1200" b="1" dirty="0">
              <a:solidFill>
                <a:prstClr val="black"/>
              </a:solidFill>
              <a:latin typeface="Candara" panose="020E0502030303020204" pitchFamily="34" charset="0"/>
            </a:endParaRPr>
          </a:p>
        </p:txBody>
      </p:sp>
      <p:sp>
        <p:nvSpPr>
          <p:cNvPr id="105" name="Shape 103"/>
          <p:cNvSpPr/>
          <p:nvPr/>
        </p:nvSpPr>
        <p:spPr>
          <a:xfrm>
            <a:off x="8449639" y="3017627"/>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06" name="Text 104"/>
          <p:cNvSpPr/>
          <p:nvPr/>
        </p:nvSpPr>
        <p:spPr>
          <a:xfrm>
            <a:off x="8449639" y="3017627"/>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07" name="Text 105"/>
          <p:cNvSpPr/>
          <p:nvPr/>
        </p:nvSpPr>
        <p:spPr>
          <a:xfrm>
            <a:off x="9409590" y="2912025"/>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Live chart + sensors + commands</a:t>
            </a:r>
            <a:endParaRPr lang="en-US" sz="1200" b="1" dirty="0">
              <a:solidFill>
                <a:srgbClr val="FFFF00"/>
              </a:solidFill>
              <a:latin typeface="Candara" panose="020E0502030303020204" pitchFamily="34" charset="0"/>
            </a:endParaRPr>
          </a:p>
        </p:txBody>
      </p:sp>
      <p:sp>
        <p:nvSpPr>
          <p:cNvPr id="108" name="Shape 106"/>
          <p:cNvSpPr/>
          <p:nvPr/>
        </p:nvSpPr>
        <p:spPr>
          <a:xfrm>
            <a:off x="6411139" y="3332540"/>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09" name="Text 107"/>
          <p:cNvSpPr/>
          <p:nvPr/>
        </p:nvSpPr>
        <p:spPr>
          <a:xfrm>
            <a:off x="6022508" y="3332540"/>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/sensors</a:t>
            </a:r>
            <a:endParaRPr lang="en-US" sz="1200" dirty="0">
              <a:solidFill>
                <a:prstClr val="black"/>
              </a:solidFill>
              <a:latin typeface="Candara" panose="020E0502030303020204" pitchFamily="34" charset="0"/>
            </a:endParaRPr>
          </a:p>
        </p:txBody>
      </p:sp>
      <p:sp>
        <p:nvSpPr>
          <p:cNvPr id="110" name="Text 108"/>
          <p:cNvSpPr/>
          <p:nvPr/>
        </p:nvSpPr>
        <p:spPr>
          <a:xfrm>
            <a:off x="7034128" y="3332540"/>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SensorsPage</a:t>
            </a:r>
            <a:endParaRPr lang="en-US" sz="1200" b="1" dirty="0">
              <a:solidFill>
                <a:prstClr val="black"/>
              </a:solidFill>
              <a:latin typeface="Candara" panose="020E0502030303020204" pitchFamily="34" charset="0"/>
            </a:endParaRPr>
          </a:p>
        </p:txBody>
      </p:sp>
      <p:sp>
        <p:nvSpPr>
          <p:cNvPr id="111" name="Shape 109"/>
          <p:cNvSpPr/>
          <p:nvPr/>
        </p:nvSpPr>
        <p:spPr>
          <a:xfrm>
            <a:off x="8449639" y="3438141"/>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12" name="Text 110"/>
          <p:cNvSpPr/>
          <p:nvPr/>
        </p:nvSpPr>
        <p:spPr>
          <a:xfrm>
            <a:off x="8449639" y="3438141"/>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13" name="Text 111"/>
          <p:cNvSpPr/>
          <p:nvPr/>
        </p:nvSpPr>
        <p:spPr>
          <a:xfrm>
            <a:off x="9409590" y="3332540"/>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All sensor inputs</a:t>
            </a:r>
            <a:endParaRPr lang="en-US" sz="1200" b="1" dirty="0">
              <a:solidFill>
                <a:srgbClr val="FFFF00"/>
              </a:solidFill>
              <a:latin typeface="Candara" panose="020E0502030303020204" pitchFamily="34" charset="0"/>
            </a:endParaRPr>
          </a:p>
        </p:txBody>
      </p:sp>
      <p:sp>
        <p:nvSpPr>
          <p:cNvPr id="114" name="Text 112"/>
          <p:cNvSpPr/>
          <p:nvPr/>
        </p:nvSpPr>
        <p:spPr>
          <a:xfrm>
            <a:off x="6022508" y="3753054"/>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/actuators</a:t>
            </a:r>
            <a:endParaRPr lang="en-US" sz="1200" dirty="0">
              <a:solidFill>
                <a:prstClr val="black"/>
              </a:solidFill>
              <a:latin typeface="Candara" panose="020E0502030303020204" pitchFamily="34" charset="0"/>
            </a:endParaRPr>
          </a:p>
        </p:txBody>
      </p:sp>
      <p:sp>
        <p:nvSpPr>
          <p:cNvPr id="115" name="Text 113"/>
          <p:cNvSpPr/>
          <p:nvPr/>
        </p:nvSpPr>
        <p:spPr>
          <a:xfrm>
            <a:off x="7034128" y="3753054"/>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ActuatorsPage</a:t>
            </a:r>
            <a:endParaRPr lang="en-US" sz="1200" b="1" dirty="0">
              <a:solidFill>
                <a:prstClr val="black"/>
              </a:solidFill>
              <a:latin typeface="Candara" panose="020E0502030303020204" pitchFamily="34" charset="0"/>
            </a:endParaRPr>
          </a:p>
        </p:txBody>
      </p:sp>
      <p:sp>
        <p:nvSpPr>
          <p:cNvPr id="116" name="Shape 114"/>
          <p:cNvSpPr/>
          <p:nvPr/>
        </p:nvSpPr>
        <p:spPr>
          <a:xfrm>
            <a:off x="8449639" y="3858656"/>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17" name="Text 115"/>
          <p:cNvSpPr/>
          <p:nvPr/>
        </p:nvSpPr>
        <p:spPr>
          <a:xfrm>
            <a:off x="8449639" y="3858656"/>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18" name="Text 116"/>
          <p:cNvSpPr/>
          <p:nvPr/>
        </p:nvSpPr>
        <p:spPr>
          <a:xfrm>
            <a:off x="9409590" y="3753054"/>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Controllable outputs</a:t>
            </a:r>
            <a:endParaRPr lang="en-US" sz="1200" b="1" dirty="0">
              <a:solidFill>
                <a:srgbClr val="FFFF00"/>
              </a:solidFill>
              <a:latin typeface="Candara" panose="020E0502030303020204" pitchFamily="34" charset="0"/>
            </a:endParaRPr>
          </a:p>
        </p:txBody>
      </p:sp>
      <p:sp>
        <p:nvSpPr>
          <p:cNvPr id="119" name="Shape 117"/>
          <p:cNvSpPr/>
          <p:nvPr/>
        </p:nvSpPr>
        <p:spPr>
          <a:xfrm>
            <a:off x="6411139" y="4173569"/>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20" name="Text 118"/>
          <p:cNvSpPr/>
          <p:nvPr/>
        </p:nvSpPr>
        <p:spPr>
          <a:xfrm>
            <a:off x="6022508" y="4173569"/>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/alert-rules</a:t>
            </a:r>
            <a:endParaRPr lang="en-US" sz="1200" dirty="0">
              <a:solidFill>
                <a:prstClr val="black"/>
              </a:solidFill>
              <a:latin typeface="Candara" panose="020E0502030303020204" pitchFamily="34" charset="0"/>
            </a:endParaRPr>
          </a:p>
        </p:txBody>
      </p:sp>
      <p:sp>
        <p:nvSpPr>
          <p:cNvPr id="121" name="Text 119"/>
          <p:cNvSpPr/>
          <p:nvPr/>
        </p:nvSpPr>
        <p:spPr>
          <a:xfrm>
            <a:off x="7034128" y="4173569"/>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AlertRulesPage</a:t>
            </a:r>
            <a:endParaRPr lang="en-US" sz="1200" b="1" dirty="0">
              <a:solidFill>
                <a:prstClr val="black"/>
              </a:solidFill>
              <a:latin typeface="Candara" panose="020E0502030303020204" pitchFamily="34" charset="0"/>
            </a:endParaRPr>
          </a:p>
        </p:txBody>
      </p:sp>
      <p:sp>
        <p:nvSpPr>
          <p:cNvPr id="122" name="Shape 120"/>
          <p:cNvSpPr/>
          <p:nvPr/>
        </p:nvSpPr>
        <p:spPr>
          <a:xfrm>
            <a:off x="8449639" y="4279170"/>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23" name="Text 121"/>
          <p:cNvSpPr/>
          <p:nvPr/>
        </p:nvSpPr>
        <p:spPr>
          <a:xfrm>
            <a:off x="8449639" y="4279170"/>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24" name="Text 122"/>
          <p:cNvSpPr/>
          <p:nvPr/>
        </p:nvSpPr>
        <p:spPr>
          <a:xfrm>
            <a:off x="9409590" y="4173569"/>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Threshold rule config</a:t>
            </a:r>
            <a:endParaRPr lang="en-US" sz="1200" b="1" dirty="0">
              <a:solidFill>
                <a:srgbClr val="FFFF00"/>
              </a:solidFill>
              <a:latin typeface="Candara" panose="020E0502030303020204" pitchFamily="34" charset="0"/>
            </a:endParaRPr>
          </a:p>
        </p:txBody>
      </p:sp>
      <p:sp>
        <p:nvSpPr>
          <p:cNvPr id="125" name="Text 123"/>
          <p:cNvSpPr/>
          <p:nvPr/>
        </p:nvSpPr>
        <p:spPr>
          <a:xfrm>
            <a:off x="6022508" y="4594083"/>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/alerts</a:t>
            </a:r>
            <a:endParaRPr lang="en-US" sz="1200" dirty="0">
              <a:solidFill>
                <a:prstClr val="black"/>
              </a:solidFill>
              <a:latin typeface="Candara" panose="020E0502030303020204" pitchFamily="34" charset="0"/>
            </a:endParaRPr>
          </a:p>
        </p:txBody>
      </p:sp>
      <p:sp>
        <p:nvSpPr>
          <p:cNvPr id="126" name="Text 124"/>
          <p:cNvSpPr/>
          <p:nvPr/>
        </p:nvSpPr>
        <p:spPr>
          <a:xfrm>
            <a:off x="7034128" y="4594083"/>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AlertsPage</a:t>
            </a:r>
            <a:endParaRPr lang="en-US" sz="1200" b="1" dirty="0">
              <a:solidFill>
                <a:prstClr val="black"/>
              </a:solidFill>
              <a:latin typeface="Candara" panose="020E0502030303020204" pitchFamily="34" charset="0"/>
            </a:endParaRPr>
          </a:p>
        </p:txBody>
      </p:sp>
      <p:sp>
        <p:nvSpPr>
          <p:cNvPr id="127" name="Shape 125"/>
          <p:cNvSpPr/>
          <p:nvPr/>
        </p:nvSpPr>
        <p:spPr>
          <a:xfrm>
            <a:off x="8449639" y="4699685"/>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28" name="Text 126"/>
          <p:cNvSpPr/>
          <p:nvPr/>
        </p:nvSpPr>
        <p:spPr>
          <a:xfrm>
            <a:off x="8449639" y="4699685"/>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29" name="Text 127"/>
          <p:cNvSpPr/>
          <p:nvPr/>
        </p:nvSpPr>
        <p:spPr>
          <a:xfrm>
            <a:off x="9409590" y="4594083"/>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View · acknowledge · resolve</a:t>
            </a:r>
            <a:endParaRPr lang="en-US" sz="1200" b="1" dirty="0">
              <a:solidFill>
                <a:srgbClr val="FFFF00"/>
              </a:solidFill>
              <a:latin typeface="Candara" panose="020E0502030303020204" pitchFamily="34" charset="0"/>
            </a:endParaRPr>
          </a:p>
        </p:txBody>
      </p:sp>
      <p:sp>
        <p:nvSpPr>
          <p:cNvPr id="130" name="Shape 128"/>
          <p:cNvSpPr/>
          <p:nvPr/>
        </p:nvSpPr>
        <p:spPr>
          <a:xfrm>
            <a:off x="6411139" y="5014598"/>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31" name="Text 129"/>
          <p:cNvSpPr/>
          <p:nvPr/>
        </p:nvSpPr>
        <p:spPr>
          <a:xfrm>
            <a:off x="6022508" y="5014598"/>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/command-history</a:t>
            </a:r>
            <a:endParaRPr lang="en-US" sz="1200" dirty="0">
              <a:solidFill>
                <a:prstClr val="black"/>
              </a:solidFill>
              <a:latin typeface="Candara" panose="020E0502030303020204" pitchFamily="34" charset="0"/>
            </a:endParaRPr>
          </a:p>
        </p:txBody>
      </p:sp>
      <p:sp>
        <p:nvSpPr>
          <p:cNvPr id="132" name="Text 130"/>
          <p:cNvSpPr/>
          <p:nvPr/>
        </p:nvSpPr>
        <p:spPr>
          <a:xfrm>
            <a:off x="7034128" y="5014598"/>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CommandHistoryPage</a:t>
            </a:r>
            <a:endParaRPr lang="en-US" sz="1200" b="1" dirty="0">
              <a:solidFill>
                <a:prstClr val="black"/>
              </a:solidFill>
              <a:latin typeface="Candara" panose="020E0502030303020204" pitchFamily="34" charset="0"/>
            </a:endParaRPr>
          </a:p>
        </p:txBody>
      </p:sp>
      <p:sp>
        <p:nvSpPr>
          <p:cNvPr id="133" name="Shape 131"/>
          <p:cNvSpPr/>
          <p:nvPr/>
        </p:nvSpPr>
        <p:spPr>
          <a:xfrm>
            <a:off x="8449639" y="5120199"/>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34" name="Text 132"/>
          <p:cNvSpPr/>
          <p:nvPr/>
        </p:nvSpPr>
        <p:spPr>
          <a:xfrm>
            <a:off x="8449639" y="5120199"/>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35" name="Text 133"/>
          <p:cNvSpPr/>
          <p:nvPr/>
        </p:nvSpPr>
        <p:spPr>
          <a:xfrm>
            <a:off x="9409590" y="5014598"/>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Pending → Sent → </a:t>
            </a:r>
            <a:r>
              <a:rPr lang="en-US" sz="1200" b="1" dirty="0" err="1">
                <a:solidFill>
                  <a:srgbClr val="FFFF00"/>
                </a:solidFill>
                <a:latin typeface="Candara" panose="020E0502030303020204" pitchFamily="34" charset="0"/>
                <a:ea typeface="Calibri" pitchFamily="34" charset="-122"/>
                <a:cs typeface="Calibri" pitchFamily="34" charset="-120"/>
              </a:rPr>
              <a:t>Acked</a:t>
            </a:r>
            <a:endParaRPr lang="en-US" sz="1200" b="1" dirty="0">
              <a:solidFill>
                <a:srgbClr val="FFFF00"/>
              </a:solidFill>
              <a:latin typeface="Candara" panose="020E0502030303020204" pitchFamily="34" charset="0"/>
            </a:endParaRPr>
          </a:p>
        </p:txBody>
      </p:sp>
      <p:sp>
        <p:nvSpPr>
          <p:cNvPr id="136" name="Text 134"/>
          <p:cNvSpPr/>
          <p:nvPr/>
        </p:nvSpPr>
        <p:spPr>
          <a:xfrm>
            <a:off x="6022508" y="5435112"/>
            <a:ext cx="1147009" cy="420514"/>
          </a:xfrm>
          <a:prstGeom prst="rect">
            <a:avLst/>
          </a:prstGeom>
          <a:noFill/>
          <a:ln/>
        </p:spPr>
        <p:txBody>
          <a:bodyPr wrap="square" lIns="0" tIns="0" rIns="0" bIns="0" rtlCol="0" anchor="ctr"/>
          <a:lstStyle/>
          <a:p>
            <a:pPr defTabSz="914126"/>
            <a:r>
              <a:rPr lang="en-US" sz="1200" dirty="0">
                <a:solidFill>
                  <a:srgbClr val="E8B87A"/>
                </a:solidFill>
                <a:latin typeface="Candara" panose="020E0502030303020204" pitchFamily="34" charset="0"/>
                <a:ea typeface="Consolas" pitchFamily="34" charset="-122"/>
                <a:cs typeface="Consolas" pitchFamily="34" charset="-120"/>
              </a:rPr>
              <a:t>/users</a:t>
            </a:r>
            <a:endParaRPr lang="en-US" sz="1200" dirty="0">
              <a:solidFill>
                <a:prstClr val="black"/>
              </a:solidFill>
              <a:latin typeface="Candara" panose="020E0502030303020204" pitchFamily="34" charset="0"/>
            </a:endParaRPr>
          </a:p>
        </p:txBody>
      </p:sp>
      <p:sp>
        <p:nvSpPr>
          <p:cNvPr id="137" name="Text 135"/>
          <p:cNvSpPr/>
          <p:nvPr/>
        </p:nvSpPr>
        <p:spPr>
          <a:xfrm>
            <a:off x="7034128" y="5435112"/>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UserManagementPage</a:t>
            </a:r>
            <a:endParaRPr lang="en-US" sz="1200" b="1" dirty="0">
              <a:solidFill>
                <a:prstClr val="black"/>
              </a:solidFill>
              <a:latin typeface="Candara" panose="020E0502030303020204" pitchFamily="34" charset="0"/>
            </a:endParaRPr>
          </a:p>
        </p:txBody>
      </p:sp>
      <p:sp>
        <p:nvSpPr>
          <p:cNvPr id="138" name="Shape 136"/>
          <p:cNvSpPr/>
          <p:nvPr/>
        </p:nvSpPr>
        <p:spPr>
          <a:xfrm>
            <a:off x="8449639" y="5540714"/>
            <a:ext cx="718148" cy="241780"/>
          </a:xfrm>
          <a:prstGeom prst="roundRect">
            <a:avLst>
              <a:gd name="adj" fmla="val 10000"/>
            </a:avLst>
          </a:prstGeom>
          <a:solidFill>
            <a:srgbClr val="E8B87A">
              <a:alpha val="13000"/>
            </a:srgbClr>
          </a:solidFill>
          <a:ln w="5080">
            <a:solidFill>
              <a:srgbClr val="E8B87A">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39" name="Text 137"/>
          <p:cNvSpPr/>
          <p:nvPr/>
        </p:nvSpPr>
        <p:spPr>
          <a:xfrm>
            <a:off x="8449639" y="5540714"/>
            <a:ext cx="718148" cy="241780"/>
          </a:xfrm>
          <a:prstGeom prst="rect">
            <a:avLst/>
          </a:prstGeom>
          <a:noFill/>
          <a:ln/>
        </p:spPr>
        <p:txBody>
          <a:bodyPr wrap="square" lIns="0" tIns="0" rIns="0" bIns="0" rtlCol="0" anchor="ctr"/>
          <a:lstStyle/>
          <a:p>
            <a:pPr algn="ctr" defTabSz="914126"/>
            <a:r>
              <a:rPr lang="en-US" sz="1200" b="1" dirty="0">
                <a:solidFill>
                  <a:srgbClr val="E8B87A"/>
                </a:solidFill>
                <a:latin typeface="Candara" panose="020E0502030303020204" pitchFamily="34" charset="0"/>
                <a:ea typeface="Calibri" pitchFamily="34" charset="-122"/>
                <a:cs typeface="Calibri" pitchFamily="34" charset="-120"/>
              </a:rPr>
              <a:t>Admin</a:t>
            </a:r>
            <a:endParaRPr lang="en-US" sz="1200" b="1" dirty="0">
              <a:solidFill>
                <a:prstClr val="black"/>
              </a:solidFill>
              <a:latin typeface="Candara" panose="020E0502030303020204" pitchFamily="34" charset="0"/>
            </a:endParaRPr>
          </a:p>
        </p:txBody>
      </p:sp>
      <p:sp>
        <p:nvSpPr>
          <p:cNvPr id="140" name="Text 138"/>
          <p:cNvSpPr/>
          <p:nvPr/>
        </p:nvSpPr>
        <p:spPr>
          <a:xfrm>
            <a:off x="9409590" y="5435112"/>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Admin: manage accounts</a:t>
            </a:r>
            <a:endParaRPr lang="en-US" sz="1200" b="1" dirty="0">
              <a:solidFill>
                <a:srgbClr val="FFFF00"/>
              </a:solidFill>
              <a:latin typeface="Candara" panose="020E0502030303020204" pitchFamily="34" charset="0"/>
            </a:endParaRPr>
          </a:p>
        </p:txBody>
      </p:sp>
      <p:sp>
        <p:nvSpPr>
          <p:cNvPr id="141" name="Shape 139"/>
          <p:cNvSpPr/>
          <p:nvPr/>
        </p:nvSpPr>
        <p:spPr>
          <a:xfrm>
            <a:off x="6215549" y="5947043"/>
            <a:ext cx="5086357" cy="685621"/>
          </a:xfrm>
          <a:prstGeom prst="roundRect">
            <a:avLst>
              <a:gd name="adj" fmla="val 9615"/>
            </a:avLst>
          </a:prstGeom>
          <a:solidFill>
            <a:srgbClr val="091A0F"/>
          </a:solid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42" name="Shape 140"/>
          <p:cNvSpPr/>
          <p:nvPr/>
        </p:nvSpPr>
        <p:spPr>
          <a:xfrm>
            <a:off x="5916782" y="6041904"/>
            <a:ext cx="45707" cy="475364"/>
          </a:xfrm>
          <a:prstGeom prst="roundRect">
            <a:avLst/>
          </a:prstGeom>
          <a:solidFill>
            <a:srgbClr val="3A6B52"/>
          </a:solidFill>
          <a:ln w="12700">
            <a:solidFill>
              <a:srgbClr val="3A6B52"/>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43" name="Text 141"/>
          <p:cNvSpPr/>
          <p:nvPr/>
        </p:nvSpPr>
        <p:spPr>
          <a:xfrm>
            <a:off x="6323523" y="6087612"/>
            <a:ext cx="4726217" cy="402231"/>
          </a:xfrm>
          <a:prstGeom prst="rect">
            <a:avLst/>
          </a:prstGeom>
          <a:noFill/>
          <a:ln/>
        </p:spPr>
        <p:txBody>
          <a:bodyPr wrap="square" lIns="0" tIns="0" rIns="0" bIns="0" rtlCol="0" anchor="ctr"/>
          <a:lstStyle/>
          <a:p>
            <a:pPr defTabSz="914126"/>
            <a:r>
              <a:rPr lang="en-US" sz="1200" dirty="0">
                <a:solidFill>
                  <a:srgbClr val="FFFF00"/>
                </a:solidFill>
                <a:latin typeface="Candara" panose="020E0502030303020204" pitchFamily="34" charset="0"/>
                <a:ea typeface="Calibri" pitchFamily="34" charset="-122"/>
                <a:cs typeface="Calibri" pitchFamily="34" charset="-120"/>
              </a:rPr>
              <a:t>ProtectedRoute redirects to /login if localStorage has no valid JWT</a:t>
            </a:r>
            <a:endParaRPr lang="en-US" sz="1200" dirty="0">
              <a:solidFill>
                <a:srgbClr val="FFFF00"/>
              </a:solidFill>
              <a:latin typeface="Candara" panose="020E0502030303020204" pitchFamily="34" charset="0"/>
            </a:endParaRPr>
          </a:p>
          <a:p>
            <a:pPr defTabSz="914126"/>
            <a:r>
              <a:rPr lang="en-US" sz="1200" dirty="0">
                <a:solidFill>
                  <a:srgbClr val="FFFF00"/>
                </a:solidFill>
                <a:latin typeface="Candara" panose="020E0502030303020204" pitchFamily="34" charset="0"/>
                <a:ea typeface="Calibri" pitchFamily="34" charset="-122"/>
                <a:cs typeface="Calibri" pitchFamily="34" charset="-120"/>
              </a:rPr>
              <a:t>isAdmin() check gates /users — Navigation hides Users link for non-admin roles</a:t>
            </a:r>
            <a:endParaRPr lang="en-US" sz="1200" dirty="0">
              <a:solidFill>
                <a:srgbClr val="FFFF00"/>
              </a:solidFill>
              <a:latin typeface="Candara" panose="020E0502030303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p:cNvGrpSpPr/>
        <p:nvPr/>
      </p:nvGrpSpPr>
      <p:grpSpPr>
        <a:xfrm>
          <a:off x="0" y="0"/>
          <a:ext cx="0" cy="0"/>
          <a:chOff x="0" y="0"/>
          <a:chExt cx="0" cy="0"/>
        </a:xfrm>
      </p:grpSpPr>
      <p:sp>
        <p:nvSpPr>
          <p:cNvPr id="2" name="Text 0"/>
          <p:cNvSpPr/>
          <p:nvPr/>
        </p:nvSpPr>
        <p:spPr>
          <a:xfrm>
            <a:off x="609441" y="244669"/>
            <a:ext cx="10969943" cy="633819"/>
          </a:xfrm>
          <a:prstGeom prst="rect">
            <a:avLst/>
          </a:prstGeom>
          <a:solidFill>
            <a:srgbClr val="0D2318"/>
          </a:solidFill>
          <a:ln>
            <a:noFill/>
          </a:ln>
        </p:spPr>
        <p:txBody>
          <a:bodyPr wrap="square" lIns="0" tIns="0" rIns="0" bIns="0" rtlCol="0" anchor="ctr"/>
          <a:lstStyle/>
          <a:p>
            <a:pPr defTabSz="1218895"/>
            <a:r>
              <a:rPr lang="en-US" sz="2800" b="1" dirty="0">
                <a:solidFill>
                  <a:srgbClr val="FFFFFF"/>
                </a:solidFill>
                <a:latin typeface="Candara" panose="020E0502030303020204" pitchFamily="34" charset="0"/>
                <a:ea typeface="Calibri" pitchFamily="34" charset="-122"/>
                <a:cs typeface="Times New Roman" panose="02020603050405020304" pitchFamily="18" charset="0"/>
              </a:rPr>
              <a:t>Key Features</a:t>
            </a:r>
            <a:endParaRPr lang="en-US" sz="2800" dirty="0">
              <a:solidFill>
                <a:prstClr val="black"/>
              </a:solidFill>
              <a:latin typeface="Candara" panose="020E0502030303020204" pitchFamily="34" charset="0"/>
              <a:cs typeface="Times New Roman" panose="02020603050405020304" pitchFamily="18" charset="0"/>
            </a:endParaRPr>
          </a:p>
        </p:txBody>
      </p:sp>
      <p:sp>
        <p:nvSpPr>
          <p:cNvPr id="3" name="Text 1"/>
          <p:cNvSpPr/>
          <p:nvPr/>
        </p:nvSpPr>
        <p:spPr>
          <a:xfrm>
            <a:off x="609441" y="878489"/>
            <a:ext cx="10969943" cy="316909"/>
          </a:xfrm>
          <a:prstGeom prst="rect">
            <a:avLst/>
          </a:prstGeom>
          <a:solidFill>
            <a:srgbClr val="0D2318"/>
          </a:solidFill>
          <a:ln>
            <a:noFill/>
          </a:ln>
        </p:spPr>
        <p:txBody>
          <a:bodyPr wrap="square" lIns="0" tIns="0" rIns="0" bIns="0" rtlCol="0" anchor="ctr"/>
          <a:lstStyle/>
          <a:p>
            <a:pPr defTabSz="1218895"/>
            <a:r>
              <a:rPr lang="en-US" sz="1600" dirty="0">
                <a:solidFill>
                  <a:srgbClr val="7DAE8E"/>
                </a:solidFill>
                <a:latin typeface="Candara" panose="020E0502030303020204" pitchFamily="34" charset="0"/>
                <a:ea typeface="Calibri" pitchFamily="34" charset="-122"/>
                <a:cs typeface="Times New Roman" panose="02020603050405020304" pitchFamily="18" charset="0"/>
              </a:rPr>
              <a:t>Core capabilities mapped directly to system architecture and real-world needs</a:t>
            </a:r>
            <a:endParaRPr lang="en-US" sz="1600" dirty="0">
              <a:solidFill>
                <a:prstClr val="black"/>
              </a:solidFill>
              <a:latin typeface="Candara" panose="020E0502030303020204" pitchFamily="34" charset="0"/>
              <a:cs typeface="Times New Roman" panose="02020603050405020304" pitchFamily="18" charset="0"/>
            </a:endParaRPr>
          </a:p>
        </p:txBody>
      </p:sp>
      <p:sp>
        <p:nvSpPr>
          <p:cNvPr id="61" name="Shape 39"/>
          <p:cNvSpPr/>
          <p:nvPr/>
        </p:nvSpPr>
        <p:spPr>
          <a:xfrm>
            <a:off x="-1" y="6217194"/>
            <a:ext cx="12188825" cy="0"/>
          </a:xfrm>
          <a:prstGeom prst="line">
            <a:avLst/>
          </a:prstGeom>
          <a:noFill/>
          <a:ln w="12700">
            <a:noFill/>
            <a:prstDash val="solid"/>
          </a:ln>
        </p:spPr>
        <p:txBody>
          <a:bodyPr/>
          <a:lstStyle/>
          <a:p>
            <a:pPr defTabSz="1218895"/>
            <a:endParaRPr lang="en-US" sz="1866">
              <a:solidFill>
                <a:prstClr val="black"/>
              </a:solidFill>
              <a:latin typeface="Candara" panose="020E0502030303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B4EE34A-9AA3-21C9-4983-A13F687E297F}"/>
              </a:ext>
            </a:extLst>
          </p:cNvPr>
          <p:cNvSpPr txBox="1"/>
          <p:nvPr/>
        </p:nvSpPr>
        <p:spPr>
          <a:xfrm>
            <a:off x="6644641" y="1680983"/>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Real-time streaming</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err="1">
                <a:solidFill>
                  <a:schemeClr val="bg1"/>
                </a:solidFill>
                <a:latin typeface="Candara" panose="020E0502030303020204" pitchFamily="34" charset="0"/>
              </a:rPr>
              <a:t>SignalR</a:t>
            </a:r>
            <a:r>
              <a:rPr lang="en-US" sz="1600" dirty="0">
                <a:solidFill>
                  <a:schemeClr val="bg1"/>
                </a:solidFill>
                <a:latin typeface="Candara" panose="020E0502030303020204" pitchFamily="34" charset="0"/>
              </a:rPr>
              <a:t> push for readings and alerts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~1–2 s UI updates, no refresh</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Multi-device hub subscriptions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Rolling live charts (2s–30m time windows)</a:t>
            </a:r>
          </a:p>
          <a:p>
            <a:pPr>
              <a:lnSpc>
                <a:spcPct val="150000"/>
              </a:lnSpc>
            </a:pPr>
            <a:endParaRPr lang="en-US" sz="1600" dirty="0">
              <a:solidFill>
                <a:schemeClr val="bg1"/>
              </a:solidFill>
              <a:latin typeface="Candara" panose="020E0502030303020204" pitchFamily="34" charset="0"/>
            </a:endParaRPr>
          </a:p>
        </p:txBody>
      </p:sp>
      <p:sp>
        <p:nvSpPr>
          <p:cNvPr id="5" name="TextBox 4">
            <a:extLst>
              <a:ext uri="{FF2B5EF4-FFF2-40B4-BE49-F238E27FC236}">
                <a16:creationId xmlns:a16="http://schemas.microsoft.com/office/drawing/2014/main" id="{C503D343-1047-676E-9DF6-F3C635A0B3D2}"/>
              </a:ext>
            </a:extLst>
          </p:cNvPr>
          <p:cNvSpPr txBox="1"/>
          <p:nvPr/>
        </p:nvSpPr>
        <p:spPr>
          <a:xfrm>
            <a:off x="904240" y="4502743"/>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Dashboard &amp; visualization</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Charts line trends and analog gauges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Discrete on/off sensor indicators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History: 10m, 1h, 24h, custom range</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Responsive Material-UI dashboards</a:t>
            </a:r>
          </a:p>
          <a:p>
            <a:pPr>
              <a:lnSpc>
                <a:spcPct val="150000"/>
              </a:lnSpc>
            </a:pPr>
            <a:endParaRPr lang="en-US" sz="1600" dirty="0">
              <a:solidFill>
                <a:schemeClr val="bg1"/>
              </a:solidFill>
              <a:latin typeface="Candara" panose="020E0502030303020204" pitchFamily="34" charset="0"/>
            </a:endParaRPr>
          </a:p>
        </p:txBody>
      </p:sp>
      <p:sp>
        <p:nvSpPr>
          <p:cNvPr id="10" name="TextBox 9">
            <a:extLst>
              <a:ext uri="{FF2B5EF4-FFF2-40B4-BE49-F238E27FC236}">
                <a16:creationId xmlns:a16="http://schemas.microsoft.com/office/drawing/2014/main" id="{6381980C-46C0-C7C3-C4D6-2C4EB1C34D23}"/>
              </a:ext>
            </a:extLst>
          </p:cNvPr>
          <p:cNvSpPr txBox="1"/>
          <p:nvPr/>
        </p:nvSpPr>
        <p:spPr>
          <a:xfrm>
            <a:off x="6715761" y="4343222"/>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Alerting</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Threshold, range, and change rules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Live alert notifications via </a:t>
            </a:r>
            <a:r>
              <a:rPr lang="en-US" sz="1600" dirty="0" err="1">
                <a:solidFill>
                  <a:schemeClr val="bg1"/>
                </a:solidFill>
                <a:latin typeface="Candara" panose="020E0502030303020204" pitchFamily="34" charset="0"/>
              </a:rPr>
              <a:t>SignalR</a:t>
            </a:r>
            <a:endParaRPr lang="en-US" sz="1600" dirty="0">
              <a:solidFill>
                <a:schemeClr val="bg1"/>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Acknowledge and resolve workflow</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Alert history stored in database</a:t>
            </a:r>
          </a:p>
          <a:p>
            <a:pPr>
              <a:lnSpc>
                <a:spcPct val="150000"/>
              </a:lnSpc>
            </a:pPr>
            <a:endParaRPr lang="en-US" sz="1600" dirty="0">
              <a:solidFill>
                <a:schemeClr val="bg1"/>
              </a:solidFill>
              <a:latin typeface="Candara" panose="020E0502030303020204" pitchFamily="34" charset="0"/>
            </a:endParaRPr>
          </a:p>
        </p:txBody>
      </p:sp>
      <p:sp>
        <p:nvSpPr>
          <p:cNvPr id="12" name="TextBox 11">
            <a:extLst>
              <a:ext uri="{FF2B5EF4-FFF2-40B4-BE49-F238E27FC236}">
                <a16:creationId xmlns:a16="http://schemas.microsoft.com/office/drawing/2014/main" id="{898F056E-D1B2-79C5-3F6A-5729EE89E282}"/>
              </a:ext>
            </a:extLst>
          </p:cNvPr>
          <p:cNvSpPr txBox="1"/>
          <p:nvPr/>
        </p:nvSpPr>
        <p:spPr>
          <a:xfrm>
            <a:off x="904240" y="1725108"/>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Setup &amp; control</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Devices, sensors, and actuators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Online/offline from last device activity</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Sensor setup: type, unit, limits, chart style</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MQTT commands with command history</a:t>
            </a:r>
            <a:br>
              <a:rPr lang="en-US" sz="1600" dirty="0">
                <a:solidFill>
                  <a:schemeClr val="bg1"/>
                </a:solidFill>
                <a:latin typeface="Candara" panose="020E0502030303020204" pitchFamily="34" charset="0"/>
              </a:rPr>
            </a:br>
            <a:endParaRPr lang="en-US" sz="1600" dirty="0">
              <a:solidFill>
                <a:schemeClr val="bg1"/>
              </a:solidFill>
              <a:latin typeface="Candara" panose="020E05020303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a:extLst>
            <a:ext uri="{FF2B5EF4-FFF2-40B4-BE49-F238E27FC236}">
              <a16:creationId xmlns:a16="http://schemas.microsoft.com/office/drawing/2014/main" id="{65CC021A-72CE-05B3-F128-8961A57663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7E3973-C0D5-8B38-3C84-95C8DE2A8378}"/>
              </a:ext>
            </a:extLst>
          </p:cNvPr>
          <p:cNvSpPr/>
          <p:nvPr/>
        </p:nvSpPr>
        <p:spPr>
          <a:xfrm>
            <a:off x="609441" y="269047"/>
            <a:ext cx="10969943" cy="633819"/>
          </a:xfrm>
          <a:prstGeom prst="rect">
            <a:avLst/>
          </a:prstGeom>
          <a:noFill/>
          <a:ln/>
        </p:spPr>
        <p:txBody>
          <a:bodyPr wrap="square" lIns="0" tIns="0" rIns="0" bIns="0" rtlCol="0" anchor="ctr"/>
          <a:lstStyle/>
          <a:p>
            <a:pPr defTabSz="1218895"/>
            <a:r>
              <a:rPr lang="en-US" sz="3200" b="1" dirty="0">
                <a:solidFill>
                  <a:srgbClr val="FFFFFF"/>
                </a:solidFill>
                <a:latin typeface="Candara" panose="020E0502030303020204" pitchFamily="34" charset="0"/>
                <a:ea typeface="Calibri" pitchFamily="34" charset="-122"/>
                <a:cs typeface="Calibri" pitchFamily="34" charset="-120"/>
              </a:rPr>
              <a:t>Live Demo</a:t>
            </a:r>
            <a:endParaRPr lang="en-US" sz="3200" dirty="0">
              <a:solidFill>
                <a:prstClr val="black"/>
              </a:solidFill>
              <a:latin typeface="Candara" panose="020E0502030303020204" pitchFamily="34" charset="0"/>
            </a:endParaRPr>
          </a:p>
        </p:txBody>
      </p:sp>
      <p:sp>
        <p:nvSpPr>
          <p:cNvPr id="3" name="Text 1">
            <a:extLst>
              <a:ext uri="{FF2B5EF4-FFF2-40B4-BE49-F238E27FC236}">
                <a16:creationId xmlns:a16="http://schemas.microsoft.com/office/drawing/2014/main" id="{272AEF18-130E-3F69-26CA-C44381A5C292}"/>
              </a:ext>
            </a:extLst>
          </p:cNvPr>
          <p:cNvSpPr/>
          <p:nvPr/>
        </p:nvSpPr>
        <p:spPr>
          <a:xfrm>
            <a:off x="751680" y="815659"/>
            <a:ext cx="10969943" cy="341287"/>
          </a:xfrm>
          <a:prstGeom prst="rect">
            <a:avLst/>
          </a:prstGeom>
          <a:noFill/>
          <a:ln/>
        </p:spPr>
        <p:txBody>
          <a:bodyPr wrap="square" lIns="0" tIns="0" rIns="0" bIns="0" rtlCol="0" anchor="ctr"/>
          <a:lstStyle/>
          <a:p>
            <a:pPr defTabSz="1218895"/>
            <a:r>
              <a:rPr lang="en-US" sz="1866" i="1" dirty="0">
                <a:solidFill>
                  <a:srgbClr val="7DAE8E"/>
                </a:solidFill>
                <a:latin typeface="Candara" panose="020E0502030303020204" pitchFamily="34" charset="0"/>
                <a:ea typeface="Calibri" pitchFamily="34" charset="-122"/>
                <a:cs typeface="Calibri" pitchFamily="34" charset="-120"/>
              </a:rPr>
              <a:t>Watch one sensor reading travel the full stack — from edge device to dashboard — in real time.</a:t>
            </a:r>
            <a:endParaRPr lang="en-US" sz="1866" dirty="0">
              <a:solidFill>
                <a:prstClr val="black"/>
              </a:solidFill>
              <a:latin typeface="Candara" panose="020E0502030303020204" pitchFamily="34" charset="0"/>
            </a:endParaRPr>
          </a:p>
        </p:txBody>
      </p:sp>
      <p:sp>
        <p:nvSpPr>
          <p:cNvPr id="36" name="Text 25">
            <a:extLst>
              <a:ext uri="{FF2B5EF4-FFF2-40B4-BE49-F238E27FC236}">
                <a16:creationId xmlns:a16="http://schemas.microsoft.com/office/drawing/2014/main" id="{E7DDB44C-8339-48A6-1474-F1046F96E390}"/>
              </a:ext>
            </a:extLst>
          </p:cNvPr>
          <p:cNvSpPr/>
          <p:nvPr/>
        </p:nvSpPr>
        <p:spPr>
          <a:xfrm>
            <a:off x="751681" y="1282702"/>
            <a:ext cx="3656648" cy="292532"/>
          </a:xfrm>
          <a:prstGeom prst="rect">
            <a:avLst/>
          </a:prstGeom>
          <a:noFill/>
          <a:ln/>
        </p:spPr>
        <p:txBody>
          <a:bodyPr wrap="square" lIns="0" tIns="0" rIns="0" bIns="0" rtlCol="0" anchor="ctr"/>
          <a:lstStyle/>
          <a:p>
            <a:pPr defTabSz="1218895"/>
            <a:r>
              <a:rPr lang="en-US" sz="1600" b="1" kern="0" spc="267" dirty="0">
                <a:solidFill>
                  <a:srgbClr val="3DDB61"/>
                </a:solidFill>
                <a:latin typeface="Candara" panose="020E0502030303020204" pitchFamily="34" charset="0"/>
                <a:ea typeface="Calibri" pitchFamily="34" charset="-122"/>
                <a:cs typeface="Calibri" pitchFamily="34" charset="-120"/>
              </a:rPr>
              <a:t>DEMO CHECKLIST</a:t>
            </a:r>
            <a:endParaRPr lang="en-US" sz="1600" dirty="0">
              <a:solidFill>
                <a:prstClr val="black"/>
              </a:solidFill>
              <a:latin typeface="Candara" panose="020E0502030303020204" pitchFamily="34" charset="0"/>
            </a:endParaRPr>
          </a:p>
        </p:txBody>
      </p:sp>
      <p:sp>
        <p:nvSpPr>
          <p:cNvPr id="62" name="Text 51">
            <a:extLst>
              <a:ext uri="{FF2B5EF4-FFF2-40B4-BE49-F238E27FC236}">
                <a16:creationId xmlns:a16="http://schemas.microsoft.com/office/drawing/2014/main" id="{1435AD89-11A6-37AE-3085-064501179437}"/>
              </a:ext>
            </a:extLst>
          </p:cNvPr>
          <p:cNvSpPr/>
          <p:nvPr/>
        </p:nvSpPr>
        <p:spPr>
          <a:xfrm>
            <a:off x="10726166" y="6521914"/>
            <a:ext cx="1096994" cy="243777"/>
          </a:xfrm>
          <a:prstGeom prst="rect">
            <a:avLst/>
          </a:prstGeom>
          <a:noFill/>
          <a:ln/>
        </p:spPr>
        <p:txBody>
          <a:bodyPr wrap="square" lIns="0" tIns="0" rIns="0" bIns="0" rtlCol="0" anchor="ctr"/>
          <a:lstStyle/>
          <a:p>
            <a:pPr algn="r" defTabSz="1218895"/>
            <a:r>
              <a:rPr lang="en-US" sz="1866" dirty="0">
                <a:solidFill>
                  <a:srgbClr val="4A6A54"/>
                </a:solidFill>
                <a:latin typeface="Candara" panose="020E0502030303020204" pitchFamily="34" charset="0"/>
                <a:ea typeface="Calibri" pitchFamily="34" charset="-122"/>
                <a:cs typeface="Calibri" pitchFamily="34" charset="-120"/>
              </a:rPr>
              <a:t>11 / 14</a:t>
            </a:r>
            <a:endParaRPr lang="en-US" sz="1866" dirty="0">
              <a:solidFill>
                <a:prstClr val="black"/>
              </a:solidFill>
              <a:latin typeface="Candara" panose="020E0502030303020204" pitchFamily="34" charset="0"/>
            </a:endParaRPr>
          </a:p>
        </p:txBody>
      </p:sp>
      <p:graphicFrame>
        <p:nvGraphicFramePr>
          <p:cNvPr id="5" name="Table 4">
            <a:extLst>
              <a:ext uri="{FF2B5EF4-FFF2-40B4-BE49-F238E27FC236}">
                <a16:creationId xmlns:a16="http://schemas.microsoft.com/office/drawing/2014/main" id="{1727648E-3521-7726-9D70-1829D61253F1}"/>
              </a:ext>
            </a:extLst>
          </p:cNvPr>
          <p:cNvGraphicFramePr>
            <a:graphicFrameLocks noGrp="1"/>
          </p:cNvGraphicFramePr>
          <p:nvPr>
            <p:extLst>
              <p:ext uri="{D42A27DB-BD31-4B8C-83A1-F6EECF244321}">
                <p14:modId xmlns:p14="http://schemas.microsoft.com/office/powerpoint/2010/main" val="88501286"/>
              </p:ext>
            </p:extLst>
          </p:nvPr>
        </p:nvGraphicFramePr>
        <p:xfrm>
          <a:off x="1073614" y="2075406"/>
          <a:ext cx="10041597" cy="3966935"/>
        </p:xfrm>
        <a:graphic>
          <a:graphicData uri="http://schemas.openxmlformats.org/drawingml/2006/table">
            <a:tbl>
              <a:tblPr>
                <a:tableStyleId>{ED083AE6-46FA-4A59-8FB0-9F97EB10719F}</a:tableStyleId>
              </a:tblPr>
              <a:tblGrid>
                <a:gridCol w="1202226">
                  <a:extLst>
                    <a:ext uri="{9D8B030D-6E8A-4147-A177-3AD203B41FA5}">
                      <a16:colId xmlns:a16="http://schemas.microsoft.com/office/drawing/2014/main" val="1731764252"/>
                    </a:ext>
                  </a:extLst>
                </a:gridCol>
                <a:gridCol w="4897120">
                  <a:extLst>
                    <a:ext uri="{9D8B030D-6E8A-4147-A177-3AD203B41FA5}">
                      <a16:colId xmlns:a16="http://schemas.microsoft.com/office/drawing/2014/main" val="3789202804"/>
                    </a:ext>
                  </a:extLst>
                </a:gridCol>
                <a:gridCol w="3942251">
                  <a:extLst>
                    <a:ext uri="{9D8B030D-6E8A-4147-A177-3AD203B41FA5}">
                      <a16:colId xmlns:a16="http://schemas.microsoft.com/office/drawing/2014/main" val="3423847706"/>
                    </a:ext>
                  </a:extLst>
                </a:gridCol>
              </a:tblGrid>
              <a:tr h="566705">
                <a:tc>
                  <a:txBody>
                    <a:bodyPr/>
                    <a:lstStyle/>
                    <a:p>
                      <a:pPr algn="ctr" fontAlgn="t">
                        <a:buNone/>
                      </a:pPr>
                      <a:r>
                        <a:rPr lang="en-US" sz="1800" b="1" dirty="0">
                          <a:solidFill>
                            <a:schemeClr val="bg1"/>
                          </a:solidFill>
                          <a:effectLst/>
                          <a:latin typeface="Candara" panose="020E0502030303020204" pitchFamily="34" charset="0"/>
                        </a:rPr>
                        <a: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a:buNone/>
                      </a:pPr>
                      <a:r>
                        <a:rPr lang="en-US" sz="1800" b="1" dirty="0">
                          <a:solidFill>
                            <a:schemeClr val="bg1"/>
                          </a:solidFill>
                          <a:effectLst/>
                          <a:latin typeface="Candara" panose="020E0502030303020204" pitchFamily="34" charset="0"/>
                        </a:rPr>
                        <a:t>Step</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a:buNone/>
                      </a:pPr>
                      <a:r>
                        <a:rPr lang="en-US" sz="1800" b="1" dirty="0">
                          <a:solidFill>
                            <a:schemeClr val="bg1"/>
                          </a:solidFill>
                          <a:effectLst/>
                          <a:latin typeface="Candara" panose="020E0502030303020204" pitchFamily="34" charset="0"/>
                        </a:rPr>
                        <a:t>Show</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23352069"/>
                  </a:ext>
                </a:extLst>
              </a:tr>
              <a:tr h="566705">
                <a:tc>
                  <a:txBody>
                    <a:bodyPr/>
                    <a:lstStyle/>
                    <a:p>
                      <a:pPr algn="ctr" fontAlgn="t" latinLnBrk="0">
                        <a:buNone/>
                      </a:pPr>
                      <a:r>
                        <a:rPr lang="en-US" sz="1800">
                          <a:solidFill>
                            <a:schemeClr val="bg1"/>
                          </a:solidFill>
                          <a:effectLst/>
                          <a:latin typeface="Candara" panose="020E0502030303020204" pitchFamily="34" charset="0"/>
                        </a:rPr>
                        <a:t>1</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Register device; add sensors/actuators; alert rule</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Dashboard configured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8407679"/>
                  </a:ext>
                </a:extLst>
              </a:tr>
              <a:tr h="566705">
                <a:tc>
                  <a:txBody>
                    <a:bodyPr/>
                    <a:lstStyle/>
                    <a:p>
                      <a:pPr algn="ctr" fontAlgn="t" latinLnBrk="0">
                        <a:buNone/>
                      </a:pPr>
                      <a:r>
                        <a:rPr lang="en-US" sz="1800">
                          <a:solidFill>
                            <a:schemeClr val="bg1"/>
                          </a:solidFill>
                          <a:effectLst/>
                          <a:latin typeface="Candara" panose="020E0502030303020204" pitchFamily="34" charset="0"/>
                        </a:rPr>
                        <a:t>2</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Connect Arduino; run firmware (local MQTT)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Serial + broker connected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115892"/>
                  </a:ext>
                </a:extLst>
              </a:tr>
              <a:tr h="566705">
                <a:tc>
                  <a:txBody>
                    <a:bodyPr/>
                    <a:lstStyle/>
                    <a:p>
                      <a:pPr algn="ctr" fontAlgn="t" latinLnBrk="0">
                        <a:buNone/>
                      </a:pPr>
                      <a:r>
                        <a:rPr lang="en-US" sz="1800">
                          <a:solidFill>
                            <a:schemeClr val="bg1"/>
                          </a:solidFill>
                          <a:effectLst/>
                          <a:latin typeface="Candara" panose="020E0502030303020204" pitchFamily="34" charset="0"/>
                        </a:rPr>
                        <a:t>3</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Open Live chart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Line updates ~1/s</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9209600"/>
                  </a:ext>
                </a:extLst>
              </a:tr>
              <a:tr h="566705">
                <a:tc>
                  <a:txBody>
                    <a:bodyPr/>
                    <a:lstStyle/>
                    <a:p>
                      <a:pPr algn="ctr" fontAlgn="t" latinLnBrk="0">
                        <a:buNone/>
                      </a:pPr>
                      <a:r>
                        <a:rPr lang="en-US" sz="1800">
                          <a:solidFill>
                            <a:schemeClr val="bg1"/>
                          </a:solidFill>
                          <a:effectLst/>
                          <a:latin typeface="Candara" panose="020E0502030303020204" pitchFamily="34" charset="0"/>
                        </a:rPr>
                        <a:t>4</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Send actuator command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LED on/off; command history</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4831086"/>
                  </a:ext>
                </a:extLst>
              </a:tr>
              <a:tr h="566705">
                <a:tc>
                  <a:txBody>
                    <a:bodyPr/>
                    <a:lstStyle/>
                    <a:p>
                      <a:pPr algn="ctr" fontAlgn="t" latinLnBrk="0">
                        <a:buNone/>
                      </a:pPr>
                      <a:r>
                        <a:rPr lang="en-US" sz="1800">
                          <a:solidFill>
                            <a:schemeClr val="bg1"/>
                          </a:solidFill>
                          <a:effectLst/>
                          <a:latin typeface="Candara" panose="020E0502030303020204" pitchFamily="34" charset="0"/>
                        </a:rPr>
                        <a:t>5</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Breach threshold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Alert appears (</a:t>
                      </a:r>
                      <a:r>
                        <a:rPr lang="en-US" sz="1800" dirty="0" err="1">
                          <a:solidFill>
                            <a:schemeClr val="bg1"/>
                          </a:solidFill>
                          <a:effectLst/>
                          <a:latin typeface="Candara" panose="020E0502030303020204" pitchFamily="34" charset="0"/>
                        </a:rPr>
                        <a:t>SignalR</a:t>
                      </a:r>
                      <a:r>
                        <a:rPr lang="en-US" sz="1800" dirty="0">
                          <a:solidFill>
                            <a:schemeClr val="bg1"/>
                          </a:solidFill>
                          <a:effectLst/>
                          <a:latin typeface="Candara" panose="020E0502030303020204" pitchFamily="34" charset="0"/>
                        </a:rPr>
                        <a: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64469484"/>
                  </a:ext>
                </a:extLst>
              </a:tr>
              <a:tr h="566705">
                <a:tc>
                  <a:txBody>
                    <a:bodyPr/>
                    <a:lstStyle/>
                    <a:p>
                      <a:pPr algn="ctr" fontAlgn="t" latinLnBrk="0">
                        <a:buNone/>
                      </a:pPr>
                      <a:r>
                        <a:rPr lang="en-US" sz="1800" dirty="0">
                          <a:solidFill>
                            <a:schemeClr val="bg1"/>
                          </a:solidFill>
                          <a:effectLst/>
                          <a:latin typeface="Candara" panose="020E0502030303020204" pitchFamily="34" charset="0"/>
                        </a:rPr>
                        <a:t>6</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History range (e.g. 10m)</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Stored readings in chart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21547026"/>
                  </a:ext>
                </a:extLst>
              </a:tr>
            </a:tbl>
          </a:graphicData>
        </a:graphic>
      </p:graphicFrame>
    </p:spTree>
    <p:extLst>
      <p:ext uri="{BB962C8B-B14F-4D97-AF65-F5344CB8AC3E}">
        <p14:creationId xmlns:p14="http://schemas.microsoft.com/office/powerpoint/2010/main" val="297329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p:cNvGrpSpPr/>
        <p:nvPr/>
      </p:nvGrpSpPr>
      <p:grpSpPr>
        <a:xfrm>
          <a:off x="0" y="0"/>
          <a:ext cx="0" cy="0"/>
          <a:chOff x="0" y="0"/>
          <a:chExt cx="0" cy="0"/>
        </a:xfrm>
      </p:grpSpPr>
      <p:sp>
        <p:nvSpPr>
          <p:cNvPr id="2" name="Text 0"/>
          <p:cNvSpPr/>
          <p:nvPr/>
        </p:nvSpPr>
        <p:spPr>
          <a:xfrm>
            <a:off x="609441" y="342180"/>
            <a:ext cx="10969943" cy="731330"/>
          </a:xfrm>
          <a:prstGeom prst="rect">
            <a:avLst/>
          </a:prstGeom>
          <a:solidFill>
            <a:srgbClr val="0D2318"/>
          </a:solidFill>
          <a:ln>
            <a:noFill/>
          </a:ln>
        </p:spPr>
        <p:txBody>
          <a:bodyPr wrap="square" lIns="0" tIns="0" rIns="0" bIns="0" rtlCol="0" anchor="ctr"/>
          <a:lstStyle/>
          <a:p>
            <a:pPr defTabSz="1218895"/>
            <a:r>
              <a:rPr lang="en-US" sz="3200" b="1" dirty="0">
                <a:solidFill>
                  <a:srgbClr val="FFFFFF"/>
                </a:solidFill>
                <a:latin typeface="Candara" panose="020E0502030303020204" pitchFamily="34" charset="0"/>
                <a:ea typeface="Calibri" pitchFamily="34" charset="-122"/>
                <a:cs typeface="Calibri" pitchFamily="34" charset="-120"/>
              </a:rPr>
              <a:t>Challenges &amp; Solutions</a:t>
            </a:r>
            <a:endParaRPr lang="en-US" sz="3200" dirty="0">
              <a:solidFill>
                <a:prstClr val="black"/>
              </a:solidFill>
              <a:latin typeface="Candara" panose="020E0502030303020204" pitchFamily="34" charset="0"/>
            </a:endParaRPr>
          </a:p>
        </p:txBody>
      </p:sp>
      <p:sp>
        <p:nvSpPr>
          <p:cNvPr id="3" name="Text 1"/>
          <p:cNvSpPr/>
          <p:nvPr/>
        </p:nvSpPr>
        <p:spPr>
          <a:xfrm>
            <a:off x="609440" y="1077862"/>
            <a:ext cx="10969943" cy="365665"/>
          </a:xfrm>
          <a:prstGeom prst="rect">
            <a:avLst/>
          </a:prstGeom>
          <a:solidFill>
            <a:srgbClr val="0D2318"/>
          </a:solidFill>
          <a:ln>
            <a:noFill/>
          </a:ln>
        </p:spPr>
        <p:txBody>
          <a:bodyPr wrap="square" lIns="0" tIns="0" rIns="0" bIns="0" rtlCol="0" anchor="ctr"/>
          <a:lstStyle/>
          <a:p>
            <a:pPr defTabSz="1218895"/>
            <a:r>
              <a:rPr lang="en-US" sz="1600" i="1" dirty="0">
                <a:solidFill>
                  <a:srgbClr val="7DAE8E"/>
                </a:solidFill>
                <a:latin typeface="Candara" panose="020E0502030303020204" pitchFamily="34" charset="0"/>
                <a:ea typeface="Calibri" pitchFamily="34" charset="-122"/>
                <a:cs typeface="Calibri" pitchFamily="34" charset="-120"/>
              </a:rPr>
              <a:t>Engineering decisions that address specific technical challenges.</a:t>
            </a:r>
            <a:endParaRPr lang="en-US" sz="1600" dirty="0">
              <a:solidFill>
                <a:prstClr val="black"/>
              </a:solidFill>
              <a:latin typeface="Candara" panose="020E0502030303020204" pitchFamily="34" charset="0"/>
            </a:endParaRPr>
          </a:p>
        </p:txBody>
      </p:sp>
      <p:sp>
        <p:nvSpPr>
          <p:cNvPr id="5" name="Shape 3"/>
          <p:cNvSpPr/>
          <p:nvPr/>
        </p:nvSpPr>
        <p:spPr>
          <a:xfrm>
            <a:off x="609441" y="1585440"/>
            <a:ext cx="5545915" cy="60944"/>
          </a:xfrm>
          <a:prstGeom prst="rect">
            <a:avLst/>
          </a:prstGeom>
          <a:solidFill>
            <a:srgbClr val="0D2318"/>
          </a:solidFill>
          <a:ln w="12700">
            <a:noFill/>
            <a:prstDash val="solid"/>
          </a:ln>
        </p:spPr>
        <p:txBody>
          <a:bodyPr/>
          <a:lstStyle/>
          <a:p>
            <a:pPr defTabSz="1218895"/>
            <a:endParaRPr lang="en-US" sz="1600">
              <a:solidFill>
                <a:prstClr val="black"/>
              </a:solidFill>
              <a:latin typeface="Candara" panose="020E0502030303020204" pitchFamily="34" charset="0"/>
            </a:endParaRPr>
          </a:p>
        </p:txBody>
      </p:sp>
      <p:pic>
        <p:nvPicPr>
          <p:cNvPr id="7" name="Image 0" descr="preencoded.png"/>
          <p:cNvPicPr>
            <a:picLocks noChangeAspect="1"/>
          </p:cNvPicPr>
          <p:nvPr/>
        </p:nvPicPr>
        <p:blipFill>
          <a:blip r:embed="rId3"/>
          <a:stretch>
            <a:fillRect/>
          </a:stretch>
        </p:blipFill>
        <p:spPr>
          <a:xfrm>
            <a:off x="828839" y="1756084"/>
            <a:ext cx="438798" cy="438798"/>
          </a:xfrm>
          <a:prstGeom prst="rect">
            <a:avLst/>
          </a:prstGeom>
          <a:solidFill>
            <a:srgbClr val="0D2318"/>
          </a:solidFill>
          <a:ln>
            <a:noFill/>
          </a:ln>
        </p:spPr>
      </p:pic>
      <p:sp>
        <p:nvSpPr>
          <p:cNvPr id="8" name="Text 5"/>
          <p:cNvSpPr/>
          <p:nvPr/>
        </p:nvSpPr>
        <p:spPr>
          <a:xfrm>
            <a:off x="1389525" y="1731706"/>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Real-Time Data Synchronization</a:t>
            </a:r>
            <a:endParaRPr lang="en-US" sz="1600" dirty="0">
              <a:solidFill>
                <a:prstClr val="black"/>
              </a:solidFill>
              <a:latin typeface="Candara" panose="020E0502030303020204" pitchFamily="34" charset="0"/>
            </a:endParaRPr>
          </a:p>
        </p:txBody>
      </p:sp>
      <p:sp>
        <p:nvSpPr>
          <p:cNvPr id="9" name="Shape 6"/>
          <p:cNvSpPr/>
          <p:nvPr/>
        </p:nvSpPr>
        <p:spPr>
          <a:xfrm>
            <a:off x="828839" y="2268014"/>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10" name="Text 7"/>
          <p:cNvSpPr/>
          <p:nvPr/>
        </p:nvSpPr>
        <p:spPr>
          <a:xfrm>
            <a:off x="828839" y="2353336"/>
            <a:ext cx="4974802" cy="428349"/>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Multi-client live sync without polling</a:t>
            </a:r>
            <a:r>
              <a:rPr lang="en-US" sz="1600" dirty="0">
                <a:solidFill>
                  <a:srgbClr val="A8C4B0"/>
                </a:solidFill>
                <a:latin typeface="Candara" panose="020E0502030303020204" pitchFamily="34" charset="0"/>
                <a:ea typeface="Calibri" pitchFamily="34" charset="-122"/>
                <a:cs typeface="Calibri" pitchFamily="34" charset="-120"/>
              </a:rPr>
              <a:t>.</a:t>
            </a:r>
            <a:endParaRPr lang="en-US" sz="1600" dirty="0">
              <a:solidFill>
                <a:prstClr val="black"/>
              </a:solidFill>
              <a:latin typeface="Candara" panose="020E0502030303020204" pitchFamily="34" charset="0"/>
            </a:endParaRPr>
          </a:p>
        </p:txBody>
      </p:sp>
      <p:sp>
        <p:nvSpPr>
          <p:cNvPr id="11" name="Text 8"/>
          <p:cNvSpPr/>
          <p:nvPr/>
        </p:nvSpPr>
        <p:spPr>
          <a:xfrm>
            <a:off x="828838" y="2752058"/>
            <a:ext cx="5326517" cy="463175"/>
          </a:xfrm>
          <a:prstGeom prst="rect">
            <a:avLst/>
          </a:prstGeom>
          <a:solidFill>
            <a:srgbClr val="0D2318"/>
          </a:solidFill>
          <a:ln>
            <a:noFill/>
          </a:ln>
        </p:spPr>
        <p:txBody>
          <a:bodyPr wrap="square" lIns="0" tIns="0" rIns="0" bIns="0" rtlCol="0" anchor="t"/>
          <a:lstStyle/>
          <a:p>
            <a:pPr defTabSz="1218895"/>
            <a:r>
              <a:rPr lang="en-US" sz="1600" b="1" dirty="0">
                <a:solidFill>
                  <a:srgbClr val="3DDB61"/>
                </a:solidFill>
                <a:latin typeface="Candara" panose="020E0502030303020204" pitchFamily="34" charset="0"/>
                <a:ea typeface="Calibri" pitchFamily="34" charset="-122"/>
                <a:cs typeface="Calibri" pitchFamily="34" charset="-120"/>
              </a:rPr>
              <a:t>Solution  </a:t>
            </a:r>
            <a:r>
              <a:rPr lang="en-US" sz="1600" dirty="0" err="1">
                <a:solidFill>
                  <a:srgbClr val="C8DDD0"/>
                </a:solidFill>
                <a:latin typeface="Candara" panose="020E0502030303020204" pitchFamily="34" charset="0"/>
                <a:ea typeface="Calibri" pitchFamily="34" charset="-122"/>
                <a:cs typeface="Calibri" pitchFamily="34" charset="-120"/>
              </a:rPr>
              <a:t>SignalR</a:t>
            </a:r>
            <a:r>
              <a:rPr lang="en-US" sz="1600" dirty="0">
                <a:solidFill>
                  <a:srgbClr val="C8DDD0"/>
                </a:solidFill>
                <a:latin typeface="Candara" panose="020E0502030303020204" pitchFamily="34" charset="0"/>
                <a:ea typeface="Calibri" pitchFamily="34" charset="-122"/>
                <a:cs typeface="Calibri" pitchFamily="34" charset="-120"/>
              </a:rPr>
              <a:t> groups; push after save.</a:t>
            </a:r>
            <a:endParaRPr lang="en-US" sz="1600" dirty="0">
              <a:solidFill>
                <a:prstClr val="black"/>
              </a:solidFill>
              <a:latin typeface="Candara" panose="020E0502030303020204" pitchFamily="34" charset="0"/>
            </a:endParaRPr>
          </a:p>
        </p:txBody>
      </p:sp>
      <p:sp>
        <p:nvSpPr>
          <p:cNvPr id="13" name="Shape 10"/>
          <p:cNvSpPr/>
          <p:nvPr/>
        </p:nvSpPr>
        <p:spPr>
          <a:xfrm>
            <a:off x="6399133" y="1585440"/>
            <a:ext cx="5545915" cy="60944"/>
          </a:xfrm>
          <a:prstGeom prst="rect">
            <a:avLst/>
          </a:prstGeom>
          <a:solidFill>
            <a:srgbClr val="0D2318"/>
          </a:solidFill>
          <a:ln w="12700">
            <a:noFill/>
            <a:prstDash val="solid"/>
          </a:ln>
        </p:spPr>
        <p:txBody>
          <a:bodyPr/>
          <a:lstStyle/>
          <a:p>
            <a:pPr defTabSz="1218895"/>
            <a:endParaRPr lang="en-US" sz="1600">
              <a:solidFill>
                <a:prstClr val="black"/>
              </a:solidFill>
              <a:latin typeface="Candara" panose="020E0502030303020204" pitchFamily="34" charset="0"/>
            </a:endParaRPr>
          </a:p>
        </p:txBody>
      </p:sp>
      <p:pic>
        <p:nvPicPr>
          <p:cNvPr id="15" name="Image 1" descr="preencoded.png"/>
          <p:cNvPicPr>
            <a:picLocks noChangeAspect="1"/>
          </p:cNvPicPr>
          <p:nvPr/>
        </p:nvPicPr>
        <p:blipFill>
          <a:blip r:embed="rId4"/>
          <a:stretch>
            <a:fillRect/>
          </a:stretch>
        </p:blipFill>
        <p:spPr>
          <a:xfrm>
            <a:off x="6618531" y="1756084"/>
            <a:ext cx="438798" cy="438798"/>
          </a:xfrm>
          <a:prstGeom prst="rect">
            <a:avLst/>
          </a:prstGeom>
          <a:solidFill>
            <a:srgbClr val="0D2318"/>
          </a:solidFill>
          <a:ln>
            <a:noFill/>
          </a:ln>
        </p:spPr>
      </p:pic>
      <p:sp>
        <p:nvSpPr>
          <p:cNvPr id="16" name="Text 12"/>
          <p:cNvSpPr/>
          <p:nvPr/>
        </p:nvSpPr>
        <p:spPr>
          <a:xfrm>
            <a:off x="7179217" y="1731706"/>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High-Volume Time-Series Storage</a:t>
            </a:r>
            <a:endParaRPr lang="en-US" sz="1600" dirty="0">
              <a:solidFill>
                <a:prstClr val="black"/>
              </a:solidFill>
              <a:latin typeface="Candara" panose="020E0502030303020204" pitchFamily="34" charset="0"/>
            </a:endParaRPr>
          </a:p>
        </p:txBody>
      </p:sp>
      <p:sp>
        <p:nvSpPr>
          <p:cNvPr id="17" name="Shape 13"/>
          <p:cNvSpPr/>
          <p:nvPr/>
        </p:nvSpPr>
        <p:spPr>
          <a:xfrm>
            <a:off x="6618531" y="2268014"/>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18" name="Text 14"/>
          <p:cNvSpPr/>
          <p:nvPr/>
        </p:nvSpPr>
        <p:spPr>
          <a:xfrm>
            <a:off x="6618531" y="2353336"/>
            <a:ext cx="5107118" cy="479718"/>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Fast queries on growing reading table</a:t>
            </a:r>
            <a:r>
              <a:rPr lang="en-US" sz="1600" dirty="0">
                <a:solidFill>
                  <a:srgbClr val="A8C4B0"/>
                </a:solidFill>
                <a:latin typeface="Candara" panose="020E0502030303020204" pitchFamily="34" charset="0"/>
                <a:ea typeface="Calibri" pitchFamily="34" charset="-122"/>
                <a:cs typeface="Calibri" pitchFamily="34" charset="-120"/>
              </a:rPr>
              <a:t>.</a:t>
            </a:r>
            <a:endParaRPr lang="en-US" sz="1600" dirty="0">
              <a:solidFill>
                <a:prstClr val="black"/>
              </a:solidFill>
              <a:latin typeface="Candara" panose="020E0502030303020204" pitchFamily="34" charset="0"/>
            </a:endParaRPr>
          </a:p>
        </p:txBody>
      </p:sp>
      <p:sp>
        <p:nvSpPr>
          <p:cNvPr id="19" name="Text 15"/>
          <p:cNvSpPr/>
          <p:nvPr/>
        </p:nvSpPr>
        <p:spPr>
          <a:xfrm>
            <a:off x="6618531" y="2734588"/>
            <a:ext cx="5107118" cy="463175"/>
          </a:xfrm>
          <a:prstGeom prst="rect">
            <a:avLst/>
          </a:prstGeom>
          <a:solidFill>
            <a:srgbClr val="0D2318"/>
          </a:solidFill>
          <a:ln>
            <a:noFill/>
          </a:ln>
        </p:spPr>
        <p:txBody>
          <a:bodyPr wrap="square" lIns="0" tIns="0" rIns="0" bIns="0" rtlCol="0" anchor="t"/>
          <a:lstStyle/>
          <a:p>
            <a:pPr defTabSz="1218895"/>
            <a:r>
              <a:rPr lang="en-US" sz="1600" b="1" dirty="0">
                <a:solidFill>
                  <a:srgbClr val="00BCD4"/>
                </a:solidFill>
                <a:latin typeface="Candara" panose="020E0502030303020204" pitchFamily="34" charset="0"/>
                <a:ea typeface="Calibri" pitchFamily="34" charset="-122"/>
                <a:cs typeface="Calibri" pitchFamily="34" charset="-120"/>
              </a:rPr>
              <a:t>Solution  </a:t>
            </a:r>
            <a:r>
              <a:rPr lang="en-US" sz="1600" dirty="0">
                <a:solidFill>
                  <a:srgbClr val="C8DDD0"/>
                </a:solidFill>
                <a:latin typeface="Candara" panose="020E0502030303020204" pitchFamily="34" charset="0"/>
                <a:ea typeface="Calibri" pitchFamily="34" charset="-122"/>
                <a:cs typeface="Calibri" pitchFamily="34" charset="-120"/>
              </a:rPr>
              <a:t>BIGINT key, indexes, paged date filters</a:t>
            </a:r>
            <a:endParaRPr lang="en-US" sz="1600" dirty="0">
              <a:solidFill>
                <a:prstClr val="black"/>
              </a:solidFill>
              <a:latin typeface="Candara" panose="020E0502030303020204" pitchFamily="34" charset="0"/>
            </a:endParaRPr>
          </a:p>
        </p:txBody>
      </p:sp>
      <p:pic>
        <p:nvPicPr>
          <p:cNvPr id="23" name="Image 2" descr="preencoded.png"/>
          <p:cNvPicPr>
            <a:picLocks noChangeAspect="1"/>
          </p:cNvPicPr>
          <p:nvPr/>
        </p:nvPicPr>
        <p:blipFill>
          <a:blip r:embed="rId5"/>
          <a:stretch>
            <a:fillRect/>
          </a:stretch>
        </p:blipFill>
        <p:spPr>
          <a:xfrm>
            <a:off x="828839" y="4301088"/>
            <a:ext cx="438798" cy="438798"/>
          </a:xfrm>
          <a:prstGeom prst="rect">
            <a:avLst/>
          </a:prstGeom>
          <a:solidFill>
            <a:srgbClr val="0D2318"/>
          </a:solidFill>
          <a:ln>
            <a:noFill/>
          </a:ln>
        </p:spPr>
      </p:pic>
      <p:sp>
        <p:nvSpPr>
          <p:cNvPr id="24" name="Text 19"/>
          <p:cNvSpPr/>
          <p:nvPr/>
        </p:nvSpPr>
        <p:spPr>
          <a:xfrm>
            <a:off x="1389525" y="4276711"/>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Cross-Layer Data Flow Design</a:t>
            </a:r>
            <a:endParaRPr lang="en-US" sz="1600" dirty="0">
              <a:solidFill>
                <a:prstClr val="black"/>
              </a:solidFill>
              <a:latin typeface="Candara" panose="020E0502030303020204" pitchFamily="34" charset="0"/>
            </a:endParaRPr>
          </a:p>
        </p:txBody>
      </p:sp>
      <p:sp>
        <p:nvSpPr>
          <p:cNvPr id="25" name="Shape 20"/>
          <p:cNvSpPr/>
          <p:nvPr/>
        </p:nvSpPr>
        <p:spPr>
          <a:xfrm>
            <a:off x="828839" y="4813019"/>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26" name="Text 21"/>
          <p:cNvSpPr/>
          <p:nvPr/>
        </p:nvSpPr>
        <p:spPr>
          <a:xfrm>
            <a:off x="828839" y="4898341"/>
            <a:ext cx="5107118" cy="345640"/>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Clean path from device to chart</a:t>
            </a:r>
            <a:endParaRPr lang="en-US" sz="1600" dirty="0">
              <a:solidFill>
                <a:prstClr val="black"/>
              </a:solidFill>
              <a:latin typeface="Candara" panose="020E0502030303020204" pitchFamily="34" charset="0"/>
            </a:endParaRPr>
          </a:p>
        </p:txBody>
      </p:sp>
      <p:sp>
        <p:nvSpPr>
          <p:cNvPr id="27" name="Text 22"/>
          <p:cNvSpPr/>
          <p:nvPr/>
        </p:nvSpPr>
        <p:spPr>
          <a:xfrm>
            <a:off x="828839" y="5271339"/>
            <a:ext cx="4498941" cy="413122"/>
          </a:xfrm>
          <a:prstGeom prst="rect">
            <a:avLst/>
          </a:prstGeom>
          <a:solidFill>
            <a:srgbClr val="0D2318"/>
          </a:solidFill>
          <a:ln>
            <a:noFill/>
          </a:ln>
        </p:spPr>
        <p:txBody>
          <a:bodyPr wrap="square" lIns="0" tIns="0" rIns="0" bIns="0" rtlCol="0" anchor="t"/>
          <a:lstStyle/>
          <a:p>
            <a:pPr defTabSz="1218895"/>
            <a:r>
              <a:rPr lang="en-US" sz="1600" b="1" dirty="0">
                <a:solidFill>
                  <a:srgbClr val="F59E0B"/>
                </a:solidFill>
                <a:latin typeface="Candara" panose="020E0502030303020204" pitchFamily="34" charset="0"/>
                <a:ea typeface="Calibri" pitchFamily="34" charset="-122"/>
                <a:cs typeface="Calibri" pitchFamily="34" charset="-120"/>
              </a:rPr>
              <a:t>Solution  </a:t>
            </a:r>
            <a:r>
              <a:rPr lang="en-US" sz="1600" b="1" dirty="0">
                <a:solidFill>
                  <a:srgbClr val="C8DDD0"/>
                </a:solidFill>
                <a:latin typeface="Candara" panose="020E0502030303020204" pitchFamily="34" charset="0"/>
                <a:ea typeface="Calibri" pitchFamily="34" charset="-122"/>
                <a:cs typeface="Calibri" pitchFamily="34" charset="-120"/>
              </a:rPr>
              <a:t>MQTT → API → DB → </a:t>
            </a:r>
            <a:r>
              <a:rPr lang="en-US" sz="1600" b="1" dirty="0" err="1">
                <a:solidFill>
                  <a:srgbClr val="C8DDD0"/>
                </a:solidFill>
                <a:latin typeface="Candara" panose="020E0502030303020204" pitchFamily="34" charset="0"/>
                <a:ea typeface="Calibri" pitchFamily="34" charset="-122"/>
                <a:cs typeface="Calibri" pitchFamily="34" charset="-120"/>
              </a:rPr>
              <a:t>SignalR</a:t>
            </a:r>
            <a:r>
              <a:rPr lang="en-US" sz="1600" b="1" dirty="0">
                <a:solidFill>
                  <a:srgbClr val="C8DDD0"/>
                </a:solidFill>
                <a:latin typeface="Candara" panose="020E0502030303020204" pitchFamily="34" charset="0"/>
                <a:ea typeface="Calibri" pitchFamily="34" charset="-122"/>
                <a:cs typeface="Calibri" pitchFamily="34" charset="-120"/>
              </a:rPr>
              <a:t> → React</a:t>
            </a:r>
            <a:endParaRPr lang="en-US" sz="1600" dirty="0">
              <a:solidFill>
                <a:prstClr val="black"/>
              </a:solidFill>
              <a:latin typeface="Candara" panose="020E0502030303020204" pitchFamily="34" charset="0"/>
            </a:endParaRPr>
          </a:p>
        </p:txBody>
      </p:sp>
      <p:sp>
        <p:nvSpPr>
          <p:cNvPr id="29" name="Shape 24"/>
          <p:cNvSpPr/>
          <p:nvPr/>
        </p:nvSpPr>
        <p:spPr>
          <a:xfrm>
            <a:off x="6399133" y="4005792"/>
            <a:ext cx="5545915" cy="60944"/>
          </a:xfrm>
          <a:prstGeom prst="rect">
            <a:avLst/>
          </a:prstGeom>
          <a:solidFill>
            <a:srgbClr val="0D2318"/>
          </a:solidFill>
          <a:ln w="12700">
            <a:noFill/>
            <a:prstDash val="solid"/>
          </a:ln>
        </p:spPr>
        <p:txBody>
          <a:bodyPr/>
          <a:lstStyle/>
          <a:p>
            <a:pPr defTabSz="1218895"/>
            <a:endParaRPr lang="en-US" sz="1600">
              <a:solidFill>
                <a:prstClr val="black"/>
              </a:solidFill>
              <a:latin typeface="Candara" panose="020E0502030303020204" pitchFamily="34" charset="0"/>
            </a:endParaRPr>
          </a:p>
        </p:txBody>
      </p:sp>
      <p:pic>
        <p:nvPicPr>
          <p:cNvPr id="31" name="Image 3" descr="preencoded.png"/>
          <p:cNvPicPr>
            <a:picLocks noChangeAspect="1"/>
          </p:cNvPicPr>
          <p:nvPr/>
        </p:nvPicPr>
        <p:blipFill>
          <a:blip r:embed="rId6"/>
          <a:stretch>
            <a:fillRect/>
          </a:stretch>
        </p:blipFill>
        <p:spPr>
          <a:xfrm>
            <a:off x="6618531" y="4176436"/>
            <a:ext cx="438798" cy="438798"/>
          </a:xfrm>
          <a:prstGeom prst="rect">
            <a:avLst/>
          </a:prstGeom>
          <a:solidFill>
            <a:srgbClr val="0D2318"/>
          </a:solidFill>
          <a:ln>
            <a:noFill/>
          </a:ln>
        </p:spPr>
      </p:pic>
      <p:sp>
        <p:nvSpPr>
          <p:cNvPr id="32" name="Text 26"/>
          <p:cNvSpPr/>
          <p:nvPr/>
        </p:nvSpPr>
        <p:spPr>
          <a:xfrm>
            <a:off x="7179217" y="4152058"/>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Edge Device Compatibility</a:t>
            </a:r>
            <a:endParaRPr lang="en-US" sz="1600" dirty="0">
              <a:solidFill>
                <a:prstClr val="black"/>
              </a:solidFill>
              <a:latin typeface="Candara" panose="020E0502030303020204" pitchFamily="34" charset="0"/>
            </a:endParaRPr>
          </a:p>
        </p:txBody>
      </p:sp>
      <p:sp>
        <p:nvSpPr>
          <p:cNvPr id="33" name="Shape 27"/>
          <p:cNvSpPr/>
          <p:nvPr/>
        </p:nvSpPr>
        <p:spPr>
          <a:xfrm>
            <a:off x="6618531" y="4688367"/>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34" name="Text 28"/>
          <p:cNvSpPr/>
          <p:nvPr/>
        </p:nvSpPr>
        <p:spPr>
          <a:xfrm>
            <a:off x="6618531" y="4773688"/>
            <a:ext cx="5107118" cy="376983"/>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Same backend API for multiple edge platform</a:t>
            </a:r>
            <a:endParaRPr lang="en-US" sz="1600" dirty="0">
              <a:solidFill>
                <a:prstClr val="black"/>
              </a:solidFill>
              <a:latin typeface="Candara" panose="020E0502030303020204" pitchFamily="34" charset="0"/>
            </a:endParaRPr>
          </a:p>
        </p:txBody>
      </p:sp>
      <p:sp>
        <p:nvSpPr>
          <p:cNvPr id="35" name="Text 29"/>
          <p:cNvSpPr/>
          <p:nvPr/>
        </p:nvSpPr>
        <p:spPr>
          <a:xfrm>
            <a:off x="6618531" y="5167138"/>
            <a:ext cx="5107118" cy="914162"/>
          </a:xfrm>
          <a:prstGeom prst="rect">
            <a:avLst/>
          </a:prstGeom>
          <a:solidFill>
            <a:srgbClr val="0D2318"/>
          </a:solidFill>
          <a:ln>
            <a:noFill/>
          </a:ln>
        </p:spPr>
        <p:txBody>
          <a:bodyPr wrap="square" lIns="0" tIns="0" rIns="0" bIns="0" rtlCol="0" anchor="t"/>
          <a:lstStyle/>
          <a:p>
            <a:pPr defTabSz="1218895"/>
            <a:r>
              <a:rPr lang="en-US" sz="1600" b="1" dirty="0">
                <a:solidFill>
                  <a:srgbClr val="A78BFA"/>
                </a:solidFill>
                <a:latin typeface="Candara" panose="020E0502030303020204" pitchFamily="34" charset="0"/>
                <a:ea typeface="Calibri" pitchFamily="34" charset="-122"/>
                <a:cs typeface="Calibri" pitchFamily="34" charset="-120"/>
              </a:rPr>
              <a:t>Solution  </a:t>
            </a:r>
            <a:r>
              <a:rPr lang="en-US" sz="1600" b="1" dirty="0">
                <a:solidFill>
                  <a:srgbClr val="C8DDD0"/>
                </a:solidFill>
                <a:latin typeface="Candara" panose="020E0502030303020204" pitchFamily="34" charset="0"/>
                <a:ea typeface="Calibri" pitchFamily="34" charset="-122"/>
                <a:cs typeface="Calibri" pitchFamily="34" charset="-120"/>
              </a:rPr>
              <a:t>MQTT + JSON, REST for tests, shared device model: device/sensor</a:t>
            </a:r>
            <a:endParaRPr lang="en-US" sz="1600" dirty="0">
              <a:solidFill>
                <a:prstClr val="black"/>
              </a:solidFill>
              <a:latin typeface="Candara" panose="020E0502030303020204" pitchFamily="34" charset="0"/>
            </a:endParaRPr>
          </a:p>
        </p:txBody>
      </p:sp>
      <p:sp>
        <p:nvSpPr>
          <p:cNvPr id="36" name="Text 30"/>
          <p:cNvSpPr/>
          <p:nvPr/>
        </p:nvSpPr>
        <p:spPr>
          <a:xfrm>
            <a:off x="10726166" y="6004760"/>
            <a:ext cx="1096994" cy="268154"/>
          </a:xfrm>
          <a:prstGeom prst="rect">
            <a:avLst/>
          </a:prstGeom>
          <a:solidFill>
            <a:srgbClr val="0D2318"/>
          </a:solidFill>
          <a:ln>
            <a:noFill/>
          </a:ln>
        </p:spPr>
        <p:txBody>
          <a:bodyPr wrap="square" lIns="0" tIns="0" rIns="0" bIns="0" rtlCol="0" anchor="ctr"/>
          <a:lstStyle/>
          <a:p>
            <a:pPr algn="r" defTabSz="1218895"/>
            <a:r>
              <a:rPr lang="en-US" sz="1600" dirty="0">
                <a:solidFill>
                  <a:srgbClr val="4A6A54"/>
                </a:solidFill>
                <a:latin typeface="Candara" panose="020E0502030303020204" pitchFamily="34" charset="0"/>
                <a:ea typeface="Calibri" pitchFamily="34" charset="-122"/>
                <a:cs typeface="Calibri" pitchFamily="34" charset="-120"/>
              </a:rPr>
              <a:t>12 / 14</a:t>
            </a:r>
            <a:endParaRPr lang="en-US" sz="1600" dirty="0">
              <a:solidFill>
                <a:prstClr val="black"/>
              </a:solidFill>
              <a:latin typeface="Candara" panose="020E05020303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018"/>
        </a:solidFill>
        <a:effectLst/>
      </p:bgPr>
    </p:bg>
    <p:spTree>
      <p:nvGrpSpPr>
        <p:cNvPr id="1" name=""/>
        <p:cNvGrpSpPr/>
        <p:nvPr/>
      </p:nvGrpSpPr>
      <p:grpSpPr>
        <a:xfrm>
          <a:off x="0" y="0"/>
          <a:ext cx="0" cy="0"/>
          <a:chOff x="0" y="0"/>
          <a:chExt cx="0" cy="0"/>
        </a:xfrm>
      </p:grpSpPr>
      <p:sp>
        <p:nvSpPr>
          <p:cNvPr id="2" name="Text 0"/>
          <p:cNvSpPr/>
          <p:nvPr/>
        </p:nvSpPr>
        <p:spPr>
          <a:xfrm>
            <a:off x="548497" y="269047"/>
            <a:ext cx="11091831" cy="731330"/>
          </a:xfrm>
          <a:prstGeom prst="rect">
            <a:avLst/>
          </a:prstGeom>
          <a:noFill/>
          <a:ln/>
        </p:spPr>
        <p:txBody>
          <a:bodyPr wrap="square" lIns="0" tIns="0" rIns="0" bIns="0" rtlCol="0" anchor="ctr"/>
          <a:lstStyle/>
          <a:p>
            <a:pPr defTabSz="1218895"/>
            <a:r>
              <a:rPr lang="en-US" sz="2800" b="1" dirty="0">
                <a:solidFill>
                  <a:srgbClr val="FFFFFF"/>
                </a:solidFill>
                <a:latin typeface="Candara" panose="020E0502030303020204" pitchFamily="34" charset="0"/>
                <a:ea typeface="Calibri" pitchFamily="34" charset="-122"/>
                <a:cs typeface="Calibri" pitchFamily="34" charset="-120"/>
              </a:rPr>
              <a:t>Conclusion &amp; Future Work</a:t>
            </a:r>
            <a:endParaRPr lang="en-US" sz="2800" dirty="0">
              <a:solidFill>
                <a:prstClr val="black"/>
              </a:solidFill>
              <a:latin typeface="Candara" panose="020E0502030303020204" pitchFamily="34" charset="0"/>
            </a:endParaRPr>
          </a:p>
        </p:txBody>
      </p:sp>
      <p:sp>
        <p:nvSpPr>
          <p:cNvPr id="3" name="Text 1"/>
          <p:cNvSpPr/>
          <p:nvPr/>
        </p:nvSpPr>
        <p:spPr>
          <a:xfrm>
            <a:off x="548497" y="1000377"/>
            <a:ext cx="11091831" cy="390042"/>
          </a:xfrm>
          <a:prstGeom prst="rect">
            <a:avLst/>
          </a:prstGeom>
          <a:noFill/>
          <a:ln/>
        </p:spPr>
        <p:txBody>
          <a:bodyPr wrap="square" lIns="0" tIns="0" rIns="0" bIns="0" rtlCol="0" anchor="ctr"/>
          <a:lstStyle/>
          <a:p>
            <a:pPr defTabSz="1218895"/>
            <a:r>
              <a:rPr lang="en-US" sz="1866" b="1" dirty="0">
                <a:solidFill>
                  <a:srgbClr val="FFE600"/>
                </a:solidFill>
                <a:latin typeface="Candara" panose="020E0502030303020204" pitchFamily="34" charset="0"/>
                <a:ea typeface="Calibri" pitchFamily="34" charset="-122"/>
                <a:cs typeface="Calibri" pitchFamily="34" charset="-120"/>
              </a:rPr>
              <a:t>What we delivered  →  What comes next</a:t>
            </a:r>
            <a:endParaRPr lang="en-US" sz="1866" dirty="0">
              <a:solidFill>
                <a:prstClr val="black"/>
              </a:solidFill>
              <a:latin typeface="Candara" panose="020E0502030303020204" pitchFamily="34" charset="0"/>
            </a:endParaRPr>
          </a:p>
        </p:txBody>
      </p:sp>
      <p:sp>
        <p:nvSpPr>
          <p:cNvPr id="4" name="Shape 2"/>
          <p:cNvSpPr/>
          <p:nvPr/>
        </p:nvSpPr>
        <p:spPr>
          <a:xfrm>
            <a:off x="625404" y="1439417"/>
            <a:ext cx="5484971" cy="4936474"/>
          </a:xfrm>
          <a:prstGeom prst="roundRect">
            <a:avLst>
              <a:gd name="adj" fmla="val 1975"/>
            </a:avLst>
          </a:prstGeom>
          <a:solidFill>
            <a:srgbClr val="112C1E"/>
          </a:solidFill>
          <a:ln w="9525">
            <a:solidFill>
              <a:srgbClr val="1F4533"/>
            </a:solidFill>
            <a:prstDash val="solid"/>
          </a:ln>
        </p:spPr>
        <p:txBody>
          <a:bodyPr/>
          <a:lstStyle/>
          <a:p>
            <a:pPr defTabSz="1218895"/>
            <a:endParaRPr lang="en-US" sz="1866">
              <a:solidFill>
                <a:srgbClr val="00B050"/>
              </a:solidFill>
              <a:highlight>
                <a:srgbClr val="FFFF00"/>
              </a:highlight>
              <a:latin typeface="Candara" panose="020E0502030303020204" pitchFamily="34" charset="0"/>
            </a:endParaRPr>
          </a:p>
        </p:txBody>
      </p:sp>
      <p:sp>
        <p:nvSpPr>
          <p:cNvPr id="6" name="Shape 4"/>
          <p:cNvSpPr/>
          <p:nvPr/>
        </p:nvSpPr>
        <p:spPr>
          <a:xfrm>
            <a:off x="6204112" y="1390419"/>
            <a:ext cx="5484971" cy="4936474"/>
          </a:xfrm>
          <a:prstGeom prst="roundRect">
            <a:avLst>
              <a:gd name="adj" fmla="val 1975"/>
            </a:avLst>
          </a:prstGeom>
          <a:solidFill>
            <a:srgbClr val="112C1E"/>
          </a:solidFill>
          <a:ln w="9525">
            <a:solidFill>
              <a:srgbClr val="1F4533"/>
            </a:solidFill>
            <a:prstDash val="solid"/>
          </a:ln>
        </p:spPr>
        <p:txBody>
          <a:bodyPr/>
          <a:lstStyle/>
          <a:p>
            <a:pPr defTabSz="1218895">
              <a:lnSpc>
                <a:spcPct val="150000"/>
              </a:lnSpc>
            </a:pPr>
            <a:endParaRPr lang="en-US" sz="1866" dirty="0">
              <a:solidFill>
                <a:srgbClr val="00B050"/>
              </a:solidFill>
              <a:highlight>
                <a:srgbClr val="FFFF00"/>
              </a:highlight>
              <a:latin typeface="Candara" panose="020E0502030303020204" pitchFamily="34" charset="0"/>
            </a:endParaRPr>
          </a:p>
        </p:txBody>
      </p:sp>
      <p:sp>
        <p:nvSpPr>
          <p:cNvPr id="8" name="Text 6"/>
          <p:cNvSpPr/>
          <p:nvPr/>
        </p:nvSpPr>
        <p:spPr>
          <a:xfrm>
            <a:off x="1524611" y="1609818"/>
            <a:ext cx="3656648" cy="511931"/>
          </a:xfrm>
          <a:prstGeom prst="rect">
            <a:avLst/>
          </a:prstGeom>
          <a:noFill/>
          <a:ln/>
        </p:spPr>
        <p:txBody>
          <a:bodyPr wrap="square" lIns="0" tIns="0" rIns="0" bIns="0" rtlCol="0" anchor="ctr"/>
          <a:lstStyle/>
          <a:p>
            <a:pPr defTabSz="1218895"/>
            <a:r>
              <a:rPr lang="en-US" sz="1866" b="1" dirty="0">
                <a:solidFill>
                  <a:srgbClr val="FFFFFF"/>
                </a:solidFill>
                <a:latin typeface="Candara" panose="020E0502030303020204" pitchFamily="34" charset="0"/>
                <a:ea typeface="Calibri" pitchFamily="34" charset="-122"/>
                <a:cs typeface="Calibri" pitchFamily="34" charset="-120"/>
              </a:rPr>
              <a:t>What we achieved</a:t>
            </a:r>
            <a:endParaRPr lang="en-US" sz="1866" dirty="0">
              <a:solidFill>
                <a:prstClr val="black"/>
              </a:solidFill>
              <a:latin typeface="Candara" panose="020E0502030303020204" pitchFamily="34" charset="0"/>
            </a:endParaRPr>
          </a:p>
        </p:txBody>
      </p:sp>
      <p:pic>
        <p:nvPicPr>
          <p:cNvPr id="9" name="Image 0" descr="preencoded.png"/>
          <p:cNvPicPr>
            <a:picLocks noChangeAspect="1"/>
          </p:cNvPicPr>
          <p:nvPr/>
        </p:nvPicPr>
        <p:blipFill>
          <a:blip r:embed="rId3"/>
          <a:stretch>
            <a:fillRect/>
          </a:stretch>
        </p:blipFill>
        <p:spPr>
          <a:xfrm>
            <a:off x="951736" y="1729688"/>
            <a:ext cx="487553" cy="487553"/>
          </a:xfrm>
          <a:prstGeom prst="rect">
            <a:avLst/>
          </a:prstGeom>
        </p:spPr>
      </p:pic>
      <p:sp>
        <p:nvSpPr>
          <p:cNvPr id="10" name="Text 7"/>
          <p:cNvSpPr/>
          <p:nvPr/>
        </p:nvSpPr>
        <p:spPr>
          <a:xfrm>
            <a:off x="1687284" y="2217241"/>
            <a:ext cx="4329355" cy="3778536"/>
          </a:xfrm>
          <a:prstGeom prst="rect">
            <a:avLst/>
          </a:prstGeom>
          <a:noFill/>
          <a:ln/>
        </p:spPr>
        <p:txBody>
          <a:bodyPr wrap="square" lIns="0" tIns="0" rIns="0" bIns="0" rtlCol="0" anchor="t"/>
          <a:lstStyle/>
          <a:p>
            <a:pPr defTabSz="1218895">
              <a:spcAft>
                <a:spcPts val="667"/>
              </a:spcAft>
              <a:buSzPct val="100000"/>
            </a:pPr>
            <a:r>
              <a:rPr lang="en-US" sz="2000" dirty="0">
                <a:solidFill>
                  <a:schemeClr val="bg2"/>
                </a:solidFill>
                <a:latin typeface="Candara" panose="020E0502030303020204" pitchFamily="34" charset="0"/>
              </a:rPr>
              <a:t>✓ End-to-end IoT platform</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11-table database schema</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ASP.NET Core API &amp; JWT security</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Real-time monitoring with </a:t>
            </a:r>
            <a:r>
              <a:rPr lang="en-US" sz="2000" dirty="0" err="1">
                <a:solidFill>
                  <a:schemeClr val="bg2"/>
                </a:solidFill>
                <a:latin typeface="Candara" panose="020E0502030303020204" pitchFamily="34" charset="0"/>
              </a:rPr>
              <a:t>SignalR</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React dashboard &amp; device control</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Edge device integration (Arduino)</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Azure cloud deployment</a:t>
            </a:r>
            <a:endParaRPr lang="en-US" sz="1866" dirty="0">
              <a:solidFill>
                <a:schemeClr val="bg2"/>
              </a:solidFill>
              <a:latin typeface="Candara" panose="020E0502030303020204" pitchFamily="34" charset="0"/>
            </a:endParaRPr>
          </a:p>
        </p:txBody>
      </p:sp>
      <p:sp>
        <p:nvSpPr>
          <p:cNvPr id="11" name="Text 8"/>
          <p:cNvSpPr/>
          <p:nvPr/>
        </p:nvSpPr>
        <p:spPr>
          <a:xfrm>
            <a:off x="7331577" y="1664707"/>
            <a:ext cx="4144201" cy="511931"/>
          </a:xfrm>
          <a:prstGeom prst="rect">
            <a:avLst/>
          </a:prstGeom>
          <a:noFill/>
          <a:ln/>
        </p:spPr>
        <p:txBody>
          <a:bodyPr wrap="square" lIns="0" tIns="0" rIns="0" bIns="0" rtlCol="0" anchor="ctr"/>
          <a:lstStyle/>
          <a:p>
            <a:pPr defTabSz="1218895"/>
            <a:r>
              <a:rPr lang="en-US" sz="1866" b="1" dirty="0">
                <a:solidFill>
                  <a:srgbClr val="FFFFFF"/>
                </a:solidFill>
                <a:latin typeface="Candara" panose="020E0502030303020204" pitchFamily="34" charset="0"/>
                <a:ea typeface="Calibri" pitchFamily="34" charset="-122"/>
                <a:cs typeface="Calibri" pitchFamily="34" charset="-120"/>
              </a:rPr>
              <a:t>Future enhancements</a:t>
            </a:r>
            <a:endParaRPr lang="en-US" sz="1866" dirty="0">
              <a:solidFill>
                <a:prstClr val="black"/>
              </a:solidFill>
              <a:latin typeface="Candara" panose="020E0502030303020204" pitchFamily="34" charset="0"/>
            </a:endParaRPr>
          </a:p>
        </p:txBody>
      </p:sp>
      <p:pic>
        <p:nvPicPr>
          <p:cNvPr id="12" name="Image 1" descr="preencoded.png"/>
          <p:cNvPicPr>
            <a:picLocks noChangeAspect="1"/>
          </p:cNvPicPr>
          <p:nvPr/>
        </p:nvPicPr>
        <p:blipFill>
          <a:blip r:embed="rId4"/>
          <a:stretch>
            <a:fillRect/>
          </a:stretch>
        </p:blipFill>
        <p:spPr>
          <a:xfrm>
            <a:off x="6656551" y="1773357"/>
            <a:ext cx="487553" cy="487553"/>
          </a:xfrm>
          <a:prstGeom prst="rect">
            <a:avLst/>
          </a:prstGeom>
        </p:spPr>
      </p:pic>
      <p:sp>
        <p:nvSpPr>
          <p:cNvPr id="13" name="Text 9"/>
          <p:cNvSpPr/>
          <p:nvPr/>
        </p:nvSpPr>
        <p:spPr>
          <a:xfrm>
            <a:off x="7649120" y="2716472"/>
            <a:ext cx="4039963" cy="3778536"/>
          </a:xfrm>
          <a:prstGeom prst="rect">
            <a:avLst/>
          </a:prstGeom>
          <a:noFill/>
          <a:ln/>
        </p:spPr>
        <p:txBody>
          <a:bodyPr wrap="square" lIns="0" tIns="0" rIns="0" bIns="0" rtlCol="0" anchor="t"/>
          <a:lstStyle/>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Data retention &amp; archiving</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Multi-tenant support</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Mobile application</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AI anomaly detection</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More edge device integrations</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Production scalability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a:extLst>
            <a:ext uri="{FF2B5EF4-FFF2-40B4-BE49-F238E27FC236}">
              <a16:creationId xmlns:a16="http://schemas.microsoft.com/office/drawing/2014/main" id="{75467E3A-105B-B56B-CDF3-EDA3FF5F00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3A3327-609A-B095-600C-144E12DC0418}"/>
              </a:ext>
            </a:extLst>
          </p:cNvPr>
          <p:cNvSpPr/>
          <p:nvPr/>
        </p:nvSpPr>
        <p:spPr>
          <a:xfrm>
            <a:off x="1727200" y="4705741"/>
            <a:ext cx="4556117" cy="670385"/>
          </a:xfrm>
          <a:prstGeom prst="rect">
            <a:avLst/>
          </a:prstGeom>
          <a:solidFill>
            <a:srgbClr val="0A1F10"/>
          </a:solidFill>
          <a:ln>
            <a:noFill/>
          </a:ln>
        </p:spPr>
        <p:txBody>
          <a:bodyPr wrap="square" lIns="0" tIns="0" rIns="0" bIns="0"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lang="en-US" sz="3200" b="1" dirty="0">
                <a:solidFill>
                  <a:srgbClr val="00B050"/>
                </a:solidFill>
                <a:latin typeface="Candara" panose="020E0502030303020204" pitchFamily="34" charset="0"/>
                <a:ea typeface="Calibri" pitchFamily="34" charset="-122"/>
                <a:cs typeface="Calibri" pitchFamily="34" charset="-120"/>
              </a:rPr>
              <a:t>End Of Presentation</a:t>
            </a:r>
            <a:endParaRPr kumimoji="0" lang="en-US" sz="3999" b="0" i="0" u="none" strike="noStrike" kern="1200" cap="none" spc="0" normalizeH="0" baseline="0" noProof="0" dirty="0">
              <a:ln>
                <a:noFill/>
              </a:ln>
              <a:solidFill>
                <a:srgbClr val="00B050"/>
              </a:solidFill>
              <a:effectLst/>
              <a:uLnTx/>
              <a:uFillTx/>
              <a:latin typeface="Candara" panose="020E0502030303020204" pitchFamily="34" charset="0"/>
            </a:endParaRPr>
          </a:p>
        </p:txBody>
      </p:sp>
      <p:sp>
        <p:nvSpPr>
          <p:cNvPr id="27" name="Shape 18">
            <a:extLst>
              <a:ext uri="{FF2B5EF4-FFF2-40B4-BE49-F238E27FC236}">
                <a16:creationId xmlns:a16="http://schemas.microsoft.com/office/drawing/2014/main" id="{95532980-9797-E3FD-4633-DDD3C702E0D3}"/>
              </a:ext>
            </a:extLst>
          </p:cNvPr>
          <p:cNvSpPr/>
          <p:nvPr/>
        </p:nvSpPr>
        <p:spPr>
          <a:xfrm>
            <a:off x="6435699" y="1073510"/>
            <a:ext cx="5143684" cy="463175"/>
          </a:xfrm>
          <a:prstGeom prst="rect">
            <a:avLst/>
          </a:prstGeom>
          <a:solidFill>
            <a:srgbClr val="0A1F10"/>
          </a:solidFill>
          <a:ln w="12700">
            <a:no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US" sz="1866" b="0" i="0" u="none" strike="noStrike" kern="1200" cap="none" spc="0" normalizeH="0" baseline="0" noProof="0">
              <a:ln>
                <a:noFill/>
              </a:ln>
              <a:solidFill>
                <a:prstClr val="black"/>
              </a:solidFill>
              <a:effectLst/>
              <a:uLnTx/>
              <a:uFillTx/>
              <a:latin typeface="Candara" panose="020E0502030303020204" pitchFamily="34" charset="0"/>
            </a:endParaRPr>
          </a:p>
        </p:txBody>
      </p:sp>
      <p:sp>
        <p:nvSpPr>
          <p:cNvPr id="57" name="Shape 40">
            <a:extLst>
              <a:ext uri="{FF2B5EF4-FFF2-40B4-BE49-F238E27FC236}">
                <a16:creationId xmlns:a16="http://schemas.microsoft.com/office/drawing/2014/main" id="{CF396CC6-B600-41B2-4EF1-7051D4646C13}"/>
              </a:ext>
            </a:extLst>
          </p:cNvPr>
          <p:cNvSpPr/>
          <p:nvPr/>
        </p:nvSpPr>
        <p:spPr>
          <a:xfrm>
            <a:off x="-1" y="6192816"/>
            <a:ext cx="12188825" cy="664291"/>
          </a:xfrm>
          <a:prstGeom prst="rect">
            <a:avLst/>
          </a:prstGeom>
          <a:solidFill>
            <a:srgbClr val="0A1F10"/>
          </a:solidFill>
          <a:ln w="12700">
            <a:no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black"/>
              </a:solidFill>
              <a:effectLst/>
              <a:uLnTx/>
              <a:uFillTx/>
              <a:latin typeface="Candara" panose="020E0502030303020204" pitchFamily="34" charset="0"/>
            </a:endParaRPr>
          </a:p>
        </p:txBody>
      </p:sp>
      <p:sp>
        <p:nvSpPr>
          <p:cNvPr id="58" name="Shape 41">
            <a:extLst>
              <a:ext uri="{FF2B5EF4-FFF2-40B4-BE49-F238E27FC236}">
                <a16:creationId xmlns:a16="http://schemas.microsoft.com/office/drawing/2014/main" id="{168B0D01-34FC-C1A4-1B7B-B6EA82BB1769}"/>
              </a:ext>
            </a:extLst>
          </p:cNvPr>
          <p:cNvSpPr/>
          <p:nvPr/>
        </p:nvSpPr>
        <p:spPr>
          <a:xfrm>
            <a:off x="-1" y="6192816"/>
            <a:ext cx="12188825" cy="0"/>
          </a:xfrm>
          <a:prstGeom prst="line">
            <a:avLst/>
          </a:prstGeom>
          <a:noFill/>
          <a:ln w="12700">
            <a:no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black"/>
              </a:solidFill>
              <a:effectLst/>
              <a:uLnTx/>
              <a:uFillTx/>
              <a:latin typeface="Candara" panose="020E0502030303020204" pitchFamily="34" charset="0"/>
            </a:endParaRPr>
          </a:p>
        </p:txBody>
      </p:sp>
      <p:sp>
        <p:nvSpPr>
          <p:cNvPr id="61" name="Text 0">
            <a:extLst>
              <a:ext uri="{FF2B5EF4-FFF2-40B4-BE49-F238E27FC236}">
                <a16:creationId xmlns:a16="http://schemas.microsoft.com/office/drawing/2014/main" id="{AD30FD62-10D8-9ACD-1BE5-A6F792843164}"/>
              </a:ext>
            </a:extLst>
          </p:cNvPr>
          <p:cNvSpPr/>
          <p:nvPr/>
        </p:nvSpPr>
        <p:spPr>
          <a:xfrm>
            <a:off x="1727200" y="2098163"/>
            <a:ext cx="9225279" cy="1528957"/>
          </a:xfrm>
          <a:prstGeom prst="rect">
            <a:avLst/>
          </a:prstGeom>
          <a:solidFill>
            <a:srgbClr val="0A1F10"/>
          </a:solidFill>
          <a:ln>
            <a:noFill/>
          </a:ln>
        </p:spPr>
        <p:txBody>
          <a:bodyPr wrap="square" lIns="0" tIns="0" rIns="0" bIns="0" rtlCol="0" anchor="ctr"/>
          <a:lstStyle/>
          <a:p>
            <a:pPr lvl="0" algn="just" defTabSz="1218895">
              <a:lnSpc>
                <a:spcPct val="150000"/>
              </a:lnSpc>
              <a:defRPr/>
            </a:pPr>
            <a:endParaRPr lang="en-US" sz="1600" dirty="0">
              <a:solidFill>
                <a:schemeClr val="bg2"/>
              </a:solidFill>
              <a:latin typeface="Candara" panose="020E0502030303020204" pitchFamily="34" charset="0"/>
            </a:endParaRPr>
          </a:p>
          <a:p>
            <a:pPr lvl="0" algn="just" defTabSz="1218895">
              <a:lnSpc>
                <a:spcPct val="150000"/>
              </a:lnSpc>
              <a:defRPr/>
            </a:pPr>
            <a:r>
              <a:rPr lang="en-US" sz="1600" dirty="0">
                <a:solidFill>
                  <a:schemeClr val="bg2"/>
                </a:solidFill>
                <a:latin typeface="Candara" panose="020E0502030303020204" pitchFamily="34" charset="0"/>
              </a:rPr>
              <a:t>I would like to express my sincere gratitude to the instructors, especially Naser Chowdhury, for their guidance and support throughout the past two years. I would also like to thank RTC School for giving me the opportunity to achieve my first educational milestone in the United States, and my classmates and colleagues for their hard work, dedication, and support as we balanced work and study together to reach this achievement.</a:t>
            </a:r>
            <a:endParaRPr kumimoji="0" lang="en-US" sz="1600" b="0" u="none" strike="noStrike" kern="1200" cap="none" spc="0" normalizeH="0" baseline="0" noProof="0" dirty="0">
              <a:ln>
                <a:noFill/>
              </a:ln>
              <a:solidFill>
                <a:schemeClr val="bg2"/>
              </a:solidFill>
              <a:effectLst/>
              <a:uLnTx/>
              <a:uFillTx/>
              <a:latin typeface="Candara" panose="020E0502030303020204" pitchFamily="34" charset="0"/>
            </a:endParaRPr>
          </a:p>
        </p:txBody>
      </p:sp>
      <p:sp>
        <p:nvSpPr>
          <p:cNvPr id="3" name="TextBox 2">
            <a:extLst>
              <a:ext uri="{FF2B5EF4-FFF2-40B4-BE49-F238E27FC236}">
                <a16:creationId xmlns:a16="http://schemas.microsoft.com/office/drawing/2014/main" id="{8A007543-48F6-8493-80CF-D65E66082C51}"/>
              </a:ext>
            </a:extLst>
          </p:cNvPr>
          <p:cNvSpPr txBox="1"/>
          <p:nvPr/>
        </p:nvSpPr>
        <p:spPr>
          <a:xfrm>
            <a:off x="1530220" y="860041"/>
            <a:ext cx="5822302" cy="830997"/>
          </a:xfrm>
          <a:prstGeom prst="rect">
            <a:avLst/>
          </a:prstGeom>
          <a:noFill/>
        </p:spPr>
        <p:txBody>
          <a:bodyPr wrap="square" rtlCol="0">
            <a:spAutoFit/>
          </a:bodyPr>
          <a:lstStyle/>
          <a:p>
            <a:r>
              <a:rPr lang="en-US" sz="4800" i="1" dirty="0">
                <a:solidFill>
                  <a:schemeClr val="bg1"/>
                </a:solidFill>
                <a:latin typeface="Candara" panose="020E0502030303020204" pitchFamily="34" charset="0"/>
              </a:rPr>
              <a:t>Thank You</a:t>
            </a:r>
            <a:endParaRPr lang="en-US" sz="4800" i="1" dirty="0">
              <a:latin typeface="Candara" panose="020E0502030303020204" pitchFamily="34" charset="0"/>
            </a:endParaRPr>
          </a:p>
        </p:txBody>
      </p:sp>
    </p:spTree>
    <p:extLst>
      <p:ext uri="{BB962C8B-B14F-4D97-AF65-F5344CB8AC3E}">
        <p14:creationId xmlns:p14="http://schemas.microsoft.com/office/powerpoint/2010/main" val="1003603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24177</TotalTime>
  <Words>3657</Words>
  <Application>Microsoft Office PowerPoint</Application>
  <PresentationFormat>Custom</PresentationFormat>
  <Paragraphs>652</Paragraphs>
  <Slides>14</Slides>
  <Notes>14</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14</vt:i4>
      </vt:variant>
    </vt:vector>
  </HeadingPairs>
  <TitlesOfParts>
    <vt:vector size="23" baseType="lpstr">
      <vt:lpstr>Aptos</vt:lpstr>
      <vt:lpstr>Arial</vt:lpstr>
      <vt:lpstr>Calibri</vt:lpstr>
      <vt:lpstr>Candara</vt:lpstr>
      <vt:lpstr>Wingdings</vt:lpstr>
      <vt:lpstr>Office Theme</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Quoc Bao Tran</dc:creator>
  <cp:keywords/>
  <dc:description>generated using python-pptx</dc:description>
  <cp:lastModifiedBy>Quoc Bao Tran</cp:lastModifiedBy>
  <cp:revision>326</cp:revision>
  <dcterms:created xsi:type="dcterms:W3CDTF">2013-01-27T09:14:16Z</dcterms:created>
  <dcterms:modified xsi:type="dcterms:W3CDTF">2026-06-16T19:53:09Z</dcterms:modified>
  <cp:category/>
</cp:coreProperties>
</file>