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4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90" d="100"/>
          <a:sy n="90" d="100"/>
        </p:scale>
        <p:origin x="3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D187-1E4A-96A8-8885-7144375CB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C6B92-48EC-66C7-800A-C6368A72A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7F5CC-CE16-22A4-4509-9087B2521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3BD02-BE40-70AE-5631-9703FA9B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884A1-F96A-B014-004B-3774F67F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5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7415-75E9-7FE0-2935-D5E0DD2C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2A1F-BBE4-38D4-F4FA-971B9AE28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0895B-8B42-6919-5C21-83B55FD0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D10F2-6305-6F34-115F-CF80B3EE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6CE22-6FEF-9355-ECC1-92DBC0A0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7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17D6-B6F9-5A3C-8B88-AD28A7D4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E8E05-09B4-7E2E-DD40-7F310730D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67BC1-8544-4280-296C-B6C65688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0398B-1B78-6A18-12F8-A87D38BF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3807B-B291-637C-20F5-F87F4F37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5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05D2-1CAE-A718-7046-57223D063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E6E95-B1CC-B8E6-61F8-17E561509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B599E-DCEC-1D41-9047-50E844596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63410-1551-2FD9-A50A-9DD6CF53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AF750-50AE-9343-1AA4-18ADEB69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466ED-73A4-4B49-B4DB-07AE8197F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12D3-D505-32C1-6B5A-AA852C5E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8C467-57E1-698E-E401-B6784F047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53AF1-1FCD-729C-8CAD-3EB15A3E4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58ACB-1C46-72FE-3183-422B055FC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23006-355A-6F53-A4B7-C067F3FF4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742E2-51E2-4B3F-36C9-3882360C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C6783-8154-5EF9-F57D-E99DA639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74C98-8A20-71CB-96DF-04A27D11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8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BD9B-0786-CE73-D31F-9B5B12A5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639D2-FAB2-49F5-7F31-8423BB93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F7862-128D-55D3-C2DE-E472FCED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DE38A-6D23-0D74-671A-F15C61F1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9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45A3E-3658-CB19-2162-A57AE088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56642-3DB2-F7D2-DA60-AB34C2E05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30906-CA61-BDD7-809D-5FF69122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1CA7-3B40-5E36-8754-FBB4AC3B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87FB3-E967-0001-78FA-BB78E23A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0EAD1-DB07-4426-D921-125C5EEC8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83182-5E09-A74C-15A2-C64877FD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C37F8-10DE-2553-C9E5-A8E1DB06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D5EF3-4801-DFB1-91F7-F78FE204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6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E3B8-D351-634B-7126-C3D11D40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F26A0-F39F-FB5A-D9D2-280FF9EF7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B5DB3-E291-D644-0AA9-1EEAD445B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CA772-2E24-9E98-2FF3-C9A80156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538C2-8113-A03F-FE4C-D14B42A0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9747C-5C1E-3FC1-981A-EE3FADCF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6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5032-9500-D3AE-8693-AB5BFA74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72C64-A339-A30B-8EF3-9E4EDB93F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4E992-B19A-EBE4-89A5-D82F4C27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706D-A444-6DE1-0824-E1B7B5C6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536BC-C281-E892-1D7C-EBF45591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7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F752C-5C3D-8396-68AB-64671A99E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F8232-8D0E-3B29-3E59-7797FA34A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1238-18ED-DC5A-CFDF-78175BEF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B27F8-37B4-000D-4B7E-EE19D46A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A45D0-AC88-2ACD-4FDB-9150BBE6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1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97E1B-B6AF-9733-75F5-3C8FC403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5B2A5-193C-6B24-1BCF-DEB34BEB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2F3E-39C1-59C0-B4AF-CAF4844B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1205BE4E-4704-4F0B-B7F5-9A4EE53A526B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9BFFF-20A3-1EB1-6E78-A64681E72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DE764-E1F0-4215-2D43-056031F8A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D9A67D05-8255-4040-9E3C-789633FCF2D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3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6337CC4-6970-59CB-E0C4-2BEEEC08C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499600" cy="2154238"/>
          </a:xfrm>
        </p:spPr>
        <p:txBody>
          <a:bodyPr>
            <a:normAutofit/>
          </a:bodyPr>
          <a:lstStyle/>
          <a:p>
            <a:pPr algn="r"/>
            <a:r>
              <a:rPr lang="en-US" sz="3200" b="1" dirty="0">
                <a:latin typeface="Candara" panose="020E0502030303020204" pitchFamily="34" charset="0"/>
              </a:rPr>
              <a:t>IoT Monitoring Dashboard</a:t>
            </a:r>
            <a:br>
              <a:rPr lang="en-US" sz="3200" dirty="0">
                <a:latin typeface="Candara" panose="020E0502030303020204" pitchFamily="34" charset="0"/>
              </a:rPr>
            </a:br>
            <a:r>
              <a:rPr lang="en-US" sz="3200" dirty="0">
                <a:latin typeface="Candara" panose="020E0502030303020204" pitchFamily="34" charset="0"/>
              </a:rPr>
              <a:t>Capstone Project — Milestone Progress Update</a:t>
            </a:r>
            <a:br>
              <a:rPr lang="en-US" sz="3200" dirty="0">
                <a:latin typeface="Candara" panose="020E0502030303020204" pitchFamily="34" charset="0"/>
              </a:rPr>
            </a:br>
            <a:endParaRPr lang="en-US" sz="3200" dirty="0">
              <a:latin typeface="Candara" panose="020E05020303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BFE61F-4CD1-4722-C8FB-272C1CA92DB0}"/>
              </a:ext>
            </a:extLst>
          </p:cNvPr>
          <p:cNvSpPr txBox="1"/>
          <p:nvPr/>
        </p:nvSpPr>
        <p:spPr>
          <a:xfrm>
            <a:off x="6951374" y="4092846"/>
            <a:ext cx="42652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latin typeface="Candara" panose="020E0502030303020204" pitchFamily="34" charset="0"/>
              </a:rPr>
              <a:t>Program BAS  Application Development</a:t>
            </a:r>
          </a:p>
          <a:p>
            <a:pPr algn="r"/>
            <a:r>
              <a:rPr lang="en-US" b="1" dirty="0">
                <a:latin typeface="Candara" panose="020E0502030303020204" pitchFamily="34" charset="0"/>
              </a:rPr>
              <a:t>Course </a:t>
            </a:r>
            <a:r>
              <a:rPr lang="en-US" dirty="0">
                <a:latin typeface="Candara" panose="020E0502030303020204" pitchFamily="34" charset="0"/>
              </a:rPr>
              <a:t> CSI-492 Senior Capstone Project</a:t>
            </a:r>
            <a:endParaRPr lang="en-US" b="1" dirty="0">
              <a:latin typeface="Candara" panose="020E0502030303020204" pitchFamily="34" charset="0"/>
            </a:endParaRPr>
          </a:p>
          <a:p>
            <a:pPr algn="r"/>
            <a:r>
              <a:rPr lang="en-US" b="1" dirty="0">
                <a:latin typeface="Candara" panose="020E0502030303020204" pitchFamily="34" charset="0"/>
              </a:rPr>
              <a:t>Student </a:t>
            </a:r>
            <a:r>
              <a:rPr lang="en-US" sz="1800" dirty="0">
                <a:latin typeface="Candara" panose="020E0502030303020204" pitchFamily="34" charset="0"/>
              </a:rPr>
              <a:t> Quoc Bao Tran</a:t>
            </a:r>
            <a:br>
              <a:rPr lang="en-US" sz="1800" dirty="0">
                <a:latin typeface="Candara" panose="020E0502030303020204" pitchFamily="34" charset="0"/>
              </a:rPr>
            </a:br>
            <a:r>
              <a:rPr lang="en-US" sz="1800" b="1" dirty="0">
                <a:latin typeface="Candara" panose="020E0502030303020204" pitchFamily="34" charset="0"/>
              </a:rPr>
              <a:t>Date</a:t>
            </a:r>
            <a:r>
              <a:rPr lang="en-US" b="1" dirty="0">
                <a:latin typeface="Candara" panose="020E0502030303020204" pitchFamily="34" charset="0"/>
              </a:rPr>
              <a:t> </a:t>
            </a:r>
            <a:r>
              <a:rPr lang="en-US" sz="1800" dirty="0">
                <a:latin typeface="Candara" panose="020E0502030303020204" pitchFamily="34" charset="0"/>
              </a:rPr>
              <a:t> </a:t>
            </a:r>
            <a:r>
              <a:rPr lang="en-US" dirty="0">
                <a:latin typeface="Candara" panose="020E0502030303020204" pitchFamily="34" charset="0"/>
              </a:rPr>
              <a:t> 6/14</a:t>
            </a:r>
            <a:br>
              <a:rPr lang="en-US" sz="1800" dirty="0">
                <a:latin typeface="Candara" panose="020E0502030303020204" pitchFamily="34" charset="0"/>
              </a:rPr>
            </a:br>
            <a:endParaRPr 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0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C347-6049-4427-8635-E5A35DE9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ndara" panose="020E0502030303020204" pitchFamily="34" charset="0"/>
              </a:rPr>
              <a:t>Schedule Update</a:t>
            </a:r>
            <a:br>
              <a:rPr lang="en-US" sz="3200" dirty="0">
                <a:latin typeface="Candara" panose="020E0502030303020204" pitchFamily="34" charset="0"/>
              </a:rPr>
            </a:br>
            <a:r>
              <a:rPr lang="en-US" sz="2800" b="1" dirty="0">
                <a:latin typeface="Candara" panose="020E0502030303020204" pitchFamily="34" charset="0"/>
              </a:rPr>
              <a:t>Status:</a:t>
            </a:r>
            <a:r>
              <a:rPr lang="en-US" sz="2800" dirty="0">
                <a:latin typeface="Candara" panose="020E0502030303020204" pitchFamily="34" charset="0"/>
              </a:rPr>
              <a:t> On track</a:t>
            </a:r>
            <a:endParaRPr lang="en-US" sz="3200" dirty="0">
              <a:latin typeface="Candara" panose="020E0502030303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24C5E2-0B9C-3E3C-38E9-8AACB959B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507255"/>
              </p:ext>
            </p:extLst>
          </p:nvPr>
        </p:nvGraphicFramePr>
        <p:xfrm>
          <a:off x="1436034" y="1498600"/>
          <a:ext cx="9511364" cy="49847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443">
                  <a:extLst>
                    <a:ext uri="{9D8B030D-6E8A-4147-A177-3AD203B41FA5}">
                      <a16:colId xmlns:a16="http://schemas.microsoft.com/office/drawing/2014/main" val="3415123503"/>
                    </a:ext>
                  </a:extLst>
                </a:gridCol>
                <a:gridCol w="758830">
                  <a:extLst>
                    <a:ext uri="{9D8B030D-6E8A-4147-A177-3AD203B41FA5}">
                      <a16:colId xmlns:a16="http://schemas.microsoft.com/office/drawing/2014/main" val="2252890228"/>
                    </a:ext>
                  </a:extLst>
                </a:gridCol>
                <a:gridCol w="166318">
                  <a:extLst>
                    <a:ext uri="{9D8B030D-6E8A-4147-A177-3AD203B41FA5}">
                      <a16:colId xmlns:a16="http://schemas.microsoft.com/office/drawing/2014/main" val="233549650"/>
                    </a:ext>
                  </a:extLst>
                </a:gridCol>
                <a:gridCol w="3014531">
                  <a:extLst>
                    <a:ext uri="{9D8B030D-6E8A-4147-A177-3AD203B41FA5}">
                      <a16:colId xmlns:a16="http://schemas.microsoft.com/office/drawing/2014/main" val="2230558247"/>
                    </a:ext>
                  </a:extLst>
                </a:gridCol>
                <a:gridCol w="135134">
                  <a:extLst>
                    <a:ext uri="{9D8B030D-6E8A-4147-A177-3AD203B41FA5}">
                      <a16:colId xmlns:a16="http://schemas.microsoft.com/office/drawing/2014/main" val="764695759"/>
                    </a:ext>
                  </a:extLst>
                </a:gridCol>
                <a:gridCol w="4293108">
                  <a:extLst>
                    <a:ext uri="{9D8B030D-6E8A-4147-A177-3AD203B41FA5}">
                      <a16:colId xmlns:a16="http://schemas.microsoft.com/office/drawing/2014/main" val="2176508648"/>
                    </a:ext>
                  </a:extLst>
                </a:gridCol>
              </a:tblGrid>
              <a:tr h="584593"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Candara" panose="020E0502030303020204" pitchFamily="34" charset="0"/>
                        </a:rPr>
                        <a:t>Project Progress Update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162153"/>
                  </a:ext>
                </a:extLst>
              </a:tr>
              <a:tr h="584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Time Period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Dates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Focus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Status/Progress Update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656341426"/>
                  </a:ext>
                </a:extLst>
              </a:tr>
              <a:tr h="584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Week 1–2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4/6 – 4/19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Planning — project charter, requirements, architecture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Project charter approved; requirements documented; architecture defined (MQTT → API → SQL → SignalR → React).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46409660"/>
                  </a:ext>
                </a:extLst>
              </a:tr>
              <a:tr h="584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3–4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4/20 – 5/3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Data — SQL Server schema, EF Core entities, migrations, seed/test data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SQL schema designed; EF Core entities &amp; migrations applied; seed/test data loaded.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4095849199"/>
                  </a:ext>
                </a:extLst>
              </a:tr>
              <a:tr h="5962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5–6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5/4 – 5/17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Backend — repositories, services, REST API, MQTT ingest, command dispatch,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, alerts.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Repositories &amp; services implemented; REST API live; MQTT ingest &amp; command dispatch working;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 hub &amp; alert evaluation connected.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894355771"/>
                  </a:ext>
                </a:extLst>
              </a:tr>
              <a:tr h="584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7–8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5/18 – 5/31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Frontend — React dashboard, auth, live charts, devices, commands, alerts UI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React dashboard built; JWT auth integrated; live charts via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; device, command, and alert pages functional.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584845573"/>
                  </a:ext>
                </a:extLst>
              </a:tr>
              <a:tr h="5962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Week 9–10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6/1 – 6/14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Integration &amp; testing — Arduino ↔ </a:t>
                      </a:r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Mosquitto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 ↔ API ↔ SQL ↔ </a:t>
                      </a:r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 ↔ UI (end-to-end)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End-to-end pipeline verified: Arduino → </a:t>
                      </a:r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Mosquitto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 → API → SQL → </a:t>
                      </a:r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 → UI; issues logged and fixed.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042205481"/>
                  </a:ext>
                </a:extLst>
              </a:tr>
              <a:tr h="584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11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6/15 – 6/19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Documentation &amp; presentation — final docs, polish, demo prep → Final presentation 6/17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483397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4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75F0-B3D3-B0EE-B194-8132CD0F9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Milestone 6/1-6/14 (week9 &amp;10)</a:t>
            </a:r>
            <a:br>
              <a:rPr lang="en-US" sz="3600" dirty="0">
                <a:latin typeface="Candara" panose="020E0502030303020204" pitchFamily="34" charset="0"/>
              </a:rPr>
            </a:br>
            <a:endParaRPr lang="en-US" sz="3600" dirty="0">
              <a:latin typeface="Candara" panose="020E0502030303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490C39-FE11-9232-E937-443A9B964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199" y="1385359"/>
            <a:ext cx="10261601" cy="4778374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Candara" panose="020E0502030303020204" pitchFamily="34" charset="0"/>
              </a:rPr>
              <a:t>Goal:</a:t>
            </a:r>
            <a:r>
              <a:rPr lang="en-US" sz="1600" dirty="0">
                <a:latin typeface="Candara" panose="020E0502030303020204" pitchFamily="34" charset="0"/>
              </a:rPr>
              <a:t> Verify the full system works together — hardware/simulator through MQTT and API to SQL and the React dashboard, with real-time updates, commands, and alerts.</a:t>
            </a:r>
          </a:p>
          <a:p>
            <a:r>
              <a:rPr lang="en-US" sz="1600" b="1" dirty="0">
                <a:latin typeface="Candara" panose="020E0502030303020204" pitchFamily="34" charset="0"/>
              </a:rPr>
              <a:t>Status:</a:t>
            </a:r>
            <a:r>
              <a:rPr lang="en-US" sz="1600" dirty="0">
                <a:latin typeface="Candara" panose="020E0502030303020204" pitchFamily="34" charset="0"/>
              </a:rPr>
              <a:t>  </a:t>
            </a:r>
            <a:r>
              <a:rPr lang="en-US" sz="1600" b="1" dirty="0">
                <a:latin typeface="Candara" panose="020E0502030303020204" pitchFamily="34" charset="0"/>
              </a:rPr>
              <a:t>Completed</a:t>
            </a:r>
          </a:p>
          <a:p>
            <a:endParaRPr lang="en-US" sz="1600" dirty="0">
              <a:latin typeface="Candara" panose="020E0502030303020204" pitchFamily="34" charset="0"/>
            </a:endParaRPr>
          </a:p>
          <a:p>
            <a:r>
              <a:rPr lang="en-US" sz="1600" b="1" dirty="0">
                <a:latin typeface="Candara" panose="020E0502030303020204" pitchFamily="34" charset="0"/>
              </a:rPr>
              <a:t>Completed work:</a:t>
            </a:r>
            <a:endParaRPr lang="en-US" sz="1600" dirty="0">
              <a:latin typeface="Candara" panose="020E0502030303020204" pitchFamily="34" charset="0"/>
            </a:endParaRPr>
          </a:p>
          <a:p>
            <a:pPr lvl="1"/>
            <a:r>
              <a:rPr lang="en-US" sz="1600" dirty="0">
                <a:latin typeface="Candara" panose="020E0502030303020204" pitchFamily="34" charset="0"/>
              </a:rPr>
              <a:t>Ran </a:t>
            </a:r>
            <a:r>
              <a:rPr lang="en-US" sz="1600" b="1" dirty="0">
                <a:latin typeface="Candara" panose="020E0502030303020204" pitchFamily="34" charset="0"/>
              </a:rPr>
              <a:t>end-to-end pipeline</a:t>
            </a:r>
            <a:r>
              <a:rPr lang="en-US" sz="1600" dirty="0">
                <a:latin typeface="Candara" panose="020E0502030303020204" pitchFamily="34" charset="0"/>
              </a:rPr>
              <a:t> test: Arduino/simulator → </a:t>
            </a:r>
            <a:r>
              <a:rPr lang="en-US" sz="1600" b="1" dirty="0" err="1">
                <a:latin typeface="Candara" panose="020E0502030303020204" pitchFamily="34" charset="0"/>
              </a:rPr>
              <a:t>Mosquitto</a:t>
            </a:r>
            <a:r>
              <a:rPr lang="en-US" sz="1600" dirty="0">
                <a:latin typeface="Candara" panose="020E0502030303020204" pitchFamily="34" charset="0"/>
              </a:rPr>
              <a:t> → </a:t>
            </a:r>
            <a:r>
              <a:rPr lang="en-US" sz="1600" b="1" dirty="0" err="1">
                <a:latin typeface="Candara" panose="020E0502030303020204" pitchFamily="34" charset="0"/>
              </a:rPr>
              <a:t>MqttService</a:t>
            </a:r>
            <a:r>
              <a:rPr lang="en-US" sz="1600" dirty="0">
                <a:latin typeface="Candara" panose="020E0502030303020204" pitchFamily="34" charset="0"/>
              </a:rPr>
              <a:t> → </a:t>
            </a:r>
            <a:r>
              <a:rPr lang="en-US" sz="1600" b="1" dirty="0">
                <a:latin typeface="Candara" panose="020E0502030303020204" pitchFamily="34" charset="0"/>
              </a:rPr>
              <a:t>SQL</a:t>
            </a:r>
            <a:r>
              <a:rPr lang="en-US" sz="1600" dirty="0">
                <a:latin typeface="Candara" panose="020E0502030303020204" pitchFamily="34" charset="0"/>
              </a:rPr>
              <a:t> → </a:t>
            </a:r>
            <a:r>
              <a:rPr lang="en-US" sz="1600" b="1" dirty="0" err="1">
                <a:latin typeface="Candara" panose="020E0502030303020204" pitchFamily="34" charset="0"/>
              </a:rPr>
              <a:t>SignalR</a:t>
            </a:r>
            <a:r>
              <a:rPr lang="en-US" sz="1600" dirty="0">
                <a:latin typeface="Candara" panose="020E0502030303020204" pitchFamily="34" charset="0"/>
              </a:rPr>
              <a:t> → </a:t>
            </a:r>
            <a:r>
              <a:rPr lang="en-US" sz="1600" b="1" dirty="0">
                <a:latin typeface="Candara" panose="020E0502030303020204" pitchFamily="34" charset="0"/>
              </a:rPr>
              <a:t>React</a:t>
            </a:r>
            <a:r>
              <a:rPr lang="en-US" sz="1600" dirty="0">
                <a:latin typeface="Candara" panose="020E0502030303020204" pitchFamily="34" charset="0"/>
              </a:rPr>
              <a:t> charts</a:t>
            </a:r>
          </a:p>
          <a:p>
            <a:pPr lvl="1"/>
            <a:r>
              <a:rPr lang="en-US" sz="1600" dirty="0">
                <a:latin typeface="Candara" panose="020E0502030303020204" pitchFamily="34" charset="0"/>
              </a:rPr>
              <a:t>Executed </a:t>
            </a:r>
            <a:r>
              <a:rPr lang="en-US" sz="1600" b="1" dirty="0">
                <a:latin typeface="Candara" panose="020E0502030303020204" pitchFamily="34" charset="0"/>
              </a:rPr>
              <a:t>automated API tests</a:t>
            </a:r>
            <a:r>
              <a:rPr lang="en-US" sz="1600" dirty="0">
                <a:latin typeface="Candara" panose="020E0502030303020204" pitchFamily="34" charset="0"/>
              </a:rPr>
              <a:t> (Run-ApiTests.ps1) —</a:t>
            </a:r>
            <a:r>
              <a:rPr lang="en-US" sz="1600" b="1" dirty="0">
                <a:latin typeface="Candara" panose="020E0502030303020204" pitchFamily="34" charset="0"/>
              </a:rPr>
              <a:t> passed</a:t>
            </a:r>
            <a:r>
              <a:rPr lang="en-US" sz="1600" dirty="0">
                <a:latin typeface="Candara" panose="020E0502030303020204" pitchFamily="34" charset="0"/>
              </a:rPr>
              <a:t> (health, auth, REST CRUD, readings)</a:t>
            </a:r>
          </a:p>
          <a:p>
            <a:pPr lvl="1"/>
            <a:r>
              <a:rPr lang="en-US" sz="1600" dirty="0">
                <a:latin typeface="Candara" panose="020E0502030303020204" pitchFamily="34" charset="0"/>
              </a:rPr>
              <a:t>Completed </a:t>
            </a:r>
            <a:r>
              <a:rPr lang="en-US" sz="1600" b="1" dirty="0">
                <a:latin typeface="Candara" panose="020E0502030303020204" pitchFamily="34" charset="0"/>
              </a:rPr>
              <a:t>manual test checklist</a:t>
            </a:r>
            <a:r>
              <a:rPr lang="en-US" sz="1600" dirty="0">
                <a:latin typeface="Candara" panose="020E0502030303020204" pitchFamily="34" charset="0"/>
              </a:rPr>
              <a:t> — login, dashboard, devices, live charts, commands, alerts, roles</a:t>
            </a:r>
          </a:p>
          <a:p>
            <a:pPr lvl="1"/>
            <a:r>
              <a:rPr lang="en-US" sz="1600" dirty="0">
                <a:latin typeface="Candara" panose="020E0502030303020204" pitchFamily="34" charset="0"/>
              </a:rPr>
              <a:t>Verified </a:t>
            </a:r>
            <a:r>
              <a:rPr lang="en-US" sz="1600" b="1" dirty="0" err="1">
                <a:latin typeface="Candara" panose="020E0502030303020204" pitchFamily="34" charset="0"/>
              </a:rPr>
              <a:t>SignalR</a:t>
            </a:r>
            <a:r>
              <a:rPr lang="en-US" sz="1600" dirty="0">
                <a:latin typeface="Candara" panose="020E0502030303020204" pitchFamily="34" charset="0"/>
              </a:rPr>
              <a:t> live updates without page refresh (readings and alerts)</a:t>
            </a:r>
          </a:p>
          <a:p>
            <a:pPr lvl="1"/>
            <a:r>
              <a:rPr lang="en-US" sz="1600" dirty="0">
                <a:latin typeface="Candara" panose="020E0502030303020204" pitchFamily="34" charset="0"/>
              </a:rPr>
              <a:t>Verified </a:t>
            </a:r>
            <a:r>
              <a:rPr lang="en-US" sz="1600" b="1" dirty="0">
                <a:latin typeface="Candara" panose="020E0502030303020204" pitchFamily="34" charset="0"/>
              </a:rPr>
              <a:t>MQTT ingest</a:t>
            </a:r>
            <a:r>
              <a:rPr lang="en-US" sz="1600" dirty="0">
                <a:latin typeface="Candara" panose="020E0502030303020204" pitchFamily="34" charset="0"/>
              </a:rPr>
              <a:t> — published reading appears in DB and on dashboard</a:t>
            </a:r>
          </a:p>
          <a:p>
            <a:pPr lvl="1"/>
            <a:r>
              <a:rPr lang="en-US" sz="1600" dirty="0">
                <a:latin typeface="Candara" panose="020E0502030303020204" pitchFamily="34" charset="0"/>
              </a:rPr>
              <a:t>Verified </a:t>
            </a:r>
            <a:r>
              <a:rPr lang="en-US" sz="1600" b="1" dirty="0">
                <a:latin typeface="Candara" panose="020E0502030303020204" pitchFamily="34" charset="0"/>
              </a:rPr>
              <a:t>command flow</a:t>
            </a:r>
            <a:r>
              <a:rPr lang="en-US" sz="1600" dirty="0">
                <a:latin typeface="Candara" panose="020E0502030303020204" pitchFamily="34" charset="0"/>
              </a:rPr>
              <a:t> — UI command → MQTT → command status/history updates</a:t>
            </a:r>
          </a:p>
          <a:p>
            <a:pPr lvl="1"/>
            <a:r>
              <a:rPr lang="en-US" sz="1600" dirty="0">
                <a:latin typeface="Candara" panose="020E0502030303020204" pitchFamily="34" charset="0"/>
              </a:rPr>
              <a:t>Logged and </a:t>
            </a:r>
            <a:r>
              <a:rPr lang="en-US" sz="1600" b="1" dirty="0">
                <a:latin typeface="Candara" panose="020E0502030303020204" pitchFamily="34" charset="0"/>
              </a:rPr>
              <a:t>fixed integration issues</a:t>
            </a:r>
            <a:r>
              <a:rPr lang="en-US" sz="1600" dirty="0">
                <a:latin typeface="Candara" panose="020E0502030303020204" pitchFamily="34" charset="0"/>
              </a:rPr>
              <a:t> (chart trim, </a:t>
            </a:r>
            <a:r>
              <a:rPr lang="en-US" sz="1600" dirty="0" err="1">
                <a:latin typeface="Candara" panose="020E0502030303020204" pitchFamily="34" charset="0"/>
              </a:rPr>
              <a:t>SignalR</a:t>
            </a:r>
            <a:r>
              <a:rPr lang="en-US" sz="1600" dirty="0">
                <a:latin typeface="Candara" panose="020E0502030303020204" pitchFamily="34" charset="0"/>
              </a:rPr>
              <a:t> reconnect, device/sensor ID alignment)</a:t>
            </a:r>
          </a:p>
          <a:p>
            <a:pPr lvl="1"/>
            <a:r>
              <a:rPr lang="en-US" sz="1600" dirty="0">
                <a:latin typeface="Candara" panose="020E0502030303020204" pitchFamily="34" charset="0"/>
              </a:rPr>
              <a:t>Updated test docs: MANUAL_TEST_CHECKLIST.md, AUTOMATED_TEST_RESULTS.md</a:t>
            </a:r>
          </a:p>
          <a:p>
            <a:pPr marL="457200" lvl="1" indent="0">
              <a:buNone/>
            </a:pPr>
            <a:endParaRPr lang="en-US" sz="1600" dirty="0">
              <a:latin typeface="Candara" panose="020E0502030303020204" pitchFamily="34" charset="0"/>
            </a:endParaRPr>
          </a:p>
          <a:p>
            <a:r>
              <a:rPr lang="en-US" sz="1600" b="1" dirty="0">
                <a:latin typeface="Candara" panose="020E0502030303020204" pitchFamily="34" charset="0"/>
              </a:rPr>
              <a:t>Progress (schedule table):</a:t>
            </a:r>
            <a:r>
              <a:rPr lang="en-US" sz="1600" dirty="0">
                <a:latin typeface="Candara" panose="020E0502030303020204" pitchFamily="34" charset="0"/>
              </a:rPr>
              <a:t> End-to-end pipeline verified; automated and manual tests run; issues logged and fixed.</a:t>
            </a:r>
          </a:p>
          <a:p>
            <a:endParaRPr lang="en-US" sz="16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408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B59F-C312-D06A-BB7D-286D6192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060"/>
            <a:ext cx="10371667" cy="887942"/>
          </a:xfrm>
        </p:spPr>
        <p:txBody>
          <a:bodyPr>
            <a:noAutofit/>
          </a:bodyPr>
          <a:lstStyle/>
          <a:p>
            <a:r>
              <a:rPr lang="en-US" sz="3600" dirty="0"/>
              <a:t>Evidence / screenshots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227B0A-399F-AB3B-8B22-CDA650DDC21E}"/>
              </a:ext>
            </a:extLst>
          </p:cNvPr>
          <p:cNvSpPr txBox="1"/>
          <p:nvPr/>
        </p:nvSpPr>
        <p:spPr>
          <a:xfrm>
            <a:off x="838200" y="13653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b="1" dirty="0">
                <a:effectLst/>
                <a:latin typeface="Candara" panose="020E0502030303020204" pitchFamily="34" charset="0"/>
              </a:rPr>
              <a:t>Fig. 1 — Full stack</a:t>
            </a:r>
            <a:endParaRPr lang="en-US" dirty="0"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32A426-3CF3-E9A1-6277-9A2670646F2B}"/>
              </a:ext>
            </a:extLst>
          </p:cNvPr>
          <p:cNvSpPr txBox="1"/>
          <p:nvPr/>
        </p:nvSpPr>
        <p:spPr>
          <a:xfrm>
            <a:off x="838200" y="1702976"/>
            <a:ext cx="35073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dirty="0">
                <a:effectLst/>
                <a:latin typeface="Candara" panose="020E0502030303020204" pitchFamily="34" charset="0"/>
              </a:rPr>
              <a:t>Screenshot: dashboard showing API / MQTT / </a:t>
            </a:r>
            <a:r>
              <a:rPr lang="en-US" dirty="0" err="1">
                <a:effectLst/>
                <a:latin typeface="Candara" panose="020E0502030303020204" pitchFamily="34" charset="0"/>
              </a:rPr>
              <a:t>SignalR</a:t>
            </a:r>
            <a:r>
              <a:rPr lang="en-US" dirty="0">
                <a:effectLst/>
                <a:latin typeface="Candara" panose="020E0502030303020204" pitchFamily="34" charset="0"/>
              </a:rPr>
              <a:t> connected</a:t>
            </a:r>
          </a:p>
        </p:txBody>
      </p:sp>
      <p:pic>
        <p:nvPicPr>
          <p:cNvPr id="23" name="Picture 22" descr="The image shows a dashboard interface displaying various system statuses, device alerts, and sensor readings, with a timestamp and device-specific temperature alerts.&#10;&#10;AI-generated content may be incorrect.">
            <a:extLst>
              <a:ext uri="{FF2B5EF4-FFF2-40B4-BE49-F238E27FC236}">
                <a16:creationId xmlns:a16="http://schemas.microsoft.com/office/drawing/2014/main" id="{C9809F77-3EC8-5125-034C-4E162E1BF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77066"/>
            <a:ext cx="5172342" cy="279400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78554D4-1B44-860A-0B54-13A8402FADFF}"/>
              </a:ext>
            </a:extLst>
          </p:cNvPr>
          <p:cNvSpPr txBox="1"/>
          <p:nvPr/>
        </p:nvSpPr>
        <p:spPr>
          <a:xfrm>
            <a:off x="7550090" y="1339925"/>
            <a:ext cx="3089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b="1" dirty="0">
                <a:effectLst/>
                <a:latin typeface="Candara" panose="020E0502030303020204" pitchFamily="34" charset="0"/>
              </a:rPr>
              <a:t>Fig. 2 — MQTT → DB → UI</a:t>
            </a:r>
            <a:endParaRPr lang="en-US" dirty="0">
              <a:effectLst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D04FBA-1859-C33D-1A03-CDF59103657E}"/>
              </a:ext>
            </a:extLst>
          </p:cNvPr>
          <p:cNvSpPr txBox="1"/>
          <p:nvPr/>
        </p:nvSpPr>
        <p:spPr>
          <a:xfrm>
            <a:off x="7550090" y="1738985"/>
            <a:ext cx="3507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dirty="0">
                <a:effectLst/>
                <a:latin typeface="Candara" panose="020E0502030303020204" pitchFamily="34" charset="0"/>
              </a:rPr>
              <a:t>Screenshot: API test results</a:t>
            </a:r>
          </a:p>
        </p:txBody>
      </p:sp>
      <p:pic>
        <p:nvPicPr>
          <p:cNvPr id="29" name="Picture 28" descr="The image shows a terminal screen displaying the results of an API test against a local server, indicating all 19 tests passed except for two that resulted in a 401 status code.&#10;&#10;AI-generated content may be incorrect.">
            <a:extLst>
              <a:ext uri="{FF2B5EF4-FFF2-40B4-BE49-F238E27FC236}">
                <a16:creationId xmlns:a16="http://schemas.microsoft.com/office/drawing/2014/main" id="{8C4F6104-3286-A28D-3BB4-CDF5131C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510" y="2777065"/>
            <a:ext cx="3817757" cy="279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9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E55A1-F27C-2642-F1CA-82472C2B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C129-0A71-957D-B623-E85CA12D6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6" y="573672"/>
            <a:ext cx="10371667" cy="887942"/>
          </a:xfrm>
        </p:spPr>
        <p:txBody>
          <a:bodyPr>
            <a:noAutofit/>
          </a:bodyPr>
          <a:lstStyle/>
          <a:p>
            <a:r>
              <a:rPr lang="en-US" sz="3600" dirty="0"/>
              <a:t>Evidence / screenshots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7F991-5345-CFBF-6298-EE6A422C03FC}"/>
              </a:ext>
            </a:extLst>
          </p:cNvPr>
          <p:cNvSpPr txBox="1"/>
          <p:nvPr/>
        </p:nvSpPr>
        <p:spPr>
          <a:xfrm>
            <a:off x="1032933" y="1742651"/>
            <a:ext cx="3089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b="1" dirty="0">
                <a:effectLst/>
                <a:latin typeface="Candara" panose="020E0502030303020204" pitchFamily="34" charset="0"/>
              </a:rPr>
              <a:t>Fig. 4 — Hardware</a:t>
            </a:r>
            <a:endParaRPr lang="en-US" dirty="0"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30BB4B-48F8-8542-B06A-4880F4B61EF8}"/>
              </a:ext>
            </a:extLst>
          </p:cNvPr>
          <p:cNvSpPr txBox="1"/>
          <p:nvPr/>
        </p:nvSpPr>
        <p:spPr>
          <a:xfrm>
            <a:off x="1032933" y="2194913"/>
            <a:ext cx="4360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dirty="0">
                <a:effectLst/>
                <a:latin typeface="Candara" panose="020E0502030303020204" pitchFamily="34" charset="0"/>
              </a:rPr>
              <a:t>Photo/screenshot: Arduino </a:t>
            </a:r>
            <a:r>
              <a:rPr lang="en-US" dirty="0">
                <a:latin typeface="Candara" panose="020E0502030303020204" pitchFamily="34" charset="0"/>
              </a:rPr>
              <a:t>Uno </a:t>
            </a:r>
            <a:r>
              <a:rPr lang="en-US" dirty="0" err="1">
                <a:latin typeface="Candara" panose="020E0502030303020204" pitchFamily="34" charset="0"/>
              </a:rPr>
              <a:t>Wifi</a:t>
            </a:r>
            <a:r>
              <a:rPr lang="en-US" dirty="0">
                <a:effectLst/>
                <a:latin typeface="Candara" panose="020E0502030303020204" pitchFamily="34" charset="0"/>
              </a:rPr>
              <a:t> + MQTT publish + UI update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FFC927-284B-C43F-B906-5508945C7C43}"/>
              </a:ext>
            </a:extLst>
          </p:cNvPr>
          <p:cNvSpPr txBox="1"/>
          <p:nvPr/>
        </p:nvSpPr>
        <p:spPr>
          <a:xfrm>
            <a:off x="7482356" y="1742651"/>
            <a:ext cx="1863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b="1" dirty="0">
                <a:effectLst/>
                <a:latin typeface="Candara" panose="020E0502030303020204" pitchFamily="34" charset="0"/>
              </a:rPr>
              <a:t>Fig. 3 — Testing</a:t>
            </a:r>
            <a:endParaRPr lang="en-US" dirty="0"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D41B7-A737-96FB-4995-35FB81F53F41}"/>
              </a:ext>
            </a:extLst>
          </p:cNvPr>
          <p:cNvSpPr txBox="1"/>
          <p:nvPr/>
        </p:nvSpPr>
        <p:spPr>
          <a:xfrm>
            <a:off x="7482356" y="2141711"/>
            <a:ext cx="35073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 latinLnBrk="0">
              <a:buNone/>
            </a:pPr>
            <a:r>
              <a:rPr lang="en-US" dirty="0">
                <a:effectLst/>
                <a:latin typeface="Candara" panose="020E0502030303020204" pitchFamily="34" charset="0"/>
              </a:rPr>
              <a:t>Screenshot: reading in SQL + same value on live chart</a:t>
            </a:r>
          </a:p>
        </p:txBody>
      </p:sp>
      <p:pic>
        <p:nvPicPr>
          <p:cNvPr id="9" name="Picture 8" descr="The image shows a laptop with an open terminal window displaying temperature readings, and a circuit board with an LED indicator next to it on a wooden table.&#10;&#10;AI-generated content may be incorrect.">
            <a:extLst>
              <a:ext uri="{FF2B5EF4-FFF2-40B4-BE49-F238E27FC236}">
                <a16:creationId xmlns:a16="http://schemas.microsoft.com/office/drawing/2014/main" id="{F76A73C1-A8AD-DEBC-6076-2EA596FED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133" y="3196744"/>
            <a:ext cx="3894666" cy="2947576"/>
          </a:xfrm>
          <a:prstGeom prst="rect">
            <a:avLst/>
          </a:prstGeom>
        </p:spPr>
      </p:pic>
      <p:pic>
        <p:nvPicPr>
          <p:cNvPr id="12" name="Picture 11" descr="The image shows a SQL Server database monitoring interface, displaying tables and data related to sensor readings, device status, and user information, with timestamps and quality status.&#10;&#10;AI-generated content may be incorrect.">
            <a:extLst>
              <a:ext uri="{FF2B5EF4-FFF2-40B4-BE49-F238E27FC236}">
                <a16:creationId xmlns:a16="http://schemas.microsoft.com/office/drawing/2014/main" id="{D4F23723-BD5C-208B-A80C-D95C7A5D1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899" y="3196744"/>
            <a:ext cx="4085642" cy="285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86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8D512-02F1-8A87-C6BF-81121CBC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Problems &amp; solutions</a:t>
            </a:r>
            <a:br>
              <a:rPr lang="en-US" sz="3600" dirty="0"/>
            </a:br>
            <a:endParaRPr lang="en-US" sz="36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550A771-5277-9416-74DE-9330DC849A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982409"/>
              </p:ext>
            </p:extLst>
          </p:nvPr>
        </p:nvGraphicFramePr>
        <p:xfrm>
          <a:off x="1286932" y="1818587"/>
          <a:ext cx="9939868" cy="424354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969934">
                  <a:extLst>
                    <a:ext uri="{9D8B030D-6E8A-4147-A177-3AD203B41FA5}">
                      <a16:colId xmlns:a16="http://schemas.microsoft.com/office/drawing/2014/main" val="4014643689"/>
                    </a:ext>
                  </a:extLst>
                </a:gridCol>
                <a:gridCol w="4969934">
                  <a:extLst>
                    <a:ext uri="{9D8B030D-6E8A-4147-A177-3AD203B41FA5}">
                      <a16:colId xmlns:a16="http://schemas.microsoft.com/office/drawing/2014/main" val="412810920"/>
                    </a:ext>
                  </a:extLst>
                </a:gridCol>
              </a:tblGrid>
              <a:tr h="5259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 dirty="0">
                          <a:effectLst/>
                          <a:latin typeface="Candara" panose="020E0502030303020204" pitchFamily="34" charset="0"/>
                        </a:rPr>
                        <a:t>Problem</a:t>
                      </a: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 dirty="0">
                          <a:effectLst/>
                          <a:latin typeface="Candara" panose="020E0502030303020204" pitchFamily="34" charset="0"/>
                        </a:rPr>
                        <a:t>Solution</a:t>
                      </a: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3978580867"/>
                  </a:ext>
                </a:extLst>
              </a:tr>
              <a:tr h="1069954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Reading in MQTT but </a:t>
                      </a:r>
                      <a:r>
                        <a:rPr lang="en-US" sz="1800" b="1" dirty="0">
                          <a:effectLst/>
                          <a:latin typeface="Candara" panose="020E0502030303020204" pitchFamily="34" charset="0"/>
                        </a:rPr>
                        <a:t>not in UI</a:t>
                      </a:r>
                      <a:endParaRPr lang="en-US" sz="1800" dirty="0"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Checked topic format </a:t>
                      </a:r>
                      <a:r>
                        <a:rPr lang="en-US" sz="1800" dirty="0">
                          <a:solidFill>
                            <a:srgbClr val="222222"/>
                          </a:solidFill>
                          <a:effectLst/>
                          <a:latin typeface="Candara" panose="020E0502030303020204" pitchFamily="34" charset="0"/>
                        </a:rPr>
                        <a:t>devices/{id}/sensors/{id}/readings</a:t>
                      </a: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 and DB device/sensor IDs matched Arduino constants</a:t>
                      </a: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2246065405"/>
                  </a:ext>
                </a:extLst>
              </a:tr>
              <a:tr h="743527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b="1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 dropped after API restart</a:t>
                      </a: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Confirmed UI reconnects; retested in manual checklist</a:t>
                      </a: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2621648208"/>
                  </a:ext>
                </a:extLst>
              </a:tr>
              <a:tr h="743527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Live chart </a:t>
                      </a:r>
                      <a:r>
                        <a:rPr lang="en-US" sz="1800" b="1" dirty="0">
                          <a:effectLst/>
                          <a:latin typeface="Candara" panose="020E0502030303020204" pitchFamily="34" charset="0"/>
                        </a:rPr>
                        <a:t>scroll</a:t>
                      </a: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 failed (value, no line)</a:t>
                      </a: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Fixed time-window trim and live-mode handling; retested</a:t>
                      </a: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207216019"/>
                  </a:ext>
                </a:extLst>
              </a:tr>
              <a:tr h="417101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Command sent but </a:t>
                      </a:r>
                      <a:r>
                        <a:rPr lang="en-US" sz="1800" b="1" dirty="0">
                          <a:effectLst/>
                          <a:latin typeface="Candara" panose="020E0502030303020204" pitchFamily="34" charset="0"/>
                        </a:rPr>
                        <a:t>status stuck</a:t>
                      </a:r>
                      <a:endParaRPr lang="en-US" sz="1800" dirty="0"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Verified </a:t>
                      </a:r>
                      <a:r>
                        <a:rPr lang="en-US" sz="1800" dirty="0" err="1">
                          <a:effectLst/>
                          <a:latin typeface="Candara" panose="020E0502030303020204" pitchFamily="34" charset="0"/>
                        </a:rPr>
                        <a:t>mqtt</a:t>
                      </a: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 broker: </a:t>
                      </a:r>
                      <a:r>
                        <a:rPr lang="en-US" sz="1800" dirty="0" err="1">
                          <a:effectLst/>
                          <a:latin typeface="Candara" panose="020E0502030303020204" pitchFamily="34" charset="0"/>
                        </a:rPr>
                        <a:t>Mosquitto</a:t>
                      </a:r>
                      <a:endParaRPr lang="en-US" sz="1800" dirty="0"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4132204796"/>
                  </a:ext>
                </a:extLst>
              </a:tr>
              <a:tr h="743527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Test environment </a:t>
                      </a:r>
                      <a:r>
                        <a:rPr lang="en-US" sz="1800" b="1" dirty="0">
                          <a:effectLst/>
                          <a:latin typeface="Candara" panose="020E0502030303020204" pitchFamily="34" charset="0"/>
                        </a:rPr>
                        <a:t>setup inconsistent</a:t>
                      </a:r>
                      <a:endParaRPr lang="en-US" sz="1800" dirty="0"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8580" marR="68580" marT="38100" marB="38100"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sz="1800" dirty="0">
                          <a:effectLst/>
                          <a:latin typeface="Candara" panose="020E0502030303020204" pitchFamily="34" charset="0"/>
                        </a:rPr>
                        <a:t>Documented prerequisites (API, frontend, MQTT, SQL) in manual checklist</a:t>
                      </a:r>
                    </a:p>
                  </a:txBody>
                  <a:tcPr marL="68580" marR="68580" marT="38100" marB="38100"/>
                </a:tc>
                <a:extLst>
                  <a:ext uri="{0D108BD9-81ED-4DB2-BD59-A6C34878D82A}">
                    <a16:rowId xmlns:a16="http://schemas.microsoft.com/office/drawing/2014/main" val="692062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119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8F402-D6C1-A205-7F40-C1EBBC8A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765992-E362-CDE0-FF21-F792D8E50F7F}"/>
              </a:ext>
            </a:extLst>
          </p:cNvPr>
          <p:cNvSpPr txBox="1">
            <a:spLocks/>
          </p:cNvSpPr>
          <p:nvPr/>
        </p:nvSpPr>
        <p:spPr>
          <a:xfrm>
            <a:off x="1862666" y="2198951"/>
            <a:ext cx="861906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andara" panose="020E0502030303020204" pitchFamily="34" charset="0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Extra time needed for </a:t>
            </a:r>
            <a:r>
              <a:rPr lang="en-US" sz="1800" b="1" dirty="0"/>
              <a:t>integration testing</a:t>
            </a:r>
            <a:r>
              <a:rPr lang="en-US" sz="1800" dirty="0"/>
              <a:t> and </a:t>
            </a:r>
            <a:r>
              <a:rPr lang="en-US" sz="1800" b="1" dirty="0"/>
              <a:t>debugging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No major barriers</a:t>
            </a:r>
            <a:r>
              <a:rPr lang="en-US" sz="1800" dirty="0"/>
              <a:t> — project on track for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585188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12B1-4C32-504B-C9A7-38271049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Reflection &amp; next steps</a:t>
            </a:r>
            <a:br>
              <a:rPr lang="en-US" sz="3800" dirty="0"/>
            </a:br>
            <a:endParaRPr lang="en-US" sz="3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84CADC-692B-BBB9-8615-10090FF19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732" y="2477559"/>
            <a:ext cx="7890935" cy="2119842"/>
          </a:xfrm>
        </p:spPr>
        <p:txBody>
          <a:bodyPr>
            <a:normAutofit/>
          </a:bodyPr>
          <a:lstStyle/>
          <a:p>
            <a:r>
              <a:rPr lang="en-US" sz="1800" b="1" dirty="0"/>
              <a:t>Learned:</a:t>
            </a:r>
            <a:r>
              <a:rPr lang="en-US" sz="1800" dirty="0"/>
              <a:t> Integration bugs appear at </a:t>
            </a:r>
            <a:r>
              <a:rPr lang="en-US" sz="1800" b="1" dirty="0"/>
              <a:t>boundaries</a:t>
            </a:r>
            <a:r>
              <a:rPr lang="en-US" sz="1800" dirty="0"/>
              <a:t> (MQTT topics, IDs, time zones, </a:t>
            </a:r>
            <a:r>
              <a:rPr lang="en-US" sz="1800" dirty="0" err="1"/>
              <a:t>SignalR</a:t>
            </a:r>
            <a:r>
              <a:rPr lang="en-US" sz="1800" dirty="0"/>
              <a:t>); a written checklist catches issues single-component tests miss.</a:t>
            </a:r>
          </a:p>
          <a:p>
            <a:endParaRPr lang="en-US" sz="1800" dirty="0"/>
          </a:p>
          <a:p>
            <a:r>
              <a:rPr lang="en-US" sz="1800" b="1" dirty="0"/>
              <a:t>Next (Week 11):</a:t>
            </a:r>
            <a:r>
              <a:rPr lang="en-US" sz="1800" dirty="0"/>
              <a:t> Final documentation, UI/demo polish, presentation rehearsal → </a:t>
            </a:r>
            <a:r>
              <a:rPr lang="en-US" sz="1800" b="1" dirty="0"/>
              <a:t>Final presentation: 6/17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0392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722</Words>
  <Application>Microsoft Office PowerPoint</Application>
  <PresentationFormat>Widescreen</PresentationFormat>
  <Paragraphs>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Candara</vt:lpstr>
      <vt:lpstr>Office Theme</vt:lpstr>
      <vt:lpstr>IoT Monitoring Dashboard Capstone Project — Milestone Progress Update </vt:lpstr>
      <vt:lpstr>Schedule Update Status: On track</vt:lpstr>
      <vt:lpstr>Milestone 6/1-6/14 (week9 &amp;10) </vt:lpstr>
      <vt:lpstr>Evidence / screenshots </vt:lpstr>
      <vt:lpstr>Evidence / screenshots </vt:lpstr>
      <vt:lpstr>Problems &amp; solutions </vt:lpstr>
      <vt:lpstr>Barriers</vt:lpstr>
      <vt:lpstr>Reflection &amp;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Quoc Bao Tran</dc:creator>
  <cp:lastModifiedBy>Quoc Bao Tran</cp:lastModifiedBy>
  <cp:revision>84</cp:revision>
  <dcterms:created xsi:type="dcterms:W3CDTF">2026-05-29T11:10:25Z</dcterms:created>
  <dcterms:modified xsi:type="dcterms:W3CDTF">2026-05-30T13:29:20Z</dcterms:modified>
</cp:coreProperties>
</file>