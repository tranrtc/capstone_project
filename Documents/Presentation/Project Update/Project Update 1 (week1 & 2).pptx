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78" autoAdjust="0"/>
    <p:restoredTop sz="94660"/>
  </p:normalViewPr>
  <p:slideViewPr>
    <p:cSldViewPr snapToGrid="0">
      <p:cViewPr varScale="1">
        <p:scale>
          <a:sx n="90" d="100"/>
          <a:sy n="90" d="100"/>
        </p:scale>
        <p:origin x="36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DF1C33-BC8F-41A0-90FC-3DD5B2E75936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A58D20-C6F5-4CAB-894F-BCB67744F1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127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A58D20-C6F5-4CAB-894F-BCB67744F13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097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FD187-1E4A-96A8-8885-7144375CBE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2C6B92-48EC-66C7-800A-C6368A72AE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7F5CC-CE16-22A4-4509-9087B2521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BE4E-4704-4F0B-B7F5-9A4EE53A526B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03BD02-BE40-70AE-5631-9703FA9B5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884A1-F96A-B014-004B-3774F67F8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67D05-8255-4040-9E3C-789633FCF2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758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D7415-75E9-7FE0-2935-D5E0DD2C0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22A1F-BBE4-38D4-F4FA-971B9AE28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C0895B-8B42-6919-5C21-83B55FD05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BE4E-4704-4F0B-B7F5-9A4EE53A526B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6D10F2-6305-6F34-115F-CF80B3EEA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6CE22-6FEF-9355-ECC1-92DBC0A0A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67D05-8255-4040-9E3C-789633FCF2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876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217D6-B6F9-5A3C-8B88-AD28A7D4B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EE8E05-09B4-7E2E-DD40-7F310730D0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67BC1-8544-4280-296C-B6C656882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BE4E-4704-4F0B-B7F5-9A4EE53A526B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80398B-1B78-6A18-12F8-A87D38BF5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3807B-B291-637C-20F5-F87F4F37A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67D05-8255-4040-9E3C-789633FCF2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557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405D2-1CAE-A718-7046-57223D063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E6E95-B1CC-B8E6-61F8-17E5615090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8B599E-DCEC-1D41-9047-50E8445969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963410-1551-2FD9-A50A-9DD6CF536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BE4E-4704-4F0B-B7F5-9A4EE53A526B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9AF750-50AE-9343-1AA4-18ADEB695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1466ED-73A4-4B49-B4DB-07AE8197F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67D05-8255-4040-9E3C-789633FCF2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720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512D3-D505-32C1-6B5A-AA852C5E8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A8C467-57E1-698E-E401-B6784F047B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153AF1-1FCD-729C-8CAD-3EB15A3E4D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F58ACB-1C46-72FE-3183-422B055FCF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223006-355A-6F53-A4B7-C067F3FF49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A742E2-51E2-4B3F-36C9-3882360CC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BE4E-4704-4F0B-B7F5-9A4EE53A526B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7C6783-8154-5EF9-F57D-E99DA6397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A74C98-8A20-71CB-96DF-04A27D111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67D05-8255-4040-9E3C-789633FCF2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285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BBD9B-0786-CE73-D31F-9B5B12A5D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5639D2-FAB2-49F5-7F31-8423BB93E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BE4E-4704-4F0B-B7F5-9A4EE53A526B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9F7862-128D-55D3-C2DE-E472FCEDC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1DE38A-6D23-0D74-671A-F15C61F19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67D05-8255-4040-9E3C-789633FCF2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997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145A3E-3658-CB19-2162-A57AE0888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BE4E-4704-4F0B-B7F5-9A4EE53A526B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D56642-3DB2-F7D2-DA60-AB34C2E05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F30906-CA61-BDD7-809D-5FF69122E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67D05-8255-4040-9E3C-789633FCF2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4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11CA7-3B40-5E36-8754-FBB4AC3B8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87FB3-E967-0001-78FA-BB78E23A2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A0EAD1-DB07-4426-D921-125C5EEC8D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B83182-5E09-A74C-15A2-C64877FDC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BE4E-4704-4F0B-B7F5-9A4EE53A526B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5C37F8-10DE-2553-C9E5-A8E1DB068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FD5EF3-4801-DFB1-91F7-F78FE204C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67D05-8255-4040-9E3C-789633FCF2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863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0E3B8-D351-634B-7126-C3D11D40B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DF26A0-F39F-FB5A-D9D2-280FF9EF78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BB5DB3-E291-D644-0AA9-1EEAD445B7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DCA772-2E24-9E98-2FF3-C9A80156A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BE4E-4704-4F0B-B7F5-9A4EE53A526B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E538C2-8113-A03F-FE4C-D14B42A06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59747C-5C1E-3FC1-981A-EE3FADCFC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67D05-8255-4040-9E3C-789633FCF2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563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15032-9500-D3AE-8693-AB5BFA744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572C64-A339-A30B-8EF3-9E4EDB93FA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E4E992-B19A-EBE4-89A5-D82F4C279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BE4E-4704-4F0B-B7F5-9A4EE53A526B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F9706D-A444-6DE1-0824-E1B7B5C63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536BC-C281-E892-1D7C-EBF455917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67D05-8255-4040-9E3C-789633FCF2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975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EF752C-5C3D-8396-68AB-64671A99E6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4F8232-8D0E-3B29-3E59-7797FA34A9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C1238-18ED-DC5A-CFDF-78175BEF0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BE4E-4704-4F0B-B7F5-9A4EE53A526B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0B27F8-37B4-000D-4B7E-EE19D46AD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A45D0-AC88-2ACD-4FDB-9150BBE60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67D05-8255-4040-9E3C-789633FCF2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411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897E1B-B6AF-9733-75F5-3C8FC4033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A5B2A5-193C-6B24-1BCF-DEB34BEB84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12F3E-39C1-59C0-B4AF-CAF4844BF6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Candara" panose="020E0502030303020204" pitchFamily="34" charset="0"/>
              </a:defRPr>
            </a:lvl1pPr>
          </a:lstStyle>
          <a:p>
            <a:fld id="{1205BE4E-4704-4F0B-B7F5-9A4EE53A526B}" type="datetimeFigureOut">
              <a:rPr lang="en-US" smtClean="0"/>
              <a:pPr/>
              <a:t>5/30/2026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89BFFF-20A3-1EB1-6E78-A64681E72F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Candara" panose="020E0502030303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DE764-E1F0-4215-2D43-056031F8AC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Candara" panose="020E0502030303020204" pitchFamily="34" charset="0"/>
              </a:defRPr>
            </a:lvl1pPr>
          </a:lstStyle>
          <a:p>
            <a:fld id="{D9A67D05-8255-4040-9E3C-789633FCF2D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038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ndara" panose="020E0502030303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D6337CC4-6970-59CB-E0C4-2BEEEC08CB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499600" cy="2154238"/>
          </a:xfrm>
        </p:spPr>
        <p:txBody>
          <a:bodyPr>
            <a:normAutofit/>
          </a:bodyPr>
          <a:lstStyle/>
          <a:p>
            <a:pPr algn="r"/>
            <a:r>
              <a:rPr lang="en-US" sz="3200" b="1" dirty="0">
                <a:latin typeface="Candara" panose="020E0502030303020204" pitchFamily="34" charset="0"/>
              </a:rPr>
              <a:t>IoT Monitoring Dashboard</a:t>
            </a:r>
            <a:br>
              <a:rPr lang="en-US" sz="3200" dirty="0">
                <a:latin typeface="Candara" panose="020E0502030303020204" pitchFamily="34" charset="0"/>
              </a:rPr>
            </a:br>
            <a:r>
              <a:rPr lang="en-US" sz="3200" dirty="0">
                <a:latin typeface="Candara" panose="020E0502030303020204" pitchFamily="34" charset="0"/>
              </a:rPr>
              <a:t>Capstone Project — Milestone Progress Update </a:t>
            </a:r>
            <a:br>
              <a:rPr lang="en-US" sz="3200" dirty="0">
                <a:latin typeface="Candara" panose="020E0502030303020204" pitchFamily="34" charset="0"/>
              </a:rPr>
            </a:br>
            <a:endParaRPr lang="en-US" sz="3200" dirty="0">
              <a:latin typeface="Candara" panose="020E0502030303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BFE61F-4CD1-4722-C8FB-272C1CA92DB0}"/>
              </a:ext>
            </a:extLst>
          </p:cNvPr>
          <p:cNvSpPr txBox="1"/>
          <p:nvPr/>
        </p:nvSpPr>
        <p:spPr>
          <a:xfrm>
            <a:off x="6951374" y="4092846"/>
            <a:ext cx="426526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latin typeface="Candara" panose="020E0502030303020204" pitchFamily="34" charset="0"/>
              </a:rPr>
              <a:t>Program : BAS  Application Development</a:t>
            </a:r>
          </a:p>
          <a:p>
            <a:pPr algn="r"/>
            <a:r>
              <a:rPr lang="en-US" b="1" dirty="0">
                <a:latin typeface="Candara" panose="020E0502030303020204" pitchFamily="34" charset="0"/>
              </a:rPr>
              <a:t>Course :</a:t>
            </a:r>
            <a:r>
              <a:rPr lang="en-US" dirty="0">
                <a:latin typeface="Candara" panose="020E0502030303020204" pitchFamily="34" charset="0"/>
              </a:rPr>
              <a:t> CSI-492 Senior Capstone Project</a:t>
            </a:r>
            <a:endParaRPr lang="en-US" b="1" dirty="0">
              <a:latin typeface="Candara" panose="020E0502030303020204" pitchFamily="34" charset="0"/>
            </a:endParaRPr>
          </a:p>
          <a:p>
            <a:pPr algn="r"/>
            <a:r>
              <a:rPr lang="en-US" b="1" dirty="0">
                <a:latin typeface="Candara" panose="020E0502030303020204" pitchFamily="34" charset="0"/>
              </a:rPr>
              <a:t>Student : </a:t>
            </a:r>
            <a:r>
              <a:rPr lang="en-US" sz="1800" dirty="0">
                <a:latin typeface="Candara" panose="020E0502030303020204" pitchFamily="34" charset="0"/>
              </a:rPr>
              <a:t> Quoc Bao Tran</a:t>
            </a:r>
            <a:br>
              <a:rPr lang="en-US" sz="1800" dirty="0">
                <a:latin typeface="Candara" panose="020E0502030303020204" pitchFamily="34" charset="0"/>
              </a:rPr>
            </a:br>
            <a:r>
              <a:rPr lang="en-US" sz="1800" dirty="0">
                <a:latin typeface="Candara" panose="020E0502030303020204" pitchFamily="34" charset="0"/>
              </a:rPr>
              <a:t>Date : 4/19</a:t>
            </a:r>
            <a:endParaRPr lang="en-US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6306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BC347-6049-4427-8635-E5A35DE9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Candara" panose="020E0502030303020204" pitchFamily="34" charset="0"/>
              </a:rPr>
              <a:t>Schedule Update</a:t>
            </a:r>
            <a:br>
              <a:rPr lang="en-US" sz="3200" dirty="0">
                <a:latin typeface="Candara" panose="020E0502030303020204" pitchFamily="34" charset="0"/>
              </a:rPr>
            </a:br>
            <a:r>
              <a:rPr lang="en-US" sz="2800" b="1" dirty="0">
                <a:latin typeface="Candara" panose="020E0502030303020204" pitchFamily="34" charset="0"/>
              </a:rPr>
              <a:t>Status:</a:t>
            </a:r>
            <a:r>
              <a:rPr lang="en-US" sz="2800" dirty="0">
                <a:latin typeface="Candara" panose="020E0502030303020204" pitchFamily="34" charset="0"/>
              </a:rPr>
              <a:t> On track</a:t>
            </a:r>
            <a:endParaRPr lang="en-US" sz="3200" dirty="0">
              <a:latin typeface="Candara" panose="020E0502030303020204" pitchFamily="34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424C5E2-0B9C-3E3C-38E9-8AACB959B7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3476576"/>
              </p:ext>
            </p:extLst>
          </p:nvPr>
        </p:nvGraphicFramePr>
        <p:xfrm>
          <a:off x="1011677" y="1690688"/>
          <a:ext cx="9893390" cy="48592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9370">
                  <a:extLst>
                    <a:ext uri="{9D8B030D-6E8A-4147-A177-3AD203B41FA5}">
                      <a16:colId xmlns:a16="http://schemas.microsoft.com/office/drawing/2014/main" val="3415123503"/>
                    </a:ext>
                  </a:extLst>
                </a:gridCol>
                <a:gridCol w="789309">
                  <a:extLst>
                    <a:ext uri="{9D8B030D-6E8A-4147-A177-3AD203B41FA5}">
                      <a16:colId xmlns:a16="http://schemas.microsoft.com/office/drawing/2014/main" val="2252890228"/>
                    </a:ext>
                  </a:extLst>
                </a:gridCol>
                <a:gridCol w="172999">
                  <a:extLst>
                    <a:ext uri="{9D8B030D-6E8A-4147-A177-3AD203B41FA5}">
                      <a16:colId xmlns:a16="http://schemas.microsoft.com/office/drawing/2014/main" val="233549650"/>
                    </a:ext>
                  </a:extLst>
                </a:gridCol>
                <a:gridCol w="3460102">
                  <a:extLst>
                    <a:ext uri="{9D8B030D-6E8A-4147-A177-3AD203B41FA5}">
                      <a16:colId xmlns:a16="http://schemas.microsoft.com/office/drawing/2014/main" val="2230558247"/>
                    </a:ext>
                  </a:extLst>
                </a:gridCol>
                <a:gridCol w="143802">
                  <a:extLst>
                    <a:ext uri="{9D8B030D-6E8A-4147-A177-3AD203B41FA5}">
                      <a16:colId xmlns:a16="http://schemas.microsoft.com/office/drawing/2014/main" val="764695759"/>
                    </a:ext>
                  </a:extLst>
                </a:gridCol>
                <a:gridCol w="4137808">
                  <a:extLst>
                    <a:ext uri="{9D8B030D-6E8A-4147-A177-3AD203B41FA5}">
                      <a16:colId xmlns:a16="http://schemas.microsoft.com/office/drawing/2014/main" val="2176508648"/>
                    </a:ext>
                  </a:extLst>
                </a:gridCol>
              </a:tblGrid>
              <a:tr h="584135">
                <a:tc grid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b="1" u="none" strike="noStrike" dirty="0">
                          <a:effectLst/>
                          <a:latin typeface="Candara" panose="020E0502030303020204" pitchFamily="34" charset="0"/>
                        </a:rPr>
                        <a:t>Project Progress Update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9162153"/>
                  </a:ext>
                </a:extLst>
              </a:tr>
              <a:tr h="5841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dirty="0">
                          <a:effectLst/>
                          <a:latin typeface="Candara" panose="020E0502030303020204" pitchFamily="34" charset="0"/>
                        </a:rPr>
                        <a:t>Time Period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Dates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 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Focus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 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Status/Progress Update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extLst>
                  <a:ext uri="{0D108BD9-81ED-4DB2-BD59-A6C34878D82A}">
                    <a16:rowId xmlns:a16="http://schemas.microsoft.com/office/drawing/2014/main" val="656341426"/>
                  </a:ext>
                </a:extLst>
              </a:tr>
              <a:tr h="5957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dirty="0">
                          <a:effectLst/>
                          <a:latin typeface="Candara" panose="020E0502030303020204" pitchFamily="34" charset="0"/>
                        </a:rPr>
                        <a:t>Week 1–2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dirty="0">
                          <a:effectLst/>
                          <a:latin typeface="Candara" panose="020E0502030303020204" pitchFamily="34" charset="0"/>
                        </a:rPr>
                        <a:t>4/6 – 4/19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dirty="0">
                          <a:effectLst/>
                          <a:latin typeface="Candara" panose="020E0502030303020204" pitchFamily="34" charset="0"/>
                        </a:rPr>
                        <a:t>Planning — project charter, requirements, architecture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 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 dirty="0">
                          <a:solidFill>
                            <a:srgbClr val="C00000"/>
                          </a:solidFill>
                          <a:effectLst/>
                          <a:latin typeface="Candara" panose="020E0502030303020204" pitchFamily="34" charset="0"/>
                        </a:rPr>
                        <a:t>Project charter approved; requirements documented; architecture defined (MQTT → API → SQL → </a:t>
                      </a:r>
                      <a:r>
                        <a:rPr lang="en-US" sz="1400" b="1" u="none" strike="noStrike" dirty="0" err="1">
                          <a:solidFill>
                            <a:srgbClr val="C00000"/>
                          </a:solidFill>
                          <a:effectLst/>
                          <a:latin typeface="Candara" panose="020E0502030303020204" pitchFamily="34" charset="0"/>
                        </a:rPr>
                        <a:t>SignalR</a:t>
                      </a:r>
                      <a:r>
                        <a:rPr lang="en-US" sz="1400" b="1" u="none" strike="noStrike" dirty="0">
                          <a:solidFill>
                            <a:srgbClr val="C00000"/>
                          </a:solidFill>
                          <a:effectLst/>
                          <a:latin typeface="Candara" panose="020E0502030303020204" pitchFamily="34" charset="0"/>
                        </a:rPr>
                        <a:t> → React).</a:t>
                      </a:r>
                      <a:endParaRPr lang="en-US" sz="1400" b="1" i="0" u="none" strike="noStrike" dirty="0">
                        <a:solidFill>
                          <a:srgbClr val="C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extLst>
                  <a:ext uri="{0D108BD9-81ED-4DB2-BD59-A6C34878D82A}">
                    <a16:rowId xmlns:a16="http://schemas.microsoft.com/office/drawing/2014/main" val="46409660"/>
                  </a:ext>
                </a:extLst>
              </a:tr>
              <a:tr h="5841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Week 3–4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dirty="0">
                          <a:effectLst/>
                          <a:latin typeface="Candara" panose="020E0502030303020204" pitchFamily="34" charset="0"/>
                        </a:rPr>
                        <a:t>4/20 – 5/3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dirty="0">
                          <a:effectLst/>
                          <a:latin typeface="Candara" panose="020E0502030303020204" pitchFamily="34" charset="0"/>
                        </a:rPr>
                        <a:t>Data — SQL Server schema, EF Core entities, migrations, seed/test data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 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extLst>
                  <a:ext uri="{0D108BD9-81ED-4DB2-BD59-A6C34878D82A}">
                    <a16:rowId xmlns:a16="http://schemas.microsoft.com/office/drawing/2014/main" val="4095849199"/>
                  </a:ext>
                </a:extLst>
              </a:tr>
              <a:tr h="5841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Week 5–6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5/4 – 5/17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dirty="0">
                          <a:effectLst/>
                          <a:latin typeface="Candara" panose="020E0502030303020204" pitchFamily="34" charset="0"/>
                        </a:rPr>
                        <a:t>Backend — repositories, services, REST API, MQTT ingest, command dispatch, </a:t>
                      </a:r>
                      <a:r>
                        <a:rPr lang="en-US" sz="1400" u="none" strike="noStrike" dirty="0" err="1">
                          <a:effectLst/>
                          <a:latin typeface="Candara" panose="020E0502030303020204" pitchFamily="34" charset="0"/>
                        </a:rPr>
                        <a:t>SignalR</a:t>
                      </a:r>
                      <a:r>
                        <a:rPr lang="en-US" sz="1400" u="none" strike="noStrike" dirty="0">
                          <a:effectLst/>
                          <a:latin typeface="Candara" panose="020E0502030303020204" pitchFamily="34" charset="0"/>
                        </a:rPr>
                        <a:t>, alerts.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extLst>
                  <a:ext uri="{0D108BD9-81ED-4DB2-BD59-A6C34878D82A}">
                    <a16:rowId xmlns:a16="http://schemas.microsoft.com/office/drawing/2014/main" val="2894355771"/>
                  </a:ext>
                </a:extLst>
              </a:tr>
              <a:tr h="5841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Week 7–8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5/18 – 5/31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dirty="0">
                          <a:effectLst/>
                          <a:latin typeface="Candara" panose="020E0502030303020204" pitchFamily="34" charset="0"/>
                        </a:rPr>
                        <a:t>Frontend — React dashboard, auth, live charts, devices, commands, alerts UI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dirty="0">
                          <a:effectLst/>
                          <a:latin typeface="Candara" panose="020E0502030303020204" pitchFamily="34" charset="0"/>
                        </a:rPr>
                        <a:t> 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extLst>
                  <a:ext uri="{0D108BD9-81ED-4DB2-BD59-A6C34878D82A}">
                    <a16:rowId xmlns:a16="http://schemas.microsoft.com/office/drawing/2014/main" val="584845573"/>
                  </a:ext>
                </a:extLst>
              </a:tr>
              <a:tr h="5841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Week 9–10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6/1 – 6/14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dirty="0">
                          <a:effectLst/>
                          <a:latin typeface="Candara" panose="020E0502030303020204" pitchFamily="34" charset="0"/>
                        </a:rPr>
                        <a:t>Integration &amp; testing — Arduino ↔ </a:t>
                      </a:r>
                      <a:r>
                        <a:rPr lang="en-US" sz="1400" u="none" strike="noStrike" dirty="0" err="1">
                          <a:effectLst/>
                          <a:latin typeface="Candara" panose="020E0502030303020204" pitchFamily="34" charset="0"/>
                        </a:rPr>
                        <a:t>Mosquitto</a:t>
                      </a:r>
                      <a:r>
                        <a:rPr lang="en-US" sz="1400" u="none" strike="noStrike" dirty="0">
                          <a:effectLst/>
                          <a:latin typeface="Candara" panose="020E0502030303020204" pitchFamily="34" charset="0"/>
                        </a:rPr>
                        <a:t> ↔ API ↔ SQL ↔ </a:t>
                      </a:r>
                      <a:r>
                        <a:rPr lang="en-US" sz="1400" u="none" strike="noStrike" dirty="0" err="1">
                          <a:effectLst/>
                          <a:latin typeface="Candara" panose="020E0502030303020204" pitchFamily="34" charset="0"/>
                        </a:rPr>
                        <a:t>SignalR</a:t>
                      </a:r>
                      <a:r>
                        <a:rPr lang="en-US" sz="1400" u="none" strike="noStrike" dirty="0">
                          <a:effectLst/>
                          <a:latin typeface="Candara" panose="020E0502030303020204" pitchFamily="34" charset="0"/>
                        </a:rPr>
                        <a:t> ↔ UI (end-to-end)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 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extLst>
                  <a:ext uri="{0D108BD9-81ED-4DB2-BD59-A6C34878D82A}">
                    <a16:rowId xmlns:a16="http://schemas.microsoft.com/office/drawing/2014/main" val="2042205481"/>
                  </a:ext>
                </a:extLst>
              </a:tr>
              <a:tr h="58413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Week 11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6/15 – 6/19</a:t>
                      </a:r>
                      <a:endParaRPr lang="en-US" sz="1400" b="1" i="0" u="none" strike="noStrike">
                        <a:solidFill>
                          <a:srgbClr val="FF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 </a:t>
                      </a:r>
                      <a:endParaRPr lang="en-US" sz="1400" b="1" i="0" u="none" strike="noStrike">
                        <a:solidFill>
                          <a:srgbClr val="FF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Documentation &amp; presentation — final docs, polish, demo prep → Final presentation 6/17 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 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extLst>
                  <a:ext uri="{0D108BD9-81ED-4DB2-BD59-A6C34878D82A}">
                    <a16:rowId xmlns:a16="http://schemas.microsoft.com/office/drawing/2014/main" val="24833970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445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0053F-A8D9-F784-54BD-36242419C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andara" panose="020E0502030303020204" pitchFamily="34" charset="0"/>
              </a:rPr>
              <a:t>Summary</a:t>
            </a:r>
            <a:br>
              <a:rPr lang="en-US" dirty="0">
                <a:latin typeface="Candara" panose="020E0502030303020204" pitchFamily="34" charset="0"/>
              </a:rPr>
            </a:br>
            <a:endParaRPr lang="en-US" dirty="0">
              <a:latin typeface="Candara" panose="020E0502030303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201DF2A-8B05-6057-4614-78ADC7AC90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4667"/>
            <a:ext cx="10515600" cy="525780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Status: Completed</a:t>
            </a:r>
            <a:endParaRPr lang="en-US" dirty="0"/>
          </a:p>
          <a:p>
            <a:r>
              <a:rPr lang="en-US" b="1" dirty="0"/>
              <a:t>Goal:</a:t>
            </a:r>
            <a:r>
              <a:rPr lang="en-US" dirty="0"/>
              <a:t> Define project scope, requirements, and architecture before build (database, backend, frontend).</a:t>
            </a:r>
          </a:p>
          <a:p>
            <a:br>
              <a:rPr lang="en-US" dirty="0"/>
            </a:br>
            <a:r>
              <a:rPr lang="en-US" b="1" dirty="0"/>
              <a:t>Completed work:</a:t>
            </a:r>
            <a:endParaRPr lang="en-US" dirty="0"/>
          </a:p>
          <a:p>
            <a:pPr lvl="1"/>
            <a:r>
              <a:rPr lang="en-US" dirty="0"/>
              <a:t>Project charter &amp; scope (001_Overview.md)</a:t>
            </a:r>
          </a:p>
          <a:p>
            <a:pPr lvl="1"/>
            <a:r>
              <a:rPr lang="en-US" dirty="0"/>
              <a:t>Functional requirements — devices, sensors, readings, alerts, commands, roles (002_Requirements.md)</a:t>
            </a:r>
          </a:p>
          <a:p>
            <a:pPr lvl="1"/>
            <a:r>
              <a:rPr lang="en-US" dirty="0"/>
              <a:t>Tech stack: ASP.NET Core 8, React + TypeScript, SQL Server, EF Core, MQTT, </a:t>
            </a:r>
            <a:r>
              <a:rPr lang="en-US" dirty="0" err="1"/>
              <a:t>SignalR</a:t>
            </a:r>
            <a:r>
              <a:rPr lang="en-US" dirty="0"/>
              <a:t>, JWT</a:t>
            </a:r>
          </a:p>
          <a:p>
            <a:pPr lvl="1"/>
            <a:r>
              <a:rPr lang="en-US" dirty="0"/>
              <a:t>Layered architecture &amp; data pipeline (004_ApplicationDesign.md)</a:t>
            </a:r>
          </a:p>
          <a:p>
            <a:pPr lvl="1"/>
            <a:r>
              <a:rPr lang="en-US" dirty="0"/>
              <a:t>MQTT topics: devices/{id}/sensors/{id}/readings, devices/{id}/commands</a:t>
            </a:r>
          </a:p>
          <a:p>
            <a:pPr lvl="1"/>
            <a:r>
              <a:rPr lang="en-US" dirty="0"/>
              <a:t>Development schedule: plan → data → backend → frontend → test → present</a:t>
            </a:r>
          </a:p>
          <a:p>
            <a:r>
              <a:rPr lang="en-US" b="1" dirty="0"/>
              <a:t>Progress:</a:t>
            </a:r>
            <a:r>
              <a:rPr lang="en-US" dirty="0"/>
              <a:t> Charter approved; requirements documented; architecture defined (MQTT → API → SQL → </a:t>
            </a:r>
            <a:r>
              <a:rPr lang="en-US" dirty="0" err="1"/>
              <a:t>SignalR</a:t>
            </a:r>
            <a:r>
              <a:rPr lang="en-US" dirty="0"/>
              <a:t> → React).</a:t>
            </a:r>
          </a:p>
        </p:txBody>
      </p:sp>
    </p:spTree>
    <p:extLst>
      <p:ext uri="{BB962C8B-B14F-4D97-AF65-F5344CB8AC3E}">
        <p14:creationId xmlns:p14="http://schemas.microsoft.com/office/powerpoint/2010/main" val="2400256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EB59F-C312-D06A-BB7D-286D61925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9192"/>
            <a:ext cx="9025467" cy="777875"/>
          </a:xfrm>
        </p:spPr>
        <p:txBody>
          <a:bodyPr>
            <a:normAutofit fontScale="90000"/>
          </a:bodyPr>
          <a:lstStyle/>
          <a:p>
            <a:r>
              <a:rPr lang="en-US" dirty="0"/>
              <a:t>Evidences/ Screenshots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7DC85F25-755F-3393-F6D5-08DBA7AB71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7167409"/>
              </p:ext>
            </p:extLst>
          </p:nvPr>
        </p:nvGraphicFramePr>
        <p:xfrm>
          <a:off x="838200" y="2725367"/>
          <a:ext cx="9652000" cy="1965165"/>
        </p:xfrm>
        <a:graphic>
          <a:graphicData uri="http://schemas.openxmlformats.org/drawingml/2006/table">
            <a:tbl>
              <a:tblPr/>
              <a:tblGrid>
                <a:gridCol w="4826000">
                  <a:extLst>
                    <a:ext uri="{9D8B030D-6E8A-4147-A177-3AD203B41FA5}">
                      <a16:colId xmlns:a16="http://schemas.microsoft.com/office/drawing/2014/main" val="2492795899"/>
                    </a:ext>
                  </a:extLst>
                </a:gridCol>
                <a:gridCol w="4826000">
                  <a:extLst>
                    <a:ext uri="{9D8B030D-6E8A-4147-A177-3AD203B41FA5}">
                      <a16:colId xmlns:a16="http://schemas.microsoft.com/office/drawing/2014/main" val="2750506280"/>
                    </a:ext>
                  </a:extLst>
                </a:gridCol>
              </a:tblGrid>
              <a:tr h="655055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b="1" dirty="0">
                          <a:effectLst/>
                          <a:latin typeface="Candara" panose="020E0502030303020204" pitchFamily="34" charset="0"/>
                        </a:rPr>
                        <a:t>Fig. 1 — Charter / scope</a:t>
                      </a:r>
                      <a:endParaRPr lang="en-US" dirty="0">
                        <a:effectLst/>
                      </a:endParaRP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dirty="0">
                          <a:effectLst/>
                          <a:latin typeface="Candara" panose="020E0502030303020204" pitchFamily="34" charset="0"/>
                        </a:rPr>
                        <a:t>[Screenshot: project overview slide or </a:t>
                      </a:r>
                      <a:r>
                        <a:rPr lang="en-US" dirty="0">
                          <a:solidFill>
                            <a:srgbClr val="3685BF"/>
                          </a:solidFill>
                          <a:effectLst/>
                          <a:latin typeface="Consolas" panose="020B0609020204030204" pitchFamily="49" charset="0"/>
                        </a:rPr>
                        <a:t>001_Overview.md</a:t>
                      </a:r>
                      <a:r>
                        <a:rPr lang="en-US" dirty="0">
                          <a:effectLst/>
                        </a:rPr>
                        <a:t> title &amp; purpose section]</a:t>
                      </a: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4948865"/>
                  </a:ext>
                </a:extLst>
              </a:tr>
              <a:tr h="655055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b="1" dirty="0">
                          <a:effectLst/>
                          <a:latin typeface="Candara" panose="020E0502030303020204" pitchFamily="34" charset="0"/>
                        </a:rPr>
                        <a:t>Fig. 2 — Architecture</a:t>
                      </a:r>
                      <a:endParaRPr lang="en-US" dirty="0">
                        <a:effectLst/>
                      </a:endParaRP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dirty="0">
                          <a:effectLst/>
                          <a:latin typeface="Candara" panose="020E0502030303020204" pitchFamily="34" charset="0"/>
                        </a:rPr>
                        <a:t>[Screenshot: architecture diagram — edge → MQTT → API → SQL → </a:t>
                      </a:r>
                      <a:r>
                        <a:rPr lang="en-US" dirty="0" err="1">
                          <a:effectLst/>
                          <a:latin typeface="Candara" panose="020E0502030303020204" pitchFamily="34" charset="0"/>
                        </a:rPr>
                        <a:t>SignalR</a:t>
                      </a:r>
                      <a:r>
                        <a:rPr lang="en-US" dirty="0">
                          <a:effectLst/>
                          <a:latin typeface="Candara" panose="020E0502030303020204" pitchFamily="34" charset="0"/>
                        </a:rPr>
                        <a:t> → React]</a:t>
                      </a: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2823878"/>
                  </a:ext>
                </a:extLst>
              </a:tr>
              <a:tr h="655055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b="1" dirty="0">
                          <a:effectLst/>
                          <a:latin typeface="Candara" panose="020E0502030303020204" pitchFamily="34" charset="0"/>
                        </a:rPr>
                        <a:t>Fig. 3 — Requirements</a:t>
                      </a:r>
                      <a:endParaRPr lang="en-US" dirty="0">
                        <a:effectLst/>
                      </a:endParaRP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dirty="0">
                          <a:effectLst/>
                          <a:latin typeface="Candara" panose="020E0502030303020204" pitchFamily="34" charset="0"/>
                        </a:rPr>
                        <a:t>[Screenshot: requirements doc table of contents or sample FR items]</a:t>
                      </a: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06592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7391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8D512-02F1-8A87-C6BF-81121CBC7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67342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Problems &amp; solutions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C2AEF23-47A8-5796-A920-BE79EE594A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4253939"/>
              </p:ext>
            </p:extLst>
          </p:nvPr>
        </p:nvGraphicFramePr>
        <p:xfrm>
          <a:off x="838200" y="2337594"/>
          <a:ext cx="10515600" cy="32156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66089971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5922487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400" b="1" dirty="0">
                          <a:effectLst/>
                          <a:latin typeface="Candara" panose="020E0502030303020204" pitchFamily="34" charset="0"/>
                        </a:rPr>
                        <a:t>Problem</a:t>
                      </a: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2400" b="1" dirty="0">
                          <a:effectLst/>
                          <a:latin typeface="Candara" panose="020E0502030303020204" pitchFamily="34" charset="0"/>
                        </a:rPr>
                        <a:t>Solution</a:t>
                      </a: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3704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b="1" dirty="0">
                          <a:effectLst/>
                          <a:latin typeface="Candara" panose="020E0502030303020204" pitchFamily="34" charset="0"/>
                        </a:rPr>
                        <a:t>Scope too large</a:t>
                      </a:r>
                      <a:r>
                        <a:rPr lang="en-US" dirty="0">
                          <a:effectLst/>
                        </a:rPr>
                        <a:t> for capstone timeline</a:t>
                      </a: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dirty="0">
                          <a:effectLst/>
                          <a:latin typeface="Candara" panose="020E0502030303020204" pitchFamily="34" charset="0"/>
                        </a:rPr>
                        <a:t>Prioritized core path: one device type, temperature/humidity, alerts, commands; deferred advanced features</a:t>
                      </a: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96924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dirty="0">
                          <a:effectLst/>
                          <a:latin typeface="Candara" panose="020E0502030303020204" pitchFamily="34" charset="0"/>
                        </a:rPr>
                        <a:t>Unclear </a:t>
                      </a:r>
                      <a:r>
                        <a:rPr lang="en-US" b="1" dirty="0">
                          <a:effectLst/>
                        </a:rPr>
                        <a:t>MQTT vs HTTP</a:t>
                      </a:r>
                      <a:r>
                        <a:rPr lang="en-US" dirty="0">
                          <a:effectLst/>
                        </a:rPr>
                        <a:t> for edge ingest</a:t>
                      </a: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dirty="0">
                          <a:effectLst/>
                          <a:latin typeface="Candara" panose="020E0502030303020204" pitchFamily="34" charset="0"/>
                        </a:rPr>
                        <a:t>Chose MQTT for Arduino; REST for UI and management</a:t>
                      </a: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72612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b="1" dirty="0">
                          <a:effectLst/>
                          <a:latin typeface="Candara" panose="020E0502030303020204" pitchFamily="34" charset="0"/>
                        </a:rPr>
                        <a:t>Role model</a:t>
                      </a:r>
                      <a:r>
                        <a:rPr lang="en-US" dirty="0">
                          <a:effectLst/>
                        </a:rPr>
                        <a:t> not defined early</a:t>
                      </a: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dirty="0">
                          <a:effectLst/>
                          <a:latin typeface="Candara" panose="020E0502030303020204" pitchFamily="34" charset="0"/>
                        </a:rPr>
                        <a:t>Defined Admin, Operator, Viewer in requirements before UI build</a:t>
                      </a: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1689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dirty="0">
                          <a:effectLst/>
                          <a:latin typeface="Candara" panose="020E0502030303020204" pitchFamily="34" charset="0"/>
                        </a:rPr>
                        <a:t>Stack choices needed alignment with coursework</a:t>
                      </a: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dirty="0">
                          <a:effectLst/>
                          <a:latin typeface="Candara" panose="020E0502030303020204" pitchFamily="34" charset="0"/>
                        </a:rPr>
                        <a:t>Standardized on C# API + React + SQL Server per program skills</a:t>
                      </a:r>
                    </a:p>
                  </a:txBody>
                  <a:tcPr marL="68580" marR="6858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87690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6119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8F402-D6C1-A205-7F40-C1EBBC8A8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Barriers</a:t>
            </a:r>
            <a:br>
              <a:rPr lang="en-US" dirty="0"/>
            </a:b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8BDAEB4-D6B9-85BE-4B6A-EE96825951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162800" cy="1010708"/>
          </a:xfrm>
        </p:spPr>
        <p:txBody>
          <a:bodyPr/>
          <a:lstStyle/>
          <a:p>
            <a:r>
              <a:rPr lang="en-US" i="1" dirty="0"/>
              <a:t>No other critical blockers at this milestone.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188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912B1-4C32-504B-C9A7-382710499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Reflection &amp; next steps</a:t>
            </a:r>
            <a:br>
              <a:rPr lang="en-US" dirty="0"/>
            </a:b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1B521F-CF6A-6521-FA26-6418B5FD2D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Learned:</a:t>
            </a:r>
            <a:r>
              <a:rPr lang="en-US" dirty="0"/>
              <a:t> Clear requirements and architecture reduce rework; defining MQTT topics and roles early prevents integration issues later.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Next (Week 3–4):</a:t>
            </a:r>
            <a:r>
              <a:rPr lang="en-US" dirty="0"/>
              <a:t> SQL Server schema, EF Core entities, migrations, and seed/test data.</a:t>
            </a:r>
          </a:p>
        </p:txBody>
      </p:sp>
    </p:spTree>
    <p:extLst>
      <p:ext uri="{BB962C8B-B14F-4D97-AF65-F5344CB8AC3E}">
        <p14:creationId xmlns:p14="http://schemas.microsoft.com/office/powerpoint/2010/main" val="28039211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564</Words>
  <Application>Microsoft Office PowerPoint</Application>
  <PresentationFormat>Widescreen</PresentationFormat>
  <Paragraphs>78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Arial</vt:lpstr>
      <vt:lpstr>Candara</vt:lpstr>
      <vt:lpstr>Consolas</vt:lpstr>
      <vt:lpstr>Office Theme</vt:lpstr>
      <vt:lpstr>IoT Monitoring Dashboard Capstone Project — Milestone Progress Update  </vt:lpstr>
      <vt:lpstr>Schedule Update Status: On track</vt:lpstr>
      <vt:lpstr>Summary </vt:lpstr>
      <vt:lpstr>Evidences/ Screenshots </vt:lpstr>
      <vt:lpstr>Problems &amp; solutions </vt:lpstr>
      <vt:lpstr>Barriers </vt:lpstr>
      <vt:lpstr>Reflection &amp; next steps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Quoc Bao Tran</dc:creator>
  <cp:lastModifiedBy>Quoc Bao Tran</cp:lastModifiedBy>
  <cp:revision>45</cp:revision>
  <dcterms:created xsi:type="dcterms:W3CDTF">2026-05-29T11:10:25Z</dcterms:created>
  <dcterms:modified xsi:type="dcterms:W3CDTF">2026-05-30T15:07:58Z</dcterms:modified>
</cp:coreProperties>
</file>