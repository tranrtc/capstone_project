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90" d="100"/>
          <a:sy n="90" d="100"/>
        </p:scale>
        <p:origin x="36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061D5-BE9F-464A-B3A1-DCB5ECAC4F39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7F3B3-283E-4535-8020-9D5E654E1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14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7F3B3-283E-4535-8020-9D5E654E122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FD187-1E4A-96A8-8885-7144375CBE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2C6B92-48EC-66C7-800A-C6368A72A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7F5CC-CE16-22A4-4509-9087B2521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03BD02-BE40-70AE-5631-9703FA9B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884A1-F96A-B014-004B-3774F67F8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758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D7415-75E9-7FE0-2935-D5E0DD2C0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22A1F-BBE4-38D4-F4FA-971B9AE28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0895B-8B42-6919-5C21-83B55FD05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D10F2-6305-6F34-115F-CF80B3EEA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6CE22-6FEF-9355-ECC1-92DBC0A0A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7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17D6-B6F9-5A3C-8B88-AD28A7D4B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E8E05-09B4-7E2E-DD40-7F310730D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67BC1-8544-4280-296C-B6C656882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0398B-1B78-6A18-12F8-A87D38BF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3807B-B291-637C-20F5-F87F4F37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57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05D2-1CAE-A718-7046-57223D0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E6E95-B1CC-B8E6-61F8-17E5615090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B599E-DCEC-1D41-9047-50E844596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63410-1551-2FD9-A50A-9DD6CF53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9AF750-50AE-9343-1AA4-18ADEB695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466ED-73A4-4B49-B4DB-07AE8197F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720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512D3-D505-32C1-6B5A-AA852C5E8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8C467-57E1-698E-E401-B6784F047B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53AF1-1FCD-729C-8CAD-3EB15A3E4D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8ACB-1C46-72FE-3183-422B055FCF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223006-355A-6F53-A4B7-C067F3FF49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A742E2-51E2-4B3F-36C9-3882360CC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7C6783-8154-5EF9-F57D-E99DA6397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A74C98-8A20-71CB-96DF-04A27D11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85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BBD9B-0786-CE73-D31F-9B5B12A5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5639D2-FAB2-49F5-7F31-8423BB93E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9F7862-128D-55D3-C2DE-E472FCED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1DE38A-6D23-0D74-671A-F15C61F1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97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145A3E-3658-CB19-2162-A57AE088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D56642-3DB2-F7D2-DA60-AB34C2E05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30906-CA61-BDD7-809D-5FF69122E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4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1CA7-3B40-5E36-8754-FBB4AC3B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87FB3-E967-0001-78FA-BB78E23A2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0EAD1-DB07-4426-D921-125C5EEC8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83182-5E09-A74C-15A2-C64877FDC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37F8-10DE-2553-C9E5-A8E1DB068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D5EF3-4801-DFB1-91F7-F78FE204C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63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0E3B8-D351-634B-7126-C3D11D40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DF26A0-F39F-FB5A-D9D2-280FF9EF78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BB5DB3-E291-D644-0AA9-1EEAD445B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DCA772-2E24-9E98-2FF3-C9A80156A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38C2-8113-A03F-FE4C-D14B42A06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9747C-5C1E-3FC1-981A-EE3FADCFC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63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5032-9500-D3AE-8693-AB5BFA744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72C64-A339-A30B-8EF3-9E4EDB93FA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4E992-B19A-EBE4-89A5-D82F4C279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9706D-A444-6DE1-0824-E1B7B5C6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536BC-C281-E892-1D7C-EBF45591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975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EF752C-5C3D-8396-68AB-64671A99E6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4F8232-8D0E-3B29-3E59-7797FA34A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C1238-18ED-DC5A-CFDF-78175BEF0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E4E-4704-4F0B-B7F5-9A4EE53A526B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0B27F8-37B4-000D-4B7E-EE19D46AD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A45D0-AC88-2ACD-4FDB-9150BBE60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67D05-8255-4040-9E3C-789633FCF2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1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897E1B-B6AF-9733-75F5-3C8FC4033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A5B2A5-193C-6B24-1BCF-DEB34BEB8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2F3E-39C1-59C0-B4AF-CAF4844BF6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1205BE4E-4704-4F0B-B7F5-9A4EE53A526B}" type="datetimeFigureOut">
              <a:rPr lang="en-US" smtClean="0"/>
              <a:pPr/>
              <a:t>5/30/2026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9BFFF-20A3-1EB1-6E78-A64681E72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DE764-E1F0-4215-2D43-056031F8A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Candara" panose="020E0502030303020204" pitchFamily="34" charset="0"/>
              </a:defRPr>
            </a:lvl1pPr>
          </a:lstStyle>
          <a:p>
            <a:fld id="{D9A67D05-8255-4040-9E3C-789633FCF2D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03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6337CC4-6970-59CB-E0C4-2BEEEC08CB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499600" cy="2154238"/>
          </a:xfrm>
        </p:spPr>
        <p:txBody>
          <a:bodyPr>
            <a:normAutofit/>
          </a:bodyPr>
          <a:lstStyle/>
          <a:p>
            <a:pPr algn="r"/>
            <a:r>
              <a:rPr lang="en-US" sz="3200" b="1" dirty="0">
                <a:latin typeface="Candara" panose="020E0502030303020204" pitchFamily="34" charset="0"/>
              </a:rPr>
              <a:t>IoT Monitoring Dashboard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dirty="0">
                <a:latin typeface="Candara" panose="020E0502030303020204" pitchFamily="34" charset="0"/>
              </a:rPr>
              <a:t>Capstone Project — Milestone Progress Update</a:t>
            </a:r>
            <a:br>
              <a:rPr lang="en-US" sz="3200" dirty="0">
                <a:latin typeface="Candara" panose="020E0502030303020204" pitchFamily="34" charset="0"/>
              </a:rPr>
            </a:br>
            <a:endParaRPr lang="en-US" sz="3200" dirty="0">
              <a:latin typeface="Candara" panose="020E05020303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2BFE61F-4CD1-4722-C8FB-272C1CA92DB0}"/>
              </a:ext>
            </a:extLst>
          </p:cNvPr>
          <p:cNvSpPr txBox="1"/>
          <p:nvPr/>
        </p:nvSpPr>
        <p:spPr>
          <a:xfrm>
            <a:off x="6951374" y="4092846"/>
            <a:ext cx="42652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b="1" dirty="0">
                <a:latin typeface="Candara" panose="020E0502030303020204" pitchFamily="34" charset="0"/>
              </a:rPr>
              <a:t>Program : BAS  Application Development</a:t>
            </a: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Course : </a:t>
            </a:r>
            <a:r>
              <a:rPr lang="en-US" dirty="0">
                <a:latin typeface="Candara" panose="020E0502030303020204" pitchFamily="34" charset="0"/>
              </a:rPr>
              <a:t>CSI-492 Senior Capstone Project</a:t>
            </a:r>
            <a:endParaRPr lang="en-US" b="1" dirty="0">
              <a:latin typeface="Candara" panose="020E0502030303020204" pitchFamily="34" charset="0"/>
            </a:endParaRPr>
          </a:p>
          <a:p>
            <a:pPr algn="r"/>
            <a:r>
              <a:rPr lang="en-US" b="1" dirty="0">
                <a:latin typeface="Candara" panose="020E0502030303020204" pitchFamily="34" charset="0"/>
              </a:rPr>
              <a:t>Student :</a:t>
            </a:r>
            <a:r>
              <a:rPr lang="en-US" sz="1800" dirty="0">
                <a:latin typeface="Candara" panose="020E0502030303020204" pitchFamily="34" charset="0"/>
              </a:rPr>
              <a:t> Quoc Bao Tran</a:t>
            </a:r>
            <a:br>
              <a:rPr lang="en-US" sz="1800" dirty="0">
                <a:latin typeface="Candara" panose="020E0502030303020204" pitchFamily="34" charset="0"/>
              </a:rPr>
            </a:br>
            <a:r>
              <a:rPr lang="en-US" sz="1800" b="1" dirty="0">
                <a:latin typeface="Candara" panose="020E0502030303020204" pitchFamily="34" charset="0"/>
              </a:rPr>
              <a:t>Date : 5/17</a:t>
            </a:r>
            <a:br>
              <a:rPr lang="en-US" sz="1800" dirty="0">
                <a:latin typeface="Candara" panose="020E0502030303020204" pitchFamily="34" charset="0"/>
              </a:rPr>
            </a:b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3067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BC347-6049-4427-8635-E5A35DE9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Candara" panose="020E0502030303020204" pitchFamily="34" charset="0"/>
              </a:rPr>
              <a:t>Schedule Update</a:t>
            </a:r>
            <a:br>
              <a:rPr lang="en-US" sz="3200" dirty="0">
                <a:latin typeface="Candara" panose="020E0502030303020204" pitchFamily="34" charset="0"/>
              </a:rPr>
            </a:br>
            <a:r>
              <a:rPr lang="en-US" sz="3200" b="1" dirty="0">
                <a:latin typeface="Candara" panose="020E0502030303020204" pitchFamily="34" charset="0"/>
              </a:rPr>
              <a:t>Status:</a:t>
            </a:r>
            <a:r>
              <a:rPr lang="en-US" sz="3200" dirty="0">
                <a:latin typeface="Candara" panose="020E0502030303020204" pitchFamily="34" charset="0"/>
              </a:rPr>
              <a:t> On track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24C5E2-0B9C-3E3C-38E9-8AACB959B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0972871"/>
              </p:ext>
            </p:extLst>
          </p:nvPr>
        </p:nvGraphicFramePr>
        <p:xfrm>
          <a:off x="990600" y="1690688"/>
          <a:ext cx="9765365" cy="48343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979">
                  <a:extLst>
                    <a:ext uri="{9D8B030D-6E8A-4147-A177-3AD203B41FA5}">
                      <a16:colId xmlns:a16="http://schemas.microsoft.com/office/drawing/2014/main" val="3415123503"/>
                    </a:ext>
                  </a:extLst>
                </a:gridCol>
                <a:gridCol w="779094">
                  <a:extLst>
                    <a:ext uri="{9D8B030D-6E8A-4147-A177-3AD203B41FA5}">
                      <a16:colId xmlns:a16="http://schemas.microsoft.com/office/drawing/2014/main" val="2252890228"/>
                    </a:ext>
                  </a:extLst>
                </a:gridCol>
                <a:gridCol w="170760">
                  <a:extLst>
                    <a:ext uri="{9D8B030D-6E8A-4147-A177-3AD203B41FA5}">
                      <a16:colId xmlns:a16="http://schemas.microsoft.com/office/drawing/2014/main" val="233549650"/>
                    </a:ext>
                  </a:extLst>
                </a:gridCol>
                <a:gridCol w="3095034">
                  <a:extLst>
                    <a:ext uri="{9D8B030D-6E8A-4147-A177-3AD203B41FA5}">
                      <a16:colId xmlns:a16="http://schemas.microsoft.com/office/drawing/2014/main" val="2230558247"/>
                    </a:ext>
                  </a:extLst>
                </a:gridCol>
                <a:gridCol w="138743">
                  <a:extLst>
                    <a:ext uri="{9D8B030D-6E8A-4147-A177-3AD203B41FA5}">
                      <a16:colId xmlns:a16="http://schemas.microsoft.com/office/drawing/2014/main" val="764695759"/>
                    </a:ext>
                  </a:extLst>
                </a:gridCol>
                <a:gridCol w="4407755">
                  <a:extLst>
                    <a:ext uri="{9D8B030D-6E8A-4147-A177-3AD203B41FA5}">
                      <a16:colId xmlns:a16="http://schemas.microsoft.com/office/drawing/2014/main" val="2176508648"/>
                    </a:ext>
                  </a:extLst>
                </a:gridCol>
              </a:tblGrid>
              <a:tr h="537147">
                <a:tc grid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000" b="1" u="none" strike="noStrike" dirty="0">
                          <a:effectLst/>
                          <a:latin typeface="Candara" panose="020E0502030303020204" pitchFamily="34" charset="0"/>
                        </a:rPr>
                        <a:t>Project Progress Update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162153"/>
                  </a:ext>
                </a:extLst>
              </a:tr>
              <a:tr h="5371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Time Period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Dates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Focus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Candara" panose="020E0502030303020204" pitchFamily="34" charset="0"/>
                        </a:rPr>
                        <a:t>Status/Progress Update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656341426"/>
                  </a:ext>
                </a:extLst>
              </a:tr>
              <a:tr h="638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Week 1–2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4/6 – 4/19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Planning — project charter, requirements, architecture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Project charter approved; requirements documented; architecture defined (MQTT → API → SQL → SignalR → React).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6409660"/>
                  </a:ext>
                </a:extLst>
              </a:tr>
              <a:tr h="53714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3–4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4/20 – 5/3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Data — SQL Server schema, EF Core entities, migrations, seed/test data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SQL schema designed; EF Core entities &amp; migrations applied; seed/test data loaded.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4095849199"/>
                  </a:ext>
                </a:extLst>
              </a:tr>
              <a:tr h="638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Week 5–6</a:t>
                      </a:r>
                      <a:endParaRPr lang="en-US" sz="1400" b="1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5/4 – 5/17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Backend — repositories, services, REST API, MQTT ingest, command dispatch, </a:t>
                      </a:r>
                      <a:r>
                        <a:rPr lang="en-US" sz="1400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, alerts.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Repositories &amp; services implemented; REST API live; MQTT ingest &amp; command dispatch working; </a:t>
                      </a:r>
                      <a:r>
                        <a:rPr lang="en-US" sz="1400" u="none" strike="noStrike" dirty="0" err="1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solidFill>
                            <a:srgbClr val="C00000"/>
                          </a:solidFill>
                          <a:effectLst/>
                          <a:latin typeface="Candara" panose="020E0502030303020204" pitchFamily="34" charset="0"/>
                        </a:rPr>
                        <a:t> hub &amp; alert evaluation connected.</a:t>
                      </a:r>
                      <a:endParaRPr lang="en-US" sz="1400" b="0" i="0" u="none" strike="noStrike" dirty="0">
                        <a:solidFill>
                          <a:srgbClr val="C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894355771"/>
                  </a:ext>
                </a:extLst>
              </a:tr>
              <a:tr h="638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7–8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5/18 – 5/31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Frontend — React dashboard, auth, live charts, devices, commands, alerts UI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584845573"/>
                  </a:ext>
                </a:extLst>
              </a:tr>
              <a:tr h="638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9–10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 – 6/14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Integration &amp; testing — Arduino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Mosquitto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API ↔ SQL ↔ </a:t>
                      </a:r>
                      <a:r>
                        <a:rPr lang="en-US" sz="1400" u="none" strike="noStrike" dirty="0" err="1">
                          <a:effectLst/>
                          <a:latin typeface="Candara" panose="020E0502030303020204" pitchFamily="34" charset="0"/>
                        </a:rPr>
                        <a:t>SignalR</a:t>
                      </a: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 ↔ UI (end-to-end)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042205481"/>
                  </a:ext>
                </a:extLst>
              </a:tr>
              <a:tr h="6381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Week 11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6/15 – 6/19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400" u="none" strike="noStrike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>
                        <a:solidFill>
                          <a:srgbClr val="FF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Documentation &amp; presentation — final docs, polish, demo prep → Final presentation 6/17 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u="none" strike="noStrike" dirty="0">
                          <a:effectLst/>
                          <a:latin typeface="Candara" panose="020E0502030303020204" pitchFamily="34" charset="0"/>
                        </a:rPr>
                        <a:t> 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ndara" panose="020E0502030303020204" pitchFamily="34" charset="0"/>
                      </a:endParaRPr>
                    </a:p>
                  </a:txBody>
                  <a:tcPr marL="6111" marR="6111" marT="6111" marB="0" anchor="ctr"/>
                </a:tc>
                <a:extLst>
                  <a:ext uri="{0D108BD9-81ED-4DB2-BD59-A6C34878D82A}">
                    <a16:rowId xmlns:a16="http://schemas.microsoft.com/office/drawing/2014/main" val="248339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4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053F-A8D9-F784-54BD-36242419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Milestone 5/4-5/17 (week5 &amp; 6) 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3A38C-3951-0463-71C7-4C51FD01E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Goal:</a:t>
            </a:r>
            <a:r>
              <a:rPr lang="en-US" sz="1800" dirty="0"/>
              <a:t> Build server-side logic and real-time pipeline</a:t>
            </a:r>
          </a:p>
          <a:p>
            <a:pPr marL="0" indent="0">
              <a:buNone/>
            </a:pPr>
            <a:endParaRPr lang="en-US" sz="1800" dirty="0"/>
          </a:p>
          <a:p>
            <a:r>
              <a:rPr lang="en-US" sz="1800" b="1" dirty="0"/>
              <a:t>Completed:</a:t>
            </a:r>
            <a:endParaRPr lang="en-US" sz="1800" dirty="0"/>
          </a:p>
          <a:p>
            <a:pPr lvl="1"/>
            <a:r>
              <a:rPr lang="en-US" sz="1800" dirty="0"/>
              <a:t>Repository pattern implemented (</a:t>
            </a:r>
            <a:r>
              <a:rPr lang="en-US" sz="1800" dirty="0" err="1"/>
              <a:t>IRepository</a:t>
            </a:r>
            <a:r>
              <a:rPr lang="en-US" sz="1800" dirty="0"/>
              <a:t>, entity-specific repos)</a:t>
            </a:r>
          </a:p>
          <a:p>
            <a:pPr lvl="1"/>
            <a:r>
              <a:rPr lang="en-US" sz="1800" dirty="0"/>
              <a:t>Business services layer (readings, devices, alerts, commands)</a:t>
            </a:r>
          </a:p>
          <a:p>
            <a:pPr lvl="1"/>
            <a:r>
              <a:rPr lang="en-US" sz="1800" dirty="0"/>
              <a:t>REST API endpoints tested via Swagger</a:t>
            </a:r>
          </a:p>
          <a:p>
            <a:pPr lvl="1"/>
            <a:r>
              <a:rPr lang="en-US" sz="1800" dirty="0" err="1"/>
              <a:t>MqttService</a:t>
            </a:r>
            <a:r>
              <a:rPr lang="en-US" sz="1800" dirty="0"/>
              <a:t>: subscribe, ingest readings, persist to SQL</a:t>
            </a:r>
          </a:p>
          <a:p>
            <a:pPr lvl="1"/>
            <a:r>
              <a:rPr lang="en-US" sz="1800" dirty="0"/>
              <a:t>Command dispatch to devices via MQTT (</a:t>
            </a:r>
            <a:r>
              <a:rPr lang="en-US" sz="1800" dirty="0" err="1"/>
              <a:t>IMqttPublisher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 err="1"/>
              <a:t>SignalR</a:t>
            </a:r>
            <a:r>
              <a:rPr lang="en-US" sz="1800" dirty="0"/>
              <a:t> hub pushes live readings and alerts to UI</a:t>
            </a:r>
          </a:p>
          <a:p>
            <a:pPr lvl="1"/>
            <a:r>
              <a:rPr lang="en-US" sz="1800" dirty="0"/>
              <a:t>Alert rules evaluate on new sensor readings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00256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EB59F-C312-D06A-BB7D-286D6192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542"/>
          </a:xfrm>
        </p:spPr>
        <p:txBody>
          <a:bodyPr>
            <a:noAutofit/>
          </a:bodyPr>
          <a:lstStyle/>
          <a:p>
            <a:r>
              <a:rPr lang="en-US" sz="3600" dirty="0"/>
              <a:t>Evidence / screenshots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9C0742-F688-9961-7D59-69AA7F5A0255}"/>
              </a:ext>
            </a:extLst>
          </p:cNvPr>
          <p:cNvSpPr txBox="1"/>
          <p:nvPr/>
        </p:nvSpPr>
        <p:spPr>
          <a:xfrm>
            <a:off x="8686800" y="1438335"/>
            <a:ext cx="316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</a:pPr>
            <a:r>
              <a:rPr lang="en-US" b="1" i="0" dirty="0">
                <a:solidFill>
                  <a:srgbClr val="222222"/>
                </a:solidFill>
                <a:effectLst/>
                <a:latin typeface="Segoe WPC"/>
              </a:rPr>
              <a:t>3. Live chart or </a:t>
            </a:r>
            <a:r>
              <a:rPr lang="en-US" b="1" i="0" dirty="0" err="1">
                <a:solidFill>
                  <a:srgbClr val="222222"/>
                </a:solidFill>
                <a:effectLst/>
                <a:latin typeface="Segoe WPC"/>
              </a:rPr>
              <a:t>SignalR</a:t>
            </a:r>
            <a:r>
              <a:rPr lang="en-US" b="0" i="0" dirty="0">
                <a:solidFill>
                  <a:srgbClr val="222222"/>
                </a:solidFill>
                <a:effectLst/>
                <a:latin typeface="Segoe WPC"/>
              </a:rPr>
              <a:t> — real-time pipeline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0151C8-4F9A-F561-3163-8F8397E3474F}"/>
              </a:ext>
            </a:extLst>
          </p:cNvPr>
          <p:cNvSpPr txBox="1"/>
          <p:nvPr/>
        </p:nvSpPr>
        <p:spPr>
          <a:xfrm>
            <a:off x="762001" y="143833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Font typeface="+mj-lt"/>
              <a:buAutoNum type="arabicPeriod"/>
            </a:pPr>
            <a:r>
              <a:rPr lang="en-US" b="1" i="0" dirty="0">
                <a:solidFill>
                  <a:srgbClr val="222222"/>
                </a:solidFill>
                <a:effectLst/>
                <a:latin typeface="Segoe WPC"/>
              </a:rPr>
              <a:t>Swagger</a:t>
            </a:r>
            <a:r>
              <a:rPr lang="en-US" b="0" i="0" dirty="0">
                <a:solidFill>
                  <a:srgbClr val="222222"/>
                </a:solidFill>
                <a:effectLst/>
                <a:latin typeface="Segoe WPC"/>
              </a:rPr>
              <a:t> — API working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48497-8143-5753-1E49-727D54DE0544}"/>
              </a:ext>
            </a:extLst>
          </p:cNvPr>
          <p:cNvSpPr txBox="1"/>
          <p:nvPr/>
        </p:nvSpPr>
        <p:spPr>
          <a:xfrm>
            <a:off x="4808220" y="1438335"/>
            <a:ext cx="3169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</a:pPr>
            <a:r>
              <a:rPr lang="en-US" b="1" i="0" dirty="0">
                <a:solidFill>
                  <a:srgbClr val="222222"/>
                </a:solidFill>
                <a:effectLst/>
                <a:latin typeface="Segoe WPC"/>
              </a:rPr>
              <a:t>2.SQL </a:t>
            </a:r>
            <a:r>
              <a:rPr lang="en-US" b="1" i="0" dirty="0" err="1">
                <a:solidFill>
                  <a:srgbClr val="222222"/>
                </a:solidFill>
                <a:effectLst/>
                <a:latin typeface="Consolas" panose="020B0609020204030204" pitchFamily="49" charset="0"/>
              </a:rPr>
              <a:t>SensorReadings</a:t>
            </a:r>
            <a:r>
              <a:rPr lang="en-US" b="0" i="0" dirty="0">
                <a:solidFill>
                  <a:srgbClr val="222222"/>
                </a:solidFill>
                <a:effectLst/>
                <a:latin typeface="Segoe WPC"/>
              </a:rPr>
              <a:t> — MQTT/API saved data</a:t>
            </a:r>
          </a:p>
        </p:txBody>
      </p:sp>
      <p:pic>
        <p:nvPicPr>
          <p:cNvPr id="13" name="Picture 12" descr="The image is a visual representation of a web API documentation for a monitoring system, showcasing various HTTP methods for interacting with actuators, alert rules, and alerts.&#10;&#10;AI-generated content may be incorrect.">
            <a:extLst>
              <a:ext uri="{FF2B5EF4-FFF2-40B4-BE49-F238E27FC236}">
                <a16:creationId xmlns:a16="http://schemas.microsoft.com/office/drawing/2014/main" id="{1AB37CC6-4E78-1D30-3418-86D4E4B7F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9" y="2445908"/>
            <a:ext cx="3538221" cy="2418531"/>
          </a:xfrm>
          <a:prstGeom prst="rect">
            <a:avLst/>
          </a:prstGeom>
        </p:spPr>
      </p:pic>
      <p:pic>
        <p:nvPicPr>
          <p:cNvPr id="15" name="Picture 14" descr="The image displays a table view in a database management software, showcasing sensor readings, device information, and user data, with various fields such as sensor values, status, and timestamps.&#10;&#10;AI-generated content may be incorrect.">
            <a:extLst>
              <a:ext uri="{FF2B5EF4-FFF2-40B4-BE49-F238E27FC236}">
                <a16:creationId xmlns:a16="http://schemas.microsoft.com/office/drawing/2014/main" id="{DF23B68D-002D-7F6A-6869-61DE50FA0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413" y="2445908"/>
            <a:ext cx="3337309" cy="2250743"/>
          </a:xfrm>
          <a:prstGeom prst="rect">
            <a:avLst/>
          </a:prstGeom>
        </p:spPr>
      </p:pic>
      <p:pic>
        <p:nvPicPr>
          <p:cNvPr id="17" name="Picture 16" descr="The image displays a SignalR dashboard with various alerts, including a sensor reading of 48, unresolved open alerts, and a timestamp for the last check.&#10;&#10;AI-generated content may be incorrect.">
            <a:extLst>
              <a:ext uri="{FF2B5EF4-FFF2-40B4-BE49-F238E27FC236}">
                <a16:creationId xmlns:a16="http://schemas.microsoft.com/office/drawing/2014/main" id="{0F02F3A6-11B2-72E4-E8F3-543B227BA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015" y="2426205"/>
            <a:ext cx="3337309" cy="223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39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8D512-02F1-8A87-C6BF-81121CBC7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Problems &amp; solutions</a:t>
            </a:r>
            <a:br>
              <a:rPr lang="en-US" sz="3800" dirty="0"/>
            </a:b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467DC-7ADB-9D17-234F-EA4DC4DDF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18442"/>
          </a:xfrm>
        </p:spPr>
        <p:txBody>
          <a:bodyPr>
            <a:normAutofit lnSpcReduction="10000"/>
          </a:bodyPr>
          <a:lstStyle/>
          <a:p>
            <a:r>
              <a:rPr lang="en-US" sz="1800" b="1" dirty="0"/>
              <a:t>Problem 1 — MQTT readings not appearing in database</a:t>
            </a:r>
            <a:endParaRPr lang="en-US" sz="1800" dirty="0"/>
          </a:p>
          <a:p>
            <a:pPr lvl="1"/>
            <a:r>
              <a:rPr lang="en-US" sz="1800" b="1" dirty="0"/>
              <a:t>Cause:</a:t>
            </a:r>
            <a:r>
              <a:rPr lang="en-US" sz="1800" dirty="0"/>
              <a:t> Topic/device/sensor ID mismatch with seeded data</a:t>
            </a:r>
          </a:p>
          <a:p>
            <a:pPr lvl="1"/>
            <a:r>
              <a:rPr lang="en-US" sz="1800" b="1" dirty="0"/>
              <a:t>Solution:</a:t>
            </a:r>
            <a:r>
              <a:rPr lang="en-US" sz="1800" dirty="0"/>
              <a:t> Aligned Arduino topic format and DB IDs; verified </a:t>
            </a:r>
            <a:r>
              <a:rPr lang="en-US" sz="1800" dirty="0" err="1"/>
              <a:t>MqttService</a:t>
            </a:r>
            <a:r>
              <a:rPr lang="en-US" sz="1800" dirty="0"/>
              <a:t> subscription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Problem 2 — Live chart showed latest value but no line</a:t>
            </a:r>
            <a:endParaRPr lang="en-US" sz="1800" dirty="0"/>
          </a:p>
          <a:p>
            <a:pPr lvl="1"/>
            <a:r>
              <a:rPr lang="en-US" sz="1800" b="1" dirty="0"/>
              <a:t>Cause:</a:t>
            </a:r>
            <a:r>
              <a:rPr lang="en-US" sz="1800" dirty="0"/>
              <a:t> Time-window trim and </a:t>
            </a:r>
            <a:r>
              <a:rPr lang="en-US" sz="1800" dirty="0" err="1"/>
              <a:t>SignalR</a:t>
            </a:r>
            <a:r>
              <a:rPr lang="en-US" sz="1800" dirty="0"/>
              <a:t> handler dropped or filtered points</a:t>
            </a:r>
          </a:p>
          <a:p>
            <a:pPr lvl="1"/>
            <a:r>
              <a:rPr lang="en-US" sz="1800" b="1" dirty="0"/>
              <a:t>Solution:</a:t>
            </a:r>
            <a:r>
              <a:rPr lang="en-US" sz="1800" dirty="0"/>
              <a:t> Fixed chart trim logic and live-mode handling in React</a:t>
            </a:r>
          </a:p>
          <a:p>
            <a:pPr lvl="1"/>
            <a:endParaRPr lang="en-US" sz="1800" dirty="0"/>
          </a:p>
          <a:p>
            <a:r>
              <a:rPr lang="en-US" sz="1800" b="1" dirty="0"/>
              <a:t>Problem 3 — Layer confusion (Repository vs </a:t>
            </a:r>
            <a:r>
              <a:rPr lang="en-US" sz="1800" b="1" dirty="0" err="1"/>
              <a:t>DbContext</a:t>
            </a:r>
            <a:r>
              <a:rPr lang="en-US" sz="1800" b="1" dirty="0"/>
              <a:t>)</a:t>
            </a:r>
            <a:endParaRPr lang="en-US" sz="1800" dirty="0"/>
          </a:p>
          <a:p>
            <a:pPr lvl="1"/>
            <a:r>
              <a:rPr lang="en-US" sz="1800" b="1" dirty="0"/>
              <a:t>Cause:</a:t>
            </a:r>
            <a:r>
              <a:rPr lang="en-US" sz="1800" dirty="0"/>
              <a:t> Unclear when to use repository vs direct EF in services</a:t>
            </a:r>
          </a:p>
          <a:p>
            <a:pPr lvl="1"/>
            <a:r>
              <a:rPr lang="en-US" sz="1800" b="1" dirty="0"/>
              <a:t>Solution:</a:t>
            </a:r>
            <a:r>
              <a:rPr lang="en-US" sz="1800" dirty="0"/>
              <a:t> Repositories for entity CRUD/history; </a:t>
            </a:r>
            <a:r>
              <a:rPr lang="en-US" sz="1800" dirty="0" err="1"/>
              <a:t>DbContext</a:t>
            </a:r>
            <a:r>
              <a:rPr lang="en-US" sz="1800" dirty="0"/>
              <a:t> for some batch/paged queries; documented pattern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92611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8F402-D6C1-A205-7F40-C1EBBC8A8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Barriers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A56FB2-3178-80A0-BA8D-9B090813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No major barriers: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8518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912B1-4C32-504B-C9A7-38271049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Reflection &amp; next steps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2CFE5-29DA-5816-1C14-28525DDA2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999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b="1" dirty="0"/>
              <a:t>Learned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End-to-end IoT needs </a:t>
            </a:r>
            <a:r>
              <a:rPr lang="en-US" sz="1800" b="1" dirty="0"/>
              <a:t>aligned contracts</a:t>
            </a:r>
            <a:r>
              <a:rPr lang="en-US" sz="1800" dirty="0"/>
              <a:t> across MQTT topics, API DTOs, and UI types</a:t>
            </a:r>
          </a:p>
          <a:p>
            <a:pPr lvl="1">
              <a:lnSpc>
                <a:spcPct val="100000"/>
              </a:lnSpc>
            </a:pPr>
            <a:r>
              <a:rPr lang="en-US" sz="1800" b="1" dirty="0"/>
              <a:t>Interfaces</a:t>
            </a:r>
            <a:r>
              <a:rPr lang="en-US" sz="1800" dirty="0"/>
              <a:t> (</a:t>
            </a:r>
            <a:r>
              <a:rPr lang="en-US" sz="1800" dirty="0" err="1"/>
              <a:t>IRepository</a:t>
            </a:r>
            <a:r>
              <a:rPr lang="en-US" sz="1800" dirty="0"/>
              <a:t>, </a:t>
            </a:r>
            <a:r>
              <a:rPr lang="en-US" sz="1800" dirty="0" err="1"/>
              <a:t>INotificationService</a:t>
            </a:r>
            <a:r>
              <a:rPr lang="en-US" sz="1800" dirty="0"/>
              <a:t>, </a:t>
            </a:r>
            <a:r>
              <a:rPr lang="en-US" sz="1800" dirty="0" err="1"/>
              <a:t>IMqttPublisher</a:t>
            </a:r>
            <a:r>
              <a:rPr lang="en-US" sz="1800" dirty="0"/>
              <a:t>) keep layers separated and testable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Real-time UI is harder than REST — </a:t>
            </a:r>
            <a:r>
              <a:rPr lang="en-US" sz="1800" b="1" dirty="0" err="1"/>
              <a:t>SignalR</a:t>
            </a:r>
            <a:r>
              <a:rPr lang="en-US" sz="1800" b="1" dirty="0"/>
              <a:t> + chart time windows</a:t>
            </a:r>
            <a:r>
              <a:rPr lang="en-US" sz="1800" dirty="0"/>
              <a:t> must be designed together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Milestone order </a:t>
            </a:r>
            <a:r>
              <a:rPr lang="en-US" sz="1800" b="1" dirty="0"/>
              <a:t>Plan → Data → Backend → Frontend</a:t>
            </a:r>
            <a:r>
              <a:rPr lang="en-US" sz="1800" dirty="0"/>
              <a:t> reduced rework</a:t>
            </a:r>
          </a:p>
          <a:p>
            <a:pPr lvl="1"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b="1" dirty="0"/>
              <a:t>Next steps (Week 9–10)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Full </a:t>
            </a:r>
            <a:r>
              <a:rPr lang="en-US" sz="1800" b="1" dirty="0"/>
              <a:t>Arduino ↔ </a:t>
            </a:r>
            <a:r>
              <a:rPr lang="en-US" sz="1800" b="1" dirty="0" err="1"/>
              <a:t>Mosquitto</a:t>
            </a:r>
            <a:r>
              <a:rPr lang="en-US" sz="1800" b="1" dirty="0"/>
              <a:t> ↔ API ↔ SQL ↔ </a:t>
            </a:r>
            <a:r>
              <a:rPr lang="en-US" sz="1800" b="1" dirty="0" err="1"/>
              <a:t>SignalR</a:t>
            </a:r>
            <a:r>
              <a:rPr lang="en-US" sz="1800" b="1" dirty="0"/>
              <a:t> ↔ UI</a:t>
            </a:r>
            <a:r>
              <a:rPr lang="en-US" sz="1800" dirty="0"/>
              <a:t> test pass</a:t>
            </a:r>
          </a:p>
          <a:p>
            <a:pPr lvl="1">
              <a:lnSpc>
                <a:spcPct val="100000"/>
              </a:lnSpc>
            </a:pPr>
            <a:r>
              <a:rPr lang="en-US" sz="1800" dirty="0"/>
              <a:t>Run </a:t>
            </a:r>
            <a:r>
              <a:rPr lang="en-US" sz="1800" b="1" dirty="0"/>
              <a:t>manual test checklist</a:t>
            </a:r>
            <a:r>
              <a:rPr lang="en-US" sz="1800" dirty="0"/>
              <a:t>; fix remaining command-ack / edge cases</a:t>
            </a:r>
          </a:p>
          <a:p>
            <a:pPr>
              <a:lnSpc>
                <a:spcPct val="10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03921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564</Words>
  <Application>Microsoft Office PowerPoint</Application>
  <PresentationFormat>Widescreen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Candara</vt:lpstr>
      <vt:lpstr>Consolas</vt:lpstr>
      <vt:lpstr>Segoe WPC</vt:lpstr>
      <vt:lpstr>Office Theme</vt:lpstr>
      <vt:lpstr>IoT Monitoring Dashboard Capstone Project — Milestone Progress Update </vt:lpstr>
      <vt:lpstr>Schedule Update Status: On track</vt:lpstr>
      <vt:lpstr>Milestone 5/4-5/17 (week5 &amp; 6)  </vt:lpstr>
      <vt:lpstr>Evidence / screenshots </vt:lpstr>
      <vt:lpstr>Problems &amp; solutions </vt:lpstr>
      <vt:lpstr>Barriers </vt:lpstr>
      <vt:lpstr>Reflection &amp; next steps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Quoc Bao Tran</dc:creator>
  <cp:lastModifiedBy>Quoc Bao Tran</cp:lastModifiedBy>
  <cp:revision>54</cp:revision>
  <dcterms:created xsi:type="dcterms:W3CDTF">2026-05-29T11:10:25Z</dcterms:created>
  <dcterms:modified xsi:type="dcterms:W3CDTF">2026-05-30T15:09:02Z</dcterms:modified>
</cp:coreProperties>
</file>