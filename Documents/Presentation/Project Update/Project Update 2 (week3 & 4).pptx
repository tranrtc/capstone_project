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79" d="100"/>
          <a:sy n="79" d="100"/>
        </p:scale>
        <p:origin x="91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D187-1E4A-96A8-8885-7144375CB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C6B92-48EC-66C7-800A-C6368A72A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7F5CC-CE16-22A4-4509-9087B2521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3BD02-BE40-70AE-5631-9703FA9B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884A1-F96A-B014-004B-3774F67F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5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7415-75E9-7FE0-2935-D5E0DD2C0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22A1F-BBE4-38D4-F4FA-971B9AE28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0895B-8B42-6919-5C21-83B55FD0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D10F2-6305-6F34-115F-CF80B3EE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6CE22-6FEF-9355-ECC1-92DBC0A0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7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17D6-B6F9-5A3C-8B88-AD28A7D4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E8E05-09B4-7E2E-DD40-7F310730D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67BC1-8544-4280-296C-B6C656882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0398B-1B78-6A18-12F8-A87D38BF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3807B-B291-637C-20F5-F87F4F37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57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05D2-1CAE-A718-7046-57223D063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E6E95-B1CC-B8E6-61F8-17E561509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B599E-DCEC-1D41-9047-50E844596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63410-1551-2FD9-A50A-9DD6CF53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AF750-50AE-9343-1AA4-18ADEB69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466ED-73A4-4B49-B4DB-07AE8197F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12D3-D505-32C1-6B5A-AA852C5E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8C467-57E1-698E-E401-B6784F047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53AF1-1FCD-729C-8CAD-3EB15A3E4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58ACB-1C46-72FE-3183-422B055FC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23006-355A-6F53-A4B7-C067F3FF4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742E2-51E2-4B3F-36C9-3882360C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C6783-8154-5EF9-F57D-E99DA639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74C98-8A20-71CB-96DF-04A27D11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8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BD9B-0786-CE73-D31F-9B5B12A5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639D2-FAB2-49F5-7F31-8423BB93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F7862-128D-55D3-C2DE-E472FCED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DE38A-6D23-0D74-671A-F15C61F1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9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45A3E-3658-CB19-2162-A57AE088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56642-3DB2-F7D2-DA60-AB34C2E05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30906-CA61-BDD7-809D-5FF69122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1CA7-3B40-5E36-8754-FBB4AC3B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87FB3-E967-0001-78FA-BB78E23A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0EAD1-DB07-4426-D921-125C5EEC8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83182-5E09-A74C-15A2-C64877FD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C37F8-10DE-2553-C9E5-A8E1DB06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D5EF3-4801-DFB1-91F7-F78FE204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6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E3B8-D351-634B-7126-C3D11D40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F26A0-F39F-FB5A-D9D2-280FF9EF7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B5DB3-E291-D644-0AA9-1EEAD445B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CA772-2E24-9E98-2FF3-C9A80156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538C2-8113-A03F-FE4C-D14B42A0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9747C-5C1E-3FC1-981A-EE3FADCF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6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5032-9500-D3AE-8693-AB5BFA74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72C64-A339-A30B-8EF3-9E4EDB93F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4E992-B19A-EBE4-89A5-D82F4C27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706D-A444-6DE1-0824-E1B7B5C6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536BC-C281-E892-1D7C-EBF45591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7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EF752C-5C3D-8396-68AB-64671A99E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F8232-8D0E-3B29-3E59-7797FA34A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1238-18ED-DC5A-CFDF-78175BEF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B27F8-37B4-000D-4B7E-EE19D46A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A45D0-AC88-2ACD-4FDB-9150BBE6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1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97E1B-B6AF-9733-75F5-3C8FC403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5B2A5-193C-6B24-1BCF-DEB34BEB8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2F3E-39C1-59C0-B4AF-CAF4844B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1205BE4E-4704-4F0B-B7F5-9A4EE53A526B}" type="datetimeFigureOut">
              <a:rPr lang="en-US" smtClean="0"/>
              <a:pPr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9BFFF-20A3-1EB1-6E78-A64681E72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DE764-E1F0-4215-2D43-056031F8A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D9A67D05-8255-4040-9E3C-789633FCF2D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3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Capstone%20ERD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6337CC4-6970-59CB-E0C4-2BEEEC08C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pPr algn="r"/>
            <a:r>
              <a:rPr lang="en-US" sz="3200" dirty="0"/>
              <a:t>IoT Monitoring Dashboard</a:t>
            </a:r>
            <a:br>
              <a:rPr lang="en-US" sz="3200" dirty="0"/>
            </a:br>
            <a:r>
              <a:rPr lang="en-US" sz="3200" dirty="0"/>
              <a:t>Capstone Project — Milestone Progress Update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BFE61F-4CD1-4722-C8FB-272C1CA92DB0}"/>
              </a:ext>
            </a:extLst>
          </p:cNvPr>
          <p:cNvSpPr txBox="1"/>
          <p:nvPr/>
        </p:nvSpPr>
        <p:spPr>
          <a:xfrm>
            <a:off x="6536507" y="4109780"/>
            <a:ext cx="42652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ndara" panose="020E0502030303020204" pitchFamily="34" charset="0"/>
              </a:rPr>
              <a:t>Program BAS  Application Development</a:t>
            </a:r>
          </a:p>
          <a:p>
            <a:r>
              <a:rPr lang="en-US" b="1" dirty="0">
                <a:latin typeface="Candara" panose="020E0502030303020204" pitchFamily="34" charset="0"/>
              </a:rPr>
              <a:t>Course </a:t>
            </a:r>
            <a:r>
              <a:rPr lang="en-US" dirty="0">
                <a:latin typeface="Candara" panose="020E0502030303020204" pitchFamily="34" charset="0"/>
              </a:rPr>
              <a:t> CSI-492 Senior Capstone Project</a:t>
            </a:r>
            <a:endParaRPr lang="en-US" b="1" dirty="0">
              <a:latin typeface="Candara" panose="020E0502030303020204" pitchFamily="34" charset="0"/>
            </a:endParaRPr>
          </a:p>
          <a:p>
            <a:r>
              <a:rPr lang="en-US" b="1" dirty="0">
                <a:latin typeface="Candara" panose="020E0502030303020204" pitchFamily="34" charset="0"/>
              </a:rPr>
              <a:t>Student </a:t>
            </a:r>
            <a:r>
              <a:rPr lang="en-US" sz="1800" dirty="0">
                <a:latin typeface="Candara" panose="020E0502030303020204" pitchFamily="34" charset="0"/>
              </a:rPr>
              <a:t> Quoc Bao Tran</a:t>
            </a:r>
            <a:br>
              <a:rPr lang="en-US" sz="1800" dirty="0">
                <a:latin typeface="Candara" panose="020E0502030303020204" pitchFamily="34" charset="0"/>
              </a:rPr>
            </a:br>
            <a:r>
              <a:rPr lang="en-US" sz="1800" b="1" dirty="0">
                <a:latin typeface="Candara" panose="020E0502030303020204" pitchFamily="34" charset="0"/>
              </a:rPr>
              <a:t>Date</a:t>
            </a:r>
            <a:r>
              <a:rPr lang="en-US" b="1" dirty="0">
                <a:latin typeface="Candara" panose="020E0502030303020204" pitchFamily="34" charset="0"/>
              </a:rPr>
              <a:t> </a:t>
            </a:r>
            <a:r>
              <a:rPr lang="en-US" sz="1800" dirty="0">
                <a:latin typeface="Candara" panose="020E0502030303020204" pitchFamily="34" charset="0"/>
              </a:rPr>
              <a:t> 5/3</a:t>
            </a:r>
            <a:br>
              <a:rPr lang="en-US" sz="1800" dirty="0">
                <a:latin typeface="Candara" panose="020E0502030303020204" pitchFamily="34" charset="0"/>
              </a:rPr>
            </a:br>
            <a:endParaRPr 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0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C347-6049-4427-8635-E5A35DE9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Schedule Update</a:t>
            </a:r>
            <a:br>
              <a:rPr lang="en-US" dirty="0"/>
            </a:br>
            <a:r>
              <a:rPr lang="en-US" dirty="0"/>
              <a:t>Status: On track for final presentation 6/17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24C5E2-0B9C-3E3C-38E9-8AACB959B7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554918"/>
              </p:ext>
            </p:extLst>
          </p:nvPr>
        </p:nvGraphicFramePr>
        <p:xfrm>
          <a:off x="838200" y="1690688"/>
          <a:ext cx="9194799" cy="475378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105385">
                  <a:extLst>
                    <a:ext uri="{9D8B030D-6E8A-4147-A177-3AD203B41FA5}">
                      <a16:colId xmlns:a16="http://schemas.microsoft.com/office/drawing/2014/main" val="3415123503"/>
                    </a:ext>
                  </a:extLst>
                </a:gridCol>
                <a:gridCol w="733574">
                  <a:extLst>
                    <a:ext uri="{9D8B030D-6E8A-4147-A177-3AD203B41FA5}">
                      <a16:colId xmlns:a16="http://schemas.microsoft.com/office/drawing/2014/main" val="2252890228"/>
                    </a:ext>
                  </a:extLst>
                </a:gridCol>
                <a:gridCol w="160783">
                  <a:extLst>
                    <a:ext uri="{9D8B030D-6E8A-4147-A177-3AD203B41FA5}">
                      <a16:colId xmlns:a16="http://schemas.microsoft.com/office/drawing/2014/main" val="233549650"/>
                    </a:ext>
                  </a:extLst>
                </a:gridCol>
                <a:gridCol w="2914200">
                  <a:extLst>
                    <a:ext uri="{9D8B030D-6E8A-4147-A177-3AD203B41FA5}">
                      <a16:colId xmlns:a16="http://schemas.microsoft.com/office/drawing/2014/main" val="2230558247"/>
                    </a:ext>
                  </a:extLst>
                </a:gridCol>
                <a:gridCol w="82556">
                  <a:extLst>
                    <a:ext uri="{9D8B030D-6E8A-4147-A177-3AD203B41FA5}">
                      <a16:colId xmlns:a16="http://schemas.microsoft.com/office/drawing/2014/main" val="764695759"/>
                    </a:ext>
                  </a:extLst>
                </a:gridCol>
                <a:gridCol w="4198301">
                  <a:extLst>
                    <a:ext uri="{9D8B030D-6E8A-4147-A177-3AD203B41FA5}">
                      <a16:colId xmlns:a16="http://schemas.microsoft.com/office/drawing/2014/main" val="2176508648"/>
                    </a:ext>
                  </a:extLst>
                </a:gridCol>
              </a:tblGrid>
              <a:tr h="507611"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Candara" panose="020E0502030303020204" pitchFamily="34" charset="0"/>
                        </a:rPr>
                        <a:t>Project Progress Update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162153"/>
                  </a:ext>
                </a:extLst>
              </a:tr>
              <a:tr h="507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Time Period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Dates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Focus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Status/Progress Update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656341426"/>
                  </a:ext>
                </a:extLst>
              </a:tr>
              <a:tr h="599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Week 1–2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4/6 – 4/19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Planning — project charter, requirements, architecture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Project charter approved; requirements documented; architecture defined (MQTT → API → SQL → SignalR → React).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46409660"/>
                  </a:ext>
                </a:extLst>
              </a:tr>
              <a:tr h="507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Week 3–4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4/20 – 5/3</a:t>
                      </a:r>
                      <a:endParaRPr lang="en-US" sz="1400" b="0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Data — SQL Server schema, EF Core entities, migrations, seed/test data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SQL schema designed; EF Core entities &amp; migrations applied; seed/test data loaded.</a:t>
                      </a:r>
                      <a:endParaRPr lang="en-US" sz="1400" b="0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4095849199"/>
                  </a:ext>
                </a:extLst>
              </a:tr>
              <a:tr h="599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5–6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5/4 – 5/17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Backend — repositories, services, REST API, MQTT ingest, command dispatch,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, alerts.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894355771"/>
                  </a:ext>
                </a:extLst>
              </a:tr>
              <a:tr h="507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7–8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5/18 – 5/31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Frontend — React dashboard, auth, live charts, devices, commands, alerts UI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584845573"/>
                  </a:ext>
                </a:extLst>
              </a:tr>
              <a:tr h="599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9–10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6/1 – 6/14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Integration &amp; testing — Arduino ↔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Mosquitto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 ↔ API ↔ SQL ↔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 ↔ UI (end-to-end)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042205481"/>
                  </a:ext>
                </a:extLst>
              </a:tr>
              <a:tr h="599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11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6/15 – 6/19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Documentation &amp; presentation — final docs, polish, demo prep → Final presentation 6/17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483397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4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0053F-A8D9-F784-54BD-36242419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Milestone 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3A38C-3951-0463-71C7-4C51FD01E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r>
              <a:rPr lang="en-US" sz="1800" dirty="0"/>
              <a:t>Status: Completed</a:t>
            </a:r>
          </a:p>
          <a:p>
            <a:r>
              <a:rPr lang="en-US" sz="1800" dirty="0"/>
              <a:t>Goal: Build the database layer to store devices, sensors, readings, alerts, commands, actuators, and users.</a:t>
            </a:r>
          </a:p>
          <a:p>
            <a:r>
              <a:rPr lang="en-US" sz="1800" dirty="0"/>
              <a:t>Completed work:</a:t>
            </a:r>
          </a:p>
          <a:p>
            <a:pPr lvl="1"/>
            <a:r>
              <a:rPr lang="en-US" sz="1800" dirty="0"/>
              <a:t>Designed SQL Server schema (</a:t>
            </a:r>
            <a:r>
              <a:rPr lang="en-US" sz="1800" dirty="0" err="1"/>
              <a:t>IoTMonitoringDB</a:t>
            </a:r>
            <a:r>
              <a:rPr lang="en-US" sz="1800" dirty="0"/>
              <a:t> on </a:t>
            </a:r>
            <a:r>
              <a:rPr lang="en-US" sz="1800" dirty="0" err="1"/>
              <a:t>LocalDB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Created EF Core entities (Device, Sensor, </a:t>
            </a:r>
            <a:r>
              <a:rPr lang="en-US" sz="1800" dirty="0" err="1"/>
              <a:t>SensorReading</a:t>
            </a:r>
            <a:r>
              <a:rPr lang="en-US" sz="1800" dirty="0"/>
              <a:t>, Alert, AlertRule, </a:t>
            </a:r>
            <a:r>
              <a:rPr lang="en-US" sz="1800" dirty="0" err="1"/>
              <a:t>DeviceCommand</a:t>
            </a:r>
            <a:r>
              <a:rPr lang="en-US" sz="1800" dirty="0"/>
              <a:t>, Actuator, User, etc.)</a:t>
            </a:r>
          </a:p>
          <a:p>
            <a:pPr lvl="1"/>
            <a:r>
              <a:rPr lang="en-US" sz="1800" dirty="0"/>
              <a:t>Configured </a:t>
            </a:r>
            <a:r>
              <a:rPr lang="en-US" sz="1800" dirty="0" err="1"/>
              <a:t>ApplicationDbContext</a:t>
            </a:r>
            <a:r>
              <a:rPr lang="en-US" sz="1800" dirty="0"/>
              <a:t> with </a:t>
            </a:r>
            <a:r>
              <a:rPr lang="en-US" sz="1800" dirty="0" err="1"/>
              <a:t>DbSet</a:t>
            </a:r>
            <a:r>
              <a:rPr lang="en-US" sz="1800" dirty="0"/>
              <a:t> tables, foreign keys, and delete rules</a:t>
            </a:r>
          </a:p>
          <a:p>
            <a:pPr lvl="1"/>
            <a:r>
              <a:rPr lang="en-US" sz="1800" dirty="0"/>
              <a:t>Applied EF Core migrations (</a:t>
            </a:r>
            <a:r>
              <a:rPr lang="en-US" sz="1800" dirty="0" err="1"/>
              <a:t>InitialCreate</a:t>
            </a:r>
            <a:r>
              <a:rPr lang="en-US" sz="1800" dirty="0"/>
              <a:t> and follow-on updates)</a:t>
            </a:r>
          </a:p>
          <a:p>
            <a:pPr lvl="1"/>
            <a:r>
              <a:rPr lang="en-US" sz="1800" dirty="0"/>
              <a:t>Prepared seed/test data and reset scripts (Documents/database/) for repeatable testing with Arduino/API</a:t>
            </a:r>
          </a:p>
          <a:p>
            <a:r>
              <a:rPr lang="en-US" sz="1800" dirty="0"/>
              <a:t>Progress (schedule table): SQL schema designed; EF entities &amp; migrations applied; seed/test data and reset scripts ready.</a:t>
            </a:r>
          </a:p>
        </p:txBody>
      </p:sp>
    </p:spTree>
    <p:extLst>
      <p:ext uri="{BB962C8B-B14F-4D97-AF65-F5344CB8AC3E}">
        <p14:creationId xmlns:p14="http://schemas.microsoft.com/office/powerpoint/2010/main" val="2400256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B59F-C312-D06A-BB7D-286D6192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Evidence / Screenshot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2DEF4-DFD8-36EF-44B5-609419886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375" y="2358813"/>
            <a:ext cx="2924583" cy="4124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A522B-3666-10CC-771B-6A934F4205DE}"/>
              </a:ext>
            </a:extLst>
          </p:cNvPr>
          <p:cNvSpPr txBox="1"/>
          <p:nvPr/>
        </p:nvSpPr>
        <p:spPr>
          <a:xfrm>
            <a:off x="1363134" y="1596245"/>
            <a:ext cx="2924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 latinLnBrk="0">
              <a:buNone/>
            </a:pPr>
            <a:r>
              <a:rPr lang="en-US" b="1" dirty="0">
                <a:effectLst/>
                <a:latin typeface="Candara" panose="020E0502030303020204" pitchFamily="34" charset="0"/>
                <a:hlinkClick r:id="rId3" action="ppaction://hlinkfile"/>
              </a:rPr>
              <a:t>Fig. 1 — ERD Design</a:t>
            </a:r>
            <a:r>
              <a:rPr lang="en-US" b="1" dirty="0">
                <a:effectLst/>
                <a:latin typeface="Candara" panose="020E0502030303020204" pitchFamily="34" charset="0"/>
              </a:rPr>
              <a:t> </a:t>
            </a:r>
          </a:p>
          <a:p>
            <a:pPr algn="l" fontAlgn="t" latinLnBrk="0">
              <a:buNone/>
            </a:pPr>
            <a:r>
              <a:rPr lang="en-US" b="1" dirty="0">
                <a:effectLst/>
                <a:latin typeface="Candara" panose="020E0502030303020204" pitchFamily="34" charset="0"/>
              </a:rPr>
              <a:t>Ctr + click link so see full</a:t>
            </a:r>
            <a:endParaRPr lang="en-US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69948B-511E-3CEB-5F6D-08382539266A}"/>
              </a:ext>
            </a:extLst>
          </p:cNvPr>
          <p:cNvSpPr txBox="1"/>
          <p:nvPr/>
        </p:nvSpPr>
        <p:spPr>
          <a:xfrm>
            <a:off x="6326620" y="1605645"/>
            <a:ext cx="335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 latinLnBrk="0">
              <a:buNone/>
            </a:pPr>
            <a:r>
              <a:rPr lang="en-US" b="1" dirty="0">
                <a:effectLst/>
                <a:latin typeface="Candara" panose="020E0502030303020204" pitchFamily="34" charset="0"/>
              </a:rPr>
              <a:t>Fig. 2 — Implementation</a:t>
            </a:r>
          </a:p>
          <a:p>
            <a:pPr algn="l" fontAlgn="t" latinLnBrk="0">
              <a:buNone/>
            </a:pPr>
            <a:r>
              <a:rPr lang="en-US" b="1" dirty="0">
                <a:latin typeface="Candara" panose="020E0502030303020204" pitchFamily="34" charset="0"/>
              </a:rPr>
              <a:t>         Tables in In SQL</a:t>
            </a:r>
            <a:endParaRPr lang="en-US" dirty="0">
              <a:effectLst/>
            </a:endParaRPr>
          </a:p>
        </p:txBody>
      </p:sp>
      <p:pic>
        <p:nvPicPr>
          <p:cNvPr id="16" name="Picture 15" descr="Room Monitor loT Device.&#10;&#10;AI-generated content may be incorrect.">
            <a:extLst>
              <a:ext uri="{FF2B5EF4-FFF2-40B4-BE49-F238E27FC236}">
                <a16:creationId xmlns:a16="http://schemas.microsoft.com/office/drawing/2014/main" id="{C2A95175-D7E0-ADEF-7A80-3FE542C37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273" y="2358813"/>
            <a:ext cx="6658527" cy="397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9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8D512-02F1-8A87-C6BF-81121CBC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Problems &amp; solutions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DF1037-46F8-7255-BE87-FAE88A55BF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3055281"/>
              </p:ext>
            </p:extLst>
          </p:nvPr>
        </p:nvGraphicFramePr>
        <p:xfrm>
          <a:off x="1045633" y="1996440"/>
          <a:ext cx="10100734" cy="2865120"/>
        </p:xfrm>
        <a:graphic>
          <a:graphicData uri="http://schemas.openxmlformats.org/drawingml/2006/table">
            <a:tbl>
              <a:tblPr/>
              <a:tblGrid>
                <a:gridCol w="5050367">
                  <a:extLst>
                    <a:ext uri="{9D8B030D-6E8A-4147-A177-3AD203B41FA5}">
                      <a16:colId xmlns:a16="http://schemas.microsoft.com/office/drawing/2014/main" val="2449171919"/>
                    </a:ext>
                  </a:extLst>
                </a:gridCol>
                <a:gridCol w="5050367">
                  <a:extLst>
                    <a:ext uri="{9D8B030D-6E8A-4147-A177-3AD203B41FA5}">
                      <a16:colId xmlns:a16="http://schemas.microsoft.com/office/drawing/2014/main" val="147207150"/>
                    </a:ext>
                  </a:extLst>
                </a:gridCol>
              </a:tblGrid>
              <a:tr h="4223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 dirty="0">
                          <a:effectLst/>
                          <a:latin typeface="Candara" panose="020E0502030303020204" pitchFamily="34" charset="0"/>
                        </a:rPr>
                        <a:t>Problem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 dirty="0">
                          <a:effectLst/>
                          <a:latin typeface="Candara" panose="020E0502030303020204" pitchFamily="34" charset="0"/>
                        </a:rPr>
                        <a:t>Solution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68957"/>
                  </a:ext>
                </a:extLst>
              </a:tr>
              <a:tr h="859287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Entity relationships unclear (Device → Sensor → Reading)</a:t>
                      </a:r>
                    </a:p>
                    <a:p>
                      <a:pPr algn="l" fontAlgn="t" latinLnBrk="0">
                        <a:buNone/>
                      </a:pPr>
                      <a:endParaRPr lang="en-US" dirty="0"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Mapped FKs in </a:t>
                      </a: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  <a:latin typeface="Consolas" panose="020B0609020204030204" pitchFamily="49" charset="0"/>
                        </a:rPr>
                        <a:t>ApplicationDbContext</a:t>
                      </a: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 and verified with initial migration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85607"/>
                  </a:ext>
                </a:extLst>
              </a:tr>
              <a:tr h="859287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>
                          <a:effectLst/>
                          <a:latin typeface="Candara" panose="020E0502030303020204" pitchFamily="34" charset="0"/>
                        </a:rPr>
                        <a:t>Test data IDs did not match Arduino </a:t>
                      </a:r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Consolas" panose="020B0609020204030204" pitchFamily="49" charset="0"/>
                        </a:rPr>
                        <a:t>DEVICE_ID</a:t>
                      </a:r>
                      <a:r>
                        <a:rPr lang="en-US">
                          <a:effectLst/>
                          <a:latin typeface="Candara" panose="020E0502030303020204" pitchFamily="34" charset="0"/>
                        </a:rPr>
                        <a:t> / </a:t>
                      </a:r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Consolas" panose="020B0609020204030204" pitchFamily="49" charset="0"/>
                        </a:rPr>
                        <a:t>SENSOR_ID</a:t>
                      </a:r>
                    </a:p>
                    <a:p>
                      <a:pPr algn="l" fontAlgn="t" latinLnBrk="0">
                        <a:buNone/>
                      </a:pPr>
                      <a:endParaRPr lang="en-US" dirty="0"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Aligned sketch constants to DB IDs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983842"/>
                  </a:ext>
                </a:extLst>
              </a:tr>
              <a:tr h="597132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Migration errors after schema changes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Re-ran 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Consolas" panose="020B0609020204030204" pitchFamily="49" charset="0"/>
                        </a:rPr>
                        <a:t>dotnet </a:t>
                      </a: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  <a:latin typeface="Consolas" panose="020B0609020204030204" pitchFamily="49" charset="0"/>
                        </a:rPr>
                        <a:t>ef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Consolas" panose="020B0609020204030204" pitchFamily="49" charset="0"/>
                        </a:rPr>
                        <a:t> database update</a:t>
                      </a: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; used reset script for clean local testing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903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11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8F402-D6C1-A205-7F40-C1EBBC8A8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Barriers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56FB2-3178-80A0-BA8D-9B0908137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No other critical blockers at this milestone.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8518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12B1-4C32-504B-C9A7-382710499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Reflection &amp; next steps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2CFE5-29DA-5816-1C14-28525DDA2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4234" y="2430327"/>
            <a:ext cx="8597630" cy="1997345"/>
          </a:xfrm>
        </p:spPr>
        <p:txBody>
          <a:bodyPr>
            <a:normAutofit/>
          </a:bodyPr>
          <a:lstStyle/>
          <a:p>
            <a:r>
              <a:rPr lang="en-US" sz="1800" dirty="0"/>
              <a:t>Learned: Data model must match MQTT topics and API DTOs early; good schema reduces backend/frontend rework.</a:t>
            </a:r>
          </a:p>
          <a:p>
            <a:endParaRPr lang="en-US" sz="1800" dirty="0"/>
          </a:p>
          <a:p>
            <a:r>
              <a:rPr lang="en-US" sz="1800" dirty="0"/>
              <a:t>Next (Week 5–6): Repositories, services, REST API, MQTT ingest, </a:t>
            </a:r>
            <a:r>
              <a:rPr lang="en-US" sz="1800" dirty="0" err="1"/>
              <a:t>SignalR</a:t>
            </a:r>
            <a:r>
              <a:rPr lang="en-US" sz="1800" dirty="0"/>
              <a:t>, and alerts.</a:t>
            </a:r>
          </a:p>
        </p:txBody>
      </p:sp>
    </p:spTree>
    <p:extLst>
      <p:ext uri="{BB962C8B-B14F-4D97-AF65-F5344CB8AC3E}">
        <p14:creationId xmlns:p14="http://schemas.microsoft.com/office/powerpoint/2010/main" val="280392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499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Candara</vt:lpstr>
      <vt:lpstr>Consolas</vt:lpstr>
      <vt:lpstr>Office Theme</vt:lpstr>
      <vt:lpstr>IoT Monitoring Dashboard Capstone Project — Milestone Progress Update </vt:lpstr>
      <vt:lpstr>Schedule Update Status: On track for final presentation 6/17</vt:lpstr>
      <vt:lpstr>Milestone Summary </vt:lpstr>
      <vt:lpstr>Evidence / Screenshot </vt:lpstr>
      <vt:lpstr>Problems &amp; solutions </vt:lpstr>
      <vt:lpstr>Barriers </vt:lpstr>
      <vt:lpstr>Reflection &amp;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Quoc Bao Tran</dc:creator>
  <cp:lastModifiedBy>Quoc Bao Tran</cp:lastModifiedBy>
  <cp:revision>59</cp:revision>
  <dcterms:created xsi:type="dcterms:W3CDTF">2026-05-29T11:10:25Z</dcterms:created>
  <dcterms:modified xsi:type="dcterms:W3CDTF">2026-05-29T20:16:51Z</dcterms:modified>
</cp:coreProperties>
</file>