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78" autoAdjust="0"/>
    <p:restoredTop sz="94660"/>
  </p:normalViewPr>
  <p:slideViewPr>
    <p:cSldViewPr snapToGrid="0">
      <p:cViewPr varScale="1">
        <p:scale>
          <a:sx n="90" d="100"/>
          <a:sy n="90" d="100"/>
        </p:scale>
        <p:origin x="36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FD187-1E4A-96A8-8885-7144375CB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2C6B92-48EC-66C7-800A-C6368A72A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7F5CC-CE16-22A4-4509-9087B2521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3BD02-BE40-70AE-5631-9703FA9B5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8884A1-F96A-B014-004B-3774F67F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758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D7415-75E9-7FE0-2935-D5E0DD2C0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22A1F-BBE4-38D4-F4FA-971B9AE28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0895B-8B42-6919-5C21-83B55FD05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D10F2-6305-6F34-115F-CF80B3EEA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6CE22-6FEF-9355-ECC1-92DBC0A0A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876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17D6-B6F9-5A3C-8B88-AD28A7D4B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E8E05-09B4-7E2E-DD40-7F310730D0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67BC1-8544-4280-296C-B6C656882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398B-1B78-6A18-12F8-A87D38BF5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3807B-B291-637C-20F5-F87F4F37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57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405D2-1CAE-A718-7046-57223D063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E6E95-B1CC-B8E6-61F8-17E561509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8B599E-DCEC-1D41-9047-50E8445969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963410-1551-2FD9-A50A-9DD6CF53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9AF750-50AE-9343-1AA4-18ADEB695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466ED-73A4-4B49-B4DB-07AE8197F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20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512D3-D505-32C1-6B5A-AA852C5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8C467-57E1-698E-E401-B6784F047B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53AF1-1FCD-729C-8CAD-3EB15A3E4D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F58ACB-1C46-72FE-3183-422B055FCF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223006-355A-6F53-A4B7-C067F3FF49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742E2-51E2-4B3F-36C9-3882360CC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7C6783-8154-5EF9-F57D-E99DA6397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A74C98-8A20-71CB-96DF-04A27D11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28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BBD9B-0786-CE73-D31F-9B5B12A5D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639D2-FAB2-49F5-7F31-8423BB93E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9F7862-128D-55D3-C2DE-E472FCEDC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1DE38A-6D23-0D74-671A-F15C61F19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97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45A3E-3658-CB19-2162-A57AE0888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D56642-3DB2-F7D2-DA60-AB34C2E05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30906-CA61-BDD7-809D-5FF69122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4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11CA7-3B40-5E36-8754-FBB4AC3B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87FB3-E967-0001-78FA-BB78E23A2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0EAD1-DB07-4426-D921-125C5EEC8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83182-5E09-A74C-15A2-C64877FDC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5C37F8-10DE-2553-C9E5-A8E1DB06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D5EF3-4801-DFB1-91F7-F78FE204C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863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0E3B8-D351-634B-7126-C3D11D40B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DF26A0-F39F-FB5A-D9D2-280FF9EF78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B5DB3-E291-D644-0AA9-1EEAD445B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CA772-2E24-9E98-2FF3-C9A80156A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538C2-8113-A03F-FE4C-D14B42A06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9747C-5C1E-3FC1-981A-EE3FADCFC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563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15032-9500-D3AE-8693-AB5BFA744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572C64-A339-A30B-8EF3-9E4EDB93FA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4E992-B19A-EBE4-89A5-D82F4C279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9706D-A444-6DE1-0824-E1B7B5C63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536BC-C281-E892-1D7C-EBF45591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75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EF752C-5C3D-8396-68AB-64671A99E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F8232-8D0E-3B29-3E59-7797FA34A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C1238-18ED-DC5A-CFDF-78175BEF0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B27F8-37B4-000D-4B7E-EE19D46AD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A45D0-AC88-2ACD-4FDB-9150BBE6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1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897E1B-B6AF-9733-75F5-3C8FC4033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5B2A5-193C-6B24-1BCF-DEB34BEB8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2F3E-39C1-59C0-B4AF-CAF4844BF6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1205BE4E-4704-4F0B-B7F5-9A4EE53A526B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9BFFF-20A3-1EB1-6E78-A64681E72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DE764-E1F0-4215-2D43-056031F8AC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D9A67D05-8255-4040-9E3C-789633FCF2D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038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ndara" panose="020E0502030303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6337CC4-6970-59CB-E0C4-2BEEEC08C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499600" cy="2154238"/>
          </a:xfrm>
        </p:spPr>
        <p:txBody>
          <a:bodyPr>
            <a:normAutofit/>
          </a:bodyPr>
          <a:lstStyle/>
          <a:p>
            <a:pPr algn="r"/>
            <a:r>
              <a:rPr lang="en-US" sz="3200" b="1" dirty="0">
                <a:latin typeface="Candara" panose="020E0502030303020204" pitchFamily="34" charset="0"/>
              </a:rPr>
              <a:t>IoT Monitoring Dashboard</a:t>
            </a:r>
            <a:br>
              <a:rPr lang="en-US" sz="3200" dirty="0">
                <a:latin typeface="Candara" panose="020E0502030303020204" pitchFamily="34" charset="0"/>
              </a:rPr>
            </a:br>
            <a:r>
              <a:rPr lang="en-US" sz="3200" dirty="0">
                <a:latin typeface="Candara" panose="020E0502030303020204" pitchFamily="34" charset="0"/>
              </a:rPr>
              <a:t>Capstone Project — Milestone Progress Update</a:t>
            </a:r>
            <a:br>
              <a:rPr lang="en-US" sz="3200" dirty="0">
                <a:latin typeface="Candara" panose="020E0502030303020204" pitchFamily="34" charset="0"/>
              </a:rPr>
            </a:b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BFE61F-4CD1-4722-C8FB-272C1CA92DB0}"/>
              </a:ext>
            </a:extLst>
          </p:cNvPr>
          <p:cNvSpPr txBox="1"/>
          <p:nvPr/>
        </p:nvSpPr>
        <p:spPr>
          <a:xfrm>
            <a:off x="6951374" y="4092846"/>
            <a:ext cx="4265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latin typeface="Candara" panose="020E0502030303020204" pitchFamily="34" charset="0"/>
              </a:rPr>
              <a:t>Program BAS  Application Development</a:t>
            </a:r>
          </a:p>
          <a:p>
            <a:pPr algn="r"/>
            <a:r>
              <a:rPr lang="en-US" b="1" dirty="0">
                <a:latin typeface="Candara" panose="020E0502030303020204" pitchFamily="34" charset="0"/>
              </a:rPr>
              <a:t>Course </a:t>
            </a:r>
            <a:r>
              <a:rPr lang="en-US" dirty="0">
                <a:latin typeface="Candara" panose="020E0502030303020204" pitchFamily="34" charset="0"/>
              </a:rPr>
              <a:t> CSI-492 Senior Capstone Project</a:t>
            </a:r>
            <a:endParaRPr lang="en-US" b="1" dirty="0">
              <a:latin typeface="Candara" panose="020E0502030303020204" pitchFamily="34" charset="0"/>
            </a:endParaRPr>
          </a:p>
          <a:p>
            <a:pPr algn="r"/>
            <a:r>
              <a:rPr lang="en-US" b="1" dirty="0">
                <a:latin typeface="Candara" panose="020E0502030303020204" pitchFamily="34" charset="0"/>
              </a:rPr>
              <a:t>Student </a:t>
            </a:r>
            <a:r>
              <a:rPr lang="en-US" sz="1800" dirty="0">
                <a:latin typeface="Candara" panose="020E0502030303020204" pitchFamily="34" charset="0"/>
              </a:rPr>
              <a:t> Quoc Bao Tran</a:t>
            </a:r>
            <a:br>
              <a:rPr lang="en-US" sz="1800" dirty="0">
                <a:latin typeface="Candara" panose="020E0502030303020204" pitchFamily="34" charset="0"/>
              </a:rPr>
            </a:br>
            <a:r>
              <a:rPr lang="en-US" sz="1800" b="1" dirty="0">
                <a:latin typeface="Candara" panose="020E0502030303020204" pitchFamily="34" charset="0"/>
              </a:rPr>
              <a:t>Date</a:t>
            </a:r>
            <a:r>
              <a:rPr lang="en-US" b="1" dirty="0">
                <a:latin typeface="Candara" panose="020E0502030303020204" pitchFamily="34" charset="0"/>
              </a:rPr>
              <a:t> </a:t>
            </a:r>
            <a:r>
              <a:rPr lang="en-US" sz="1800" dirty="0">
                <a:latin typeface="Candara" panose="020E0502030303020204" pitchFamily="34" charset="0"/>
              </a:rPr>
              <a:t> </a:t>
            </a:r>
            <a:r>
              <a:rPr lang="en-US" dirty="0">
                <a:latin typeface="Candara" panose="020E0502030303020204" pitchFamily="34" charset="0"/>
              </a:rPr>
              <a:t> 5/31</a:t>
            </a:r>
            <a:br>
              <a:rPr lang="en-US" sz="1800" dirty="0">
                <a:latin typeface="Candara" panose="020E0502030303020204" pitchFamily="34" charset="0"/>
              </a:rPr>
            </a:br>
            <a:endParaRPr 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6306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BC347-6049-4427-8635-E5A35DE98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8168" y="365125"/>
            <a:ext cx="9319931" cy="1325563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Candara" panose="020E0502030303020204" pitchFamily="34" charset="0"/>
              </a:rPr>
              <a:t>Schedule Update</a:t>
            </a:r>
            <a:br>
              <a:rPr lang="en-US" sz="3200" dirty="0">
                <a:latin typeface="Candara" panose="020E0502030303020204" pitchFamily="34" charset="0"/>
              </a:rPr>
            </a:br>
            <a:r>
              <a:rPr lang="en-US" sz="3200" b="1" dirty="0">
                <a:latin typeface="Candara" panose="020E0502030303020204" pitchFamily="34" charset="0"/>
              </a:rPr>
              <a:t>Status:</a:t>
            </a:r>
            <a:r>
              <a:rPr lang="en-US" sz="3200" dirty="0">
                <a:latin typeface="Candara" panose="020E0502030303020204" pitchFamily="34" charset="0"/>
              </a:rPr>
              <a:t> On track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424C5E2-0B9C-3E3C-38E9-8AACB959B7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3565040"/>
              </p:ext>
            </p:extLst>
          </p:nvPr>
        </p:nvGraphicFramePr>
        <p:xfrm>
          <a:off x="1469908" y="1656820"/>
          <a:ext cx="9319930" cy="48627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0429">
                  <a:extLst>
                    <a:ext uri="{9D8B030D-6E8A-4147-A177-3AD203B41FA5}">
                      <a16:colId xmlns:a16="http://schemas.microsoft.com/office/drawing/2014/main" val="3415123503"/>
                    </a:ext>
                  </a:extLst>
                </a:gridCol>
                <a:gridCol w="830202">
                  <a:extLst>
                    <a:ext uri="{9D8B030D-6E8A-4147-A177-3AD203B41FA5}">
                      <a16:colId xmlns:a16="http://schemas.microsoft.com/office/drawing/2014/main" val="2252890228"/>
                    </a:ext>
                  </a:extLst>
                </a:gridCol>
                <a:gridCol w="237067">
                  <a:extLst>
                    <a:ext uri="{9D8B030D-6E8A-4147-A177-3AD203B41FA5}">
                      <a16:colId xmlns:a16="http://schemas.microsoft.com/office/drawing/2014/main" val="233549650"/>
                    </a:ext>
                  </a:extLst>
                </a:gridCol>
                <a:gridCol w="2793117">
                  <a:extLst>
                    <a:ext uri="{9D8B030D-6E8A-4147-A177-3AD203B41FA5}">
                      <a16:colId xmlns:a16="http://schemas.microsoft.com/office/drawing/2014/main" val="2230558247"/>
                    </a:ext>
                  </a:extLst>
                </a:gridCol>
                <a:gridCol w="132414">
                  <a:extLst>
                    <a:ext uri="{9D8B030D-6E8A-4147-A177-3AD203B41FA5}">
                      <a16:colId xmlns:a16="http://schemas.microsoft.com/office/drawing/2014/main" val="764695759"/>
                    </a:ext>
                  </a:extLst>
                </a:gridCol>
                <a:gridCol w="4206701">
                  <a:extLst>
                    <a:ext uri="{9D8B030D-6E8A-4147-A177-3AD203B41FA5}">
                      <a16:colId xmlns:a16="http://schemas.microsoft.com/office/drawing/2014/main" val="2176508648"/>
                    </a:ext>
                  </a:extLst>
                </a:gridCol>
              </a:tblGrid>
              <a:tr h="543917">
                <a:tc grid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andara" panose="020E0502030303020204" pitchFamily="34" charset="0"/>
                        </a:rPr>
                        <a:t>Project Progress Update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9162153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Time Period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Dates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Focus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Status/Progress Update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656341426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Week 1–2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4/6 – 4/19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Planning — project charter, requirements, architecture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Project charter approved; requirements documented; architecture defined (MQTT → API → SQL → SignalR → React).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6409660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3–4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4/20 – 5/3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Data — SQL Server schema, EF Core entities, migrations, seed/test data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SQL schema designed; EF Core entities &amp; migrations applied; seed/test data loaded.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095849199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5–6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5/4 – 5/17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Backend — repositories, services, REST API, MQTT ingest, command dispatch,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, alerts.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Repositories &amp; services implemented; REST API live; MQTT ingest &amp; command dispatch working;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 hub &amp; alert evaluation connected.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894355771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Week 7–8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5/18 – 5/31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Frontend — React dashboard, auth, live charts, devices, commands, alerts UI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React dashboard built; JWT auth integrated; live charts via </a:t>
                      </a:r>
                      <a:r>
                        <a:rPr lang="en-US" sz="1400" b="1" u="none" strike="noStrike" dirty="0" err="1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; device, command, and alert pages functional.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584845573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9–10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6/1 – 6/14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Integration &amp; testing — Arduino ↔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Mosquitto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 ↔ API ↔ SQL ↔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 ↔ UI (end-to-end)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042205481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11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6/15 – 6/19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Documentation &amp; presentation — final docs, polish, demo prep → Final presentation 6/17 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483397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445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975F0-B3D3-B0EE-B194-8132CD0F9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Milestone summary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C4CB1-CC27-0360-6862-BE9375A51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endParaRPr lang="en-US" sz="1600" dirty="0"/>
          </a:p>
          <a:p>
            <a:r>
              <a:rPr lang="en-US" sz="1600" b="1" dirty="0"/>
              <a:t>Goal:</a:t>
            </a:r>
            <a:r>
              <a:rPr lang="en-US" sz="1600" dirty="0"/>
              <a:t> Build the React web dashboard so operators can log in, monitor live sensor data, manage devices, send commands, and view alerts.</a:t>
            </a:r>
          </a:p>
          <a:p>
            <a:r>
              <a:rPr lang="en-US" sz="1600" b="1" dirty="0"/>
              <a:t>Status:</a:t>
            </a:r>
            <a:r>
              <a:rPr lang="en-US" sz="1600" dirty="0"/>
              <a:t>  </a:t>
            </a:r>
            <a:r>
              <a:rPr lang="en-US" sz="1600" b="1" dirty="0"/>
              <a:t>Complete</a:t>
            </a:r>
            <a:endParaRPr lang="en-US" sz="1600" dirty="0"/>
          </a:p>
          <a:p>
            <a:r>
              <a:rPr lang="en-US" sz="1600" b="1" dirty="0"/>
              <a:t>Completed work:</a:t>
            </a:r>
            <a:endParaRPr lang="en-US" sz="1600" dirty="0"/>
          </a:p>
          <a:p>
            <a:pPr lvl="1"/>
            <a:r>
              <a:rPr lang="en-US" sz="1600" dirty="0"/>
              <a:t>Built </a:t>
            </a:r>
            <a:r>
              <a:rPr lang="en-US" sz="1600" b="1" dirty="0"/>
              <a:t>React + TypeScript</a:t>
            </a:r>
            <a:r>
              <a:rPr lang="en-US" sz="1600" dirty="0"/>
              <a:t> SPA with routing and navigation (Dashboard, Devices, Sensors, Actuators, etc.)</a:t>
            </a:r>
          </a:p>
          <a:p>
            <a:pPr lvl="1"/>
            <a:r>
              <a:rPr lang="en-US" sz="1600" dirty="0"/>
              <a:t>Implemented </a:t>
            </a:r>
            <a:r>
              <a:rPr lang="en-US" sz="1600" b="1" dirty="0"/>
              <a:t>JWT authentication</a:t>
            </a:r>
            <a:r>
              <a:rPr lang="en-US" sz="1600" dirty="0"/>
              <a:t> — login page, protected routes, admin-only user management</a:t>
            </a:r>
          </a:p>
          <a:p>
            <a:pPr lvl="1"/>
            <a:r>
              <a:rPr lang="en-US" sz="1600" dirty="0"/>
              <a:t>Connected </a:t>
            </a:r>
            <a:r>
              <a:rPr lang="en-US" sz="1600" b="1" dirty="0" err="1"/>
              <a:t>SignalR</a:t>
            </a:r>
            <a:r>
              <a:rPr lang="en-US" sz="1600" dirty="0"/>
              <a:t> for live updates (</a:t>
            </a:r>
            <a:r>
              <a:rPr lang="en-US" sz="1600" dirty="0" err="1"/>
              <a:t>SensorReadingReceived</a:t>
            </a:r>
            <a:r>
              <a:rPr lang="en-US" sz="1600" dirty="0"/>
              <a:t>) on device detail charts</a:t>
            </a:r>
          </a:p>
          <a:p>
            <a:pPr lvl="1"/>
            <a:r>
              <a:rPr lang="en-US" sz="1600" dirty="0"/>
              <a:t>Added </a:t>
            </a:r>
            <a:r>
              <a:rPr lang="en-US" sz="1600" b="1" dirty="0"/>
              <a:t>live charts</a:t>
            </a:r>
            <a:r>
              <a:rPr lang="en-US" sz="1600" dirty="0"/>
              <a:t> with Recharts — analog gauges, discrete indicators, SCADA-style live window (2s–30m)</a:t>
            </a:r>
          </a:p>
          <a:p>
            <a:pPr lvl="1"/>
            <a:r>
              <a:rPr lang="en-US" sz="1600" dirty="0"/>
              <a:t>Completed </a:t>
            </a:r>
            <a:r>
              <a:rPr lang="en-US" sz="1600" b="1" dirty="0"/>
              <a:t>device UI</a:t>
            </a:r>
            <a:r>
              <a:rPr lang="en-US" sz="1600" dirty="0"/>
              <a:t> — device list, add/edit, device detail with sensors and actuators</a:t>
            </a:r>
          </a:p>
          <a:p>
            <a:pPr lvl="1"/>
            <a:r>
              <a:rPr lang="en-US" sz="1600" dirty="0"/>
              <a:t>Completed </a:t>
            </a:r>
            <a:r>
              <a:rPr lang="en-US" sz="1600" b="1" dirty="0"/>
              <a:t>commands UI</a:t>
            </a:r>
            <a:r>
              <a:rPr lang="en-US" sz="1600" dirty="0"/>
              <a:t> — send commands from device page; </a:t>
            </a:r>
            <a:r>
              <a:rPr lang="en-US" sz="1600" b="1" dirty="0"/>
              <a:t>command history</a:t>
            </a:r>
            <a:r>
              <a:rPr lang="en-US" sz="1600" dirty="0"/>
              <a:t> page</a:t>
            </a:r>
          </a:p>
          <a:p>
            <a:pPr lvl="1"/>
            <a:r>
              <a:rPr lang="en-US" sz="1600" dirty="0"/>
              <a:t>Completed </a:t>
            </a:r>
            <a:r>
              <a:rPr lang="en-US" sz="1600" b="1" dirty="0"/>
              <a:t>alerts UI</a:t>
            </a:r>
            <a:r>
              <a:rPr lang="en-US" sz="1600" dirty="0"/>
              <a:t> — alerts list and </a:t>
            </a:r>
            <a:r>
              <a:rPr lang="en-US" sz="1600" b="1" dirty="0"/>
              <a:t>alert rules</a:t>
            </a:r>
            <a:r>
              <a:rPr lang="en-US" sz="1600" dirty="0"/>
              <a:t> configuration page</a:t>
            </a:r>
          </a:p>
          <a:p>
            <a:pPr lvl="1"/>
            <a:r>
              <a:rPr lang="en-US" sz="1600" dirty="0"/>
              <a:t>Integrated all pages with </a:t>
            </a:r>
            <a:r>
              <a:rPr lang="en-US" sz="1600" b="1" dirty="0"/>
              <a:t>REST API</a:t>
            </a:r>
            <a:r>
              <a:rPr lang="en-US" sz="1600" dirty="0"/>
              <a:t> (devices, sensors, readings, commands, alerts)</a:t>
            </a:r>
          </a:p>
          <a:p>
            <a:r>
              <a:rPr lang="en-US" sz="1600" b="1" dirty="0"/>
              <a:t>Progress (schedule table):</a:t>
            </a:r>
            <a:r>
              <a:rPr lang="en-US" sz="1600" dirty="0"/>
              <a:t> React dashboard built; JWT auth integrated; live charts via </a:t>
            </a:r>
            <a:r>
              <a:rPr lang="en-US" sz="1600" dirty="0" err="1"/>
              <a:t>SignalR</a:t>
            </a:r>
            <a:r>
              <a:rPr lang="en-US" sz="1600" dirty="0"/>
              <a:t>; device, command, and alert UI functional.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5408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EB59F-C312-D06A-BB7D-286D61925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Evidence / screenshots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35893-DDF4-485E-3575-61D175E52F6D}"/>
              </a:ext>
            </a:extLst>
          </p:cNvPr>
          <p:cNvSpPr txBox="1"/>
          <p:nvPr/>
        </p:nvSpPr>
        <p:spPr>
          <a:xfrm>
            <a:off x="1588039" y="1926714"/>
            <a:ext cx="2293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1 — Design / UI</a:t>
            </a:r>
            <a:endParaRPr lang="en-US" dirty="0">
              <a:effectLst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ADF820-4475-A942-34AE-6CC50232150E}"/>
              </a:ext>
            </a:extLst>
          </p:cNvPr>
          <p:cNvSpPr txBox="1"/>
          <p:nvPr/>
        </p:nvSpPr>
        <p:spPr>
          <a:xfrm>
            <a:off x="7099201" y="1926714"/>
            <a:ext cx="26321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2 — Live monitoring</a:t>
            </a:r>
            <a:endParaRPr lang="en-US" dirty="0">
              <a:effectLst/>
            </a:endParaRPr>
          </a:p>
        </p:txBody>
      </p:sp>
      <p:pic>
        <p:nvPicPr>
          <p:cNvPr id="17" name="Picture 16" descr="The image displays a DHT11 temperature sensor interface, showing live temperature readings in Celsius with various time intervals (2s, 5s, 10s, 30s, 1m, 2m, 5m, 10m) and the latest reading is 24.75ￂﾰC.&#10;&#10;AI-generated content may be incorrect.">
            <a:extLst>
              <a:ext uri="{FF2B5EF4-FFF2-40B4-BE49-F238E27FC236}">
                <a16:creationId xmlns:a16="http://schemas.microsoft.com/office/drawing/2014/main" id="{83764577-7D3F-165D-F79E-E95CFDFC8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786" y="2748605"/>
            <a:ext cx="4639281" cy="3174620"/>
          </a:xfrm>
          <a:prstGeom prst="rect">
            <a:avLst/>
          </a:prstGeom>
        </p:spPr>
      </p:pic>
      <p:pic>
        <p:nvPicPr>
          <p:cNvPr id="19" name="Picture 18" descr="The image displays an IoT dashboard interface with device information, sensor readings, and control options for a LoT (LoT) device in a warehouse environment.&#10;&#10;AI-generated content may be incorrect.">
            <a:extLst>
              <a:ext uri="{FF2B5EF4-FFF2-40B4-BE49-F238E27FC236}">
                <a16:creationId xmlns:a16="http://schemas.microsoft.com/office/drawing/2014/main" id="{1EBFF533-583E-885E-036A-6E043765E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68" y="2936370"/>
            <a:ext cx="4950488" cy="2986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391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D512-02F1-8A87-C6BF-81121CBC7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286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Problems &amp; solutions</a:t>
            </a:r>
            <a:br>
              <a:rPr lang="en-US" sz="3600" dirty="0"/>
            </a:br>
            <a:endParaRPr lang="en-US" sz="3600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B20EEB4-AEAF-F148-F087-763CE89565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3719893"/>
              </p:ext>
            </p:extLst>
          </p:nvPr>
        </p:nvGraphicFramePr>
        <p:xfrm>
          <a:off x="964660" y="2460919"/>
          <a:ext cx="10515600" cy="242316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94873215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608492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Live chart showed latest value but </a:t>
                      </a:r>
                      <a:r>
                        <a:rPr lang="en-US" b="1" dirty="0">
                          <a:effectLst/>
                        </a:rPr>
                        <a:t>no line</a:t>
                      </a:r>
                    </a:p>
                    <a:p>
                      <a:pPr algn="l" fontAlgn="t" latinLnBrk="0">
                        <a:buNone/>
                      </a:pPr>
                      <a:endParaRPr lang="en-US" b="1" dirty="0">
                        <a:effectLst/>
                      </a:endParaRPr>
                    </a:p>
                    <a:p>
                      <a:pPr algn="l" fontAlgn="t" latinLnBrk="0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Fixed time-window trim and </a:t>
                      </a:r>
                      <a:r>
                        <a:rPr lang="en-US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 handler in </a:t>
                      </a:r>
                      <a:r>
                        <a:rPr lang="en-US" dirty="0" err="1">
                          <a:solidFill>
                            <a:srgbClr val="222222"/>
                          </a:solidFill>
                          <a:effectLst/>
                          <a:latin typeface="Consolas" panose="020B0609020204030204" pitchFamily="49" charset="0"/>
                        </a:rPr>
                        <a:t>DeviceTemperatureChart</a:t>
                      </a:r>
                      <a:endParaRPr lang="en-US" dirty="0">
                        <a:effectLst/>
                      </a:endParaRP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981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Chart empty or stale when switching </a:t>
                      </a:r>
                      <a:r>
                        <a:rPr lang="en-US" b="1" dirty="0">
                          <a:effectLst/>
                        </a:rPr>
                        <a:t>Live ↔ History</a:t>
                      </a:r>
                      <a:endParaRPr lang="en-US" dirty="0">
                        <a:effectLst/>
                      </a:endParaRP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Cleared/</a:t>
                      </a:r>
                      <a:r>
                        <a:rPr lang="en-US" dirty="0" err="1">
                          <a:effectLst/>
                          <a:latin typeface="Candara" panose="020E0502030303020204" pitchFamily="34" charset="0"/>
                        </a:rPr>
                        <a:t>refetched</a:t>
                      </a: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 chart data on mode switch; aligned live window with </a:t>
                      </a:r>
                      <a:r>
                        <a:rPr lang="en-US" dirty="0" err="1">
                          <a:solidFill>
                            <a:srgbClr val="222222"/>
                          </a:solidFill>
                          <a:effectLst/>
                          <a:latin typeface="Consolas" panose="020B0609020204030204" pitchFamily="49" charset="0"/>
                        </a:rPr>
                        <a:t>Date.now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</a:p>
                    <a:p>
                      <a:pPr algn="l" fontAlgn="t" latinLnBrk="0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133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dirty="0">
                          <a:effectLst/>
                        </a:rPr>
                        <a:t> not receiving updates after login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Passed JWT to hub connection; subscribed to correct device/sensor on device detail page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6047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119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8F402-D6C1-A205-7F40-C1EBBC8A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Barriers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C1C9FA-89AF-E81C-3BB7-4F2983FD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17575"/>
          </a:xfrm>
        </p:spPr>
        <p:txBody>
          <a:bodyPr>
            <a:normAutofit/>
          </a:bodyPr>
          <a:lstStyle/>
          <a:p>
            <a:r>
              <a:rPr lang="en-US" sz="1800" i="1" dirty="0"/>
              <a:t>No other critical blockers at this milestone.</a:t>
            </a:r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585188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12B1-4C32-504B-C9A7-382710499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Reflection &amp; next steps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6D3DE9-162D-609E-7A5A-29F005EEB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0734" y="2291291"/>
            <a:ext cx="8974126" cy="1881875"/>
          </a:xfrm>
        </p:spPr>
        <p:txBody>
          <a:bodyPr>
            <a:noAutofit/>
          </a:bodyPr>
          <a:lstStyle/>
          <a:p>
            <a:r>
              <a:rPr lang="en-US" sz="1800" b="1" dirty="0"/>
              <a:t>Learned:</a:t>
            </a:r>
            <a:r>
              <a:rPr lang="en-US" sz="1800" dirty="0"/>
              <a:t> Real-time UI needs </a:t>
            </a:r>
            <a:r>
              <a:rPr lang="en-US" sz="1800" dirty="0" err="1"/>
              <a:t>SignalR</a:t>
            </a:r>
            <a:r>
              <a:rPr lang="en-US" sz="1800" dirty="0"/>
              <a:t> and chart time-window logic designed together; TypeScript types must match API DTOs.</a:t>
            </a:r>
          </a:p>
          <a:p>
            <a:endParaRPr lang="en-US" sz="1800" dirty="0"/>
          </a:p>
          <a:p>
            <a:r>
              <a:rPr lang="en-US" sz="1800" b="1" dirty="0"/>
              <a:t>Next (Week 9–10):</a:t>
            </a:r>
            <a:r>
              <a:rPr lang="en-US" sz="1800" dirty="0"/>
              <a:t> End-to-end integration &amp; testing — Arduino ↔ </a:t>
            </a:r>
            <a:r>
              <a:rPr lang="en-US" sz="1800" dirty="0" err="1"/>
              <a:t>Mosquitto</a:t>
            </a:r>
            <a:r>
              <a:rPr lang="en-US" sz="1800" dirty="0"/>
              <a:t> ↔ API ↔ SQL ↔ </a:t>
            </a:r>
            <a:r>
              <a:rPr lang="en-US" sz="1800" dirty="0" err="1"/>
              <a:t>SignalR</a:t>
            </a:r>
            <a:r>
              <a:rPr lang="en-US" sz="1800" dirty="0"/>
              <a:t> ↔ UI.</a:t>
            </a:r>
          </a:p>
        </p:txBody>
      </p:sp>
    </p:spTree>
    <p:extLst>
      <p:ext uri="{BB962C8B-B14F-4D97-AF65-F5344CB8AC3E}">
        <p14:creationId xmlns:p14="http://schemas.microsoft.com/office/powerpoint/2010/main" val="2803921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593</Words>
  <Application>Microsoft Office PowerPoint</Application>
  <PresentationFormat>Widescreen</PresentationFormat>
  <Paragraphs>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Candara</vt:lpstr>
      <vt:lpstr>Consolas</vt:lpstr>
      <vt:lpstr>Office Theme</vt:lpstr>
      <vt:lpstr>IoT Monitoring Dashboard Capstone Project — Milestone Progress Update </vt:lpstr>
      <vt:lpstr>Schedule Update Status: On track</vt:lpstr>
      <vt:lpstr>Milestone summary </vt:lpstr>
      <vt:lpstr>Evidence / screenshots </vt:lpstr>
      <vt:lpstr>Problems &amp; solutions </vt:lpstr>
      <vt:lpstr>Barriers </vt:lpstr>
      <vt:lpstr>Reflection &amp; next steps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Quoc Bao Tran</dc:creator>
  <cp:lastModifiedBy>Quoc Bao Tran</cp:lastModifiedBy>
  <cp:revision>56</cp:revision>
  <dcterms:created xsi:type="dcterms:W3CDTF">2026-05-29T11:10:25Z</dcterms:created>
  <dcterms:modified xsi:type="dcterms:W3CDTF">2026-05-30T14:05:56Z</dcterms:modified>
</cp:coreProperties>
</file>