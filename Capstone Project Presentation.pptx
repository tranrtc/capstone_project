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18"/>
  </p:notesMasterIdLst>
  <p:sldIdLst>
    <p:sldId id="256" r:id="rId4"/>
    <p:sldId id="270" r:id="rId5"/>
    <p:sldId id="271" r:id="rId6"/>
    <p:sldId id="272" r:id="rId7"/>
    <p:sldId id="273" r:id="rId8"/>
    <p:sldId id="274" r:id="rId9"/>
    <p:sldId id="276" r:id="rId10"/>
    <p:sldId id="277" r:id="rId11"/>
    <p:sldId id="278" r:id="rId12"/>
    <p:sldId id="279" r:id="rId13"/>
    <p:sldId id="266" r:id="rId14"/>
    <p:sldId id="268" r:id="rId15"/>
    <p:sldId id="267" r:id="rId16"/>
    <p:sldId id="269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EDE3E3-4DC4-4033-AB14-8C688262196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C98F2-B9F0-4148-8C0F-A1926149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2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C98F2-B9F0-4148-8C0F-A19261494B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81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5E3099-AD53-4D24-BA47-6CABBFAD57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90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94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69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51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29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77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28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930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149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78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1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823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351" y="1775355"/>
            <a:ext cx="6475313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702" y="3238500"/>
            <a:ext cx="5332611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7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1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725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327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771" y="3672417"/>
            <a:ext cx="6475313" cy="1135063"/>
          </a:xfrm>
        </p:spPr>
        <p:txBody>
          <a:bodyPr anchor="t"/>
          <a:lstStyle>
            <a:lvl1pPr algn="l">
              <a:defRPr sz="3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771" y="2422261"/>
            <a:ext cx="6475313" cy="1250156"/>
          </a:xfrm>
        </p:spPr>
        <p:txBody>
          <a:bodyPr anchor="b"/>
          <a:lstStyle>
            <a:lvl1pPr marL="0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1pPr>
            <a:lvl2pPr marL="380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787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680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4pPr>
            <a:lvl5pPr marL="152357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5pPr>
            <a:lvl6pPr marL="1904467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6pPr>
            <a:lvl7pPr marL="2285360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7pPr>
            <a:lvl8pPr marL="266625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8pPr>
            <a:lvl9pPr marL="3047147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68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0901" y="1333500"/>
            <a:ext cx="3364624" cy="3771636"/>
          </a:xfrm>
        </p:spPr>
        <p:txBody>
          <a:bodyPr/>
          <a:lstStyle>
            <a:lvl1pPr>
              <a:defRPr sz="2333"/>
            </a:lvl1pPr>
            <a:lvl2pPr>
              <a:defRPr sz="1999"/>
            </a:lvl2pPr>
            <a:lvl3pPr>
              <a:defRPr sz="1666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91" y="1333500"/>
            <a:ext cx="3364624" cy="3771636"/>
          </a:xfrm>
        </p:spPr>
        <p:txBody>
          <a:bodyPr/>
          <a:lstStyle>
            <a:lvl1pPr>
              <a:defRPr sz="2333"/>
            </a:lvl1pPr>
            <a:lvl2pPr>
              <a:defRPr sz="1999"/>
            </a:lvl2pPr>
            <a:lvl3pPr>
              <a:defRPr sz="1666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084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01" y="1279261"/>
            <a:ext cx="3365947" cy="533135"/>
          </a:xfrm>
        </p:spPr>
        <p:txBody>
          <a:bodyPr anchor="b"/>
          <a:lstStyle>
            <a:lvl1pPr marL="0" indent="0">
              <a:buNone/>
              <a:defRPr sz="1999" b="1"/>
            </a:lvl1pPr>
            <a:lvl2pPr marL="380893" indent="0">
              <a:buNone/>
              <a:defRPr sz="1666" b="1"/>
            </a:lvl2pPr>
            <a:lvl3pPr marL="761787" indent="0">
              <a:buNone/>
              <a:defRPr sz="1500" b="1"/>
            </a:lvl3pPr>
            <a:lvl4pPr marL="1142680" indent="0">
              <a:buNone/>
              <a:defRPr sz="1333" b="1"/>
            </a:lvl4pPr>
            <a:lvl5pPr marL="1523573" indent="0">
              <a:buNone/>
              <a:defRPr sz="1333" b="1"/>
            </a:lvl5pPr>
            <a:lvl6pPr marL="1904467" indent="0">
              <a:buNone/>
              <a:defRPr sz="1333" b="1"/>
            </a:lvl6pPr>
            <a:lvl7pPr marL="2285360" indent="0">
              <a:buNone/>
              <a:defRPr sz="1333" b="1"/>
            </a:lvl7pPr>
            <a:lvl8pPr marL="2666253" indent="0">
              <a:buNone/>
              <a:defRPr sz="1333" b="1"/>
            </a:lvl8pPr>
            <a:lvl9pPr marL="3047147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01" y="1812396"/>
            <a:ext cx="3365947" cy="3292740"/>
          </a:xfrm>
        </p:spPr>
        <p:txBody>
          <a:bodyPr/>
          <a:lstStyle>
            <a:lvl1pPr>
              <a:defRPr sz="1999"/>
            </a:lvl1pPr>
            <a:lvl2pPr>
              <a:defRPr sz="1666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9846" y="1279261"/>
            <a:ext cx="3367269" cy="533135"/>
          </a:xfrm>
        </p:spPr>
        <p:txBody>
          <a:bodyPr anchor="b"/>
          <a:lstStyle>
            <a:lvl1pPr marL="0" indent="0">
              <a:buNone/>
              <a:defRPr sz="1999" b="1"/>
            </a:lvl1pPr>
            <a:lvl2pPr marL="380893" indent="0">
              <a:buNone/>
              <a:defRPr sz="1666" b="1"/>
            </a:lvl2pPr>
            <a:lvl3pPr marL="761787" indent="0">
              <a:buNone/>
              <a:defRPr sz="1500" b="1"/>
            </a:lvl3pPr>
            <a:lvl4pPr marL="1142680" indent="0">
              <a:buNone/>
              <a:defRPr sz="1333" b="1"/>
            </a:lvl4pPr>
            <a:lvl5pPr marL="1523573" indent="0">
              <a:buNone/>
              <a:defRPr sz="1333" b="1"/>
            </a:lvl5pPr>
            <a:lvl6pPr marL="1904467" indent="0">
              <a:buNone/>
              <a:defRPr sz="1333" b="1"/>
            </a:lvl6pPr>
            <a:lvl7pPr marL="2285360" indent="0">
              <a:buNone/>
              <a:defRPr sz="1333" b="1"/>
            </a:lvl7pPr>
            <a:lvl8pPr marL="2666253" indent="0">
              <a:buNone/>
              <a:defRPr sz="1333" b="1"/>
            </a:lvl8pPr>
            <a:lvl9pPr marL="3047147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9846" y="1812396"/>
            <a:ext cx="3367269" cy="3292740"/>
          </a:xfrm>
        </p:spPr>
        <p:txBody>
          <a:bodyPr/>
          <a:lstStyle>
            <a:lvl1pPr>
              <a:defRPr sz="1999"/>
            </a:lvl1pPr>
            <a:lvl2pPr>
              <a:defRPr sz="1666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488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422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529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01" y="227542"/>
            <a:ext cx="2506275" cy="968375"/>
          </a:xfrm>
        </p:spPr>
        <p:txBody>
          <a:bodyPr anchor="b"/>
          <a:lstStyle>
            <a:lvl1pPr algn="l">
              <a:defRPr sz="1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8433" y="227542"/>
            <a:ext cx="4258682" cy="4877594"/>
          </a:xfrm>
        </p:spPr>
        <p:txBody>
          <a:bodyPr/>
          <a:lstStyle>
            <a:lvl1pPr>
              <a:defRPr sz="2666"/>
            </a:lvl1pPr>
            <a:lvl2pPr>
              <a:defRPr sz="2333"/>
            </a:lvl2pPr>
            <a:lvl3pPr>
              <a:defRPr sz="1999"/>
            </a:lvl3pPr>
            <a:lvl4pPr>
              <a:defRPr sz="1666"/>
            </a:lvl4pPr>
            <a:lvl5pPr>
              <a:defRPr sz="1666"/>
            </a:lvl5pPr>
            <a:lvl6pPr>
              <a:defRPr sz="1666"/>
            </a:lvl6pPr>
            <a:lvl7pPr>
              <a:defRPr sz="1666"/>
            </a:lvl7pPr>
            <a:lvl8pPr>
              <a:defRPr sz="1666"/>
            </a:lvl8pPr>
            <a:lvl9pPr>
              <a:defRPr sz="16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0901" y="1195917"/>
            <a:ext cx="2506275" cy="3909219"/>
          </a:xfrm>
        </p:spPr>
        <p:txBody>
          <a:bodyPr/>
          <a:lstStyle>
            <a:lvl1pPr marL="0" indent="0">
              <a:buNone/>
              <a:defRPr sz="1166"/>
            </a:lvl1pPr>
            <a:lvl2pPr marL="380893" indent="0">
              <a:buNone/>
              <a:defRPr sz="1000"/>
            </a:lvl2pPr>
            <a:lvl3pPr marL="761787" indent="0">
              <a:buNone/>
              <a:defRPr sz="833"/>
            </a:lvl3pPr>
            <a:lvl4pPr marL="1142680" indent="0">
              <a:buNone/>
              <a:defRPr sz="750"/>
            </a:lvl4pPr>
            <a:lvl5pPr marL="1523573" indent="0">
              <a:buNone/>
              <a:defRPr sz="750"/>
            </a:lvl5pPr>
            <a:lvl6pPr marL="1904467" indent="0">
              <a:buNone/>
              <a:defRPr sz="750"/>
            </a:lvl6pPr>
            <a:lvl7pPr marL="2285360" indent="0">
              <a:buNone/>
              <a:defRPr sz="750"/>
            </a:lvl7pPr>
            <a:lvl8pPr marL="2666253" indent="0">
              <a:buNone/>
              <a:defRPr sz="750"/>
            </a:lvl8pPr>
            <a:lvl9pPr marL="304714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529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185" y="4000500"/>
            <a:ext cx="4570809" cy="472282"/>
          </a:xfrm>
        </p:spPr>
        <p:txBody>
          <a:bodyPr anchor="b"/>
          <a:lstStyle>
            <a:lvl1pPr algn="l">
              <a:defRPr sz="1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185" y="510646"/>
            <a:ext cx="4570809" cy="3429000"/>
          </a:xfrm>
        </p:spPr>
        <p:txBody>
          <a:bodyPr/>
          <a:lstStyle>
            <a:lvl1pPr marL="0" indent="0">
              <a:buNone/>
              <a:defRPr sz="2666"/>
            </a:lvl1pPr>
            <a:lvl2pPr marL="380893" indent="0">
              <a:buNone/>
              <a:defRPr sz="2333"/>
            </a:lvl2pPr>
            <a:lvl3pPr marL="761787" indent="0">
              <a:buNone/>
              <a:defRPr sz="1999"/>
            </a:lvl3pPr>
            <a:lvl4pPr marL="1142680" indent="0">
              <a:buNone/>
              <a:defRPr sz="1666"/>
            </a:lvl4pPr>
            <a:lvl5pPr marL="1523573" indent="0">
              <a:buNone/>
              <a:defRPr sz="1666"/>
            </a:lvl5pPr>
            <a:lvl6pPr marL="1904467" indent="0">
              <a:buNone/>
              <a:defRPr sz="1666"/>
            </a:lvl6pPr>
            <a:lvl7pPr marL="2285360" indent="0">
              <a:buNone/>
              <a:defRPr sz="1666"/>
            </a:lvl7pPr>
            <a:lvl8pPr marL="2666253" indent="0">
              <a:buNone/>
              <a:defRPr sz="1666"/>
            </a:lvl8pPr>
            <a:lvl9pPr marL="3047147" indent="0">
              <a:buNone/>
              <a:defRPr sz="1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185" y="4472782"/>
            <a:ext cx="4570809" cy="670718"/>
          </a:xfrm>
        </p:spPr>
        <p:txBody>
          <a:bodyPr/>
          <a:lstStyle>
            <a:lvl1pPr marL="0" indent="0">
              <a:buNone/>
              <a:defRPr sz="1166"/>
            </a:lvl1pPr>
            <a:lvl2pPr marL="380893" indent="0">
              <a:buNone/>
              <a:defRPr sz="1000"/>
            </a:lvl2pPr>
            <a:lvl3pPr marL="761787" indent="0">
              <a:buNone/>
              <a:defRPr sz="833"/>
            </a:lvl3pPr>
            <a:lvl4pPr marL="1142680" indent="0">
              <a:buNone/>
              <a:defRPr sz="750"/>
            </a:lvl4pPr>
            <a:lvl5pPr marL="1523573" indent="0">
              <a:buNone/>
              <a:defRPr sz="750"/>
            </a:lvl5pPr>
            <a:lvl6pPr marL="1904467" indent="0">
              <a:buNone/>
              <a:defRPr sz="750"/>
            </a:lvl6pPr>
            <a:lvl7pPr marL="2285360" indent="0">
              <a:buNone/>
              <a:defRPr sz="750"/>
            </a:lvl7pPr>
            <a:lvl8pPr marL="2666253" indent="0">
              <a:buNone/>
              <a:defRPr sz="750"/>
            </a:lvl8pPr>
            <a:lvl9pPr marL="304714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072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719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3061" y="228865"/>
            <a:ext cx="1714054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0901" y="228865"/>
            <a:ext cx="5015194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8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12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901" y="228865"/>
            <a:ext cx="6856214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01" y="1333500"/>
            <a:ext cx="6856214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0901" y="5296959"/>
            <a:ext cx="1777537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2822" y="5296959"/>
            <a:ext cx="2412372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59578" y="5296959"/>
            <a:ext cx="1777537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6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380893" rtl="0" eaLnBrk="1" latinLnBrk="0" hangingPunct="1">
        <a:spcBef>
          <a:spcPct val="0"/>
        </a:spcBef>
        <a:buNone/>
        <a:defRPr sz="36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670" indent="-285670" algn="l" defTabSz="380893" rtl="0" eaLnBrk="1" latinLnBrk="0" hangingPunct="1">
        <a:spcBef>
          <a:spcPct val="20000"/>
        </a:spcBef>
        <a:buFont typeface="Arial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1pPr>
      <a:lvl2pPr marL="618952" indent="-238058" algn="l" defTabSz="380893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233" indent="-190447" algn="l" defTabSz="38089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333127" indent="-190447" algn="l" defTabSz="380893" rtl="0" eaLnBrk="1" latinLnBrk="0" hangingPunct="1">
        <a:spcBef>
          <a:spcPct val="20000"/>
        </a:spcBef>
        <a:buFont typeface="Arial"/>
        <a:buChar char="–"/>
        <a:defRPr sz="1666" kern="1200">
          <a:solidFill>
            <a:schemeClr val="tx1"/>
          </a:solidFill>
          <a:latin typeface="+mn-lt"/>
          <a:ea typeface="+mn-ea"/>
          <a:cs typeface="+mn-cs"/>
        </a:defRPr>
      </a:lvl4pPr>
      <a:lvl5pPr marL="1714020" indent="-190447" algn="l" defTabSz="380893" rtl="0" eaLnBrk="1" latinLnBrk="0" hangingPunct="1">
        <a:spcBef>
          <a:spcPct val="20000"/>
        </a:spcBef>
        <a:buFont typeface="Arial"/>
        <a:buChar char="»"/>
        <a:defRPr sz="1666" kern="1200">
          <a:solidFill>
            <a:schemeClr val="tx1"/>
          </a:solidFill>
          <a:latin typeface="+mn-lt"/>
          <a:ea typeface="+mn-ea"/>
          <a:cs typeface="+mn-cs"/>
        </a:defRPr>
      </a:lvl5pPr>
      <a:lvl6pPr marL="2094913" indent="-190447" algn="l" defTabSz="380893" rtl="0" eaLnBrk="1" latinLnBrk="0" hangingPunct="1">
        <a:spcBef>
          <a:spcPct val="20000"/>
        </a:spcBef>
        <a:buFont typeface="Arial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6pPr>
      <a:lvl7pPr marL="2475807" indent="-190447" algn="l" defTabSz="380893" rtl="0" eaLnBrk="1" latinLnBrk="0" hangingPunct="1">
        <a:spcBef>
          <a:spcPct val="20000"/>
        </a:spcBef>
        <a:buFont typeface="Arial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7pPr>
      <a:lvl8pPr marL="2856700" indent="-190447" algn="l" defTabSz="380893" rtl="0" eaLnBrk="1" latinLnBrk="0" hangingPunct="1">
        <a:spcBef>
          <a:spcPct val="20000"/>
        </a:spcBef>
        <a:buFont typeface="Arial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8pPr>
      <a:lvl9pPr marL="3237593" indent="-190447" algn="l" defTabSz="380893" rtl="0" eaLnBrk="1" latinLnBrk="0" hangingPunct="1">
        <a:spcBef>
          <a:spcPct val="20000"/>
        </a:spcBef>
        <a:buFont typeface="Arial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3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87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0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0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7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54880" y="50292"/>
            <a:ext cx="45719" cy="68077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179" y="845971"/>
            <a:ext cx="22815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dirty="0">
                <a:solidFill>
                  <a:srgbClr val="00C896"/>
                </a:solidFill>
                <a:latin typeface="Candara" panose="020E0502030303020204" pitchFamily="34" charset="0"/>
              </a:rPr>
              <a:t>IoT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5119" y="2119443"/>
            <a:ext cx="1282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5119" y="1453537"/>
            <a:ext cx="10307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009A72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React</a:t>
            </a:r>
            <a:r>
              <a:rPr lang="en-US" sz="1400" b="1" i="0" dirty="0">
                <a:solidFill>
                  <a:srgbClr val="009A72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 </a:t>
            </a:r>
            <a:r>
              <a:rPr lang="en-US" sz="140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SPA</a:t>
            </a:r>
            <a:endParaRPr sz="1400" b="1" i="0" dirty="0">
              <a:solidFill>
                <a:srgbClr val="009A72"/>
              </a:solidFill>
              <a:latin typeface="Candara" panose="020E0502030303020204" pitchFamily="34" charset="0"/>
              <a:ea typeface="Cambria Math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85119" y="1151432"/>
            <a:ext cx="1282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119" y="4313770"/>
            <a:ext cx="1183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00B8D4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SignalR</a:t>
            </a:r>
            <a:r>
              <a:rPr lang="en-US" sz="1400" b="1" i="0" dirty="0">
                <a:solidFill>
                  <a:srgbClr val="00B8D4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 </a:t>
            </a:r>
            <a:r>
              <a:rPr lang="en-US" sz="140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Hub</a:t>
            </a:r>
            <a:endParaRPr sz="1400" b="1" i="0" dirty="0">
              <a:solidFill>
                <a:srgbClr val="00B8D4"/>
              </a:solidFill>
              <a:latin typeface="Candara" panose="020E0502030303020204" pitchFamily="34" charset="0"/>
              <a:ea typeface="Cambria Math" panose="020405030504060302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85119" y="4015828"/>
            <a:ext cx="1385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5119" y="3487132"/>
            <a:ext cx="1227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F0A500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SQL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5119" y="3188398"/>
            <a:ext cx="105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1657779"/>
            <a:ext cx="70408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dirty="0">
                <a:solidFill>
                  <a:srgbClr val="E8F5EE"/>
                </a:solidFill>
                <a:latin typeface="Candara" panose="020E0502030303020204" pitchFamily="34" charset="0"/>
              </a:rPr>
              <a:t>Web-Based IoT Device</a:t>
            </a:r>
          </a:p>
          <a:p>
            <a:pPr algn="r"/>
            <a:r>
              <a:rPr sz="3200" b="1" dirty="0">
                <a:solidFill>
                  <a:srgbClr val="00C896"/>
                </a:solidFill>
                <a:latin typeface="Candara" panose="020E0502030303020204" pitchFamily="34" charset="0"/>
              </a:rPr>
              <a:t>Real-Time Monitoring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583216"/>
            <a:ext cx="512064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00C896"/>
                </a:solidFill>
                <a:latin typeface="Candara" panose="020E0502030303020204" pitchFamily="34" charset="0"/>
              </a:rPr>
              <a:t>CAPSTONE PROJECT</a:t>
            </a:r>
          </a:p>
          <a:p>
            <a:pPr algn="r"/>
            <a:endParaRPr lang="en-US" sz="1400" b="0" i="0" dirty="0">
              <a:solidFill>
                <a:srgbClr val="E8F5EE"/>
              </a:solidFill>
              <a:latin typeface="Candara" panose="020E0502030303020204" pitchFamily="34" charset="0"/>
            </a:endParaRPr>
          </a:p>
          <a:p>
            <a:pPr algn="r"/>
            <a:r>
              <a:rPr sz="1400" b="0" i="0" dirty="0">
                <a:solidFill>
                  <a:srgbClr val="E8F5EE"/>
                </a:solidFill>
                <a:latin typeface="Candara" panose="020E0502030303020204" pitchFamily="34" charset="0"/>
              </a:rPr>
              <a:t>BAS — Application Development</a:t>
            </a:r>
            <a:endParaRPr lang="en-US" sz="1400" b="0" i="0" dirty="0">
              <a:solidFill>
                <a:srgbClr val="E8F5EE"/>
              </a:solidFill>
              <a:latin typeface="Candara" panose="020E0502030303020204" pitchFamily="34" charset="0"/>
            </a:endParaRPr>
          </a:p>
          <a:p>
            <a:pPr algn="r"/>
            <a:r>
              <a:rPr lang="en-US" sz="1400" b="0" i="0" dirty="0">
                <a:solidFill>
                  <a:srgbClr val="E8F5EE"/>
                </a:solidFill>
                <a:latin typeface="Candara" panose="020E0502030303020204" pitchFamily="34" charset="0"/>
              </a:rPr>
              <a:t>Instructor </a:t>
            </a:r>
            <a:r>
              <a:rPr lang="en-US" sz="1400" b="0" i="1" dirty="0">
                <a:solidFill>
                  <a:srgbClr val="E8F5EE"/>
                </a:solidFill>
                <a:latin typeface="Candara" panose="020E0502030303020204" pitchFamily="34" charset="0"/>
              </a:rPr>
              <a:t>| Naser Chowdhury </a:t>
            </a:r>
            <a:endParaRPr lang="en-US" sz="1400" i="1" dirty="0">
              <a:solidFill>
                <a:srgbClr val="E8F5EE"/>
              </a:solidFill>
              <a:latin typeface="Candara" panose="020E0502030303020204" pitchFamily="34" charset="0"/>
            </a:endParaRPr>
          </a:p>
          <a:p>
            <a:pPr algn="r"/>
            <a:r>
              <a:rPr lang="en-US" sz="1400" dirty="0">
                <a:solidFill>
                  <a:srgbClr val="E8F5EE"/>
                </a:solidFill>
                <a:latin typeface="Candara" panose="020E0502030303020204" pitchFamily="34" charset="0"/>
              </a:rPr>
              <a:t>Student | Quoc Bao Tran</a:t>
            </a:r>
          </a:p>
        </p:txBody>
      </p:sp>
      <p:sp>
        <p:nvSpPr>
          <p:cNvPr id="45" name="Rectangle 44"/>
          <p:cNvSpPr/>
          <p:nvPr/>
        </p:nvSpPr>
        <p:spPr>
          <a:xfrm flipV="1">
            <a:off x="0" y="6857999"/>
            <a:ext cx="12188952" cy="45719"/>
          </a:xfrm>
          <a:prstGeom prst="rect">
            <a:avLst/>
          </a:prstGeom>
          <a:solidFill>
            <a:srgbClr val="0E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1D83F4-9365-79B9-0BBD-C1AA74F11C60}"/>
              </a:ext>
            </a:extLst>
          </p:cNvPr>
          <p:cNvSpPr txBox="1"/>
          <p:nvPr/>
        </p:nvSpPr>
        <p:spPr>
          <a:xfrm>
            <a:off x="2685119" y="2415632"/>
            <a:ext cx="1524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9A72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C#, ASP.net core, Restful </a:t>
            </a:r>
            <a:r>
              <a:rPr lang="en-US" sz="140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API</a:t>
            </a:r>
            <a:endParaRPr sz="1400" b="1" i="0" dirty="0">
              <a:solidFill>
                <a:srgbClr val="009A72"/>
              </a:solidFill>
              <a:latin typeface="Candara" panose="020E0502030303020204" pitchFamily="34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0D05B-0666-C083-EA65-9FF9DCECD86B}"/>
              </a:ext>
            </a:extLst>
          </p:cNvPr>
          <p:cNvSpPr txBox="1"/>
          <p:nvPr/>
        </p:nvSpPr>
        <p:spPr>
          <a:xfrm>
            <a:off x="2634833" y="4855136"/>
            <a:ext cx="15289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IoT messaging</a:t>
            </a:r>
          </a:p>
          <a:p>
            <a:r>
              <a:rPr lang="en-US" sz="1400" b="1" i="0" dirty="0">
                <a:solidFill>
                  <a:srgbClr val="00B050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MQTT Broker</a:t>
            </a:r>
            <a:endParaRPr sz="1400" b="1" i="0" dirty="0">
              <a:solidFill>
                <a:srgbClr val="00B050"/>
              </a:solidFill>
              <a:latin typeface="Candara" panose="020E0502030303020204" pitchFamily="34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73267" y="1064758"/>
            <a:ext cx="504016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 dirty="0">
                <a:solidFill>
                  <a:srgbClr val="FFFFFF"/>
                </a:solidFill>
                <a:latin typeface="Candara" panose="020E0502030303020204" pitchFamily="34" charset="0"/>
              </a:rPr>
              <a:t>Presentation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2830" y="874258"/>
            <a:ext cx="388119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01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Problem Statement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Why IoT monitoring matters in industrial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4200" y="2891698"/>
            <a:ext cx="306846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0</a:t>
            </a:r>
            <a:r>
              <a:rPr lang="en-US"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4</a:t>
            </a:r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System Architecture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Edge → API → DB → SignalR →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4200" y="3545818"/>
            <a:ext cx="2670924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05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Database Design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Devices, sensors, readings,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4200" y="4713114"/>
            <a:ext cx="260962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07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Frontend Design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React SPA, charts, SignalR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5537" y="4011116"/>
            <a:ext cx="298511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09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Live Demo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Edge → API → SignalR →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7106" y="5374446"/>
            <a:ext cx="240322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11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Conclusion &amp;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2830" y="1489811"/>
            <a:ext cx="301556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02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Project Goals &amp; Scope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Objectives, requirements,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9917" y="2308050"/>
            <a:ext cx="293541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0</a:t>
            </a:r>
            <a:r>
              <a:rPr lang="en-US"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3</a:t>
            </a:r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Technology Stack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C#, ASP.NET Core, React, SQL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4200" y="4161371"/>
            <a:ext cx="228299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06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Backend &amp; API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Services, repositories, DTOs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5537" y="3433941"/>
            <a:ext cx="2443298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08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Key Features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Streaming, dashboards,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7106" y="4769575"/>
            <a:ext cx="2719014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C896"/>
                </a:solidFill>
                <a:latin typeface="Candara" panose="020E0502030303020204" pitchFamily="34" charset="0"/>
              </a:rPr>
              <a:t>10 </a:t>
            </a:r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Challenges &amp; Solutions</a:t>
            </a:r>
          </a:p>
          <a:p>
            <a:pPr>
              <a:defRPr sz="1400">
                <a:solidFill>
                  <a:srgbClr val="B4B4B4"/>
                </a:solidFill>
              </a:defRPr>
            </a:pPr>
            <a:r>
              <a:rPr sz="1400" dirty="0">
                <a:solidFill>
                  <a:srgbClr val="B4B4B4"/>
                </a:solidFill>
                <a:latin typeface="Candara" panose="020E0502030303020204" pitchFamily="34" charset="0"/>
              </a:rPr>
              <a:t>Sync, data volume, design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60A0DC-5A25-B5D0-F04A-ADB174D0DA3B}"/>
              </a:ext>
            </a:extLst>
          </p:cNvPr>
          <p:cNvSpPr/>
          <p:nvPr/>
        </p:nvSpPr>
        <p:spPr>
          <a:xfrm>
            <a:off x="847110" y="943764"/>
            <a:ext cx="45719" cy="11616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2BE0BE-BE12-15B6-6FB4-577775C6ADF9}"/>
              </a:ext>
            </a:extLst>
          </p:cNvPr>
          <p:cNvSpPr/>
          <p:nvPr/>
        </p:nvSpPr>
        <p:spPr>
          <a:xfrm>
            <a:off x="2409917" y="2425852"/>
            <a:ext cx="45719" cy="283887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0D11DC-EBC0-F231-0D3F-8D904D290C17}"/>
              </a:ext>
            </a:extLst>
          </p:cNvPr>
          <p:cNvSpPr/>
          <p:nvPr/>
        </p:nvSpPr>
        <p:spPr>
          <a:xfrm>
            <a:off x="6274238" y="3536582"/>
            <a:ext cx="45719" cy="107497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84EF93-60A4-DC62-2410-6BC6FAE8EAA4}"/>
              </a:ext>
            </a:extLst>
          </p:cNvPr>
          <p:cNvSpPr/>
          <p:nvPr/>
        </p:nvSpPr>
        <p:spPr>
          <a:xfrm>
            <a:off x="8131984" y="4842384"/>
            <a:ext cx="45720" cy="100071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152" y="671746"/>
            <a:ext cx="418255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ndara" panose="020E0502030303020204" pitchFamily="34" charset="0"/>
              </a:rPr>
              <a:t>Project Statement</a:t>
            </a:r>
            <a:endParaRPr sz="4000" b="1" dirty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379C31-8748-7246-01AA-7BEAE5FEA316}"/>
              </a:ext>
            </a:extLst>
          </p:cNvPr>
          <p:cNvSpPr/>
          <p:nvPr/>
        </p:nvSpPr>
        <p:spPr>
          <a:xfrm>
            <a:off x="1097152" y="1489012"/>
            <a:ext cx="10577612" cy="4595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i="1" dirty="0">
                <a:solidFill>
                  <a:srgbClr val="00B050"/>
                </a:solidFill>
                <a:latin typeface="Candara" panose="020E0502030303020204" pitchFamily="34" charset="0"/>
              </a:rPr>
              <a:t>Continuous monitoring is critical in industrial, commercial, and agricultural settings for safety, early fault detection, and performance optimization. However, SCADA/BMS solutions are often costly, complex, and vendor-locked. This project delivers a web-based IoT monitoring system that is:</a:t>
            </a:r>
          </a:p>
          <a:p>
            <a:pPr>
              <a:lnSpc>
                <a:spcPct val="150000"/>
              </a:lnSpc>
            </a:pPr>
            <a:endParaRPr lang="en-US" i="1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92D050"/>
                </a:solidFill>
                <a:latin typeface="Candara" panose="020E0502030303020204" pitchFamily="34" charset="0"/>
              </a:rPr>
              <a:t>Web-based (no proprietary hardware)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92D050"/>
                </a:solidFill>
                <a:latin typeface="Candara" panose="020E0502030303020204" pitchFamily="34" charset="0"/>
              </a:rPr>
              <a:t>Real-time (SignalR/WebSocket)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92D050"/>
                </a:solidFill>
                <a:latin typeface="Candara" panose="020E0502030303020204" pitchFamily="34" charset="0"/>
              </a:rPr>
              <a:t>Backed by SQL Server (historical data)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92D050"/>
                </a:solidFill>
                <a:latin typeface="Candara" panose="020E0502030303020204" pitchFamily="34" charset="0"/>
              </a:rPr>
              <a:t>Accessible from any browser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92D050"/>
                </a:solidFill>
                <a:latin typeface="Candara" panose="020E0502030303020204" pitchFamily="34" charset="0"/>
              </a:rPr>
              <a:t>Cost-effective (open-source stack)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92D050"/>
                </a:solidFill>
                <a:latin typeface="Candara" panose="020E0502030303020204" pitchFamily="34" charset="0"/>
              </a:rPr>
              <a:t>Aim to work with low-cost hardware like Arduino, ESP32, Raspberry Pi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997190-A3C0-DE6F-5A6B-7FE192DCD002}"/>
              </a:ext>
            </a:extLst>
          </p:cNvPr>
          <p:cNvSpPr/>
          <p:nvPr/>
        </p:nvSpPr>
        <p:spPr>
          <a:xfrm>
            <a:off x="1966254" y="3546763"/>
            <a:ext cx="45719" cy="22813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71052" y="731520"/>
            <a:ext cx="474040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ndara" panose="020E0502030303020204" pitchFamily="34" charset="0"/>
              </a:rPr>
              <a:t>Project Goals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71052" y="1280160"/>
            <a:ext cx="66559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C8BE"/>
                </a:solidFill>
                <a:latin typeface="Candara" panose="020E0502030303020204" pitchFamily="34" charset="0"/>
              </a:rPr>
              <a:t>Six core objectives mapped to key system capabilities and platform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1052" y="2258568"/>
            <a:ext cx="23519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8DCD2"/>
                </a:solidFill>
                <a:latin typeface="Candara" panose="020E0502030303020204" pitchFamily="34" charset="0"/>
              </a:rPr>
              <a:t>Core System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292" y="2258568"/>
            <a:ext cx="21900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DCD2"/>
                </a:solidFill>
                <a:latin typeface="Candara" panose="020E0502030303020204" pitchFamily="34" charset="0"/>
              </a:rPr>
              <a:t>Platform &amp;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1052" y="2715768"/>
            <a:ext cx="45720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62493" y="2715769"/>
            <a:ext cx="410080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Real-Time Monitoring</a:t>
            </a:r>
          </a:p>
          <a:p>
            <a:r>
              <a:rPr sz="1400" dirty="0">
                <a:solidFill>
                  <a:srgbClr val="B4C8BE"/>
                </a:solidFill>
                <a:latin typeface="Candara" panose="020E0502030303020204" pitchFamily="34" charset="0"/>
              </a:rPr>
              <a:t>Real-time sensor streaming (&lt;2s latency) via SignalR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1052" y="3630168"/>
            <a:ext cx="45720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62492" y="3630169"/>
            <a:ext cx="3828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  <a:latin typeface="Candara" panose="020E0502030303020204" pitchFamily="34" charset="0"/>
              </a:rPr>
              <a:t>Interactive Dashboard</a:t>
            </a:r>
          </a:p>
          <a:p>
            <a:r>
              <a:rPr sz="1400">
                <a:solidFill>
                  <a:srgbClr val="B4C8BE"/>
                </a:solidFill>
                <a:latin typeface="Candara" panose="020E0502030303020204" pitchFamily="34" charset="0"/>
              </a:rPr>
              <a:t>Live dashboards with charts, gauges, and trends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1052" y="4544568"/>
            <a:ext cx="45720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62493" y="4544569"/>
            <a:ext cx="32447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  <a:latin typeface="Candara" panose="020E0502030303020204" pitchFamily="34" charset="0"/>
              </a:rPr>
              <a:t>Historical Analysis</a:t>
            </a:r>
          </a:p>
          <a:p>
            <a:r>
              <a:rPr sz="1400">
                <a:solidFill>
                  <a:srgbClr val="B4C8BE"/>
                </a:solidFill>
                <a:latin typeface="Candara" panose="020E0502030303020204" pitchFamily="34" charset="0"/>
              </a:rPr>
              <a:t>Query, filter, and export time-series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292" y="2715768"/>
            <a:ext cx="45720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8732" y="2715769"/>
            <a:ext cx="50145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  <a:latin typeface="Candara" panose="020E0502030303020204" pitchFamily="34" charset="0"/>
              </a:rPr>
              <a:t>Device Management</a:t>
            </a:r>
          </a:p>
          <a:p>
            <a:r>
              <a:rPr sz="1400">
                <a:solidFill>
                  <a:srgbClr val="B4C8BE"/>
                </a:solidFill>
                <a:latin typeface="Candara" panose="020E0502030303020204" pitchFamily="34" charset="0"/>
              </a:rPr>
              <a:t>Register and manage IoT devices (Arduino, ESP32, Raspberry 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292" y="3630168"/>
            <a:ext cx="45720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68733" y="3630169"/>
            <a:ext cx="397897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  <a:latin typeface="Candara" panose="020E0502030303020204" pitchFamily="34" charset="0"/>
              </a:rPr>
              <a:t>Alerting System</a:t>
            </a:r>
          </a:p>
          <a:p>
            <a:r>
              <a:rPr sz="1400">
                <a:solidFill>
                  <a:srgbClr val="B4C8BE"/>
                </a:solidFill>
                <a:latin typeface="Candara" panose="020E0502030303020204" pitchFamily="34" charset="0"/>
              </a:rPr>
              <a:t>Threshold-based alerts with real-time notifications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7292" y="4544568"/>
            <a:ext cx="45720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68733" y="4544569"/>
            <a:ext cx="27671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Capstone Integration</a:t>
            </a:r>
          </a:p>
          <a:p>
            <a:r>
              <a:rPr sz="1400" dirty="0">
                <a:solidFill>
                  <a:srgbClr val="B4C8BE"/>
                </a:solidFill>
                <a:latin typeface="Candara" panose="020E0502030303020204" pitchFamily="34" charset="0"/>
              </a:rPr>
              <a:t>C#, React, SQL, REST APIs, SignalR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8757" y="5768849"/>
            <a:ext cx="66014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96AAA0"/>
                </a:solidFill>
                <a:latin typeface="Candara" panose="020E0502030303020204" pitchFamily="34" charset="0"/>
              </a:rPr>
              <a:t>Out of Scope (Future Enhancements): Auth · RBAC · Mobile · ML · Multi-tenancy · ERP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8757" y="6021322"/>
            <a:ext cx="54601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B4D2C8"/>
                </a:solidFill>
                <a:latin typeface="Candara" panose="020E0502030303020204" pitchFamily="34" charset="0"/>
              </a:rPr>
              <a:t>Focused on delivering a scalable, real-time IoT monitoring foundation.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56054" y="712560"/>
            <a:ext cx="383156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FFFFFF"/>
                </a:solidFill>
                <a:latin typeface="Candara" panose="020E0502030303020204" pitchFamily="34" charset="0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6054" y="1640563"/>
            <a:ext cx="58304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B4C8BE"/>
                </a:solidFill>
                <a:latin typeface="Candara" panose="020E0502030303020204" pitchFamily="34" charset="0"/>
              </a:rPr>
              <a:t>End-to-end pipeline: Device → MQTT → Backend → SignalR →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1052" y="2377440"/>
            <a:ext cx="45720" cy="7315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62492" y="2377441"/>
            <a:ext cx="2856872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Backend</a:t>
            </a:r>
          </a:p>
          <a:p>
            <a:r>
              <a:rPr sz="1400" dirty="0">
                <a:solidFill>
                  <a:srgbClr val="B4C8BE"/>
                </a:solidFill>
                <a:latin typeface="Candara" panose="020E0502030303020204" pitchFamily="34" charset="0"/>
              </a:rPr>
              <a:t>C# / ASP.NET Core
Handles ingestion, processing, APIs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1052" y="3474720"/>
            <a:ext cx="45720" cy="7315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62493" y="3474721"/>
            <a:ext cx="2808782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IoT Messaging</a:t>
            </a:r>
          </a:p>
          <a:p>
            <a:r>
              <a:rPr sz="1400" dirty="0">
                <a:solidFill>
                  <a:srgbClr val="B4C8BE"/>
                </a:solidFill>
                <a:latin typeface="Candara" panose="020E0502030303020204" pitchFamily="34" charset="0"/>
              </a:rPr>
              <a:t>MQTT + Broker (</a:t>
            </a:r>
            <a:r>
              <a:rPr sz="1400" dirty="0" err="1">
                <a:solidFill>
                  <a:srgbClr val="B4C8BE"/>
                </a:solidFill>
                <a:latin typeface="Candara" panose="020E0502030303020204" pitchFamily="34" charset="0"/>
              </a:rPr>
              <a:t>Mosquitto</a:t>
            </a:r>
            <a:r>
              <a:rPr sz="1400" dirty="0">
                <a:solidFill>
                  <a:srgbClr val="B4C8BE"/>
                </a:solidFill>
                <a:latin typeface="Candara" panose="020E0502030303020204" pitchFamily="34" charset="0"/>
              </a:rPr>
              <a:t>/EMQX)
Device → Broker → 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1052" y="4572000"/>
            <a:ext cx="45720" cy="7315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62492" y="4572001"/>
            <a:ext cx="2292615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Candara" panose="020E0502030303020204" pitchFamily="34" charset="0"/>
              </a:rPr>
              <a:t>Real-Time</a:t>
            </a:r>
          </a:p>
          <a:p>
            <a:r>
              <a:rPr sz="1400" dirty="0">
                <a:solidFill>
                  <a:srgbClr val="B4C8BE"/>
                </a:solidFill>
                <a:latin typeface="Candara" panose="020E0502030303020204" pitchFamily="34" charset="0"/>
              </a:rPr>
              <a:t>SignalR
Server-to-client live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7292" y="2377440"/>
            <a:ext cx="45720" cy="7315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68733" y="2377441"/>
            <a:ext cx="158351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  <a:latin typeface="Candara" panose="020E0502030303020204" pitchFamily="34" charset="0"/>
              </a:rPr>
              <a:t>Frontend</a:t>
            </a:r>
          </a:p>
          <a:p>
            <a:r>
              <a:rPr sz="1400">
                <a:solidFill>
                  <a:srgbClr val="B4C8BE"/>
                </a:solidFill>
                <a:latin typeface="Candara" panose="020E0502030303020204" pitchFamily="34" charset="0"/>
              </a:rPr>
              <a:t>React + TypeScript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292" y="3474720"/>
            <a:ext cx="45720" cy="7315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8732" y="3474721"/>
            <a:ext cx="17588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  <a:latin typeface="Candara" panose="020E0502030303020204" pitchFamily="34" charset="0"/>
              </a:rPr>
              <a:t>Database</a:t>
            </a:r>
          </a:p>
          <a:p>
            <a:r>
              <a:rPr sz="1400">
                <a:solidFill>
                  <a:srgbClr val="B4C8BE"/>
                </a:solidFill>
                <a:latin typeface="Candara" panose="020E0502030303020204" pitchFamily="34" charset="0"/>
              </a:rPr>
              <a:t>SQL Server + EF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292" y="4572000"/>
            <a:ext cx="45720" cy="7315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68732" y="4572001"/>
            <a:ext cx="10887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FFFF"/>
                </a:solidFill>
                <a:latin typeface="Candara" panose="020E0502030303020204" pitchFamily="34" charset="0"/>
              </a:rPr>
              <a:t>DevOps</a:t>
            </a:r>
          </a:p>
          <a:p>
            <a:r>
              <a:rPr sz="1400">
                <a:solidFill>
                  <a:srgbClr val="B4C8BE"/>
                </a:solidFill>
                <a:latin typeface="Candara" panose="020E0502030303020204" pitchFamily="34" charset="0"/>
              </a:rPr>
              <a:t>Git +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1052" y="457201"/>
            <a:ext cx="55515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FFFF"/>
                </a:solidFill>
                <a:latin typeface="Candara" panose="020E0502030303020204" pitchFamily="34" charset="0"/>
              </a:rPr>
              <a:t>System Architecture </a:t>
            </a:r>
            <a:r>
              <a:rPr sz="3200" b="1" dirty="0">
                <a:solidFill>
                  <a:srgbClr val="00C896"/>
                </a:solidFill>
                <a:latin typeface="Candara" panose="020E0502030303020204" pitchFamily="34" charset="0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71053" y="1097281"/>
            <a:ext cx="51892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8C8C8"/>
                </a:solidFill>
                <a:latin typeface="Candara" panose="020E0502030303020204" pitchFamily="34" charset="0"/>
              </a:rPr>
              <a:t>Six layers — from physical sensor to browser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070" y="1886152"/>
            <a:ext cx="1725152" cy="16747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00C896"/>
                </a:solidFill>
                <a:latin typeface="Candara" panose="020E0502030303020204" pitchFamily="34" charset="0"/>
              </a:rPr>
              <a:t>Edge Devices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Arduino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ESP32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Raspberry Pi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Sensors &amp;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5728" y="2247781"/>
            <a:ext cx="1576072" cy="16733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00C896"/>
                </a:solidFill>
                <a:latin typeface="Candara" panose="020E0502030303020204" pitchFamily="34" charset="0"/>
              </a:rPr>
              <a:t>IoT Messaging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MQTT Broker</a:t>
            </a:r>
          </a:p>
          <a:p>
            <a:pPr>
              <a:lnSpc>
                <a:spcPct val="150000"/>
              </a:lnSpc>
            </a:pPr>
            <a:r>
              <a:rPr sz="1400" dirty="0" err="1">
                <a:solidFill>
                  <a:srgbClr val="FFFFFF"/>
                </a:solidFill>
                <a:latin typeface="Candara" panose="020E0502030303020204" pitchFamily="34" charset="0"/>
              </a:rPr>
              <a:t>Mosquitto</a:t>
            </a: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 / EMQX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Pub/Sub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Device → Broker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812" y="2723529"/>
            <a:ext cx="1396536" cy="16747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00C896"/>
                </a:solidFill>
                <a:latin typeface="Candara" panose="020E0502030303020204" pitchFamily="34" charset="0"/>
              </a:rPr>
              <a:t>Backend API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ASP.NET Core 8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RESTful API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SignalR Hub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MQTT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3381" y="3298671"/>
            <a:ext cx="1186543" cy="10284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00C896"/>
                </a:solidFill>
                <a:latin typeface="Candara" panose="020E0502030303020204" pitchFamily="34" charset="0"/>
              </a:rPr>
              <a:t>Database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SQL Server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EF Core 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7398" y="3952823"/>
            <a:ext cx="1647823" cy="13515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00C896"/>
                </a:solidFill>
                <a:latin typeface="Candara" panose="020E0502030303020204" pitchFamily="34" charset="0"/>
              </a:rPr>
              <a:t>Real-Time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SignalR WebSocket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Server Push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&lt;2 sec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26297" y="4628617"/>
            <a:ext cx="1218603" cy="13515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1400" b="1" dirty="0">
                <a:solidFill>
                  <a:srgbClr val="00C896"/>
                </a:solidFill>
                <a:latin typeface="Candara" panose="020E0502030303020204" pitchFamily="34" charset="0"/>
              </a:rPr>
              <a:t>Frontend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React 18 SPA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SignalR Client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rgbClr val="FFFFFF"/>
                </a:solidFill>
                <a:latin typeface="Candara" panose="020E0502030303020204" pitchFamily="34" charset="0"/>
              </a:rPr>
              <a:t>Chart.js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1543" y="6189931"/>
            <a:ext cx="48377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00C896"/>
                </a:solidFill>
                <a:latin typeface="Candara" panose="020E0502030303020204" pitchFamily="34" charset="0"/>
              </a:rPr>
              <a:t>⚡ Real-time via SignalR WebSocket — updates in &lt;2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893"/>
            <a:ext cx="12188825" cy="45708"/>
          </a:xfrm>
          <a:prstGeom prst="rect">
            <a:avLst/>
          </a:prstGeom>
          <a:solidFill>
            <a:srgbClr val="00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350" y="595099"/>
            <a:ext cx="6094413" cy="45640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17322"/>
            <a:r>
              <a:rPr lang="en-US" sz="2666" b="1" dirty="0">
                <a:solidFill>
                  <a:srgbClr val="F5FAF8"/>
                </a:solidFill>
                <a:latin typeface="Candara" panose="020E0502030303020204" pitchFamily="34" charset="0"/>
              </a:rPr>
              <a:t>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351" y="1052180"/>
            <a:ext cx="9293979" cy="26161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17322"/>
            <a:r>
              <a:rPr lang="en-US" sz="1400" b="1" dirty="0">
                <a:solidFill>
                  <a:srgbClr val="F5FAF8"/>
                </a:solidFill>
                <a:latin typeface="Candara" panose="020E0502030303020204" pitchFamily="34" charset="0"/>
              </a:rPr>
              <a:t>Entity Relationship Diagram</a:t>
            </a:r>
            <a:r>
              <a:rPr lang="en-US" sz="1333" i="1" dirty="0">
                <a:solidFill>
                  <a:srgbClr val="B9CDC3"/>
                </a:solidFill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990" y="1562585"/>
            <a:ext cx="2818666" cy="3656648"/>
          </a:xfrm>
          <a:prstGeom prst="roundRect">
            <a:avLst/>
          </a:prstGeom>
          <a:solidFill>
            <a:srgbClr val="030908"/>
          </a:solidFill>
          <a:ln w="8890">
            <a:solidFill>
              <a:srgbClr val="00B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261" y="1654003"/>
            <a:ext cx="2590125" cy="20005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000" b="1">
                <a:solidFill>
                  <a:srgbClr val="00BEE6"/>
                </a:solidFill>
                <a:latin typeface="Candara" panose="020E0502030303020204" pitchFamily="34" charset="0"/>
              </a:rPr>
              <a:t>SENSOR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0467" y="1562585"/>
            <a:ext cx="5218341" cy="4380359"/>
          </a:xfrm>
          <a:prstGeom prst="roundRect">
            <a:avLst/>
          </a:prstGeom>
          <a:solidFill>
            <a:srgbClr val="030908"/>
          </a:solidFill>
          <a:ln w="8890">
            <a:solidFill>
              <a:srgbClr val="008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94737" y="1654003"/>
            <a:ext cx="4989800" cy="20005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000" b="1">
                <a:solidFill>
                  <a:srgbClr val="008770"/>
                </a:solidFill>
                <a:latin typeface="Candara" panose="020E0502030303020204" pitchFamily="34" charset="0"/>
              </a:rPr>
              <a:t>DEVICE 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1168" y="1562585"/>
            <a:ext cx="2780576" cy="4532719"/>
          </a:xfrm>
          <a:prstGeom prst="roundRect">
            <a:avLst/>
          </a:prstGeom>
          <a:solidFill>
            <a:srgbClr val="030908"/>
          </a:solidFill>
          <a:ln w="8890">
            <a:solidFill>
              <a:srgbClr val="E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65438" y="1654003"/>
            <a:ext cx="2552035" cy="20005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000" b="1">
                <a:solidFill>
                  <a:srgbClr val="E6AA00"/>
                </a:solidFill>
                <a:latin typeface="Candara" panose="020E0502030303020204" pitchFamily="34" charset="0"/>
              </a:rPr>
              <a:t>ALERTING &amp; CONFIGURATION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885187" y="2552928"/>
            <a:ext cx="876072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85187" y="2377714"/>
            <a:ext cx="0" cy="175214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971026" y="2377714"/>
            <a:ext cx="914162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13087" y="2880503"/>
            <a:ext cx="0" cy="1005578"/>
          </a:xfrm>
          <a:prstGeom prst="line">
            <a:avLst/>
          </a:prstGeom>
          <a:ln w="15875">
            <a:solidFill>
              <a:srgbClr val="00B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390016" y="2933829"/>
            <a:ext cx="1371243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390016" y="2933829"/>
            <a:ext cx="0" cy="1500749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123386" y="4434578"/>
            <a:ext cx="266631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89475" y="2552928"/>
            <a:ext cx="876072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265546" y="2377714"/>
            <a:ext cx="0" cy="175214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65546" y="2377714"/>
            <a:ext cx="914162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89475" y="2758615"/>
            <a:ext cx="876072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65546" y="2758615"/>
            <a:ext cx="0" cy="1165556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65546" y="3924171"/>
            <a:ext cx="914162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08791" y="3200460"/>
            <a:ext cx="0" cy="1104612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989800" y="4305072"/>
            <a:ext cx="418991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89800" y="4305072"/>
            <a:ext cx="0" cy="342811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41943" y="3200460"/>
            <a:ext cx="0" cy="1104612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41943" y="4305072"/>
            <a:ext cx="837982" cy="0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579925" y="4305072"/>
            <a:ext cx="0" cy="342811"/>
          </a:xfrm>
          <a:prstGeom prst="line">
            <a:avLst/>
          </a:prstGeom>
          <a:ln w="14604">
            <a:solidFill>
              <a:srgbClr val="00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360501" y="4495522"/>
            <a:ext cx="0" cy="418991"/>
          </a:xfrm>
          <a:prstGeom prst="line">
            <a:avLst/>
          </a:prstGeom>
          <a:ln w="15875">
            <a:solidFill>
              <a:srgbClr val="E6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13087" y="1433080"/>
            <a:ext cx="0" cy="434227"/>
          </a:xfrm>
          <a:prstGeom prst="line">
            <a:avLst/>
          </a:prstGeom>
          <a:ln w="12065">
            <a:solidFill>
              <a:srgbClr val="00BE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13087" y="1433080"/>
            <a:ext cx="10032927" cy="0"/>
          </a:xfrm>
          <a:prstGeom prst="line">
            <a:avLst/>
          </a:prstGeom>
          <a:ln w="12065">
            <a:solidFill>
              <a:srgbClr val="00BE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846014" y="1433080"/>
            <a:ext cx="0" cy="2491091"/>
          </a:xfrm>
          <a:prstGeom prst="line">
            <a:avLst/>
          </a:prstGeom>
          <a:ln w="12065">
            <a:solidFill>
              <a:srgbClr val="00BE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1541293" y="3924171"/>
            <a:ext cx="304721" cy="0"/>
          </a:xfrm>
          <a:prstGeom prst="line">
            <a:avLst/>
          </a:prstGeom>
          <a:ln w="12065">
            <a:solidFill>
              <a:srgbClr val="00BE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47531" y="1867307"/>
            <a:ext cx="2323495" cy="1013196"/>
          </a:xfrm>
          <a:prstGeom prst="rect">
            <a:avLst/>
          </a:prstGeom>
          <a:solidFill>
            <a:srgbClr val="112621"/>
          </a:solidFill>
          <a:ln w="12700">
            <a:solidFill>
              <a:srgbClr val="00B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47531" y="1867307"/>
            <a:ext cx="2323495" cy="251395"/>
          </a:xfrm>
          <a:prstGeom prst="rect">
            <a:avLst/>
          </a:prstGeom>
          <a:solidFill>
            <a:srgbClr val="00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48791" y="1913015"/>
            <a:ext cx="520976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0000"/>
                </a:solidFill>
                <a:latin typeface="Candara" panose="020E0502030303020204" pitchFamily="34" charset="0"/>
              </a:rPr>
              <a:t>SENSORS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184" y="2194881"/>
            <a:ext cx="2110189" cy="8669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defTabSz="380893">
              <a:spcAft>
                <a:spcPts val="83"/>
              </a:spcAft>
            </a:pPr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PK  SensorId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DeviceId → Devices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SensorName · SensorType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Unit · MinValue · MaxValue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IsActive · CreatedAt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531" y="3886081"/>
            <a:ext cx="2475855" cy="1104612"/>
          </a:xfrm>
          <a:prstGeom prst="rect">
            <a:avLst/>
          </a:prstGeom>
          <a:solidFill>
            <a:srgbClr val="112621"/>
          </a:solidFill>
          <a:ln w="12700">
            <a:solidFill>
              <a:srgbClr val="00B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7531" y="3886081"/>
            <a:ext cx="2475855" cy="251395"/>
          </a:xfrm>
          <a:prstGeom prst="rect">
            <a:avLst/>
          </a:prstGeom>
          <a:solidFill>
            <a:srgbClr val="00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57269" y="3931789"/>
            <a:ext cx="1056379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0000"/>
                </a:solidFill>
                <a:latin typeface="Candara" panose="020E0502030303020204" pitchFamily="34" charset="0"/>
              </a:rPr>
              <a:t>SENSOR READINGS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183" y="4213655"/>
            <a:ext cx="2262551" cy="8669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defTabSz="380893">
              <a:spcAft>
                <a:spcPts val="83"/>
              </a:spcAft>
            </a:pPr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PK  ReadingId (BIGINT)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DeviceId → Devices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SensorId → Sensors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Value · Timestamp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Status · Quality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61259" y="1943487"/>
            <a:ext cx="2628215" cy="1256973"/>
          </a:xfrm>
          <a:prstGeom prst="rect">
            <a:avLst/>
          </a:prstGeom>
          <a:solidFill>
            <a:srgbClr val="112621"/>
          </a:solidFill>
          <a:ln w="127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761259" y="1943487"/>
            <a:ext cx="2628215" cy="251395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42932" y="1989196"/>
            <a:ext cx="46487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0000"/>
                </a:solidFill>
                <a:latin typeface="Candara" panose="020E0502030303020204" pitchFamily="34" charset="0"/>
              </a:rPr>
              <a:t>DEVICES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7911" y="2271062"/>
            <a:ext cx="2414911" cy="8669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defTabSz="380893">
              <a:spcAft>
                <a:spcPts val="83"/>
              </a:spcAft>
            </a:pPr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PK  DeviceId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DeviceName · DeviceType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Location · FacilityType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EdgeDeviceType · EdgeDeviceId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IsActive · LastSeenAt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7097" y="4647883"/>
            <a:ext cx="2285405" cy="1081758"/>
          </a:xfrm>
          <a:prstGeom prst="rect">
            <a:avLst/>
          </a:prstGeom>
          <a:solidFill>
            <a:srgbClr val="112621"/>
          </a:solidFill>
          <a:ln w="127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847097" y="4647882"/>
            <a:ext cx="2285405" cy="251395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01310" y="4693590"/>
            <a:ext cx="1376980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0000"/>
                </a:solidFill>
                <a:latin typeface="Candara" panose="020E0502030303020204" pitchFamily="34" charset="0"/>
              </a:rPr>
              <a:t>DEVICE STATUS HISTORY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53750" y="4975457"/>
            <a:ext cx="2072100" cy="7001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defTabSz="380893">
              <a:spcAft>
                <a:spcPts val="83"/>
              </a:spcAft>
            </a:pPr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PK  StatusHistoryId (BIGINT)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DeviceId → Devices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Status · PreviousStatus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Message · Timestamp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37222" y="4647883"/>
            <a:ext cx="2285405" cy="1081758"/>
          </a:xfrm>
          <a:prstGeom prst="rect">
            <a:avLst/>
          </a:prstGeom>
          <a:solidFill>
            <a:srgbClr val="112621"/>
          </a:solidFill>
          <a:ln w="127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437222" y="4647882"/>
            <a:ext cx="2285405" cy="251395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16281" y="4693590"/>
            <a:ext cx="1327286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0000"/>
                </a:solidFill>
                <a:latin typeface="Candara" panose="020E0502030303020204" pitchFamily="34" charset="0"/>
              </a:rPr>
              <a:t>OPERATIONAL METRICS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43875" y="4975457"/>
            <a:ext cx="2072100" cy="7001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defTabSz="380893">
              <a:spcAft>
                <a:spcPts val="83"/>
              </a:spcAft>
            </a:pPr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PK  MetricId (BIGINT)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DeviceId → Devices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MetricType · MetricValue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PeriodStart · PeriodEnd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79708" y="1867307"/>
            <a:ext cx="2361585" cy="1013196"/>
          </a:xfrm>
          <a:prstGeom prst="rect">
            <a:avLst/>
          </a:prstGeom>
          <a:solidFill>
            <a:srgbClr val="112621"/>
          </a:solidFill>
          <a:ln w="12700">
            <a:solidFill>
              <a:srgbClr val="E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179708" y="1867307"/>
            <a:ext cx="2361585" cy="251395"/>
          </a:xfrm>
          <a:prstGeom prst="rect">
            <a:avLst/>
          </a:prstGeom>
          <a:solidFill>
            <a:srgbClr val="E6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902842" y="1913015"/>
            <a:ext cx="915315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0000"/>
                </a:solidFill>
                <a:latin typeface="Candara" panose="020E0502030303020204" pitchFamily="34" charset="0"/>
              </a:rPr>
              <a:t>DEVICE CONFIGS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6361" y="2194882"/>
            <a:ext cx="2148280" cy="7001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defTabSz="380893">
              <a:spcAft>
                <a:spcPts val="83"/>
              </a:spcAft>
            </a:pPr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PK  ConfigurationId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DeviceId → Devices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ConfigurationKey · Value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Unique: DeviceId + Key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79708" y="3352820"/>
            <a:ext cx="2361585" cy="1142702"/>
          </a:xfrm>
          <a:prstGeom prst="rect">
            <a:avLst/>
          </a:prstGeom>
          <a:solidFill>
            <a:srgbClr val="112621"/>
          </a:solidFill>
          <a:ln w="12700">
            <a:solidFill>
              <a:srgbClr val="E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179708" y="3352820"/>
            <a:ext cx="2361585" cy="251395"/>
          </a:xfrm>
          <a:prstGeom prst="rect">
            <a:avLst/>
          </a:prstGeom>
          <a:solidFill>
            <a:srgbClr val="E6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990207" y="3398528"/>
            <a:ext cx="740588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0000"/>
                </a:solidFill>
                <a:latin typeface="Candara" panose="020E0502030303020204" pitchFamily="34" charset="0"/>
              </a:rPr>
              <a:t>ALERT RULES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6361" y="3680394"/>
            <a:ext cx="2148280" cy="8669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defTabSz="380893">
              <a:spcAft>
                <a:spcPts val="83"/>
              </a:spcAft>
            </a:pPr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PK  AlertRuleId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DeviceId → Devices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SensorId → Sensors (optional)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Condition · Threshold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Severity · IsEnabled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79708" y="4914513"/>
            <a:ext cx="2361585" cy="1081758"/>
          </a:xfrm>
          <a:prstGeom prst="rect">
            <a:avLst/>
          </a:prstGeom>
          <a:solidFill>
            <a:srgbClr val="112621"/>
          </a:solidFill>
          <a:ln w="12700">
            <a:solidFill>
              <a:srgbClr val="E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179708" y="4914513"/>
            <a:ext cx="2361585" cy="251395"/>
          </a:xfrm>
          <a:prstGeom prst="rect">
            <a:avLst/>
          </a:prstGeom>
          <a:solidFill>
            <a:srgbClr val="E6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149706" y="4960222"/>
            <a:ext cx="421590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0000"/>
                </a:solidFill>
                <a:latin typeface="Candara" panose="020E0502030303020204" pitchFamily="34" charset="0"/>
              </a:rPr>
              <a:t>ALERTS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6361" y="5242088"/>
            <a:ext cx="2148280" cy="8669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defTabSz="380893">
              <a:spcAft>
                <a:spcPts val="83"/>
              </a:spcAft>
            </a:pPr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PK  AlertId (BIGINT)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AlertRuleId → AlertRules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DeviceId → Devices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FK  SensorId → Sensors (optional)</a:t>
            </a:r>
          </a:p>
          <a:p>
            <a:pPr defTabSz="380893">
              <a:spcAft>
                <a:spcPts val="83"/>
              </a:spcAft>
            </a:pPr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Status · TriggeredAt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17483" y="2461512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625349" y="2469130"/>
            <a:ext cx="4328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986261" y="2301534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066876" y="2309152"/>
            <a:ext cx="97784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∞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683581" y="2910975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791447" y="2918593"/>
            <a:ext cx="4328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BEE6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683581" y="3710867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764196" y="3718485"/>
            <a:ext cx="97784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BEE6"/>
                </a:solidFill>
                <a:latin typeface="Candara" panose="020E0502030303020204" pitchFamily="34" charset="0"/>
              </a:rPr>
              <a:t>∞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17483" y="2850031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625349" y="2857649"/>
            <a:ext cx="4328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108150" y="4343162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188765" y="4350780"/>
            <a:ext cx="97784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∞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42801" y="2461512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550667" y="2469130"/>
            <a:ext cx="4328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913078" y="2301534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993693" y="2309152"/>
            <a:ext cx="97784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∞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442801" y="2667199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550667" y="2674817"/>
            <a:ext cx="4328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913078" y="3847991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993693" y="3855609"/>
            <a:ext cx="97784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∞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294520" y="3223314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02386" y="3230932"/>
            <a:ext cx="4328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860293" y="4465050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940908" y="4472669"/>
            <a:ext cx="97784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27672" y="3223314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735538" y="3230932"/>
            <a:ext cx="4328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450419" y="4465050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531034" y="4472669"/>
            <a:ext cx="97784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F5F8F6"/>
                </a:solidFill>
                <a:latin typeface="Candara" panose="020E0502030303020204" pitchFamily="34" charset="0"/>
              </a:rPr>
              <a:t>∞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230994" y="4480286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338860" y="4487905"/>
            <a:ext cx="4328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E6AA00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230994" y="4739299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0311609" y="4746917"/>
            <a:ext cx="97784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E6AA00"/>
                </a:solidFill>
                <a:latin typeface="Candara" panose="020E0502030303020204" pitchFamily="34" charset="0"/>
              </a:rPr>
              <a:t>∞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675963" y="1692093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783829" y="1699711"/>
            <a:ext cx="43282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BEE6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1556529" y="3779429"/>
            <a:ext cx="259013" cy="1523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0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1570619" y="3787047"/>
            <a:ext cx="230833" cy="200055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 defTabSz="380893"/>
            <a:r>
              <a:rPr sz="1000" b="1">
                <a:solidFill>
                  <a:srgbClr val="00BEE6"/>
                </a:solidFill>
                <a:latin typeface="Candara" panose="020E0502030303020204" pitchFamily="34" charset="0"/>
              </a:rPr>
              <a:t>0..∞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71351" y="6080069"/>
            <a:ext cx="11122303" cy="403755"/>
          </a:xfrm>
          <a:prstGeom prst="roundRect">
            <a:avLst/>
          </a:prstGeom>
          <a:solidFill>
            <a:srgbClr val="0C1C18"/>
          </a:solidFill>
          <a:ln w="8890">
            <a:solidFill>
              <a:srgbClr val="008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166" dirty="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61801" y="6179103"/>
            <a:ext cx="1523603" cy="20005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000" b="1">
                <a:solidFill>
                  <a:srgbClr val="00C896"/>
                </a:solidFill>
                <a:latin typeface="Candara" panose="020E0502030303020204" pitchFamily="34" charset="0"/>
              </a:rPr>
              <a:t>Legend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99783" y="6171486"/>
            <a:ext cx="8379817" cy="20005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000">
                <a:solidFill>
                  <a:srgbClr val="B2C4BC"/>
                </a:solidFill>
                <a:latin typeface="Candara" panose="020E0502030303020204" pitchFamily="34" charset="0"/>
              </a:rPr>
              <a:t>1 → ∞ = one-to-many     0..∞ = optional child relationship     dashed line = optional sensor-level alert rule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22411" y="6171486"/>
            <a:ext cx="1104612" cy="20005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 defTabSz="380893"/>
            <a:r>
              <a:rPr sz="1000" b="1">
                <a:solidFill>
                  <a:srgbClr val="00C896"/>
                </a:solidFill>
                <a:latin typeface="Candara" panose="020E0502030303020204" pitchFamily="34" charset="0"/>
              </a:rPr>
              <a:t>8 tables · 3NF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427023" y="6567622"/>
            <a:ext cx="457081" cy="20005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 defTabSz="380893"/>
            <a:r>
              <a:rPr sz="1000">
                <a:solidFill>
                  <a:srgbClr val="73877F"/>
                </a:solidFill>
                <a:latin typeface="Candara" panose="020E0502030303020204" pitchFamily="34" charset="0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893"/>
            <a:ext cx="12188825" cy="609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166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441" y="457974"/>
            <a:ext cx="4222631" cy="5025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380893"/>
            <a:r>
              <a:rPr sz="2666" b="1" dirty="0">
                <a:solidFill>
                  <a:srgbClr val="F0F8F5"/>
                </a:solidFill>
                <a:latin typeface="Candara" panose="020E0502030303020204" pitchFamily="34" charset="0"/>
              </a:rPr>
              <a:t>Backend &amp; API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1" y="1067416"/>
            <a:ext cx="4836580" cy="3231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380893"/>
            <a:r>
              <a:rPr sz="1500" dirty="0">
                <a:solidFill>
                  <a:srgbClr val="B4C8BE"/>
                </a:solidFill>
                <a:latin typeface="Candara" panose="020E0502030303020204" pitchFamily="34" charset="0"/>
              </a:rPr>
              <a:t>Layered architecture + RESTful APIs + real-time streaming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1" y="1753036"/>
            <a:ext cx="4951710" cy="8379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80893"/>
            <a:r>
              <a:rPr sz="1500" b="1" dirty="0">
                <a:solidFill>
                  <a:srgbClr val="00C896"/>
                </a:solidFill>
                <a:latin typeface="Candara" panose="020E0502030303020204" pitchFamily="34" charset="0"/>
              </a:rPr>
              <a:t>Presentation Layer</a:t>
            </a:r>
          </a:p>
          <a:p>
            <a:pPr algn="r" defTabSz="380893"/>
            <a:r>
              <a:rPr sz="1500" dirty="0">
                <a:solidFill>
                  <a:srgbClr val="B4C8BE"/>
                </a:solidFill>
                <a:latin typeface="Candara" panose="020E0502030303020204" pitchFamily="34" charset="0"/>
              </a:rPr>
              <a:t>Controllers · SignalR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1" y="2743378"/>
            <a:ext cx="4951710" cy="8379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80893"/>
            <a:r>
              <a:rPr sz="1500" b="1" dirty="0">
                <a:solidFill>
                  <a:srgbClr val="00C896"/>
                </a:solidFill>
                <a:latin typeface="Candara" panose="020E0502030303020204" pitchFamily="34" charset="0"/>
              </a:rPr>
              <a:t>Service Layer</a:t>
            </a:r>
          </a:p>
          <a:p>
            <a:pPr algn="r" defTabSz="380893"/>
            <a:r>
              <a:rPr sz="1500" dirty="0">
                <a:solidFill>
                  <a:srgbClr val="B4C8BE"/>
                </a:solidFill>
                <a:latin typeface="Candara" panose="020E0502030303020204" pitchFamily="34" charset="0"/>
              </a:rPr>
              <a:t>Business Logic ·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1" y="3733720"/>
            <a:ext cx="4951710" cy="8379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80893"/>
            <a:r>
              <a:rPr sz="1500" b="1">
                <a:solidFill>
                  <a:srgbClr val="00C896"/>
                </a:solidFill>
                <a:latin typeface="Candara" panose="020E0502030303020204" pitchFamily="34" charset="0"/>
              </a:rPr>
              <a:t>Data Access Layer</a:t>
            </a:r>
          </a:p>
          <a:p>
            <a:pPr algn="r" defTabSz="380893"/>
            <a:r>
              <a:rPr sz="1500">
                <a:solidFill>
                  <a:srgbClr val="B4C8BE"/>
                </a:solidFill>
                <a:latin typeface="Candara" panose="020E0502030303020204" pitchFamily="34" charset="0"/>
              </a:rPr>
              <a:t>EF Core · Repository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1" y="4724063"/>
            <a:ext cx="4951710" cy="8379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80893"/>
            <a:r>
              <a:rPr sz="1500" b="1">
                <a:solidFill>
                  <a:srgbClr val="00C896"/>
                </a:solidFill>
                <a:latin typeface="Candara" panose="020E0502030303020204" pitchFamily="34" charset="0"/>
              </a:rPr>
              <a:t>Database Layer</a:t>
            </a:r>
          </a:p>
          <a:p>
            <a:pPr algn="r" defTabSz="380893"/>
            <a:r>
              <a:rPr sz="1500">
                <a:solidFill>
                  <a:srgbClr val="B4C8BE"/>
                </a:solidFill>
                <a:latin typeface="Candara" panose="020E0502030303020204" pitchFamily="34" charset="0"/>
              </a:rPr>
              <a:t>SQL Server · IoTMonitoringDB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12" y="790230"/>
            <a:ext cx="4951710" cy="13687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r>
              <a:rPr sz="1333" b="1" dirty="0">
                <a:solidFill>
                  <a:srgbClr val="00C896"/>
                </a:solidFill>
                <a:latin typeface="Candara" panose="020E0502030303020204" pitchFamily="34" charset="0"/>
              </a:rPr>
              <a:t>Device APIs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GET /devices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GET /devices/{id}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POST /devices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PUT /devices/{id}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DELETE /devices/{id}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GET /devices/{id}/status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12" y="2389092"/>
            <a:ext cx="4951710" cy="12188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r>
              <a:rPr sz="1333" b="1" dirty="0">
                <a:solidFill>
                  <a:srgbClr val="00BEE6"/>
                </a:solidFill>
                <a:latin typeface="Candara" panose="020E0502030303020204" pitchFamily="34" charset="0"/>
              </a:rPr>
              <a:t>Sensor APIs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GET /devices/{</a:t>
            </a:r>
            <a:r>
              <a:rPr sz="1333" dirty="0" err="1">
                <a:solidFill>
                  <a:srgbClr val="F0F8F5"/>
                </a:solidFill>
                <a:latin typeface="Candara" panose="020E0502030303020204" pitchFamily="34" charset="0"/>
              </a:rPr>
              <a:t>deviceId</a:t>
            </a: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}/sensors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GET /sensors/{id}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POST /devices/{</a:t>
            </a:r>
            <a:r>
              <a:rPr sz="1333" dirty="0" err="1">
                <a:solidFill>
                  <a:srgbClr val="F0F8F5"/>
                </a:solidFill>
                <a:latin typeface="Candara" panose="020E0502030303020204" pitchFamily="34" charset="0"/>
              </a:rPr>
              <a:t>deviceId</a:t>
            </a: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}/sensors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PUT /sensors/{id}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DELETE /sensors/{id}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12" y="3806225"/>
            <a:ext cx="4951710" cy="12188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r>
              <a:rPr sz="1333" b="1" dirty="0">
                <a:solidFill>
                  <a:srgbClr val="00C896"/>
                </a:solidFill>
                <a:latin typeface="Candara" panose="020E0502030303020204" pitchFamily="34" charset="0"/>
              </a:rPr>
              <a:t>Sensor Readings (Core IoT)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POST /</a:t>
            </a:r>
            <a:r>
              <a:rPr sz="1333" dirty="0" err="1">
                <a:solidFill>
                  <a:srgbClr val="F0F8F5"/>
                </a:solidFill>
                <a:latin typeface="Candara" panose="020E0502030303020204" pitchFamily="34" charset="0"/>
              </a:rPr>
              <a:t>sensorreadings</a:t>
            </a:r>
            <a:endParaRPr sz="1333" dirty="0">
              <a:solidFill>
                <a:srgbClr val="F0F8F5"/>
              </a:solidFill>
              <a:latin typeface="Candara" panose="020E0502030303020204" pitchFamily="34" charset="0"/>
            </a:endParaRP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POST /</a:t>
            </a:r>
            <a:r>
              <a:rPr sz="1333" dirty="0" err="1">
                <a:solidFill>
                  <a:srgbClr val="F0F8F5"/>
                </a:solidFill>
                <a:latin typeface="Candara" panose="020E0502030303020204" pitchFamily="34" charset="0"/>
              </a:rPr>
              <a:t>sensorreadings</a:t>
            </a: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/batch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GET /</a:t>
            </a:r>
            <a:r>
              <a:rPr sz="1333" dirty="0" err="1">
                <a:solidFill>
                  <a:srgbClr val="F0F8F5"/>
                </a:solidFill>
                <a:latin typeface="Candara" panose="020E0502030303020204" pitchFamily="34" charset="0"/>
              </a:rPr>
              <a:t>sensorreadings</a:t>
            </a:r>
            <a:endParaRPr sz="1333" dirty="0">
              <a:solidFill>
                <a:srgbClr val="F0F8F5"/>
              </a:solidFill>
              <a:latin typeface="Candara" panose="020E0502030303020204" pitchFamily="34" charset="0"/>
            </a:endParaRP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GET /devices/{</a:t>
            </a:r>
            <a:r>
              <a:rPr sz="1333" dirty="0" err="1">
                <a:solidFill>
                  <a:srgbClr val="F0F8F5"/>
                </a:solidFill>
                <a:latin typeface="Candara" panose="020E0502030303020204" pitchFamily="34" charset="0"/>
              </a:rPr>
              <a:t>deviceId</a:t>
            </a: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}/readings</a:t>
            </a:r>
          </a:p>
          <a:p>
            <a:pPr defTabSz="380893"/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GET /sensors/{</a:t>
            </a:r>
            <a:r>
              <a:rPr sz="1333" dirty="0" err="1">
                <a:solidFill>
                  <a:srgbClr val="F0F8F5"/>
                </a:solidFill>
                <a:latin typeface="Candara" panose="020E0502030303020204" pitchFamily="34" charset="0"/>
              </a:rPr>
              <a:t>sensorId</a:t>
            </a: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}/readings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12" y="5226985"/>
            <a:ext cx="4951710" cy="12188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r>
              <a:rPr sz="1333" b="1">
                <a:solidFill>
                  <a:srgbClr val="E6AA00"/>
                </a:solidFill>
                <a:latin typeface="Candara" panose="020E0502030303020204" pitchFamily="34" charset="0"/>
              </a:rPr>
              <a:t>Alert APIs</a:t>
            </a:r>
          </a:p>
          <a:p>
            <a:pPr defTabSz="380893"/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GET /alerts</a:t>
            </a:r>
          </a:p>
          <a:p>
            <a:pPr defTabSz="380893"/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GET /alerts/{id}</a:t>
            </a:r>
          </a:p>
          <a:p>
            <a:pPr defTabSz="380893"/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GET /alerts/active</a:t>
            </a:r>
          </a:p>
          <a:p>
            <a:pPr defTabSz="380893"/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PUT /alerts/{id}/acknowledge</a:t>
            </a:r>
          </a:p>
          <a:p>
            <a:pPr defTabSz="380893"/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PUT /alerts/{id}/resolve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1" y="6400026"/>
            <a:ext cx="4932761" cy="27174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380893"/>
            <a:r>
              <a:rPr sz="1166" b="1" dirty="0">
                <a:solidFill>
                  <a:srgbClr val="00C896"/>
                </a:solidFill>
                <a:latin typeface="Candara" panose="020E0502030303020204" pitchFamily="34" charset="0"/>
              </a:rPr>
              <a:t>⚡ MQTT → Broker → API → SignalR → Frontend  (&lt;2s real-time updates)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893"/>
            <a:ext cx="12188825" cy="45708"/>
          </a:xfrm>
          <a:prstGeom prst="rect">
            <a:avLst/>
          </a:prstGeom>
          <a:solidFill>
            <a:srgbClr val="0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351" y="259906"/>
            <a:ext cx="2818666" cy="1640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66" b="1">
                <a:solidFill>
                  <a:srgbClr val="00C896"/>
                </a:solidFill>
                <a:latin typeface="Candara" panose="020E0502030303020204" pitchFamily="34" charset="0"/>
              </a:rPr>
              <a:t>FRONTEND DESIGN · INDUSTRY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351" y="465592"/>
            <a:ext cx="2094954" cy="19045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351" y="595099"/>
            <a:ext cx="5942052" cy="45640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2666" b="1">
                <a:solidFill>
                  <a:srgbClr val="F2F8F5"/>
                </a:solidFill>
                <a:latin typeface="Candara" panose="020E0502030303020204" pitchFamily="34" charset="0"/>
              </a:rPr>
              <a:t>Frontend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351" y="1090270"/>
            <a:ext cx="8989258" cy="20633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041" i="1" dirty="0">
                <a:solidFill>
                  <a:srgbClr val="AFC6BC"/>
                </a:solidFill>
                <a:latin typeface="Candara" panose="020E0502030303020204" pitchFamily="34" charset="0"/>
              </a:rPr>
              <a:t>React SPA organized by layers: routes, reusable components, state, API services, and SignalR real-time updates.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531" y="1356900"/>
            <a:ext cx="3047206" cy="20633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041" b="1">
                <a:solidFill>
                  <a:srgbClr val="00C896"/>
                </a:solidFill>
                <a:latin typeface="Candara" panose="020E0502030303020204" pitchFamily="34" charset="0"/>
              </a:rPr>
              <a:t>Layered Frontend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722" y="1646122"/>
            <a:ext cx="4304179" cy="700857"/>
          </a:xfrm>
          <a:prstGeom prst="roundRect">
            <a:avLst/>
          </a:prstGeom>
          <a:solidFill>
            <a:srgbClr val="0D1A17"/>
          </a:solidFill>
          <a:ln w="11430">
            <a:solidFill>
              <a:srgbClr val="23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7531" y="1844453"/>
            <a:ext cx="68562" cy="700857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5127" y="1935869"/>
            <a:ext cx="1066522" cy="15113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682" b="1">
                <a:solidFill>
                  <a:srgbClr val="00C896"/>
                </a:solidFill>
                <a:latin typeface="Candara" panose="020E0502030303020204" pitchFamily="34" charset="0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27" y="2103465"/>
            <a:ext cx="3961368" cy="21544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100" b="1">
                <a:solidFill>
                  <a:srgbClr val="F2F8F5"/>
                </a:solidFill>
                <a:latin typeface="Candara" panose="020E0502030303020204" pitchFamily="34" charset="0"/>
              </a:rPr>
              <a:t>Pages /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127" y="2392949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127" y="2583399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Devices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27" y="2773850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127" y="2964300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Historical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531" y="2663669"/>
            <a:ext cx="4304179" cy="799892"/>
          </a:xfrm>
          <a:prstGeom prst="roundRect">
            <a:avLst/>
          </a:prstGeom>
          <a:solidFill>
            <a:srgbClr val="0D1A17"/>
          </a:solidFill>
          <a:ln w="11430">
            <a:solidFill>
              <a:srgbClr val="23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7531" y="2728142"/>
            <a:ext cx="68562" cy="799892"/>
          </a:xfrm>
          <a:prstGeom prst="rect">
            <a:avLst/>
          </a:prstGeom>
          <a:solidFill>
            <a:srgbClr val="AA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5127" y="2819559"/>
            <a:ext cx="1066522" cy="15113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682" b="1">
                <a:solidFill>
                  <a:srgbClr val="AA8CFF"/>
                </a:solidFill>
                <a:latin typeface="Candara" panose="020E0502030303020204" pitchFamily="34" charset="0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127" y="2987155"/>
            <a:ext cx="3961368" cy="21544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100" b="1">
                <a:solidFill>
                  <a:srgbClr val="F2F8F5"/>
                </a:solidFill>
                <a:latin typeface="Candara" panose="020E0502030303020204" pitchFamily="34" charset="0"/>
              </a:rPr>
              <a:t>Reusable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127" y="3276640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Layout, Card, Table,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127" y="3467090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 dirty="0">
                <a:solidFill>
                  <a:srgbClr val="AFC6BC"/>
                </a:solidFill>
                <a:latin typeface="Candara" panose="020E0502030303020204" pitchFamily="34" charset="0"/>
              </a:rPr>
              <a:t>• </a:t>
            </a:r>
            <a:r>
              <a:rPr sz="791" dirty="0" err="1">
                <a:solidFill>
                  <a:srgbClr val="AFC6BC"/>
                </a:solidFill>
                <a:latin typeface="Candara" panose="020E0502030303020204" pitchFamily="34" charset="0"/>
              </a:rPr>
              <a:t>DeviceCard</a:t>
            </a:r>
            <a:r>
              <a:rPr sz="791" dirty="0">
                <a:solidFill>
                  <a:srgbClr val="AFC6BC"/>
                </a:solidFill>
                <a:latin typeface="Candara" panose="020E0502030303020204" pitchFamily="34" charset="0"/>
              </a:rPr>
              <a:t>, </a:t>
            </a:r>
            <a:r>
              <a:rPr sz="791" dirty="0" err="1">
                <a:solidFill>
                  <a:srgbClr val="AFC6BC"/>
                </a:solidFill>
                <a:latin typeface="Candara" panose="020E0502030303020204" pitchFamily="34" charset="0"/>
              </a:rPr>
              <a:t>SensorCard</a:t>
            </a:r>
            <a:r>
              <a:rPr sz="791" dirty="0">
                <a:solidFill>
                  <a:srgbClr val="AFC6BC"/>
                </a:solidFill>
                <a:latin typeface="Candara" panose="020E0502030303020204" pitchFamily="34" charset="0"/>
              </a:rPr>
              <a:t>, </a:t>
            </a:r>
            <a:r>
              <a:rPr sz="791" dirty="0" err="1">
                <a:solidFill>
                  <a:srgbClr val="AFC6BC"/>
                </a:solidFill>
                <a:latin typeface="Candara" panose="020E0502030303020204" pitchFamily="34" charset="0"/>
              </a:rPr>
              <a:t>AlertCard</a:t>
            </a:r>
            <a:endParaRPr sz="791" dirty="0">
              <a:solidFill>
                <a:srgbClr val="AFC6BC"/>
              </a:solidFill>
              <a:latin typeface="Candara" panose="020E0502030303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5127" y="3657540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RealTimeChart, HistoricalChart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531" y="3703248"/>
            <a:ext cx="4304179" cy="799892"/>
          </a:xfrm>
          <a:prstGeom prst="roundRect">
            <a:avLst/>
          </a:prstGeom>
          <a:solidFill>
            <a:srgbClr val="0D1A17"/>
          </a:solidFill>
          <a:ln w="11430">
            <a:solidFill>
              <a:srgbClr val="23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7531" y="3703248"/>
            <a:ext cx="68562" cy="799892"/>
          </a:xfrm>
          <a:prstGeom prst="rect">
            <a:avLst/>
          </a:prstGeom>
          <a:solidFill>
            <a:srgbClr val="00B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5127" y="3794665"/>
            <a:ext cx="1066522" cy="15113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682" b="1">
                <a:solidFill>
                  <a:srgbClr val="00B8DC"/>
                </a:solidFill>
                <a:latin typeface="Candara" panose="020E0502030303020204" pitchFamily="34" charset="0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127" y="3962261"/>
            <a:ext cx="3961368" cy="21544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100" b="1">
                <a:solidFill>
                  <a:srgbClr val="F2F8F5"/>
                </a:solidFill>
                <a:latin typeface="Candara" panose="020E0502030303020204" pitchFamily="34" charset="0"/>
              </a:rPr>
              <a:t>State + Hooks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127" y="4251746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DeviceContext, AlertContext, SignalRContext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127" y="4442196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useDevices, useAlerts, useSensorReadings, useSignalR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531" y="4678355"/>
            <a:ext cx="4304179" cy="723711"/>
          </a:xfrm>
          <a:prstGeom prst="roundRect">
            <a:avLst/>
          </a:prstGeom>
          <a:solidFill>
            <a:srgbClr val="0D1A17"/>
          </a:solidFill>
          <a:ln w="11430">
            <a:solidFill>
              <a:srgbClr val="23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7531" y="4678355"/>
            <a:ext cx="68562" cy="723711"/>
          </a:xfrm>
          <a:prstGeom prst="rect">
            <a:avLst/>
          </a:prstGeom>
          <a:solidFill>
            <a:srgbClr val="DC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5127" y="4769771"/>
            <a:ext cx="1066522" cy="15113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682" b="1">
                <a:solidFill>
                  <a:srgbClr val="DCA000"/>
                </a:solidFill>
                <a:latin typeface="Candara" panose="020E0502030303020204" pitchFamily="34" charset="0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127" y="4937367"/>
            <a:ext cx="3961368" cy="21544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100" b="1">
                <a:solidFill>
                  <a:srgbClr val="F2F8F5"/>
                </a:solidFill>
                <a:latin typeface="Candara" panose="020E0502030303020204" pitchFamily="34" charset="0"/>
              </a:rPr>
              <a:t>Service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127" y="5226851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Axios / Fetch API 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127" y="5417301"/>
            <a:ext cx="3984222" cy="16786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91">
                <a:solidFill>
                  <a:srgbClr val="AFC6BC"/>
                </a:solidFill>
                <a:latin typeface="Candara" panose="020E0502030303020204" pitchFamily="34" charset="0"/>
              </a:rPr>
              <a:t>• deviceService, sensorService, readingService, alertService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99620" y="2545310"/>
            <a:ext cx="0" cy="167596"/>
          </a:xfrm>
          <a:prstGeom prst="line">
            <a:avLst/>
          </a:prstGeom>
          <a:ln w="15240">
            <a:solidFill>
              <a:srgbClr val="008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10800000">
            <a:off x="2738676" y="2712907"/>
            <a:ext cx="121888" cy="121888"/>
          </a:xfrm>
          <a:prstGeom prst="triangle">
            <a:avLst/>
          </a:prstGeom>
          <a:solidFill>
            <a:srgbClr val="0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2799620" y="3528034"/>
            <a:ext cx="0" cy="167596"/>
          </a:xfrm>
          <a:prstGeom prst="line">
            <a:avLst/>
          </a:prstGeom>
          <a:ln w="15240">
            <a:solidFill>
              <a:srgbClr val="008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2738676" y="3695631"/>
            <a:ext cx="121888" cy="121888"/>
          </a:xfrm>
          <a:prstGeom prst="triangle">
            <a:avLst/>
          </a:prstGeom>
          <a:solidFill>
            <a:srgbClr val="0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2799620" y="4503140"/>
            <a:ext cx="0" cy="167596"/>
          </a:xfrm>
          <a:prstGeom prst="line">
            <a:avLst/>
          </a:prstGeom>
          <a:ln w="15240">
            <a:solidFill>
              <a:srgbClr val="008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10800000">
            <a:off x="2738676" y="4670737"/>
            <a:ext cx="121888" cy="121888"/>
          </a:xfrm>
          <a:prstGeom prst="triangle">
            <a:avLst/>
          </a:prstGeom>
          <a:solidFill>
            <a:srgbClr val="00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18340" y="1539733"/>
            <a:ext cx="3047206" cy="20633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041" b="1">
                <a:solidFill>
                  <a:srgbClr val="00C896"/>
                </a:solidFill>
                <a:latin typeface="Candara" panose="020E0502030303020204" pitchFamily="34" charset="0"/>
              </a:rPr>
              <a:t>Runtime Data Flow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8341" y="1844453"/>
            <a:ext cx="6437222" cy="3161476"/>
          </a:xfrm>
          <a:prstGeom prst="roundRect">
            <a:avLst/>
          </a:prstGeom>
          <a:solidFill>
            <a:srgbClr val="0D1A17"/>
          </a:solidFill>
          <a:ln w="11430">
            <a:solidFill>
              <a:srgbClr val="23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561151" y="2324388"/>
            <a:ext cx="1333153" cy="571351"/>
          </a:xfrm>
          <a:prstGeom prst="roundRect">
            <a:avLst/>
          </a:prstGeom>
          <a:solidFill>
            <a:srgbClr val="122621"/>
          </a:solidFill>
          <a:ln w="12700">
            <a:solidFill>
              <a:srgbClr val="DC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22095" y="2423421"/>
            <a:ext cx="1211264" cy="17819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858" b="1">
                <a:solidFill>
                  <a:srgbClr val="F2F8F5"/>
                </a:solidFill>
                <a:latin typeface="Candara" panose="020E0502030303020204" pitchFamily="34" charset="0"/>
              </a:rPr>
              <a:t>Backend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095" y="2644344"/>
            <a:ext cx="1211264" cy="15247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691">
                <a:solidFill>
                  <a:srgbClr val="DCA000"/>
                </a:solidFill>
                <a:latin typeface="Candara" panose="020E0502030303020204" pitchFamily="34" charset="0"/>
              </a:rPr>
              <a:t>REST JSON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61151" y="3543270"/>
            <a:ext cx="1333153" cy="571351"/>
          </a:xfrm>
          <a:prstGeom prst="roundRect">
            <a:avLst/>
          </a:prstGeom>
          <a:solidFill>
            <a:srgbClr val="122621"/>
          </a:solidFill>
          <a:ln w="127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22095" y="3642304"/>
            <a:ext cx="1211264" cy="17819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858" b="1" dirty="0">
                <a:solidFill>
                  <a:srgbClr val="F2F8F5"/>
                </a:solidFill>
                <a:latin typeface="Candara" panose="020E0502030303020204" pitchFamily="34" charset="0"/>
              </a:rPr>
              <a:t>SignalR Hub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2095" y="3863227"/>
            <a:ext cx="1211264" cy="15247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691">
                <a:solidFill>
                  <a:srgbClr val="00C896"/>
                </a:solidFill>
                <a:latin typeface="Candara" panose="020E0502030303020204" pitchFamily="34" charset="0"/>
              </a:rPr>
              <a:t>WebSocket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27565" y="2324388"/>
            <a:ext cx="1409333" cy="571351"/>
          </a:xfrm>
          <a:prstGeom prst="roundRect">
            <a:avLst/>
          </a:prstGeom>
          <a:solidFill>
            <a:srgbClr val="122621"/>
          </a:solidFill>
          <a:ln w="12700">
            <a:solidFill>
              <a:srgbClr val="DC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488509" y="2423421"/>
            <a:ext cx="1287445" cy="17819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858" b="1">
                <a:solidFill>
                  <a:srgbClr val="F2F8F5"/>
                </a:solidFill>
                <a:latin typeface="Candara" panose="020E0502030303020204" pitchFamily="34" charset="0"/>
              </a:rPr>
              <a:t>API 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88509" y="2644344"/>
            <a:ext cx="1287445" cy="15247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691">
                <a:solidFill>
                  <a:srgbClr val="DCA000"/>
                </a:solidFill>
                <a:latin typeface="Candara" panose="020E0502030303020204" pitchFamily="34" charset="0"/>
              </a:rPr>
              <a:t>Axios / Fetch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27565" y="3543270"/>
            <a:ext cx="1409333" cy="571351"/>
          </a:xfrm>
          <a:prstGeom prst="roundRect">
            <a:avLst/>
          </a:prstGeom>
          <a:solidFill>
            <a:srgbClr val="122621"/>
          </a:solidFill>
          <a:ln w="127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488509" y="3642304"/>
            <a:ext cx="1287445" cy="17819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858" b="1" dirty="0">
                <a:solidFill>
                  <a:srgbClr val="F2F8F5"/>
                </a:solidFill>
                <a:latin typeface="Candara" panose="020E0502030303020204" pitchFamily="34" charset="0"/>
              </a:rPr>
              <a:t>SignalR Client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88509" y="3863227"/>
            <a:ext cx="1287445" cy="15247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691">
                <a:solidFill>
                  <a:srgbClr val="00C896"/>
                </a:solidFill>
                <a:latin typeface="Candara" panose="020E0502030303020204" pitchFamily="34" charset="0"/>
              </a:rPr>
              <a:t>Subscriptions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79708" y="2933829"/>
            <a:ext cx="1447423" cy="571351"/>
          </a:xfrm>
          <a:prstGeom prst="roundRect">
            <a:avLst/>
          </a:prstGeom>
          <a:solidFill>
            <a:srgbClr val="122621"/>
          </a:solidFill>
          <a:ln w="12700">
            <a:solidFill>
              <a:srgbClr val="00B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240652" y="3032863"/>
            <a:ext cx="1325535" cy="17819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858" b="1">
                <a:solidFill>
                  <a:srgbClr val="F2F8F5"/>
                </a:solidFill>
                <a:latin typeface="Candara" panose="020E0502030303020204" pitchFamily="34" charset="0"/>
              </a:rPr>
              <a:t>State Layer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40652" y="3253786"/>
            <a:ext cx="1325535" cy="15247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691">
                <a:solidFill>
                  <a:srgbClr val="00B8DC"/>
                </a:solidFill>
                <a:latin typeface="Candara" panose="020E0502030303020204" pitchFamily="34" charset="0"/>
              </a:rPr>
              <a:t>Context + hooks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703311" y="2933829"/>
            <a:ext cx="1333153" cy="571351"/>
          </a:xfrm>
          <a:prstGeom prst="roundRect">
            <a:avLst/>
          </a:prstGeom>
          <a:solidFill>
            <a:srgbClr val="122621"/>
          </a:solidFill>
          <a:ln w="12700">
            <a:solidFill>
              <a:srgbClr val="AA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764256" y="3032863"/>
            <a:ext cx="1211264" cy="17819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858" b="1">
                <a:solidFill>
                  <a:srgbClr val="F2F8F5"/>
                </a:solidFill>
                <a:latin typeface="Candara" panose="020E0502030303020204" pitchFamily="34" charset="0"/>
              </a:rPr>
              <a:t>UI Components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64256" y="3253786"/>
            <a:ext cx="1211264" cy="15247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691">
                <a:solidFill>
                  <a:srgbClr val="AA8CFF"/>
                </a:solidFill>
                <a:latin typeface="Candara" panose="020E0502030303020204" pitchFamily="34" charset="0"/>
              </a:rPr>
              <a:t>Pages + charts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894304" y="2606254"/>
            <a:ext cx="533261" cy="0"/>
          </a:xfrm>
          <a:prstGeom prst="line">
            <a:avLst/>
          </a:prstGeom>
          <a:ln w="16510">
            <a:solidFill>
              <a:srgbClr val="DC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5400000">
            <a:off x="7351384" y="2545310"/>
            <a:ext cx="121888" cy="121888"/>
          </a:xfrm>
          <a:prstGeom prst="triangle">
            <a:avLst/>
          </a:prstGeom>
          <a:solidFill>
            <a:srgbClr val="DC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6894304" y="3825137"/>
            <a:ext cx="533261" cy="0"/>
          </a:xfrm>
          <a:prstGeom prst="line">
            <a:avLst/>
          </a:prstGeom>
          <a:ln w="1651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 rot="5400000">
            <a:off x="7351384" y="3764193"/>
            <a:ext cx="121888" cy="121888"/>
          </a:xfrm>
          <a:prstGeom prst="triangl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8836897" y="2606254"/>
            <a:ext cx="342811" cy="502789"/>
          </a:xfrm>
          <a:prstGeom prst="line">
            <a:avLst/>
          </a:prstGeom>
          <a:ln w="15240">
            <a:solidFill>
              <a:srgbClr val="DC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/>
          <p:cNvSpPr/>
          <p:nvPr/>
        </p:nvSpPr>
        <p:spPr>
          <a:xfrm rot="5400000">
            <a:off x="9103528" y="3010009"/>
            <a:ext cx="121888" cy="121888"/>
          </a:xfrm>
          <a:prstGeom prst="triangle">
            <a:avLst/>
          </a:prstGeom>
          <a:solidFill>
            <a:srgbClr val="DC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cxnSp>
        <p:nvCxnSpPr>
          <p:cNvPr id="67" name="Connector 66"/>
          <p:cNvCxnSpPr/>
          <p:nvPr/>
        </p:nvCxnSpPr>
        <p:spPr>
          <a:xfrm flipV="1">
            <a:off x="8836897" y="3390910"/>
            <a:ext cx="342811" cy="434227"/>
          </a:xfrm>
          <a:prstGeom prst="line">
            <a:avLst/>
          </a:prstGeom>
          <a:ln w="152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 rot="5400000">
            <a:off x="9103528" y="3444235"/>
            <a:ext cx="121888" cy="121888"/>
          </a:xfrm>
          <a:prstGeom prst="triangl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10627131" y="3215696"/>
            <a:ext cx="76180" cy="0"/>
          </a:xfrm>
          <a:prstGeom prst="line">
            <a:avLst/>
          </a:prstGeom>
          <a:ln w="16510">
            <a:solidFill>
              <a:srgbClr val="00B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5400000">
            <a:off x="10627131" y="3154751"/>
            <a:ext cx="121888" cy="121888"/>
          </a:xfrm>
          <a:prstGeom prst="triangle">
            <a:avLst/>
          </a:prstGeom>
          <a:solidFill>
            <a:srgbClr val="00B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5408791" y="1981577"/>
            <a:ext cx="1637873" cy="259013"/>
          </a:xfrm>
          <a:prstGeom prst="roundRect">
            <a:avLst/>
          </a:prstGeom>
          <a:solidFill>
            <a:srgbClr val="02120F"/>
          </a:solidFill>
          <a:ln w="10160">
            <a:solidFill>
              <a:srgbClr val="DC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408791" y="2042521"/>
            <a:ext cx="1637873" cy="15895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733" b="1">
                <a:solidFill>
                  <a:srgbClr val="DCA000"/>
                </a:solidFill>
                <a:latin typeface="Candara" panose="020E0502030303020204" pitchFamily="34" charset="0"/>
              </a:rPr>
              <a:t>REQUEST / RESPONSE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08791" y="4404106"/>
            <a:ext cx="1637873" cy="259013"/>
          </a:xfrm>
          <a:prstGeom prst="roundRect">
            <a:avLst/>
          </a:prstGeom>
          <a:solidFill>
            <a:srgbClr val="02120F"/>
          </a:solidFill>
          <a:ln w="1016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08791" y="4465050"/>
            <a:ext cx="1637873" cy="15895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 defTabSz="380893"/>
            <a:r>
              <a:rPr sz="733" b="1">
                <a:solidFill>
                  <a:srgbClr val="00C896"/>
                </a:solidFill>
                <a:latin typeface="Candara" panose="020E0502030303020204" pitchFamily="34" charset="0"/>
              </a:rPr>
              <a:t>REAL-TIME EVENTS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94944" y="3809901"/>
            <a:ext cx="2742486" cy="15632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716">
                <a:solidFill>
                  <a:srgbClr val="AFC6BC"/>
                </a:solidFill>
                <a:latin typeface="Candara" panose="020E0502030303020204" pitchFamily="34" charset="0"/>
              </a:rPr>
              <a:t>Events: SensorReadingReceived · DeviceStatusChanged · AlertTriggered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531" y="5600135"/>
            <a:ext cx="3047206" cy="20633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1041" b="1">
                <a:solidFill>
                  <a:srgbClr val="00C896"/>
                </a:solidFill>
                <a:latin typeface="Candara" panose="020E0502030303020204" pitchFamily="34" charset="0"/>
              </a:rPr>
              <a:t>Frontend Engineering Practices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7531" y="5866765"/>
            <a:ext cx="10893762" cy="441845"/>
          </a:xfrm>
          <a:prstGeom prst="roundRect">
            <a:avLst/>
          </a:prstGeom>
          <a:solidFill>
            <a:srgbClr val="020F0D"/>
          </a:solidFill>
          <a:ln w="10160">
            <a:solidFill>
              <a:srgbClr val="00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/>
            <a:endParaRPr sz="1500">
              <a:solidFill>
                <a:prstClr val="white"/>
              </a:solidFill>
              <a:latin typeface="Candara" panose="020E0502030303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37981" y="6003889"/>
            <a:ext cx="10512862" cy="17819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858" b="1">
                <a:solidFill>
                  <a:srgbClr val="00C896"/>
                </a:solidFill>
                <a:latin typeface="Candara" panose="020E0502030303020204" pitchFamily="34" charset="0"/>
              </a:rPr>
              <a:t>✓ TypeScript models   ✓ Route-based structure   ✓ Service abstraction   ✓ ErrorBoundary + loading states   ✓ Rolling real-time chart window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7531" y="6400027"/>
            <a:ext cx="10817582" cy="1808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defTabSz="380893"/>
            <a:r>
              <a:rPr sz="875" dirty="0">
                <a:solidFill>
                  <a:srgbClr val="AFC6BC"/>
                </a:solidFill>
                <a:latin typeface="Candara" panose="020E0502030303020204" pitchFamily="34" charset="0"/>
              </a:rPr>
              <a:t>Flow: REST API → Services → State → UI   |   SignalR → Context → Hooks → Components → Charts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27023" y="6537150"/>
            <a:ext cx="457081" cy="15895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r" defTabSz="380893"/>
            <a:r>
              <a:rPr sz="733">
                <a:solidFill>
                  <a:srgbClr val="738C82"/>
                </a:solidFill>
                <a:latin typeface="Candara" panose="020E0502030303020204" pitchFamily="34" charset="0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1" y="457974"/>
            <a:ext cx="2069797" cy="6441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893">
              <a:lnSpc>
                <a:spcPct val="150000"/>
              </a:lnSpc>
            </a:pPr>
            <a:r>
              <a:rPr sz="2666" b="1" dirty="0">
                <a:solidFill>
                  <a:srgbClr val="F0F8F5"/>
                </a:solidFill>
                <a:latin typeface="Candara" panose="020E0502030303020204" pitchFamily="34" charset="0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441" y="1067415"/>
            <a:ext cx="6487673" cy="4028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893">
              <a:lnSpc>
                <a:spcPct val="150000"/>
              </a:lnSpc>
            </a:pPr>
            <a:r>
              <a:rPr sz="1500" dirty="0">
                <a:solidFill>
                  <a:srgbClr val="AABEB4"/>
                </a:solidFill>
                <a:latin typeface="Candara" panose="020E0502030303020204" pitchFamily="34" charset="0"/>
              </a:rPr>
              <a:t>Core capabilities mapped directly to system architecture and real-world needs</a:t>
            </a:r>
          </a:p>
        </p:txBody>
      </p:sp>
      <p:sp useBgFill="1">
        <p:nvSpPr>
          <p:cNvPr id="4" name="Rectangle 3"/>
          <p:cNvSpPr/>
          <p:nvPr/>
        </p:nvSpPr>
        <p:spPr>
          <a:xfrm>
            <a:off x="1398778" y="1676857"/>
            <a:ext cx="4951710" cy="167596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>
              <a:lnSpc>
                <a:spcPct val="150000"/>
              </a:lnSpc>
            </a:pPr>
            <a:r>
              <a:rPr sz="1333" b="1" dirty="0">
                <a:solidFill>
                  <a:srgbClr val="00C896"/>
                </a:solidFill>
                <a:latin typeface="Candara" panose="020E0502030303020204" pitchFamily="34" charset="0"/>
              </a:rPr>
              <a:t>Real-Time Streaming</a:t>
            </a:r>
          </a:p>
          <a:p>
            <a:pPr defTabSz="380893">
              <a:lnSpc>
                <a:spcPct val="150000"/>
              </a:lnSpc>
            </a:pP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SignalR WebSocket pushes live sensor data</a:t>
            </a:r>
          </a:p>
          <a:p>
            <a:pPr defTabSz="380893">
              <a:lnSpc>
                <a:spcPct val="150000"/>
              </a:lnSpc>
            </a:pP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&lt;2s latency (no polling / refresh)</a:t>
            </a:r>
          </a:p>
          <a:p>
            <a:pPr defTabSz="380893">
              <a:lnSpc>
                <a:spcPct val="150000"/>
              </a:lnSpc>
            </a:pP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Supports multi-device concurrent streams</a:t>
            </a:r>
          </a:p>
          <a:p>
            <a:pPr defTabSz="380893">
              <a:lnSpc>
                <a:spcPct val="150000"/>
              </a:lnSpc>
            </a:pP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Rolling real-time charts (50-point window)</a:t>
            </a:r>
          </a:p>
        </p:txBody>
      </p:sp>
      <p:sp useBgFill="1">
        <p:nvSpPr>
          <p:cNvPr id="5" name="Rectangle 4"/>
          <p:cNvSpPr/>
          <p:nvPr/>
        </p:nvSpPr>
        <p:spPr>
          <a:xfrm>
            <a:off x="6094412" y="1676857"/>
            <a:ext cx="4951710" cy="167596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>
              <a:lnSpc>
                <a:spcPct val="150000"/>
              </a:lnSpc>
            </a:pPr>
            <a:r>
              <a:rPr sz="1333" b="1">
                <a:solidFill>
                  <a:srgbClr val="00BEE6"/>
                </a:solidFill>
                <a:latin typeface="Candara" panose="020E0502030303020204" pitchFamily="34" charset="0"/>
              </a:rPr>
              <a:t>Dashboard &amp; Visualization</a:t>
            </a:r>
          </a:p>
          <a:p>
            <a:pPr defTabSz="380893">
              <a:lnSpc>
                <a:spcPct val="150000"/>
              </a:lnSpc>
            </a:pPr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Interactive charts (Chart.js / Recharts)</a:t>
            </a:r>
          </a:p>
          <a:p>
            <a:pPr defTabSz="380893">
              <a:lnSpc>
                <a:spcPct val="150000"/>
              </a:lnSpc>
            </a:pPr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Line, Bar, Gauge visualizations</a:t>
            </a:r>
          </a:p>
          <a:p>
            <a:pPr defTabSz="380893">
              <a:lnSpc>
                <a:spcPct val="150000"/>
              </a:lnSpc>
            </a:pPr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Historical analysis with date filters</a:t>
            </a:r>
          </a:p>
          <a:p>
            <a:pPr defTabSz="380893">
              <a:lnSpc>
                <a:spcPct val="150000"/>
              </a:lnSpc>
            </a:pPr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Responsive UI for monitoring</a:t>
            </a:r>
          </a:p>
        </p:txBody>
      </p:sp>
      <p:sp useBgFill="1">
        <p:nvSpPr>
          <p:cNvPr id="6" name="Rectangle 5"/>
          <p:cNvSpPr/>
          <p:nvPr/>
        </p:nvSpPr>
        <p:spPr>
          <a:xfrm>
            <a:off x="1398778" y="3657541"/>
            <a:ext cx="4951710" cy="167596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>
              <a:lnSpc>
                <a:spcPct val="150000"/>
              </a:lnSpc>
            </a:pPr>
            <a:r>
              <a:rPr sz="1333" b="1" dirty="0">
                <a:solidFill>
                  <a:srgbClr val="E6AA00"/>
                </a:solidFill>
                <a:latin typeface="Candara" panose="020E0502030303020204" pitchFamily="34" charset="0"/>
              </a:rPr>
              <a:t>Alerting System</a:t>
            </a:r>
          </a:p>
          <a:p>
            <a:pPr defTabSz="380893">
              <a:lnSpc>
                <a:spcPct val="150000"/>
              </a:lnSpc>
            </a:pP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Configurable threshold-based rules</a:t>
            </a:r>
          </a:p>
          <a:p>
            <a:pPr defTabSz="380893">
              <a:lnSpc>
                <a:spcPct val="150000"/>
              </a:lnSpc>
            </a:pP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Real-time alerts via SignalR</a:t>
            </a:r>
          </a:p>
          <a:p>
            <a:pPr defTabSz="380893">
              <a:lnSpc>
                <a:spcPct val="150000"/>
              </a:lnSpc>
            </a:pP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Acknowledge / Resolve workflow</a:t>
            </a:r>
          </a:p>
          <a:p>
            <a:pPr defTabSz="380893">
              <a:lnSpc>
                <a:spcPct val="150000"/>
              </a:lnSpc>
            </a:pPr>
            <a:r>
              <a:rPr sz="1333" dirty="0">
                <a:solidFill>
                  <a:srgbClr val="F0F8F5"/>
                </a:solidFill>
                <a:latin typeface="Candara" panose="020E0502030303020204" pitchFamily="34" charset="0"/>
              </a:rPr>
              <a:t>Persistent alert history tracking</a:t>
            </a:r>
          </a:p>
        </p:txBody>
      </p:sp>
      <p:sp useBgFill="1">
        <p:nvSpPr>
          <p:cNvPr id="7" name="Rectangle 6"/>
          <p:cNvSpPr/>
          <p:nvPr/>
        </p:nvSpPr>
        <p:spPr>
          <a:xfrm>
            <a:off x="6094412" y="3657541"/>
            <a:ext cx="4951710" cy="167596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80893">
              <a:lnSpc>
                <a:spcPct val="150000"/>
              </a:lnSpc>
            </a:pPr>
            <a:r>
              <a:rPr sz="1333" b="1">
                <a:solidFill>
                  <a:srgbClr val="00C896"/>
                </a:solidFill>
                <a:latin typeface="Candara" panose="020E0502030303020204" pitchFamily="34" charset="0"/>
              </a:rPr>
              <a:t>Device Management</a:t>
            </a:r>
          </a:p>
          <a:p>
            <a:pPr defTabSz="380893">
              <a:lnSpc>
                <a:spcPct val="150000"/>
              </a:lnSpc>
            </a:pPr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Register IoT devices (Arduino, ESP32, Raspberry Pi)</a:t>
            </a:r>
          </a:p>
          <a:p>
            <a:pPr defTabSz="380893">
              <a:lnSpc>
                <a:spcPct val="150000"/>
              </a:lnSpc>
            </a:pPr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Online/offline detection via heartbeat</a:t>
            </a:r>
          </a:p>
          <a:p>
            <a:pPr defTabSz="380893">
              <a:lnSpc>
                <a:spcPct val="150000"/>
              </a:lnSpc>
            </a:pPr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Sensor configuration (type, unit, thresholds)</a:t>
            </a:r>
          </a:p>
          <a:p>
            <a:pPr defTabSz="380893">
              <a:lnSpc>
                <a:spcPct val="150000"/>
              </a:lnSpc>
            </a:pPr>
            <a:r>
              <a:rPr sz="1333">
                <a:solidFill>
                  <a:srgbClr val="F0F8F5"/>
                </a:solidFill>
                <a:latin typeface="Candara" panose="020E0502030303020204" pitchFamily="34" charset="0"/>
              </a:rPr>
              <a:t>Flexible key-value device configs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1" y="5790585"/>
            <a:ext cx="5641288" cy="366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380893">
              <a:lnSpc>
                <a:spcPct val="150000"/>
              </a:lnSpc>
            </a:pPr>
            <a:r>
              <a:rPr sz="1333" b="1" dirty="0">
                <a:solidFill>
                  <a:srgbClr val="00C896"/>
                </a:solidFill>
                <a:latin typeface="Candara" panose="020E0502030303020204" pitchFamily="34" charset="0"/>
              </a:rPr>
              <a:t>⚡ Real-time system: MQTT → Backend → SignalR → Frontend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20272" y="649224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A8A78"/>
                </a:solidFill>
                <a:latin typeface="Candara" panose="020E0502030303020204" pitchFamily="34" charset="0"/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F5EE"/>
                </a:solidFill>
                <a:latin typeface="Candara" panose="020E0502030303020204" pitchFamily="34" charset="0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A8A78"/>
                </a:solidFill>
                <a:latin typeface="Candara" panose="020E0502030303020204" pitchFamily="34" charset="0"/>
              </a:rPr>
              <a:t>Watch one sensor reading travel the full stack — from edge device to dashboard — in real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1380744" y="2057400"/>
            <a:ext cx="457200" cy="4572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2633472"/>
            <a:ext cx="19933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00C896"/>
                </a:solidFill>
                <a:latin typeface="Candara" panose="020E0502030303020204" pitchFamily="34" charset="0"/>
              </a:rPr>
              <a:t>Edg</a:t>
            </a:r>
            <a:r>
              <a:rPr sz="1400" b="1" i="0" dirty="0">
                <a:solidFill>
                  <a:srgbClr val="00C896"/>
                </a:solidFill>
                <a:latin typeface="Candara" panose="020E0502030303020204" pitchFamily="34" charset="0"/>
              </a:rPr>
              <a:t>e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54096"/>
            <a:ext cx="199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</a:rPr>
              <a:t>Sends JSON
HTTP POST</a:t>
            </a:r>
          </a:p>
        </p:txBody>
      </p:sp>
      <p:sp>
        <p:nvSpPr>
          <p:cNvPr id="16" name="Oval 15"/>
          <p:cNvSpPr/>
          <p:nvPr/>
        </p:nvSpPr>
        <p:spPr>
          <a:xfrm>
            <a:off x="3685032" y="2057400"/>
            <a:ext cx="457200" cy="457200"/>
          </a:xfrm>
          <a:prstGeom prst="ellipse">
            <a:avLst/>
          </a:prstGeom>
          <a:solidFill>
            <a:srgbClr val="009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16936" y="2633472"/>
            <a:ext cx="199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A72"/>
                </a:solidFill>
                <a:latin typeface="Candara" panose="020E0502030303020204" pitchFamily="34" charset="0"/>
              </a:rPr>
              <a:t>ASP.NET
Core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936" y="3054096"/>
            <a:ext cx="199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Validates &amp;
Persists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2057400"/>
            <a:ext cx="457200" cy="4572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21224" y="2633472"/>
            <a:ext cx="199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8D4"/>
                </a:solidFill>
                <a:latin typeface="Candara" panose="020E0502030303020204" pitchFamily="34" charset="0"/>
              </a:rPr>
              <a:t>SQL Server
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054096"/>
            <a:ext cx="199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Stores to
SensorReadings</a:t>
            </a:r>
          </a:p>
        </p:txBody>
      </p:sp>
      <p:sp>
        <p:nvSpPr>
          <p:cNvPr id="26" name="Oval 25"/>
          <p:cNvSpPr/>
          <p:nvPr/>
        </p:nvSpPr>
        <p:spPr>
          <a:xfrm>
            <a:off x="8293608" y="2057400"/>
            <a:ext cx="457200" cy="45720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25512" y="2633472"/>
            <a:ext cx="199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0A500"/>
                </a:solidFill>
                <a:latin typeface="Candara" panose="020E0502030303020204" pitchFamily="34" charset="0"/>
              </a:rPr>
              <a:t>SignalR
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3054096"/>
            <a:ext cx="199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Broadcasts to
clients</a:t>
            </a:r>
          </a:p>
        </p:txBody>
      </p:sp>
      <p:sp>
        <p:nvSpPr>
          <p:cNvPr id="31" name="Oval 30"/>
          <p:cNvSpPr/>
          <p:nvPr/>
        </p:nvSpPr>
        <p:spPr>
          <a:xfrm>
            <a:off x="10597896" y="2057400"/>
            <a:ext cx="457200" cy="4572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29800" y="2633472"/>
            <a:ext cx="199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96"/>
                </a:solidFill>
                <a:latin typeface="Candara" panose="020E0502030303020204" pitchFamily="34" charset="0"/>
              </a:rPr>
              <a:t>React
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054096"/>
            <a:ext cx="1993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Chart updates
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3749039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C896"/>
                </a:solidFill>
                <a:latin typeface="Candara" panose="020E0502030303020204" pitchFamily="34" charset="0"/>
              </a:rPr>
              <a:t>Demo Checklist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206240"/>
            <a:ext cx="2176272" cy="1481328"/>
          </a:xfrm>
          <a:prstGeom prst="rect">
            <a:avLst/>
          </a:prstGeom>
          <a:solidFill>
            <a:srgbClr val="1C2D26"/>
          </a:solidFill>
          <a:ln w="9525">
            <a:solidFill>
              <a:srgbClr val="2A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66928" y="4206240"/>
            <a:ext cx="2176272" cy="4114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426464" y="4334255"/>
            <a:ext cx="457200" cy="4572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426464" y="4361688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E1A"/>
                </a:solidFill>
                <a:latin typeface="Candara" panose="020E0502030303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" y="4937759"/>
            <a:ext cx="1938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Register an ESP32 device in the dashboard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98648" y="4206240"/>
            <a:ext cx="2176272" cy="1481328"/>
          </a:xfrm>
          <a:prstGeom prst="rect">
            <a:avLst/>
          </a:prstGeom>
          <a:solidFill>
            <a:srgbClr val="172620"/>
          </a:solidFill>
          <a:ln w="9525">
            <a:solidFill>
              <a:srgbClr val="2A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898648" y="4206240"/>
            <a:ext cx="2176272" cy="41148"/>
          </a:xfrm>
          <a:prstGeom prst="rect">
            <a:avLst/>
          </a:prstGeom>
          <a:solidFill>
            <a:srgbClr val="009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3758183" y="4334255"/>
            <a:ext cx="457200" cy="457200"/>
          </a:xfrm>
          <a:prstGeom prst="ellipse">
            <a:avLst/>
          </a:prstGeom>
          <a:solidFill>
            <a:srgbClr val="009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758183" y="4361688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E1A"/>
                </a:solidFill>
                <a:latin typeface="Candara" panose="020E0502030303020204" pitchFamily="34" charset="0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08376" y="4937759"/>
            <a:ext cx="1938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Send POST request from edge device (or simulate via Postman)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30368" y="4206240"/>
            <a:ext cx="2176272" cy="1481328"/>
          </a:xfrm>
          <a:prstGeom prst="rect">
            <a:avLst/>
          </a:prstGeom>
          <a:solidFill>
            <a:srgbClr val="002A34"/>
          </a:solidFill>
          <a:ln w="9525">
            <a:solidFill>
              <a:srgbClr val="2A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230368" y="4206240"/>
            <a:ext cx="2176272" cy="4114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6089904" y="4334255"/>
            <a:ext cx="457200" cy="4572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89904" y="4361688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E1A"/>
                </a:solidFill>
                <a:latin typeface="Candara" panose="020E0502030303020204" pitchFamily="34" charset="0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0096" y="4937759"/>
            <a:ext cx="1938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Watch real-time chart update on dashboard within 2 seconds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62088" y="4206240"/>
            <a:ext cx="2176272" cy="1481328"/>
          </a:xfrm>
          <a:prstGeom prst="rect">
            <a:avLst/>
          </a:prstGeom>
          <a:solidFill>
            <a:srgbClr val="3A2800"/>
          </a:solidFill>
          <a:ln w="9525">
            <a:solidFill>
              <a:srgbClr val="2A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562088" y="4206240"/>
            <a:ext cx="2176272" cy="4114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8421624" y="4334255"/>
            <a:ext cx="457200" cy="45720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421624" y="4361688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E1A"/>
                </a:solidFill>
                <a:latin typeface="Candara" panose="020E0502030303020204" pitchFamily="34" charset="0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71815" y="4937759"/>
            <a:ext cx="1938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Trigger a threshold breach — show alert appear in real-time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93807" y="4206240"/>
            <a:ext cx="2176272" cy="1481328"/>
          </a:xfrm>
          <a:prstGeom prst="rect">
            <a:avLst/>
          </a:prstGeom>
          <a:solidFill>
            <a:srgbClr val="1C2D26"/>
          </a:solidFill>
          <a:ln w="9525">
            <a:solidFill>
              <a:srgbClr val="2A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893807" y="4206240"/>
            <a:ext cx="2176272" cy="4114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10753343" y="4334255"/>
            <a:ext cx="457200" cy="4572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753343" y="4361688"/>
            <a:ext cx="45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E1A"/>
                </a:solidFill>
                <a:latin typeface="Candara" panose="020E0502030303020204" pitchFamily="34" charset="0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03535" y="4937759"/>
            <a:ext cx="1938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Query historical data using the date-range filter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20272" y="6492240"/>
            <a:ext cx="74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A8A78"/>
                </a:solidFill>
                <a:latin typeface="Candara" panose="020E0502030303020204" pitchFamily="34" charset="0"/>
              </a:rP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5EE"/>
                </a:solidFill>
                <a:latin typeface="Candara" panose="020E0502030303020204" pitchFamily="34" charset="0"/>
              </a:rPr>
              <a:t>Testing &amp; Code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11155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6A8A78"/>
                </a:solidFill>
                <a:latin typeface="Candara" panose="020E0502030303020204" pitchFamily="34" charset="0"/>
              </a:rPr>
              <a:t>Quality is built in — not bolted on. These practices were applied throughout development, not added at the 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536192"/>
            <a:ext cx="5376672" cy="2212848"/>
          </a:xfrm>
          <a:prstGeom prst="rect">
            <a:avLst/>
          </a:prstGeom>
          <a:solidFill>
            <a:srgbClr val="1C2D26"/>
          </a:solidFill>
          <a:ln w="9525">
            <a:solidFill>
              <a:srgbClr val="2A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" y="1536192"/>
            <a:ext cx="5376672" cy="640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1655064"/>
            <a:ext cx="5074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ndara" panose="020E0502030303020204" pitchFamily="34" charset="0"/>
              </a:rPr>
              <a:t>Input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1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FluentValidation on all DTOs — DeviceName, DeviceType, SensorType length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SQL injection prevention via parameterized Entity Framework Core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9503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XSS prevention — React escapes output by default on all renders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91839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C# nullable reference types — null-safety enforced at compile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8231" y="1536192"/>
            <a:ext cx="5376672" cy="2212848"/>
          </a:xfrm>
          <a:prstGeom prst="rect">
            <a:avLst/>
          </a:prstGeom>
          <a:solidFill>
            <a:srgbClr val="3A2800"/>
          </a:solidFill>
          <a:ln w="9525">
            <a:solidFill>
              <a:srgbClr val="2A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28231" y="1536192"/>
            <a:ext cx="537667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79" y="1655064"/>
            <a:ext cx="5074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ndara" panose="020E0502030303020204" pitchFamily="34" charset="0"/>
              </a:rPr>
              <a:t>Error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084831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Global Exception Handler middleware — consistent JSON error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487168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React ErrorBoundary catches component tree failures gracefully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889503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API error handling: server error vs network error vs unexpected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291839"/>
            <a:ext cx="5074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Device offline detection via LastSeenAt heartbeat timeout logic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3913632"/>
            <a:ext cx="5376672" cy="2212848"/>
          </a:xfrm>
          <a:prstGeom prst="rect">
            <a:avLst/>
          </a:prstGeom>
          <a:solidFill>
            <a:srgbClr val="002A34"/>
          </a:solidFill>
          <a:ln w="9525">
            <a:solidFill>
              <a:srgbClr val="2A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" y="3913632"/>
            <a:ext cx="5376672" cy="6400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032504"/>
            <a:ext cx="5074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D4"/>
                </a:solidFill>
                <a:latin typeface="Candara" panose="020E0502030303020204" pitchFamily="34" charset="0"/>
              </a:rPr>
              <a:t>Database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62272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EF Core Migrations — all schema changes version-controlled in Git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64608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Foreign key constraints with CASCADE DELETE enforce referential integrity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66944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Composite indexes designed for actual query patterns (Timestamp + DeviceId)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69280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DECIMAL(18,4) precision for sensor values — no floating-point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8231" y="3913632"/>
            <a:ext cx="5376672" cy="2212848"/>
          </a:xfrm>
          <a:prstGeom prst="rect">
            <a:avLst/>
          </a:prstGeom>
          <a:solidFill>
            <a:srgbClr val="172620"/>
          </a:solidFill>
          <a:ln w="9525">
            <a:solidFill>
              <a:srgbClr val="2A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28231" y="3913632"/>
            <a:ext cx="5376672" cy="64008"/>
          </a:xfrm>
          <a:prstGeom prst="rect">
            <a:avLst/>
          </a:prstGeom>
          <a:solidFill>
            <a:srgbClr val="009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Candara" panose="020E0502030303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79" y="4032504"/>
            <a:ext cx="5074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A72"/>
                </a:solidFill>
                <a:latin typeface="Candara" panose="020E0502030303020204" pitchFamily="34" charset="0"/>
              </a:rPr>
              <a:t>Code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4462272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Repository Pattern: data access fully abstracted from business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4864608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Dependency Injection throughout ASP.NET Core (Scoped services)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5266944"/>
            <a:ext cx="507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TypeScript on frontend: type-safe API responses and component props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5669280"/>
            <a:ext cx="5074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·  Clean structure: API / Core / Infrastructure / Services / Shared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4" name="TextBox 3"/>
          <p:cNvSpPr txBox="1"/>
          <p:nvPr/>
        </p:nvSpPr>
        <p:spPr>
          <a:xfrm>
            <a:off x="11320272" y="6492240"/>
            <a:ext cx="749808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A8A78"/>
                </a:solidFill>
                <a:latin typeface="Candara" panose="020E0502030303020204" pitchFamily="34" charset="0"/>
              </a:rPr>
              <a:t>12 / 14</a:t>
            </a:r>
          </a:p>
        </p:txBody>
      </p:sp>
      <p:sp useBgFill="1">
        <p:nvSpPr>
          <p:cNvPr id="5" name="TextBox 4"/>
          <p:cNvSpPr txBox="1"/>
          <p:nvPr/>
        </p:nvSpPr>
        <p:spPr>
          <a:xfrm>
            <a:off x="685799" y="402336"/>
            <a:ext cx="5348317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00C896"/>
                </a:solidFill>
                <a:latin typeface="Candara" panose="020E0502030303020204" pitchFamily="34" charset="0"/>
              </a:rPr>
              <a:t>CHALLENGES &amp;</a:t>
            </a:r>
            <a:r>
              <a:rPr lang="en-US" sz="3200" b="1" i="0" dirty="0">
                <a:solidFill>
                  <a:srgbClr val="00C896"/>
                </a:solidFill>
                <a:latin typeface="Candara" panose="020E0502030303020204" pitchFamily="34" charset="0"/>
              </a:rPr>
              <a:t> </a:t>
            </a:r>
            <a:r>
              <a:rPr sz="3200" b="1" i="0" dirty="0">
                <a:solidFill>
                  <a:srgbClr val="00C896"/>
                </a:solidFill>
                <a:latin typeface="Candara" panose="020E0502030303020204" pitchFamily="34" charset="0"/>
              </a:rPr>
              <a:t>SOLUTIONS</a:t>
            </a:r>
          </a:p>
        </p:txBody>
      </p:sp>
      <p:sp useBgFill="1">
        <p:nvSpPr>
          <p:cNvPr id="6" name="Rectangle 5"/>
          <p:cNvSpPr/>
          <p:nvPr/>
        </p:nvSpPr>
        <p:spPr>
          <a:xfrm>
            <a:off x="685800" y="429768"/>
            <a:ext cx="2446934" cy="228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8" name="TextBox 7"/>
          <p:cNvSpPr txBox="1"/>
          <p:nvPr/>
        </p:nvSpPr>
        <p:spPr>
          <a:xfrm>
            <a:off x="685800" y="1115568"/>
            <a:ext cx="1115568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A8A78"/>
                </a:solidFill>
                <a:latin typeface="Candara" panose="020E0502030303020204" pitchFamily="34" charset="0"/>
              </a:rPr>
              <a:t>Four real engineering decisions — these show the depth of thinking behind the design, not just the features.</a:t>
            </a:r>
          </a:p>
        </p:txBody>
      </p:sp>
      <p:sp useBgFill="1">
        <p:nvSpPr>
          <p:cNvPr id="9" name="Rectangle 8"/>
          <p:cNvSpPr/>
          <p:nvPr/>
        </p:nvSpPr>
        <p:spPr>
          <a:xfrm>
            <a:off x="621792" y="1481328"/>
            <a:ext cx="11247120" cy="1143000"/>
          </a:xfrm>
          <a:prstGeom prst="rect">
            <a:avLst/>
          </a:prstGeom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10" name="Rectangle 9"/>
          <p:cNvSpPr/>
          <p:nvPr/>
        </p:nvSpPr>
        <p:spPr>
          <a:xfrm>
            <a:off x="621792" y="1481328"/>
            <a:ext cx="11247120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11" name="TextBox 10"/>
          <p:cNvSpPr txBox="1"/>
          <p:nvPr/>
        </p:nvSpPr>
        <p:spPr>
          <a:xfrm>
            <a:off x="804672" y="1536192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96"/>
                </a:solidFill>
                <a:latin typeface="Candara" panose="020E0502030303020204" pitchFamily="34" charset="0"/>
              </a:rPr>
              <a:t>Real-Time Data Synchronization</a:t>
            </a:r>
          </a:p>
        </p:txBody>
      </p:sp>
      <p:sp useBgFill="1">
        <p:nvSpPr>
          <p:cNvPr id="12" name="TextBox 11"/>
          <p:cNvSpPr txBox="1"/>
          <p:nvPr/>
        </p:nvSpPr>
        <p:spPr>
          <a:xfrm>
            <a:off x="804672" y="1901952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9EC4AE"/>
                </a:solidFill>
                <a:latin typeface="Candara" panose="020E0502030303020204" pitchFamily="34" charset="0"/>
              </a:rPr>
              <a:t>Challenge:  Keeping multiple browser clients in sync with live sensor data without polling or page refreshes.</a:t>
            </a:r>
          </a:p>
        </p:txBody>
      </p:sp>
      <p:sp useBgFill="1">
        <p:nvSpPr>
          <p:cNvPr id="13" name="TextBox 12"/>
          <p:cNvSpPr txBox="1"/>
          <p:nvPr/>
        </p:nvSpPr>
        <p:spPr>
          <a:xfrm>
            <a:off x="804672" y="2249424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E8F5EE"/>
                </a:solidFill>
                <a:latin typeface="Candara" panose="020E0502030303020204" pitchFamily="34" charset="0"/>
              </a:rPr>
              <a:t>Solution:    SignalR WebSocket hub with device-group subscriptions. Server pushes to groups on data receipt.</a:t>
            </a:r>
          </a:p>
        </p:txBody>
      </p:sp>
      <p:sp useBgFill="1">
        <p:nvSpPr>
          <p:cNvPr id="14" name="Rectangle 13"/>
          <p:cNvSpPr/>
          <p:nvPr/>
        </p:nvSpPr>
        <p:spPr>
          <a:xfrm>
            <a:off x="621792" y="2743200"/>
            <a:ext cx="11247120" cy="1143000"/>
          </a:xfrm>
          <a:prstGeom prst="rect">
            <a:avLst/>
          </a:prstGeom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15" name="Rectangle 14"/>
          <p:cNvSpPr/>
          <p:nvPr/>
        </p:nvSpPr>
        <p:spPr>
          <a:xfrm>
            <a:off x="621792" y="2743200"/>
            <a:ext cx="11247120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16" name="TextBox 15"/>
          <p:cNvSpPr txBox="1"/>
          <p:nvPr/>
        </p:nvSpPr>
        <p:spPr>
          <a:xfrm>
            <a:off x="804672" y="2798064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  <a:latin typeface="Candara" panose="020E0502030303020204" pitchFamily="34" charset="0"/>
              </a:rPr>
              <a:t>High-Volume Time-Series Storage</a:t>
            </a:r>
          </a:p>
        </p:txBody>
      </p:sp>
      <p:sp useBgFill="1">
        <p:nvSpPr>
          <p:cNvPr id="17" name="TextBox 16"/>
          <p:cNvSpPr txBox="1"/>
          <p:nvPr/>
        </p:nvSpPr>
        <p:spPr>
          <a:xfrm>
            <a:off x="804672" y="3163824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9EC4AE"/>
                </a:solidFill>
                <a:latin typeface="Candara" panose="020E0502030303020204" pitchFamily="34" charset="0"/>
              </a:rPr>
              <a:t>Challenge:  </a:t>
            </a:r>
            <a:r>
              <a:rPr sz="1600" b="0" i="0" dirty="0" err="1">
                <a:solidFill>
                  <a:srgbClr val="9EC4AE"/>
                </a:solidFill>
                <a:latin typeface="Candara" panose="020E0502030303020204" pitchFamily="34" charset="0"/>
              </a:rPr>
              <a:t>SensorReadings</a:t>
            </a:r>
            <a:r>
              <a:rPr sz="1600" b="0" i="0" dirty="0">
                <a:solidFill>
                  <a:srgbClr val="9EC4AE"/>
                </a:solidFill>
                <a:latin typeface="Candara" panose="020E0502030303020204" pitchFamily="34" charset="0"/>
              </a:rPr>
              <a:t> grows large — thousands of rows per device per day. Queries must stay fast.</a:t>
            </a:r>
          </a:p>
        </p:txBody>
      </p:sp>
      <p:sp useBgFill="1">
        <p:nvSpPr>
          <p:cNvPr id="18" name="TextBox 17"/>
          <p:cNvSpPr txBox="1"/>
          <p:nvPr/>
        </p:nvSpPr>
        <p:spPr>
          <a:xfrm>
            <a:off x="804672" y="3511296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E8F5EE"/>
                </a:solidFill>
                <a:latin typeface="Candara" panose="020E0502030303020204" pitchFamily="34" charset="0"/>
              </a:rPr>
              <a:t>Solution:    BIGINT key, composite indexes on (Timestamp, </a:t>
            </a:r>
            <a:r>
              <a:rPr sz="1600" b="0" i="0" dirty="0" err="1">
                <a:solidFill>
                  <a:srgbClr val="E8F5EE"/>
                </a:solidFill>
                <a:latin typeface="Candara" panose="020E0502030303020204" pitchFamily="34" charset="0"/>
              </a:rPr>
              <a:t>DeviceId</a:t>
            </a:r>
            <a:r>
              <a:rPr sz="1600" b="0" i="0" dirty="0">
                <a:solidFill>
                  <a:srgbClr val="E8F5EE"/>
                </a:solidFill>
                <a:latin typeface="Candara" panose="020E0502030303020204" pitchFamily="34" charset="0"/>
              </a:rPr>
              <a:t>), 30-day detail + aggregated archive policy.</a:t>
            </a:r>
          </a:p>
        </p:txBody>
      </p:sp>
      <p:sp useBgFill="1">
        <p:nvSpPr>
          <p:cNvPr id="19" name="Rectangle 18"/>
          <p:cNvSpPr/>
          <p:nvPr/>
        </p:nvSpPr>
        <p:spPr>
          <a:xfrm>
            <a:off x="621792" y="4005072"/>
            <a:ext cx="11247120" cy="1143000"/>
          </a:xfrm>
          <a:prstGeom prst="rect">
            <a:avLst/>
          </a:prstGeom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20" name="Rectangle 19"/>
          <p:cNvSpPr/>
          <p:nvPr/>
        </p:nvSpPr>
        <p:spPr>
          <a:xfrm>
            <a:off x="621792" y="4005072"/>
            <a:ext cx="11247120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21" name="TextBox 20"/>
          <p:cNvSpPr txBox="1"/>
          <p:nvPr/>
        </p:nvSpPr>
        <p:spPr>
          <a:xfrm>
            <a:off x="804672" y="4059935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8D4"/>
                </a:solidFill>
                <a:latin typeface="Candara" panose="020E0502030303020204" pitchFamily="34" charset="0"/>
              </a:rPr>
              <a:t>Cross-Layer Data Flow Design</a:t>
            </a:r>
          </a:p>
        </p:txBody>
      </p:sp>
      <p:sp useBgFill="1">
        <p:nvSpPr>
          <p:cNvPr id="22" name="TextBox 21"/>
          <p:cNvSpPr txBox="1"/>
          <p:nvPr/>
        </p:nvSpPr>
        <p:spPr>
          <a:xfrm>
            <a:off x="804672" y="4425696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9EC4AE"/>
                </a:solidFill>
                <a:latin typeface="Candara" panose="020E0502030303020204" pitchFamily="34" charset="0"/>
              </a:rPr>
              <a:t>Challenge:  One sensor reading must flow cleanly: edge device → API → DB → SignalR → React chart.</a:t>
            </a:r>
          </a:p>
        </p:txBody>
      </p:sp>
      <p:sp useBgFill="1">
        <p:nvSpPr>
          <p:cNvPr id="23" name="TextBox 22"/>
          <p:cNvSpPr txBox="1"/>
          <p:nvPr/>
        </p:nvSpPr>
        <p:spPr>
          <a:xfrm>
            <a:off x="804672" y="4773168"/>
            <a:ext cx="10789920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E8F5EE"/>
                </a:solidFill>
                <a:latin typeface="Candara" panose="020E0502030303020204" pitchFamily="34" charset="0"/>
              </a:rPr>
              <a:t>Solution:    Layered architecture (Controller → Service → Repository → DB). SignalR notifies after DB write. DTOs decouple layers.</a:t>
            </a:r>
          </a:p>
        </p:txBody>
      </p:sp>
      <p:sp useBgFill="1">
        <p:nvSpPr>
          <p:cNvPr id="24" name="Rectangle 23"/>
          <p:cNvSpPr/>
          <p:nvPr/>
        </p:nvSpPr>
        <p:spPr>
          <a:xfrm>
            <a:off x="621792" y="5266944"/>
            <a:ext cx="11247120" cy="1143000"/>
          </a:xfrm>
          <a:prstGeom prst="rect">
            <a:avLst/>
          </a:prstGeom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25" name="Rectangle 24"/>
          <p:cNvSpPr/>
          <p:nvPr/>
        </p:nvSpPr>
        <p:spPr>
          <a:xfrm>
            <a:off x="621792" y="5266944"/>
            <a:ext cx="11247120" cy="6400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 useBgFill="1">
        <p:nvSpPr>
          <p:cNvPr id="26" name="TextBox 25"/>
          <p:cNvSpPr txBox="1"/>
          <p:nvPr/>
        </p:nvSpPr>
        <p:spPr>
          <a:xfrm>
            <a:off x="804672" y="5321807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A72"/>
                </a:solidFill>
                <a:latin typeface="Candara" panose="020E0502030303020204" pitchFamily="34" charset="0"/>
              </a:rPr>
              <a:t>Edge Device Compatibility</a:t>
            </a:r>
          </a:p>
        </p:txBody>
      </p:sp>
      <p:sp useBgFill="1">
        <p:nvSpPr>
          <p:cNvPr id="27" name="TextBox 26"/>
          <p:cNvSpPr txBox="1"/>
          <p:nvPr/>
        </p:nvSpPr>
        <p:spPr>
          <a:xfrm>
            <a:off x="804672" y="5687568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EC4AE"/>
                </a:solidFill>
                <a:latin typeface="Candara" panose="020E0502030303020204" pitchFamily="34" charset="0"/>
              </a:rPr>
              <a:t>Challenge:  Supporting Arduino, ESP32, and Raspberry Pi — all with different hardware and communication capabilities.</a:t>
            </a:r>
          </a:p>
        </p:txBody>
      </p:sp>
      <p:sp useBgFill="1">
        <p:nvSpPr>
          <p:cNvPr id="28" name="TextBox 27"/>
          <p:cNvSpPr txBox="1"/>
          <p:nvPr/>
        </p:nvSpPr>
        <p:spPr>
          <a:xfrm>
            <a:off x="804672" y="6035040"/>
            <a:ext cx="10789920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E"/>
                </a:solidFill>
                <a:latin typeface="Candara" panose="020E0502030303020204" pitchFamily="34" charset="0"/>
              </a:rPr>
              <a:t>Solution:    Flexible JSON payload format. HTTP POST endpoint for all devices. EdgeDeviceId as universal identifier.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320272" y="6492240"/>
            <a:ext cx="749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A8A78"/>
                </a:solidFill>
                <a:latin typeface="Candara" panose="020E0502030303020204" pitchFamily="34" charset="0"/>
              </a:rP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5EE"/>
                </a:solidFill>
                <a:latin typeface="Candara" panose="020E0502030303020204" pitchFamily="34" charset="0"/>
              </a:rPr>
              <a:t>Conclusion &amp; 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353312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C896"/>
                </a:solidFill>
                <a:latin typeface="Candara" panose="020E0502030303020204" pitchFamily="34" charset="0"/>
              </a:rPr>
              <a:t>What's Been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84708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</a:rPr>
              <a:t>  ✓  Complete system architecture designed &amp; documented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31136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✓  8-table SQL Server schema — 3NF normalized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61518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✓  ASP.NET Core layered backend with Repository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99232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</a:rPr>
              <a:t>  ✓  SignalR real-time hub architecture defined &amp; designed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38328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✓  React SPA component hierarchy &amp; service layer designed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76732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✓  All design docs: Overview, Requirements, DB, App,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151376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✓  Git + GitHub version control + 3-2-1 backup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353312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B8D4"/>
                </a:solidFill>
                <a:latin typeface="Candara" panose="020E0502030303020204" pitchFamily="34" charset="0"/>
              </a:rPr>
              <a:t>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84708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→  Complete backend API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231136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</a:rPr>
              <a:t>  →  Build React frontend &amp; connect to SignalR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61518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→  Integrate real ESP32 devices + sensors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999232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→  End-to-end live demo with real sensor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712463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0A500"/>
                </a:solidFill>
                <a:latin typeface="Candara" panose="020E0502030303020204" pitchFamily="34" charset="0"/>
              </a:rPr>
              <a:t> Future Enhancements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0624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+  Mobile application (iOS / Android)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59028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+  ML-based predictive maintenance &amp; anomaly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74336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+  OAuth / JWT advanced authentication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358383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EC4AE"/>
                </a:solidFill>
                <a:latin typeface="Candara" panose="020E0502030303020204" pitchFamily="34" charset="0"/>
              </a:rPr>
              <a:t>  +  Multi-tenant support for multiple facilities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016752"/>
            <a:ext cx="12188952" cy="841248"/>
          </a:xfrm>
          <a:prstGeom prst="rect">
            <a:avLst/>
          </a:prstGeom>
          <a:solidFill>
            <a:srgbClr val="00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ndara" panose="020E0502030303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6080760"/>
            <a:ext cx="11064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F5EE"/>
                </a:solidFill>
                <a:latin typeface="Candara" panose="020E0502030303020204" pitchFamily="34" charset="0"/>
              </a:rPr>
              <a:t>This project demonstrates the full development stack — from physical sensor to cloud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37376"/>
            <a:ext cx="11064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C896"/>
                </a:solidFill>
                <a:latin typeface="Candara" panose="020E0502030303020204" pitchFamily="34" charset="0"/>
              </a:rPr>
              <a:t>as practical evidence of BAS Application Development program competency.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1925</Words>
  <Application>Microsoft Office PowerPoint</Application>
  <PresentationFormat>Custom</PresentationFormat>
  <Paragraphs>370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Candara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Quoc Bao Tran</cp:lastModifiedBy>
  <cp:revision>72</cp:revision>
  <dcterms:created xsi:type="dcterms:W3CDTF">2013-01-27T09:14:16Z</dcterms:created>
  <dcterms:modified xsi:type="dcterms:W3CDTF">2026-04-27T02:07:23Z</dcterms:modified>
  <cp:category/>
</cp:coreProperties>
</file>