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72" r:id="rId3"/>
    <p:sldMasterId id="2147483684" r:id="rId4"/>
  </p:sldMasterIdLst>
  <p:notesMasterIdLst>
    <p:notesMasterId r:id="rId19"/>
  </p:notesMasterIdLst>
  <p:sldIdLst>
    <p:sldId id="256" r:id="rId5"/>
    <p:sldId id="270" r:id="rId6"/>
    <p:sldId id="280" r:id="rId7"/>
    <p:sldId id="272" r:id="rId8"/>
    <p:sldId id="273" r:id="rId9"/>
    <p:sldId id="274" r:id="rId10"/>
    <p:sldId id="276" r:id="rId11"/>
    <p:sldId id="277" r:id="rId12"/>
    <p:sldId id="278" r:id="rId13"/>
    <p:sldId id="284" r:id="rId14"/>
    <p:sldId id="283" r:id="rId15"/>
    <p:sldId id="285" r:id="rId16"/>
    <p:sldId id="281" r:id="rId17"/>
    <p:sldId id="282" r:id="rId18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114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EDE3E3-4DC4-4033-AB14-8C688262196C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1C98F2-B9F0-4148-8C0F-A19261494B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328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F1C98F2-B9F0-4148-8C0F-A19261494B1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0812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95E3099-AD53-4D24-BA47-6CABBFAD577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0908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162" y="2130426"/>
            <a:ext cx="10360501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324" y="3886200"/>
            <a:ext cx="8532178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5946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36691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833" y="4406901"/>
            <a:ext cx="10360501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2833" y="2906713"/>
            <a:ext cx="10360501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45170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441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5986" y="1600201"/>
            <a:ext cx="5383398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8295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535113"/>
            <a:ext cx="5385514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441" y="2174875"/>
            <a:ext cx="5385514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1754" y="1535113"/>
            <a:ext cx="538763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1754" y="2174875"/>
            <a:ext cx="538763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77726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42800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8930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442" y="273050"/>
            <a:ext cx="4010039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5492" y="273051"/>
            <a:ext cx="681389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442" y="1435101"/>
            <a:ext cx="4010039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01494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095" y="4800600"/>
            <a:ext cx="7313295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095" y="612775"/>
            <a:ext cx="7313295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095" y="5367338"/>
            <a:ext cx="7313295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978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1149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274639"/>
            <a:ext cx="274248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441" y="274639"/>
            <a:ext cx="80243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2982383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71351" y="1775355"/>
            <a:ext cx="6475313" cy="122502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2702" y="3238500"/>
            <a:ext cx="5332611" cy="14605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8089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76178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142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5235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904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2853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6662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04714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07253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0327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1771" y="3672417"/>
            <a:ext cx="6475313" cy="1135063"/>
          </a:xfrm>
        </p:spPr>
        <p:txBody>
          <a:bodyPr anchor="t"/>
          <a:lstStyle>
            <a:lvl1pPr algn="l">
              <a:defRPr sz="3332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1771" y="2422261"/>
            <a:ext cx="6475313" cy="1250156"/>
          </a:xfrm>
        </p:spPr>
        <p:txBody>
          <a:bodyPr anchor="b"/>
          <a:lstStyle>
            <a:lvl1pPr marL="0" indent="0">
              <a:buNone/>
              <a:defRPr sz="1666">
                <a:solidFill>
                  <a:schemeClr val="tx1">
                    <a:tint val="75000"/>
                  </a:schemeClr>
                </a:solidFill>
              </a:defRPr>
            </a:lvl1pPr>
            <a:lvl2pPr marL="380893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761787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3pPr>
            <a:lvl4pPr marL="114268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4pPr>
            <a:lvl5pPr marL="152357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5pPr>
            <a:lvl6pPr marL="190446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6pPr>
            <a:lvl7pPr marL="2285360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7pPr>
            <a:lvl8pPr marL="2666253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8pPr>
            <a:lvl9pPr marL="3047147" indent="0">
              <a:buNone/>
              <a:defRPr sz="116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36872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090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72491" y="1333500"/>
            <a:ext cx="3364624" cy="3771636"/>
          </a:xfrm>
        </p:spPr>
        <p:txBody>
          <a:bodyPr/>
          <a:lstStyle>
            <a:lvl1pPr>
              <a:defRPr sz="2333"/>
            </a:lvl1pPr>
            <a:lvl2pPr>
              <a:defRPr sz="1999"/>
            </a:lvl2pPr>
            <a:lvl3pPr>
              <a:defRPr sz="1666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01084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279261"/>
            <a:ext cx="3365947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0901" y="1812396"/>
            <a:ext cx="3365947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69846" y="1279261"/>
            <a:ext cx="3367269" cy="533135"/>
          </a:xfrm>
        </p:spPr>
        <p:txBody>
          <a:bodyPr anchor="b"/>
          <a:lstStyle>
            <a:lvl1pPr marL="0" indent="0">
              <a:buNone/>
              <a:defRPr sz="1999" b="1"/>
            </a:lvl1pPr>
            <a:lvl2pPr marL="380893" indent="0">
              <a:buNone/>
              <a:defRPr sz="1666" b="1"/>
            </a:lvl2pPr>
            <a:lvl3pPr marL="761787" indent="0">
              <a:buNone/>
              <a:defRPr sz="1500" b="1"/>
            </a:lvl3pPr>
            <a:lvl4pPr marL="1142680" indent="0">
              <a:buNone/>
              <a:defRPr sz="1333" b="1"/>
            </a:lvl4pPr>
            <a:lvl5pPr marL="1523573" indent="0">
              <a:buNone/>
              <a:defRPr sz="1333" b="1"/>
            </a:lvl5pPr>
            <a:lvl6pPr marL="1904467" indent="0">
              <a:buNone/>
              <a:defRPr sz="1333" b="1"/>
            </a:lvl6pPr>
            <a:lvl7pPr marL="2285360" indent="0">
              <a:buNone/>
              <a:defRPr sz="1333" b="1"/>
            </a:lvl7pPr>
            <a:lvl8pPr marL="2666253" indent="0">
              <a:buNone/>
              <a:defRPr sz="1333" b="1"/>
            </a:lvl8pPr>
            <a:lvl9pPr marL="3047147" indent="0">
              <a:buNone/>
              <a:defRPr sz="1333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69846" y="1812396"/>
            <a:ext cx="3367269" cy="3292740"/>
          </a:xfrm>
        </p:spPr>
        <p:txBody>
          <a:bodyPr/>
          <a:lstStyle>
            <a:lvl1pPr>
              <a:defRPr sz="1999"/>
            </a:lvl1pPr>
            <a:lvl2pPr>
              <a:defRPr sz="1666"/>
            </a:lvl2pPr>
            <a:lvl3pPr>
              <a:defRPr sz="15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704888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944224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15294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0901" y="227542"/>
            <a:ext cx="2506275" cy="968375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78433" y="227542"/>
            <a:ext cx="4258682" cy="4877594"/>
          </a:xfrm>
        </p:spPr>
        <p:txBody>
          <a:bodyPr/>
          <a:lstStyle>
            <a:lvl1pPr>
              <a:defRPr sz="2666"/>
            </a:lvl1pPr>
            <a:lvl2pPr>
              <a:defRPr sz="2333"/>
            </a:lvl2pPr>
            <a:lvl3pPr>
              <a:defRPr sz="1999"/>
            </a:lvl3pPr>
            <a:lvl4pPr>
              <a:defRPr sz="1666"/>
            </a:lvl4pPr>
            <a:lvl5pPr>
              <a:defRPr sz="1666"/>
            </a:lvl5pPr>
            <a:lvl6pPr>
              <a:defRPr sz="1666"/>
            </a:lvl6pPr>
            <a:lvl7pPr>
              <a:defRPr sz="1666"/>
            </a:lvl7pPr>
            <a:lvl8pPr>
              <a:defRPr sz="1666"/>
            </a:lvl8pPr>
            <a:lvl9pPr>
              <a:defRPr sz="166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80901" y="1195917"/>
            <a:ext cx="2506275" cy="3909219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85292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3185" y="4000500"/>
            <a:ext cx="4570809" cy="472282"/>
          </a:xfrm>
        </p:spPr>
        <p:txBody>
          <a:bodyPr anchor="b"/>
          <a:lstStyle>
            <a:lvl1pPr algn="l">
              <a:defRPr sz="1666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493185" y="510646"/>
            <a:ext cx="4570809" cy="3429000"/>
          </a:xfrm>
        </p:spPr>
        <p:txBody>
          <a:bodyPr/>
          <a:lstStyle>
            <a:lvl1pPr marL="0" indent="0">
              <a:buNone/>
              <a:defRPr sz="2666"/>
            </a:lvl1pPr>
            <a:lvl2pPr marL="380893" indent="0">
              <a:buNone/>
              <a:defRPr sz="2333"/>
            </a:lvl2pPr>
            <a:lvl3pPr marL="761787" indent="0">
              <a:buNone/>
              <a:defRPr sz="1999"/>
            </a:lvl3pPr>
            <a:lvl4pPr marL="1142680" indent="0">
              <a:buNone/>
              <a:defRPr sz="1666"/>
            </a:lvl4pPr>
            <a:lvl5pPr marL="1523573" indent="0">
              <a:buNone/>
              <a:defRPr sz="1666"/>
            </a:lvl5pPr>
            <a:lvl6pPr marL="1904467" indent="0">
              <a:buNone/>
              <a:defRPr sz="1666"/>
            </a:lvl6pPr>
            <a:lvl7pPr marL="2285360" indent="0">
              <a:buNone/>
              <a:defRPr sz="1666"/>
            </a:lvl7pPr>
            <a:lvl8pPr marL="2666253" indent="0">
              <a:buNone/>
              <a:defRPr sz="1666"/>
            </a:lvl8pPr>
            <a:lvl9pPr marL="3047147" indent="0">
              <a:buNone/>
              <a:defRPr sz="1666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3185" y="4472782"/>
            <a:ext cx="4570809" cy="670718"/>
          </a:xfrm>
        </p:spPr>
        <p:txBody>
          <a:bodyPr/>
          <a:lstStyle>
            <a:lvl1pPr marL="0" indent="0">
              <a:buNone/>
              <a:defRPr sz="1166"/>
            </a:lvl1pPr>
            <a:lvl2pPr marL="380893" indent="0">
              <a:buNone/>
              <a:defRPr sz="1000"/>
            </a:lvl2pPr>
            <a:lvl3pPr marL="761787" indent="0">
              <a:buNone/>
              <a:defRPr sz="833"/>
            </a:lvl3pPr>
            <a:lvl4pPr marL="1142680" indent="0">
              <a:buNone/>
              <a:defRPr sz="750"/>
            </a:lvl4pPr>
            <a:lvl5pPr marL="1523573" indent="0">
              <a:buNone/>
              <a:defRPr sz="750"/>
            </a:lvl5pPr>
            <a:lvl6pPr marL="1904467" indent="0">
              <a:buNone/>
              <a:defRPr sz="750"/>
            </a:lvl6pPr>
            <a:lvl7pPr marL="2285360" indent="0">
              <a:buNone/>
              <a:defRPr sz="750"/>
            </a:lvl7pPr>
            <a:lvl8pPr marL="2666253" indent="0">
              <a:buNone/>
              <a:defRPr sz="750"/>
            </a:lvl8pPr>
            <a:lvl9pPr marL="3047147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9072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77197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23061" y="228865"/>
            <a:ext cx="1714054" cy="487627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0901" y="228865"/>
            <a:ext cx="5015194" cy="487627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1853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7332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8"/>
            <a:ext cx="1096994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600201"/>
            <a:ext cx="1096994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5712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80901" y="228865"/>
            <a:ext cx="6856214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0901" y="1333500"/>
            <a:ext cx="6856214" cy="37716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0901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602822" y="5296959"/>
            <a:ext cx="2412372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59578" y="5296959"/>
            <a:ext cx="1777537" cy="3042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8603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380893" rtl="0" eaLnBrk="1" latinLnBrk="0" hangingPunct="1">
        <a:spcBef>
          <a:spcPct val="0"/>
        </a:spcBef>
        <a:buNone/>
        <a:defRPr sz="366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670" indent="-285670" algn="l" defTabSz="380893" rtl="0" eaLnBrk="1" latinLnBrk="0" hangingPunct="1">
        <a:spcBef>
          <a:spcPct val="20000"/>
        </a:spcBef>
        <a:buFont typeface="Arial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1pPr>
      <a:lvl2pPr marL="618952" indent="-238058" algn="l" defTabSz="380893" rtl="0" eaLnBrk="1" latinLnBrk="0" hangingPunct="1">
        <a:spcBef>
          <a:spcPct val="20000"/>
        </a:spcBef>
        <a:buFont typeface="Arial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233" indent="-190447" algn="l" defTabSz="380893" rtl="0" eaLnBrk="1" latinLnBrk="0" hangingPunct="1">
        <a:spcBef>
          <a:spcPct val="20000"/>
        </a:spcBef>
        <a:buFont typeface="Arial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3pPr>
      <a:lvl4pPr marL="1333127" indent="-190447" algn="l" defTabSz="380893" rtl="0" eaLnBrk="1" latinLnBrk="0" hangingPunct="1">
        <a:spcBef>
          <a:spcPct val="20000"/>
        </a:spcBef>
        <a:buFont typeface="Arial"/>
        <a:buChar char="–"/>
        <a:defRPr sz="1666" kern="1200">
          <a:solidFill>
            <a:schemeClr val="tx1"/>
          </a:solidFill>
          <a:latin typeface="+mn-lt"/>
          <a:ea typeface="+mn-ea"/>
          <a:cs typeface="+mn-cs"/>
        </a:defRPr>
      </a:lvl4pPr>
      <a:lvl5pPr marL="1714020" indent="-190447" algn="l" defTabSz="380893" rtl="0" eaLnBrk="1" latinLnBrk="0" hangingPunct="1">
        <a:spcBef>
          <a:spcPct val="20000"/>
        </a:spcBef>
        <a:buFont typeface="Arial"/>
        <a:buChar char="»"/>
        <a:defRPr sz="1666" kern="1200">
          <a:solidFill>
            <a:schemeClr val="tx1"/>
          </a:solidFill>
          <a:latin typeface="+mn-lt"/>
          <a:ea typeface="+mn-ea"/>
          <a:cs typeface="+mn-cs"/>
        </a:defRPr>
      </a:lvl5pPr>
      <a:lvl6pPr marL="209491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6pPr>
      <a:lvl7pPr marL="2475807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7pPr>
      <a:lvl8pPr marL="2856700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8pPr>
      <a:lvl9pPr marL="3237593" indent="-190447" algn="l" defTabSz="380893" rtl="0" eaLnBrk="1" latinLnBrk="0" hangingPunct="1">
        <a:spcBef>
          <a:spcPct val="20000"/>
        </a:spcBef>
        <a:buFont typeface="Arial"/>
        <a:buChar char="•"/>
        <a:defRPr sz="1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89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78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68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57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46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360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253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147" algn="l" defTabSz="380893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6622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sldNum="0" hdr="0" ftr="0" dt="0"/>
  <p:txStyles>
    <p:titleStyle>
      <a:lvl1pPr algn="ctr" defTabSz="1218895" rtl="0" eaLnBrk="1" latinLnBrk="0" hangingPunct="1">
        <a:spcBef>
          <a:spcPct val="0"/>
        </a:spcBef>
        <a:buNone/>
        <a:defRPr sz="586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086" indent="-457086" algn="l" defTabSz="1218895" rtl="0" eaLnBrk="1" latinLnBrk="0" hangingPunct="1">
        <a:spcBef>
          <a:spcPct val="20000"/>
        </a:spcBef>
        <a:buFont typeface="Arial" pitchFamily="34" charset="0"/>
        <a:buChar char="•"/>
        <a:defRPr sz="4266" kern="1200">
          <a:solidFill>
            <a:schemeClr val="tx1"/>
          </a:solidFill>
          <a:latin typeface="+mn-lt"/>
          <a:ea typeface="+mn-ea"/>
          <a:cs typeface="+mn-cs"/>
        </a:defRPr>
      </a:lvl1pPr>
      <a:lvl2pPr marL="990352" indent="-380905" algn="l" defTabSz="1218895" rtl="0" eaLnBrk="1" latinLnBrk="0" hangingPunct="1">
        <a:spcBef>
          <a:spcPct val="20000"/>
        </a:spcBef>
        <a:buFont typeface="Arial" pitchFamily="34" charset="0"/>
        <a:buChar char="–"/>
        <a:defRPr sz="3732" kern="1200">
          <a:solidFill>
            <a:schemeClr val="tx1"/>
          </a:solidFill>
          <a:latin typeface="+mn-lt"/>
          <a:ea typeface="+mn-ea"/>
          <a:cs typeface="+mn-cs"/>
        </a:defRPr>
      </a:lvl2pPr>
      <a:lvl3pPr marL="1523619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3pPr>
      <a:lvl4pPr marL="2133067" indent="-304724" algn="l" defTabSz="1218895" rtl="0" eaLnBrk="1" latinLnBrk="0" hangingPunct="1">
        <a:spcBef>
          <a:spcPct val="20000"/>
        </a:spcBef>
        <a:buFont typeface="Arial" pitchFamily="34" charset="0"/>
        <a:buChar char="–"/>
        <a:defRPr sz="2666" kern="1200">
          <a:solidFill>
            <a:schemeClr val="tx1"/>
          </a:solidFill>
          <a:latin typeface="+mn-lt"/>
          <a:ea typeface="+mn-ea"/>
          <a:cs typeface="+mn-cs"/>
        </a:defRPr>
      </a:lvl4pPr>
      <a:lvl5pPr marL="2742514" indent="-304724" algn="l" defTabSz="1218895" rtl="0" eaLnBrk="1" latinLnBrk="0" hangingPunct="1">
        <a:spcBef>
          <a:spcPct val="20000"/>
        </a:spcBef>
        <a:buFont typeface="Arial" pitchFamily="34" charset="0"/>
        <a:buChar char="»"/>
        <a:defRPr sz="2666" kern="1200">
          <a:solidFill>
            <a:schemeClr val="tx1"/>
          </a:solidFill>
          <a:latin typeface="+mn-lt"/>
          <a:ea typeface="+mn-ea"/>
          <a:cs typeface="+mn-cs"/>
        </a:defRPr>
      </a:lvl5pPr>
      <a:lvl6pPr marL="3351962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6pPr>
      <a:lvl7pPr marL="3961409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7pPr>
      <a:lvl8pPr marL="4570857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8pPr>
      <a:lvl9pPr marL="5180305" indent="-304724" algn="l" defTabSz="1218895" rtl="0" eaLnBrk="1" latinLnBrk="0" hangingPunct="1">
        <a:spcBef>
          <a:spcPct val="20000"/>
        </a:spcBef>
        <a:buFont typeface="Arial" pitchFamily="34" charset="0"/>
        <a:buChar char="•"/>
        <a:defRPr sz="266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1pPr>
      <a:lvl2pPr marL="609448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2pPr>
      <a:lvl3pPr marL="1218895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828343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4pPr>
      <a:lvl5pPr marL="2437790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5pPr>
      <a:lvl6pPr marL="3047238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6pPr>
      <a:lvl7pPr marL="3656686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7pPr>
      <a:lvl8pPr marL="4266133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8pPr>
      <a:lvl9pPr marL="4875581" algn="l" defTabSz="1218895" rtl="0" eaLnBrk="1" latinLnBrk="0" hangingPunct="1">
        <a:defRPr sz="23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6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11.png"/><Relationship Id="rId5" Type="http://schemas.openxmlformats.org/officeDocument/2006/relationships/image" Target="../media/image20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12.png"/><Relationship Id="rId5" Type="http://schemas.openxmlformats.org/officeDocument/2006/relationships/image" Target="../media/image24.png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13" Type="http://schemas.openxmlformats.org/officeDocument/2006/relationships/image" Target="../media/image33.png"/><Relationship Id="rId3" Type="http://schemas.openxmlformats.org/officeDocument/2006/relationships/image" Target="../media/image25.png"/><Relationship Id="rId7" Type="http://schemas.openxmlformats.org/officeDocument/2006/relationships/image" Target="../media/image27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36.png"/><Relationship Id="rId1" Type="http://schemas.openxmlformats.org/officeDocument/2006/relationships/slideLayout" Target="../slideLayouts/slideLayout34.xml"/><Relationship Id="rId6" Type="http://schemas.openxmlformats.org/officeDocument/2006/relationships/image" Target="../media/image2.png"/><Relationship Id="rId11" Type="http://schemas.openxmlformats.org/officeDocument/2006/relationships/image" Target="../media/image31.png"/><Relationship Id="rId5" Type="http://schemas.openxmlformats.org/officeDocument/2006/relationships/image" Target="../media/image26.png"/><Relationship Id="rId15" Type="http://schemas.openxmlformats.org/officeDocument/2006/relationships/image" Target="../media/image35.png"/><Relationship Id="rId10" Type="http://schemas.openxmlformats.org/officeDocument/2006/relationships/image" Target="../media/image30.png"/><Relationship Id="rId4" Type="http://schemas.openxmlformats.org/officeDocument/2006/relationships/image" Target="../media/image3.png"/><Relationship Id="rId9" Type="http://schemas.openxmlformats.org/officeDocument/2006/relationships/image" Target="../media/image29.png"/><Relationship Id="rId14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4754880" y="50292"/>
            <a:ext cx="45719" cy="6807708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12941" y="2234881"/>
            <a:ext cx="2281556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600" b="1" dirty="0">
                <a:solidFill>
                  <a:srgbClr val="00C896"/>
                </a:solidFill>
                <a:latin typeface="Candara" panose="020E0502030303020204" pitchFamily="34" charset="0"/>
              </a:rPr>
              <a:t>IoT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85119" y="2119443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85119" y="1453537"/>
            <a:ext cx="1030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React</a:t>
            </a:r>
            <a:r>
              <a:rPr lang="en-US" sz="1400" b="1" i="0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SPA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85119" y="1151432"/>
            <a:ext cx="12824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85119" y="4313770"/>
            <a:ext cx="11832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SignalR</a:t>
            </a:r>
            <a:r>
              <a:rPr lang="en-US" sz="1400" b="1" i="0" dirty="0">
                <a:solidFill>
                  <a:srgbClr val="00B8D4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Hub</a:t>
            </a:r>
            <a:endParaRPr sz="1400" b="1" i="0" dirty="0">
              <a:solidFill>
                <a:srgbClr val="00B8D4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685119" y="4015828"/>
            <a:ext cx="13859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Real-Time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85119" y="3487132"/>
            <a:ext cx="12272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 dirty="0">
                <a:solidFill>
                  <a:srgbClr val="F0A50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SQL Server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85119" y="3188398"/>
            <a:ext cx="105776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Database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1657779"/>
            <a:ext cx="704088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3200" b="1" dirty="0">
                <a:solidFill>
                  <a:srgbClr val="E8F5EE"/>
                </a:solidFill>
                <a:latin typeface="Candara" panose="020E0502030303020204" pitchFamily="34" charset="0"/>
              </a:rPr>
              <a:t>Web-Based IoT Device</a:t>
            </a:r>
          </a:p>
          <a:p>
            <a:pPr algn="r"/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Real-Time Monitoring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3583216"/>
            <a:ext cx="5120640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b="1" dirty="0">
                <a:solidFill>
                  <a:srgbClr val="00C896"/>
                </a:solidFill>
                <a:latin typeface="Candara" panose="020E0502030303020204" pitchFamily="34" charset="0"/>
              </a:rPr>
              <a:t>CAPSTONE PROJECT</a:t>
            </a:r>
          </a:p>
          <a:p>
            <a:pPr algn="r"/>
            <a:endParaRPr lang="en-US" sz="1400" b="0" i="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BAS — Application Development</a:t>
            </a:r>
            <a:endParaRPr lang="en-US" sz="1400" b="0" i="0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b="0" i="0" dirty="0">
                <a:solidFill>
                  <a:srgbClr val="E8F5EE"/>
                </a:solidFill>
                <a:latin typeface="Candara" panose="020E0502030303020204" pitchFamily="34" charset="0"/>
              </a:rPr>
              <a:t>Instructor </a:t>
            </a:r>
            <a:r>
              <a:rPr lang="en-US" sz="1400" b="0" i="1" dirty="0">
                <a:solidFill>
                  <a:srgbClr val="E8F5EE"/>
                </a:solidFill>
                <a:latin typeface="Candara" panose="020E0502030303020204" pitchFamily="34" charset="0"/>
              </a:rPr>
              <a:t>|  </a:t>
            </a:r>
            <a:endParaRPr lang="en-US" sz="1400" i="1" dirty="0">
              <a:solidFill>
                <a:srgbClr val="E8F5EE"/>
              </a:solidFill>
              <a:latin typeface="Candara" panose="020E0502030303020204" pitchFamily="34" charset="0"/>
            </a:endParaRPr>
          </a:p>
          <a:p>
            <a:pPr algn="r"/>
            <a:r>
              <a:rPr lang="en-US" sz="1400" dirty="0">
                <a:solidFill>
                  <a:srgbClr val="E8F5EE"/>
                </a:solidFill>
                <a:latin typeface="Candara" panose="020E0502030303020204" pitchFamily="34" charset="0"/>
              </a:rPr>
              <a:t>Student </a:t>
            </a:r>
            <a:r>
              <a:rPr lang="en-US" sz="1400">
                <a:solidFill>
                  <a:srgbClr val="E8F5EE"/>
                </a:solidFill>
                <a:latin typeface="Candara" panose="020E0502030303020204" pitchFamily="34" charset="0"/>
              </a:rPr>
              <a:t>| </a:t>
            </a:r>
            <a:endParaRPr lang="en-US" sz="1400" dirty="0">
              <a:solidFill>
                <a:srgbClr val="E8F5EE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Rectangle 44"/>
          <p:cNvSpPr/>
          <p:nvPr/>
        </p:nvSpPr>
        <p:spPr>
          <a:xfrm flipV="1">
            <a:off x="0" y="6857999"/>
            <a:ext cx="12188952" cy="45719"/>
          </a:xfrm>
          <a:prstGeom prst="rect">
            <a:avLst/>
          </a:prstGeom>
          <a:solidFill>
            <a:srgbClr val="0E16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Candara" panose="020E0502030303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1D83F4-9365-79B9-0BBD-C1AA74F11C60}"/>
              </a:ext>
            </a:extLst>
          </p:cNvPr>
          <p:cNvSpPr txBox="1"/>
          <p:nvPr/>
        </p:nvSpPr>
        <p:spPr>
          <a:xfrm>
            <a:off x="2685119" y="2415632"/>
            <a:ext cx="152434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9A72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C#, ASP.net core, Restful </a:t>
            </a:r>
            <a:r>
              <a:rPr lang="en-US" sz="1400" dirty="0">
                <a:solidFill>
                  <a:srgbClr val="9EC4AE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API</a:t>
            </a:r>
            <a:endParaRPr sz="1400" b="1" i="0" dirty="0">
              <a:solidFill>
                <a:srgbClr val="009A72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70D05B-0666-C083-EA65-9FF9DCECD86B}"/>
              </a:ext>
            </a:extLst>
          </p:cNvPr>
          <p:cNvSpPr txBox="1"/>
          <p:nvPr/>
        </p:nvSpPr>
        <p:spPr>
          <a:xfrm>
            <a:off x="2634833" y="4855136"/>
            <a:ext cx="152890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IoT messaging</a:t>
            </a:r>
          </a:p>
          <a:p>
            <a:r>
              <a:rPr lang="en-US" sz="1400" b="1" i="0" dirty="0">
                <a:solidFill>
                  <a:srgbClr val="00B050"/>
                </a:solidFill>
                <a:latin typeface="Candara" panose="020E0502030303020204" pitchFamily="34" charset="0"/>
                <a:ea typeface="Cambria Math" panose="02040503050406030204" pitchFamily="18" charset="0"/>
              </a:rPr>
              <a:t>MQTT Broker</a:t>
            </a:r>
            <a:endParaRPr sz="1400" b="1" i="0" dirty="0">
              <a:solidFill>
                <a:srgbClr val="00B050"/>
              </a:solidFill>
              <a:latin typeface="Candara" panose="020E0502030303020204" pitchFamily="34" charset="0"/>
              <a:ea typeface="Cambria Math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E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08530" y="724031"/>
            <a:ext cx="5040162" cy="73866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200" b="1" dirty="0">
                <a:solidFill>
                  <a:srgbClr val="FFFFFF"/>
                </a:solidFill>
                <a:latin typeface="Candara" panose="020E0502030303020204" pitchFamily="34" charset="0"/>
              </a:rPr>
              <a:t>Presentation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16112" y="2450214"/>
            <a:ext cx="3881191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01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Problem Statement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Why IoT monitoring matters in industrial settings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43307" y="3025205"/>
            <a:ext cx="306846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</a:t>
            </a:r>
            <a:r>
              <a:rPr lang="en-US"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4</a:t>
            </a:r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System Architecture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Edge → API → DB → SignalR → React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43307" y="3679325"/>
            <a:ext cx="2670924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05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Database Design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Devices, sensors, readings, alerts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43307" y="4852741"/>
            <a:ext cx="2609625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07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Frontend Design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React SPA, charts, SignalR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5135" y="3032211"/>
            <a:ext cx="2985113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09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Live Demo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Edge → API → SignalR →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3283" y="5068184"/>
            <a:ext cx="240322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11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Conclusion &amp; Future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12" y="3173585"/>
            <a:ext cx="301556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02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Project Goals &amp; Scope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Objectives, requirements, boundaries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9024" y="2441557"/>
            <a:ext cx="2935419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</a:t>
            </a:r>
            <a:r>
              <a:rPr lang="en-US"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3</a:t>
            </a:r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Technology Stack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C#, ASP.NET Core, React, SQL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3307" y="4294878"/>
            <a:ext cx="2282997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06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Backend &amp; API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Services, repositories, DTOs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5135" y="2444788"/>
            <a:ext cx="2443298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08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Key Features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Streaming, dashboards, alerts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63283" y="4416190"/>
            <a:ext cx="2719014" cy="61555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solidFill>
                  <a:srgbClr val="00C896"/>
                </a:solidFill>
                <a:latin typeface="Candara" panose="020E0502030303020204" pitchFamily="34" charset="0"/>
              </a:rPr>
              <a:t>10 </a:t>
            </a:r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Challenges &amp; Solutions</a:t>
            </a:r>
          </a:p>
          <a:p>
            <a:pPr>
              <a:defRPr sz="1400">
                <a:solidFill>
                  <a:srgbClr val="B4B4B4"/>
                </a:solidFill>
              </a:defRPr>
            </a:pPr>
            <a:r>
              <a:rPr sz="1400" dirty="0">
                <a:solidFill>
                  <a:srgbClr val="B4B4B4"/>
                </a:solidFill>
                <a:latin typeface="Candara" panose="020E0502030303020204" pitchFamily="34" charset="0"/>
              </a:rPr>
              <a:t>Sync, data volume, design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60A0DC-5A25-B5D0-F04A-ADB174D0DA3B}"/>
              </a:ext>
            </a:extLst>
          </p:cNvPr>
          <p:cNvSpPr/>
          <p:nvPr/>
        </p:nvSpPr>
        <p:spPr>
          <a:xfrm>
            <a:off x="1170392" y="2627538"/>
            <a:ext cx="45719" cy="116160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B2BE0BE-BE12-15B6-6FB4-577775C6ADF9}"/>
              </a:ext>
            </a:extLst>
          </p:cNvPr>
          <p:cNvSpPr/>
          <p:nvPr/>
        </p:nvSpPr>
        <p:spPr>
          <a:xfrm>
            <a:off x="5019024" y="2559359"/>
            <a:ext cx="45719" cy="2838874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50D11DC-EBC0-F231-0D3F-8D904D290C17}"/>
              </a:ext>
            </a:extLst>
          </p:cNvPr>
          <p:cNvSpPr/>
          <p:nvPr/>
        </p:nvSpPr>
        <p:spPr>
          <a:xfrm>
            <a:off x="8513836" y="2557677"/>
            <a:ext cx="45719" cy="107497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84EF93-60A4-DC62-2410-6BC6FAE8EAA4}"/>
              </a:ext>
            </a:extLst>
          </p:cNvPr>
          <p:cNvSpPr/>
          <p:nvPr/>
        </p:nvSpPr>
        <p:spPr>
          <a:xfrm>
            <a:off x="8538161" y="4488999"/>
            <a:ext cx="45720" cy="1000716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464068"/>
            <a:ext cx="5484971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799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Project Statement</a:t>
            </a:r>
            <a:endParaRPr lang="en-US" sz="4799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1402608"/>
            <a:ext cx="5241195" cy="19502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defTabSz="1218895">
              <a:spcAft>
                <a:spcPts val="800"/>
              </a:spcAft>
            </a:pPr>
            <a:r>
              <a:rPr lang="en-US" sz="1733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Continuous monitoring is critical in industrial, commercial, and agricultural settings for safety, early fault detection, and performance optimization. SCADA/BMS solutions are often costly, complex, and vendor-locked.</a:t>
            </a:r>
            <a:endParaRPr lang="en-US" sz="17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609441" y="3474708"/>
            <a:ext cx="5241195" cy="73133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defTabSz="1218895"/>
            <a:r>
              <a:rPr lang="en-US" sz="1733" b="1" i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This project delivers a web-based IoT monitoring system that is:</a:t>
            </a:r>
            <a:endParaRPr lang="en-US" sz="17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31329" y="4266982"/>
            <a:ext cx="4875530" cy="19502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457086" indent="-457086" defTabSz="1218895">
              <a:spcAft>
                <a:spcPts val="4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Web-based — no proprietary hardware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marL="457086" indent="-457086" defTabSz="1218895">
              <a:spcAft>
                <a:spcPts val="4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Real-time via SignalR / WebSocket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marL="457086" indent="-457086" defTabSz="1218895">
              <a:spcAft>
                <a:spcPts val="4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Server-backed historical storage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marL="457086" indent="-457086" defTabSz="1218895">
              <a:spcAft>
                <a:spcPts val="400"/>
              </a:spcAft>
              <a:buSzPct val="100000"/>
              <a:buFontTx/>
              <a:buChar char="•"/>
            </a:pP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Accessible from any browser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435699" y="610334"/>
            <a:ext cx="585064" cy="585064"/>
          </a:xfrm>
          <a:prstGeom prst="ellipse">
            <a:avLst/>
          </a:prstGeom>
          <a:solidFill>
            <a:srgbClr val="0D2318"/>
          </a:solidFill>
          <a:ln w="9525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021" y="677373"/>
            <a:ext cx="414420" cy="414420"/>
          </a:xfrm>
          <a:prstGeom prst="rect">
            <a:avLst/>
          </a:prstGeom>
          <a:solidFill>
            <a:srgbClr val="0D2318"/>
          </a:solidFill>
        </p:spPr>
      </p:pic>
      <p:sp>
        <p:nvSpPr>
          <p:cNvPr id="10" name="Text 7"/>
          <p:cNvSpPr/>
          <p:nvPr/>
        </p:nvSpPr>
        <p:spPr>
          <a:xfrm>
            <a:off x="7167029" y="573768"/>
            <a:ext cx="4387977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defTabSz="1218895"/>
            <a:r>
              <a:rPr lang="en-US" sz="1733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Web-Based</a:t>
            </a:r>
            <a:endParaRPr lang="en-US" sz="17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7167029" y="915055"/>
            <a:ext cx="4387977" cy="304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400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No proprietary hardware required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Shape 11"/>
          <p:cNvSpPr/>
          <p:nvPr/>
        </p:nvSpPr>
        <p:spPr>
          <a:xfrm>
            <a:off x="6435699" y="1658573"/>
            <a:ext cx="585064" cy="585064"/>
          </a:xfrm>
          <a:prstGeom prst="ellipse">
            <a:avLst/>
          </a:prstGeom>
          <a:solidFill>
            <a:srgbClr val="0D2318"/>
          </a:solidFill>
          <a:ln w="9525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1021" y="1725612"/>
            <a:ext cx="414420" cy="414420"/>
          </a:xfrm>
          <a:prstGeom prst="rect">
            <a:avLst/>
          </a:prstGeom>
          <a:solidFill>
            <a:srgbClr val="0D2318"/>
          </a:solidFill>
        </p:spPr>
      </p:pic>
      <p:sp>
        <p:nvSpPr>
          <p:cNvPr id="16" name="Text 12"/>
          <p:cNvSpPr/>
          <p:nvPr/>
        </p:nvSpPr>
        <p:spPr>
          <a:xfrm>
            <a:off x="7167029" y="1622007"/>
            <a:ext cx="4387977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defTabSz="1218895"/>
            <a:r>
              <a:rPr lang="en-US" sz="1733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Real-Time</a:t>
            </a:r>
            <a:endParaRPr lang="en-US" sz="17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7167029" y="1963294"/>
            <a:ext cx="4387977" cy="304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400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/ WebSocket streaming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435699" y="2706812"/>
            <a:ext cx="585064" cy="585064"/>
          </a:xfrm>
          <a:prstGeom prst="ellipse">
            <a:avLst/>
          </a:prstGeom>
          <a:solidFill>
            <a:srgbClr val="0D2318"/>
          </a:solidFill>
          <a:ln w="9525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1021" y="2773851"/>
            <a:ext cx="414420" cy="414420"/>
          </a:xfrm>
          <a:prstGeom prst="rect">
            <a:avLst/>
          </a:prstGeom>
          <a:solidFill>
            <a:srgbClr val="0D2318"/>
          </a:solidFill>
        </p:spPr>
      </p:pic>
      <p:sp>
        <p:nvSpPr>
          <p:cNvPr id="22" name="Text 17"/>
          <p:cNvSpPr/>
          <p:nvPr/>
        </p:nvSpPr>
        <p:spPr>
          <a:xfrm>
            <a:off x="7167029" y="2670246"/>
            <a:ext cx="4387977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defTabSz="1218895"/>
            <a:r>
              <a:rPr lang="en-US" sz="1733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Server</a:t>
            </a:r>
            <a:endParaRPr lang="en-US" sz="17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Text 18"/>
          <p:cNvSpPr/>
          <p:nvPr/>
        </p:nvSpPr>
        <p:spPr>
          <a:xfrm>
            <a:off x="7167029" y="3011533"/>
            <a:ext cx="4387977" cy="304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400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Full historical data storage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6435699" y="3755051"/>
            <a:ext cx="585064" cy="585064"/>
          </a:xfrm>
          <a:prstGeom prst="ellipse">
            <a:avLst/>
          </a:prstGeom>
          <a:solidFill>
            <a:srgbClr val="0D2318"/>
          </a:solidFill>
          <a:ln w="9525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21021" y="3822090"/>
            <a:ext cx="414420" cy="414420"/>
          </a:xfrm>
          <a:prstGeom prst="rect">
            <a:avLst/>
          </a:prstGeom>
          <a:solidFill>
            <a:srgbClr val="0D2318"/>
          </a:solidFill>
        </p:spPr>
      </p:pic>
      <p:sp>
        <p:nvSpPr>
          <p:cNvPr id="28" name="Text 22"/>
          <p:cNvSpPr/>
          <p:nvPr/>
        </p:nvSpPr>
        <p:spPr>
          <a:xfrm>
            <a:off x="7167029" y="3718485"/>
            <a:ext cx="4387977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defTabSz="1218895"/>
            <a:r>
              <a:rPr lang="en-US" sz="1733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Any Browser</a:t>
            </a:r>
            <a:endParaRPr lang="en-US" sz="17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Text 23"/>
          <p:cNvSpPr/>
          <p:nvPr/>
        </p:nvSpPr>
        <p:spPr>
          <a:xfrm>
            <a:off x="7167029" y="4059772"/>
            <a:ext cx="4387977" cy="304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400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Accessible from any device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26"/>
          <p:cNvSpPr/>
          <p:nvPr/>
        </p:nvSpPr>
        <p:spPr>
          <a:xfrm>
            <a:off x="6435699" y="4803290"/>
            <a:ext cx="585064" cy="585064"/>
          </a:xfrm>
          <a:prstGeom prst="ellipse">
            <a:avLst/>
          </a:prstGeom>
          <a:solidFill>
            <a:srgbClr val="0D2318"/>
          </a:solidFill>
          <a:ln w="9525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1021" y="4870329"/>
            <a:ext cx="414420" cy="414420"/>
          </a:xfrm>
          <a:prstGeom prst="rect">
            <a:avLst/>
          </a:prstGeom>
          <a:solidFill>
            <a:srgbClr val="0D2318"/>
          </a:solidFill>
        </p:spPr>
      </p:pic>
      <p:sp>
        <p:nvSpPr>
          <p:cNvPr id="34" name="Text 27"/>
          <p:cNvSpPr/>
          <p:nvPr/>
        </p:nvSpPr>
        <p:spPr>
          <a:xfrm>
            <a:off x="7167029" y="4766724"/>
            <a:ext cx="4387977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defTabSz="1218895"/>
            <a:r>
              <a:rPr lang="en-US" sz="1733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Cost-Effective</a:t>
            </a:r>
            <a:endParaRPr lang="en-US" sz="17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28"/>
          <p:cNvSpPr/>
          <p:nvPr/>
        </p:nvSpPr>
        <p:spPr>
          <a:xfrm>
            <a:off x="7167029" y="5108010"/>
            <a:ext cx="4387977" cy="304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400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Open-source technology stack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8" name="Shape 31"/>
          <p:cNvSpPr/>
          <p:nvPr/>
        </p:nvSpPr>
        <p:spPr>
          <a:xfrm>
            <a:off x="6435699" y="5851529"/>
            <a:ext cx="585064" cy="585064"/>
          </a:xfrm>
          <a:prstGeom prst="ellipse">
            <a:avLst/>
          </a:prstGeom>
          <a:solidFill>
            <a:srgbClr val="0D2318"/>
          </a:solidFill>
          <a:ln w="9525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21021" y="5918568"/>
            <a:ext cx="414420" cy="414420"/>
          </a:xfrm>
          <a:prstGeom prst="rect">
            <a:avLst/>
          </a:prstGeom>
          <a:solidFill>
            <a:srgbClr val="0D2318"/>
          </a:solidFill>
        </p:spPr>
      </p:pic>
      <p:sp>
        <p:nvSpPr>
          <p:cNvPr id="40" name="Text 32"/>
          <p:cNvSpPr/>
          <p:nvPr/>
        </p:nvSpPr>
        <p:spPr>
          <a:xfrm>
            <a:off x="7167029" y="5814963"/>
            <a:ext cx="4387977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defTabSz="1218895"/>
            <a:r>
              <a:rPr lang="en-US" sz="1733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7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 33"/>
          <p:cNvSpPr/>
          <p:nvPr/>
        </p:nvSpPr>
        <p:spPr>
          <a:xfrm>
            <a:off x="7167029" y="6156249"/>
            <a:ext cx="4387977" cy="304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400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Arduino, ESP32, Raspberry Pi</a:t>
            </a:r>
            <a:endParaRPr lang="en-US" sz="14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792917" y="731520"/>
            <a:ext cx="4740400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Candara" panose="020E0502030303020204" pitchFamily="34" charset="0"/>
              </a:rPr>
              <a:t>Project Goals &amp;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917" y="1280160"/>
            <a:ext cx="6655989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B4C8BE"/>
                </a:solidFill>
                <a:latin typeface="Candara" panose="020E0502030303020204" pitchFamily="34" charset="0"/>
              </a:rPr>
              <a:t>Six core objectives mapped to key system capabilities and platform design.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69884" y="2020655"/>
            <a:ext cx="2351926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C8DCD2"/>
                </a:solidFill>
                <a:latin typeface="Candara" panose="020E0502030303020204" pitchFamily="34" charset="0"/>
              </a:rPr>
              <a:t>Core System Capabilities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76124" y="2020655"/>
            <a:ext cx="2190023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C8DCD2"/>
                </a:solidFill>
                <a:latin typeface="Candara" panose="020E0502030303020204" pitchFamily="34" charset="0"/>
              </a:rPr>
              <a:t>Platform &amp;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869884" y="2477855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61325" y="2477856"/>
            <a:ext cx="4100803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Real-Time Monitoring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Real-time sensor streaming (&lt;2s latency) via SignalR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69884" y="3392255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961324" y="3392256"/>
            <a:ext cx="3828292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Interactive Dashboard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Live dashboards with charts, gauges, and trends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69884" y="4306655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961325" y="4306656"/>
            <a:ext cx="324479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Historical Analysis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Query, filter, and export time-series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6124" y="2477855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167564" y="2477856"/>
            <a:ext cx="501451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Device Management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Register and manage IoT devices (Arduino, ESP32, Raspberry Pi)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76124" y="3392255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67565" y="3392256"/>
            <a:ext cx="397897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Alerting System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Threshold-based alerts with real-time notifications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76124" y="4306655"/>
            <a:ext cx="45720" cy="64008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167565" y="4306656"/>
            <a:ext cx="276710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Capstone Integration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C#, React, SQL, REST APIs, SignalR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64660" y="5487929"/>
            <a:ext cx="660148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96AAA0"/>
                </a:solidFill>
                <a:latin typeface="Candara" panose="020E0502030303020204" pitchFamily="34" charset="0"/>
              </a:rPr>
              <a:t>Out of Scope (Future Enhancements): Auth · RBAC · Mobile · ML · Multi-tenancy · ERP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64660" y="5740402"/>
            <a:ext cx="546014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B4D2C8"/>
                </a:solidFill>
                <a:latin typeface="Candara" panose="020E0502030303020204" pitchFamily="34" charset="0"/>
              </a:rPr>
              <a:t>Focused on delivering a scalable, real-time IoT monitoring foundation.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C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31342" y="615994"/>
            <a:ext cx="3831562" cy="6771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 dirty="0">
                <a:solidFill>
                  <a:srgbClr val="FFFFFF"/>
                </a:solidFill>
                <a:latin typeface="Candara" panose="020E0502030303020204" pitchFamily="34" charset="0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1342" y="1300681"/>
            <a:ext cx="5830442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dirty="0">
                <a:solidFill>
                  <a:srgbClr val="B4C8BE"/>
                </a:solidFill>
                <a:latin typeface="Candara" panose="020E0502030303020204" pitchFamily="34" charset="0"/>
              </a:rPr>
              <a:t>End-to-end pipeline: Device → MQTT → Backend → SignalR → UI</a:t>
            </a:r>
          </a:p>
        </p:txBody>
      </p:sp>
      <p:sp>
        <p:nvSpPr>
          <p:cNvPr id="7" name="Rectangle 6"/>
          <p:cNvSpPr/>
          <p:nvPr/>
        </p:nvSpPr>
        <p:spPr>
          <a:xfrm>
            <a:off x="2628836" y="2404873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20276" y="2404874"/>
            <a:ext cx="2856872" cy="8002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Backend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C# / ASP.NET Core
Handles ingestion, processing, APIs</a:t>
            </a:r>
          </a:p>
        </p:txBody>
      </p:sp>
      <p:sp>
        <p:nvSpPr>
          <p:cNvPr id="9" name="Rectangle 8"/>
          <p:cNvSpPr/>
          <p:nvPr/>
        </p:nvSpPr>
        <p:spPr>
          <a:xfrm>
            <a:off x="2628836" y="3502153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20277" y="3502154"/>
            <a:ext cx="2808782" cy="8002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IoT Messaging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MQTT + Broker (</a:t>
            </a:r>
            <a:r>
              <a:rPr sz="1400" dirty="0" err="1">
                <a:solidFill>
                  <a:srgbClr val="B4C8BE"/>
                </a:solidFill>
                <a:latin typeface="Candara" panose="020E0502030303020204" pitchFamily="34" charset="0"/>
              </a:rPr>
              <a:t>Mosquitto</a:t>
            </a:r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/EMQX)
Device → Broker → Backend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28836" y="4599433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20276" y="4599434"/>
            <a:ext cx="2292615" cy="8002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dirty="0">
                <a:solidFill>
                  <a:srgbClr val="FFFFFF"/>
                </a:solidFill>
                <a:latin typeface="Candara" panose="020E0502030303020204" pitchFamily="34" charset="0"/>
              </a:rPr>
              <a:t>Real-Time</a:t>
            </a:r>
          </a:p>
          <a:p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SignalR
Server-to-client live updates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35076" y="2404873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926517" y="2404874"/>
            <a:ext cx="158351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Frontend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React + TypeScript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5076" y="3502153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926516" y="3502154"/>
            <a:ext cx="175881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Database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SQL Server + EF Core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35076" y="4599433"/>
            <a:ext cx="45720" cy="731520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926516" y="4599434"/>
            <a:ext cx="108876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>
                <a:solidFill>
                  <a:srgbClr val="FFFFFF"/>
                </a:solidFill>
                <a:latin typeface="Candara" panose="020E0502030303020204" pitchFamily="34" charset="0"/>
              </a:rPr>
              <a:t>DevOps</a:t>
            </a:r>
          </a:p>
          <a:p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Git + GitHub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90435" y="749588"/>
            <a:ext cx="555152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 dirty="0">
                <a:solidFill>
                  <a:srgbClr val="FFFFFF"/>
                </a:solidFill>
                <a:latin typeface="Candara" panose="020E0502030303020204" pitchFamily="34" charset="0"/>
              </a:rPr>
              <a:t>System Architecture </a:t>
            </a:r>
            <a:r>
              <a:rPr sz="3200" b="1" dirty="0">
                <a:solidFill>
                  <a:srgbClr val="00C896"/>
                </a:solidFill>
                <a:latin typeface="Candara" panose="020E0502030303020204" pitchFamily="34" charset="0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0436" y="1389668"/>
            <a:ext cx="5189241" cy="33855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dirty="0">
                <a:solidFill>
                  <a:srgbClr val="C8C8C8"/>
                </a:solidFill>
                <a:latin typeface="Candara" panose="020E0502030303020204" pitchFamily="34" charset="0"/>
              </a:rPr>
              <a:t>Six layers — from physical sensor to browser dashboard.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93346" y="1995059"/>
            <a:ext cx="1725152" cy="17670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Edge Devices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Arduino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ESP32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Raspberry Pi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Sensors &amp; Actuators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944925" y="2192695"/>
            <a:ext cx="1609736" cy="176567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IoT Messaging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MQTT Broker</a:t>
            </a:r>
          </a:p>
          <a:p>
            <a:pPr>
              <a:lnSpc>
                <a:spcPct val="150000"/>
              </a:lnSpc>
            </a:pPr>
            <a:r>
              <a:rPr sz="1400" dirty="0" err="1">
                <a:solidFill>
                  <a:srgbClr val="FFFFFF"/>
                </a:solidFill>
                <a:latin typeface="Candara" panose="020E0502030303020204" pitchFamily="34" charset="0"/>
              </a:rPr>
              <a:t>Mosquitto</a:t>
            </a: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 / EMQX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Pub/Sub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Device → Broker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2888" y="4035277"/>
            <a:ext cx="1415772" cy="17670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Backend API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ASP.NET Core 8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RESTful API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SignalR Hub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MQTT Ingestion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2811" y="2318224"/>
            <a:ext cx="1186543" cy="11207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Database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SQL Server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EF Core 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5100" y="4135533"/>
            <a:ext cx="1647823" cy="14439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Real-Time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SignalR WebSocket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Server Push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&lt;2 sec latency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934" y="2307680"/>
            <a:ext cx="1218603" cy="14439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50000"/>
              </a:lnSpc>
            </a:pPr>
            <a:r>
              <a:rPr b="1" dirty="0">
                <a:solidFill>
                  <a:srgbClr val="00C896"/>
                </a:solidFill>
                <a:latin typeface="Candara" panose="020E0502030303020204" pitchFamily="34" charset="0"/>
              </a:rPr>
              <a:t>Frontend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React 18 SPA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SignalR Client</a:t>
            </a:r>
          </a:p>
          <a:p>
            <a:pPr>
              <a:lnSpc>
                <a:spcPct val="150000"/>
              </a:lnSpc>
            </a:pPr>
            <a:r>
              <a:rPr sz="1400" dirty="0">
                <a:solidFill>
                  <a:srgbClr val="FFFFFF"/>
                </a:solidFill>
                <a:latin typeface="Candara" panose="020E0502030303020204" pitchFamily="34" charset="0"/>
              </a:rPr>
              <a:t>Chart.js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1543" y="6189931"/>
            <a:ext cx="483779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dirty="0">
                <a:solidFill>
                  <a:srgbClr val="00C896"/>
                </a:solidFill>
                <a:latin typeface="Candara" panose="020E0502030303020204" pitchFamily="34" charset="0"/>
              </a:rPr>
              <a:t>⚡ Real-time via SignalR WebSocket — updates in &lt;2 seconds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45708"/>
          </a:xfrm>
          <a:prstGeom prst="rect">
            <a:avLst/>
          </a:prstGeom>
          <a:solidFill>
            <a:srgbClr val="0087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350" y="595099"/>
            <a:ext cx="6094413" cy="456407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17322"/>
            <a:r>
              <a:rPr lang="en-US" sz="2666" b="1" dirty="0">
                <a:solidFill>
                  <a:srgbClr val="F5FAF8"/>
                </a:solidFill>
                <a:latin typeface="Candara" panose="020E0502030303020204" pitchFamily="34" charset="0"/>
              </a:rPr>
              <a:t>Database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351" y="1052180"/>
            <a:ext cx="9293979" cy="26161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17322"/>
            <a:r>
              <a:rPr lang="en-US" sz="1400" b="1" dirty="0">
                <a:solidFill>
                  <a:srgbClr val="F5FAF8"/>
                </a:solidFill>
                <a:latin typeface="Candara" panose="020E0502030303020204" pitchFamily="34" charset="0"/>
              </a:rPr>
              <a:t>Entity Relationship Diagram</a:t>
            </a:r>
            <a:r>
              <a:rPr lang="en-US" sz="1333" i="1" dirty="0">
                <a:solidFill>
                  <a:srgbClr val="B9CDC3"/>
                </a:solidFill>
                <a:latin typeface="Candara" panose="020E0502030303020204" pitchFamily="34" charset="0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8990" y="1562585"/>
            <a:ext cx="2818666" cy="3656648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33261" y="1654003"/>
            <a:ext cx="2590125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SENSOR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80467" y="1562585"/>
            <a:ext cx="5218341" cy="4380359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008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694737" y="1654003"/>
            <a:ext cx="4989800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8770"/>
                </a:solidFill>
                <a:latin typeface="Candara" panose="020E0502030303020204" pitchFamily="34" charset="0"/>
              </a:rPr>
              <a:t>DEVICE CORE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51168" y="1562585"/>
            <a:ext cx="2780576" cy="4532719"/>
          </a:xfrm>
          <a:prstGeom prst="roundRect">
            <a:avLst/>
          </a:prstGeom>
          <a:solidFill>
            <a:srgbClr val="030908"/>
          </a:solidFill>
          <a:ln w="889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065438" y="1654003"/>
            <a:ext cx="2552035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ALERTING &amp; CONFIGURATION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3885187" y="2552928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3885187" y="2377714"/>
            <a:ext cx="0" cy="175214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H="1">
            <a:off x="2971026" y="2377714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13087" y="2880503"/>
            <a:ext cx="0" cy="1005578"/>
          </a:xfrm>
          <a:prstGeom prst="line">
            <a:avLst/>
          </a:prstGeom>
          <a:ln w="15875">
            <a:solidFill>
              <a:srgbClr val="00BE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3390016" y="2933829"/>
            <a:ext cx="1371243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90016" y="2933829"/>
            <a:ext cx="0" cy="1500749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3123386" y="4434578"/>
            <a:ext cx="266631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389475" y="2552928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265546" y="2377714"/>
            <a:ext cx="0" cy="175214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265546" y="2377714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389475" y="2758615"/>
            <a:ext cx="87607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265546" y="2758615"/>
            <a:ext cx="0" cy="1165556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265546" y="3924171"/>
            <a:ext cx="91416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408791" y="3200460"/>
            <a:ext cx="0" cy="1104612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4989800" y="4305072"/>
            <a:ext cx="418991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989800" y="4305072"/>
            <a:ext cx="0" cy="342811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741943" y="3200460"/>
            <a:ext cx="0" cy="1104612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741943" y="4305072"/>
            <a:ext cx="837982" cy="0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579925" y="4305072"/>
            <a:ext cx="0" cy="342811"/>
          </a:xfrm>
          <a:prstGeom prst="line">
            <a:avLst/>
          </a:prstGeom>
          <a:ln w="14604">
            <a:solidFill>
              <a:srgbClr val="0087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0360501" y="4495522"/>
            <a:ext cx="0" cy="418991"/>
          </a:xfrm>
          <a:prstGeom prst="line">
            <a:avLst/>
          </a:prstGeom>
          <a:ln w="15875">
            <a:solidFill>
              <a:srgbClr val="E6AA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1813087" y="1433080"/>
            <a:ext cx="0" cy="434227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813087" y="1433080"/>
            <a:ext cx="10032927" cy="0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846014" y="1433080"/>
            <a:ext cx="0" cy="2491091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1541293" y="3924171"/>
            <a:ext cx="304721" cy="0"/>
          </a:xfrm>
          <a:prstGeom prst="line">
            <a:avLst/>
          </a:prstGeom>
          <a:ln w="12065">
            <a:solidFill>
              <a:srgbClr val="00BEE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647531" y="1867307"/>
            <a:ext cx="2323495" cy="1013196"/>
          </a:xfrm>
          <a:prstGeom prst="rect">
            <a:avLst/>
          </a:prstGeom>
          <a:solidFill>
            <a:srgbClr val="112621"/>
          </a:solidFill>
          <a:ln w="1270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647531" y="1867307"/>
            <a:ext cx="2323495" cy="251395"/>
          </a:xfrm>
          <a:prstGeom prst="rect">
            <a:avLst/>
          </a:prstGeom>
          <a:solidFill>
            <a:srgbClr val="00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1548791" y="1913015"/>
            <a:ext cx="520976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SENSORS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4184" y="2194881"/>
            <a:ext cx="2110189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SensorId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SensorName · SensorType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Unit · MinValue · MaxValue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IsActive · CreatedAt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7531" y="3886081"/>
            <a:ext cx="2475855" cy="1104612"/>
          </a:xfrm>
          <a:prstGeom prst="rect">
            <a:avLst/>
          </a:prstGeom>
          <a:solidFill>
            <a:srgbClr val="112621"/>
          </a:solidFill>
          <a:ln w="12700">
            <a:solidFill>
              <a:srgbClr val="00B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Rectangle 41"/>
          <p:cNvSpPr/>
          <p:nvPr/>
        </p:nvSpPr>
        <p:spPr>
          <a:xfrm>
            <a:off x="647531" y="3886081"/>
            <a:ext cx="2475855" cy="251395"/>
          </a:xfrm>
          <a:prstGeom prst="rect">
            <a:avLst/>
          </a:prstGeom>
          <a:solidFill>
            <a:srgbClr val="00BE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357269" y="3931789"/>
            <a:ext cx="1056379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SENSOR READINGS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183" y="4213655"/>
            <a:ext cx="2262551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ReadingId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Value · Timestamp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Quality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61259" y="1943487"/>
            <a:ext cx="2628215" cy="1256973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Rectangle 45"/>
          <p:cNvSpPr/>
          <p:nvPr/>
        </p:nvSpPr>
        <p:spPr>
          <a:xfrm>
            <a:off x="4761259" y="1943487"/>
            <a:ext cx="262821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842932" y="1989196"/>
            <a:ext cx="46487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67911" y="2271062"/>
            <a:ext cx="2414911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DeviceId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DeviceName · DeviceType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Location · FacilityType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EdgeDeviceType · EdgeDeviceId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IsActive · LastSeenAt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847097" y="4647883"/>
            <a:ext cx="228540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3847097" y="4647882"/>
            <a:ext cx="228540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301310" y="4693590"/>
            <a:ext cx="1376980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 STATUS HISTORY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953750" y="4975457"/>
            <a:ext cx="207210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StatusHistoryId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PreviousStatus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Message · Timestamp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37222" y="4647883"/>
            <a:ext cx="228540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Rectangle 53"/>
          <p:cNvSpPr/>
          <p:nvPr/>
        </p:nvSpPr>
        <p:spPr>
          <a:xfrm>
            <a:off x="6437222" y="4647882"/>
            <a:ext cx="2285405" cy="25139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6916281" y="4693590"/>
            <a:ext cx="1327286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OPERATIONAL METRICS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43875" y="4975457"/>
            <a:ext cx="207210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MetricId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MetricType · MetricValue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PeriodStart · PeriodEnd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79708" y="1867307"/>
            <a:ext cx="2361585" cy="1013196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Rectangle 57"/>
          <p:cNvSpPr/>
          <p:nvPr/>
        </p:nvSpPr>
        <p:spPr>
          <a:xfrm>
            <a:off x="9179708" y="1867307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9902842" y="1913015"/>
            <a:ext cx="915315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DEVICE CONFIGS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86361" y="2194882"/>
            <a:ext cx="2148280" cy="700192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ConfigurationId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ConfigurationKey · Value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Unique: DeviceId + Key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79708" y="3352820"/>
            <a:ext cx="2361585" cy="1142702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Rectangle 61"/>
          <p:cNvSpPr/>
          <p:nvPr/>
        </p:nvSpPr>
        <p:spPr>
          <a:xfrm>
            <a:off x="9179708" y="3352820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9990207" y="3398528"/>
            <a:ext cx="740588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ALERT RULES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286361" y="3680394"/>
            <a:ext cx="2148280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AlertRuleId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 (optional)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Condition · Threshold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Severity · IsEnabled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79708" y="4914513"/>
            <a:ext cx="2361585" cy="1081758"/>
          </a:xfrm>
          <a:prstGeom prst="rect">
            <a:avLst/>
          </a:prstGeom>
          <a:solidFill>
            <a:srgbClr val="112621"/>
          </a:solidFill>
          <a:ln w="12700">
            <a:solidFill>
              <a:srgbClr val="E6A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6" name="Rectangle 65"/>
          <p:cNvSpPr/>
          <p:nvPr/>
        </p:nvSpPr>
        <p:spPr>
          <a:xfrm>
            <a:off x="9179708" y="4914513"/>
            <a:ext cx="2361585" cy="251395"/>
          </a:xfrm>
          <a:prstGeom prst="rect">
            <a:avLst/>
          </a:prstGeom>
          <a:solidFill>
            <a:srgbClr val="E6A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10149706" y="4960222"/>
            <a:ext cx="421590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0000"/>
                </a:solidFill>
                <a:latin typeface="Candara" panose="020E0502030303020204" pitchFamily="34" charset="0"/>
              </a:rPr>
              <a:t>ALERTS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86361" y="5242088"/>
            <a:ext cx="2148280" cy="866904"/>
          </a:xfrm>
          <a:prstGeom prst="rect">
            <a:avLst/>
          </a:prstGeom>
          <a:noFill/>
        </p:spPr>
        <p:txBody>
          <a:bodyPr wrap="square" lIns="0" tIns="0" rIns="0" anchor="t">
            <a:spAutoFit/>
          </a:bodyPr>
          <a:lstStyle/>
          <a:p>
            <a:pPr defTabSz="380893">
              <a:spcAft>
                <a:spcPts val="83"/>
              </a:spcAft>
            </a:pPr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PK  AlertId (BIGINT)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AlertRuleId → AlertRules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DeviceId → Devices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FK  SensorId → Sensors (optional)</a:t>
            </a:r>
          </a:p>
          <a:p>
            <a:pPr defTabSz="380893">
              <a:spcAft>
                <a:spcPts val="83"/>
              </a:spcAft>
            </a:pPr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Status · TriggeredAt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17483" y="246151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0" name="TextBox 69"/>
          <p:cNvSpPr txBox="1"/>
          <p:nvPr/>
        </p:nvSpPr>
        <p:spPr>
          <a:xfrm>
            <a:off x="4625349" y="2469130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986261" y="230153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066876" y="2309152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683581" y="2910975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1791447" y="2918593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683581" y="3710867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764196" y="3718485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517483" y="2850031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4625349" y="2857649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08150" y="434316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188765" y="4350780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442801" y="2461512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2" name="TextBox 81"/>
          <p:cNvSpPr txBox="1"/>
          <p:nvPr/>
        </p:nvSpPr>
        <p:spPr>
          <a:xfrm>
            <a:off x="7550667" y="2469130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913078" y="230153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4" name="TextBox 83"/>
          <p:cNvSpPr txBox="1"/>
          <p:nvPr/>
        </p:nvSpPr>
        <p:spPr>
          <a:xfrm>
            <a:off x="8993693" y="2309152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42801" y="266719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6" name="TextBox 85"/>
          <p:cNvSpPr txBox="1"/>
          <p:nvPr/>
        </p:nvSpPr>
        <p:spPr>
          <a:xfrm>
            <a:off x="7550667" y="2674817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8913078" y="3847991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8993693" y="385560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294520" y="322331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5402386" y="3230932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860293" y="4465050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2" name="TextBox 91"/>
          <p:cNvSpPr txBox="1"/>
          <p:nvPr/>
        </p:nvSpPr>
        <p:spPr>
          <a:xfrm>
            <a:off x="4940908" y="447266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627672" y="3223314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4" name="TextBox 93"/>
          <p:cNvSpPr txBox="1"/>
          <p:nvPr/>
        </p:nvSpPr>
        <p:spPr>
          <a:xfrm>
            <a:off x="6735538" y="3230932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50419" y="4465050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7531034" y="4472669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F5F8F6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10230994" y="4480286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10338860" y="4487905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230994" y="473929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10311609" y="4746917"/>
            <a:ext cx="97784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E6AA00"/>
                </a:solidFill>
                <a:latin typeface="Candara" panose="020E0502030303020204" pitchFamily="34" charset="0"/>
              </a:rPr>
              <a:t>∞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675963" y="1692093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1783829" y="1699711"/>
            <a:ext cx="43282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1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1556529" y="3779429"/>
            <a:ext cx="259013" cy="15236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0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11570619" y="3787047"/>
            <a:ext cx="230833" cy="200055"/>
          </a:xfrm>
          <a:prstGeom prst="rect">
            <a:avLst/>
          </a:prstGeom>
          <a:noFill/>
        </p:spPr>
        <p:txBody>
          <a:bodyPr wrap="none" lIns="0" tIns="0" rIns="0">
            <a:spAutoFit/>
          </a:bodyPr>
          <a:lstStyle/>
          <a:p>
            <a:pPr algn="ctr" defTabSz="380893"/>
            <a:r>
              <a:rPr sz="1000" b="1">
                <a:solidFill>
                  <a:srgbClr val="00BEE6"/>
                </a:solidFill>
                <a:latin typeface="Candara" panose="020E0502030303020204" pitchFamily="34" charset="0"/>
              </a:rPr>
              <a:t>0..∞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71351" y="6080069"/>
            <a:ext cx="11122303" cy="403755"/>
          </a:xfrm>
          <a:prstGeom prst="roundRect">
            <a:avLst/>
          </a:prstGeom>
          <a:solidFill>
            <a:srgbClr val="0C1C18"/>
          </a:solidFill>
          <a:ln w="8890">
            <a:solidFill>
              <a:srgbClr val="0087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166" dirty="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761801" y="6179103"/>
            <a:ext cx="1523603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 b="1">
                <a:solidFill>
                  <a:srgbClr val="00C896"/>
                </a:solidFill>
                <a:latin typeface="Candara" panose="020E0502030303020204" pitchFamily="34" charset="0"/>
              </a:rPr>
              <a:t>Legend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599783" y="6171486"/>
            <a:ext cx="8379817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00">
                <a:solidFill>
                  <a:srgbClr val="B2C4BC"/>
                </a:solidFill>
                <a:latin typeface="Candara" panose="020E0502030303020204" pitchFamily="34" charset="0"/>
              </a:rPr>
              <a:t>1 → ∞ = one-to-many     0..∞ = optional child relationship     dashed line = optional sensor-level alert rule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322411" y="6171486"/>
            <a:ext cx="1104612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1000" b="1">
                <a:solidFill>
                  <a:srgbClr val="00C896"/>
                </a:solidFill>
                <a:latin typeface="Candara" panose="020E0502030303020204" pitchFamily="34" charset="0"/>
              </a:rPr>
              <a:t>8 tables · 3NF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427023" y="6567622"/>
            <a:ext cx="457081" cy="20005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1000">
                <a:solidFill>
                  <a:srgbClr val="73877F"/>
                </a:solidFill>
                <a:latin typeface="Candara" panose="020E0502030303020204" pitchFamily="34" charset="0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121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60944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4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09441" y="457974"/>
            <a:ext cx="5044971" cy="584775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3200" b="1" dirty="0">
                <a:solidFill>
                  <a:srgbClr val="F0F8F5"/>
                </a:solidFill>
                <a:latin typeface="Candara" panose="020E0502030303020204" pitchFamily="34" charset="0"/>
              </a:rPr>
              <a:t>Backend &amp; API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441" y="1067416"/>
            <a:ext cx="4613764" cy="338554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Layered architecture + RESTful APIs + </a:t>
            </a:r>
            <a:r>
              <a:rPr sz="1600" dirty="0">
                <a:solidFill>
                  <a:srgbClr val="B4C8BE"/>
                </a:solidFill>
                <a:latin typeface="Candara" panose="020E0502030303020204" pitchFamily="34" charset="0"/>
              </a:rPr>
              <a:t>real-time</a:t>
            </a:r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 streaming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441" y="1753036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Presentation Layer</a:t>
            </a:r>
          </a:p>
          <a:p>
            <a:pPr algn="r" defTabSz="380893"/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Controllers · SignalR Hub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1" y="2743378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Service Layer</a:t>
            </a:r>
          </a:p>
          <a:p>
            <a:pPr algn="r" defTabSz="380893"/>
            <a:r>
              <a:rPr sz="1400" dirty="0">
                <a:solidFill>
                  <a:srgbClr val="B4C8BE"/>
                </a:solidFill>
                <a:latin typeface="Candara" panose="020E0502030303020204" pitchFamily="34" charset="0"/>
              </a:rPr>
              <a:t>Business Logic · Validation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441" y="3733720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>
                <a:solidFill>
                  <a:srgbClr val="00C896"/>
                </a:solidFill>
                <a:latin typeface="Candara" panose="020E0502030303020204" pitchFamily="34" charset="0"/>
              </a:rPr>
              <a:t>Data Access Layer</a:t>
            </a:r>
          </a:p>
          <a:p>
            <a:pPr algn="r" defTabSz="380893"/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EF Core · Repository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441" y="4724063"/>
            <a:ext cx="4951710" cy="83798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 defTabSz="380893"/>
            <a:r>
              <a:rPr sz="1400" b="1">
                <a:solidFill>
                  <a:srgbClr val="00C896"/>
                </a:solidFill>
                <a:latin typeface="Candara" panose="020E0502030303020204" pitchFamily="34" charset="0"/>
              </a:rPr>
              <a:t>Database Layer</a:t>
            </a:r>
          </a:p>
          <a:p>
            <a:pPr algn="r" defTabSz="380893"/>
            <a:r>
              <a:rPr sz="1400">
                <a:solidFill>
                  <a:srgbClr val="B4C8BE"/>
                </a:solidFill>
                <a:latin typeface="Candara" panose="020E0502030303020204" pitchFamily="34" charset="0"/>
              </a:rPr>
              <a:t>SQL Server · IoTMonitoringDB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4412" y="790230"/>
            <a:ext cx="4951710" cy="13687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Device APIs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/devices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PUT /devices/{id}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DELETE /devices/{id}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/devices/{id}/status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4412" y="2389092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 dirty="0">
                <a:solidFill>
                  <a:srgbClr val="00BEE6"/>
                </a:solidFill>
                <a:latin typeface="Candara" panose="020E0502030303020204" pitchFamily="34" charset="0"/>
              </a:rPr>
              <a:t>Sensor APIs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}/sensors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/sensors/{id}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/devices/{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}/sensors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PUT /sensors/{id}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DELETE /sensors/{id}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4412" y="3806225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Sensor Readings (Core IoT)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endParaRPr sz="1400" dirty="0">
              <a:solidFill>
                <a:srgbClr val="F0F8F5"/>
              </a:solidFill>
              <a:latin typeface="Candara" panose="020E0502030303020204" pitchFamily="34" charset="0"/>
            </a:endParaRP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POST /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/batch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sensorreadings</a:t>
            </a:r>
            <a:endParaRPr sz="1400" dirty="0">
              <a:solidFill>
                <a:srgbClr val="F0F8F5"/>
              </a:solidFill>
              <a:latin typeface="Candara" panose="020E0502030303020204" pitchFamily="34" charset="0"/>
            </a:endParaRP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/devices/{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deviceId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}/readings</a:t>
            </a:r>
          </a:p>
          <a:p>
            <a:pPr defTabSz="380893"/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GET /sensors/{</a:t>
            </a:r>
            <a:r>
              <a:rPr sz="1400" dirty="0" err="1">
                <a:solidFill>
                  <a:srgbClr val="F0F8F5"/>
                </a:solidFill>
                <a:latin typeface="Candara" panose="020E0502030303020204" pitchFamily="34" charset="0"/>
              </a:rPr>
              <a:t>sensorId</a:t>
            </a:r>
            <a:r>
              <a:rPr sz="1400" dirty="0">
                <a:solidFill>
                  <a:srgbClr val="F0F8F5"/>
                </a:solidFill>
                <a:latin typeface="Candara" panose="020E0502030303020204" pitchFamily="34" charset="0"/>
              </a:rPr>
              <a:t>}/readings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4412" y="5226985"/>
            <a:ext cx="4951710" cy="1218883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r>
              <a:rPr sz="1400" b="1">
                <a:solidFill>
                  <a:srgbClr val="E6AA00"/>
                </a:solidFill>
                <a:latin typeface="Candara" panose="020E0502030303020204" pitchFamily="34" charset="0"/>
              </a:rPr>
              <a:t>Alert APIs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GET /alerts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GET /alerts/{id}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GET /alerts/active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PUT /alerts/{id}/acknowledge</a:t>
            </a:r>
          </a:p>
          <a:p>
            <a:pPr defTabSz="380893"/>
            <a:r>
              <a:rPr sz="1400">
                <a:solidFill>
                  <a:srgbClr val="F0F8F5"/>
                </a:solidFill>
                <a:latin typeface="Candara" panose="020E0502030303020204" pitchFamily="34" charset="0"/>
              </a:rPr>
              <a:t>PUT /alerts/{id}/resolve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441" y="6400026"/>
            <a:ext cx="5889754" cy="307777"/>
          </a:xfrm>
          <a:prstGeom prst="rect">
            <a:avLst/>
          </a:prstGeom>
          <a:noFill/>
          <a:ln>
            <a:noFill/>
          </a:ln>
        </p:spPr>
        <p:txBody>
          <a:bodyPr wrap="none">
            <a:spAutoFit/>
          </a:bodyPr>
          <a:lstStyle/>
          <a:p>
            <a:pPr defTabSz="380893"/>
            <a:r>
              <a:rPr sz="1400" b="1" dirty="0">
                <a:solidFill>
                  <a:srgbClr val="00C896"/>
                </a:solidFill>
                <a:latin typeface="Candara" panose="020E0502030303020204" pitchFamily="34" charset="0"/>
              </a:rPr>
              <a:t>⚡ MQTT → Broker → API → SignalR → Frontend  (&lt;2s real-time updates)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-1" y="893"/>
            <a:ext cx="12188825" cy="45708"/>
          </a:xfrm>
          <a:prstGeom prst="rect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71351" y="259906"/>
            <a:ext cx="2818666" cy="16401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66" b="1">
                <a:solidFill>
                  <a:srgbClr val="00C896"/>
                </a:solidFill>
                <a:latin typeface="Candara" panose="020E0502030303020204" pitchFamily="34" charset="0"/>
              </a:rPr>
              <a:t>FRONTEND DESIGN · INDUSTRY STANDARD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571351" y="465592"/>
            <a:ext cx="2094954" cy="19045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71351" y="595099"/>
            <a:ext cx="5942052" cy="456407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2666" b="1">
                <a:solidFill>
                  <a:srgbClr val="F2F8F5"/>
                </a:solidFill>
                <a:latin typeface="Candara" panose="020E0502030303020204" pitchFamily="34" charset="0"/>
              </a:rPr>
              <a:t>Frontend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351" y="1090270"/>
            <a:ext cx="8989258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i="1" dirty="0">
                <a:solidFill>
                  <a:srgbClr val="AFC6BC"/>
                </a:solidFill>
                <a:latin typeface="Candara" panose="020E0502030303020204" pitchFamily="34" charset="0"/>
              </a:rPr>
              <a:t>React SPA organized by layers: routes, reusable components, state, API services, and SignalR real-time updates.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531" y="1356900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Layered Frontend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3722" y="1646122"/>
            <a:ext cx="4304179" cy="700857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47531" y="1844453"/>
            <a:ext cx="68562" cy="700857"/>
          </a:xfrm>
          <a:prstGeom prst="rect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15127" y="1935869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00C896"/>
                </a:solidFill>
                <a:latin typeface="Candara" panose="020E0502030303020204" pitchFamily="34" charset="0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27" y="2103465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Pages / Routes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27" y="2392949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Dashboard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27" y="2583399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27" y="277385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Alerts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27" y="296430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Historical Data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7531" y="2663669"/>
            <a:ext cx="4304179" cy="799892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647531" y="2728142"/>
            <a:ext cx="68562" cy="799892"/>
          </a:xfrm>
          <a:prstGeom prst="rect">
            <a:avLst/>
          </a:prstGeom>
          <a:solidFill>
            <a:srgbClr val="AA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15127" y="2819559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AA8CFF"/>
                </a:solidFill>
                <a:latin typeface="Candara" panose="020E0502030303020204" pitchFamily="34" charset="0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127" y="2987155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Reusable Components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127" y="327664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Layout, Card, Table, Button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127" y="346709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•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DeviceCard</a:t>
            </a:r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,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SensorCard</a:t>
            </a:r>
            <a:r>
              <a:rPr sz="791" dirty="0">
                <a:solidFill>
                  <a:srgbClr val="AFC6BC"/>
                </a:solidFill>
                <a:latin typeface="Candara" panose="020E0502030303020204" pitchFamily="34" charset="0"/>
              </a:rPr>
              <a:t>, </a:t>
            </a:r>
            <a:r>
              <a:rPr sz="791" dirty="0" err="1">
                <a:solidFill>
                  <a:srgbClr val="AFC6BC"/>
                </a:solidFill>
                <a:latin typeface="Candara" panose="020E0502030303020204" pitchFamily="34" charset="0"/>
              </a:rPr>
              <a:t>AlertCard</a:t>
            </a:r>
            <a:endParaRPr sz="791" dirty="0">
              <a:solidFill>
                <a:srgbClr val="AFC6BC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15127" y="3657540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RealTimeChart, HistoricalChart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7531" y="3703248"/>
            <a:ext cx="4304179" cy="799892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647531" y="3703248"/>
            <a:ext cx="68562" cy="799892"/>
          </a:xfrm>
          <a:prstGeom prst="rect">
            <a:avLst/>
          </a:prstGeom>
          <a:solidFill>
            <a:srgbClr val="00B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15127" y="3794665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00B8DC"/>
                </a:solidFill>
                <a:latin typeface="Candara" panose="020E0502030303020204" pitchFamily="34" charset="0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5127" y="3962261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State + Hooks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5127" y="4251746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DeviceContext, AlertContext, SignalRContext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5127" y="4442196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useDevices, useAlerts, useSensorReadings, useSignalR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7531" y="4678355"/>
            <a:ext cx="4304179" cy="723711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47531" y="4678355"/>
            <a:ext cx="68562" cy="723711"/>
          </a:xfrm>
          <a:prstGeom prst="rect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15127" y="4769771"/>
            <a:ext cx="1066522" cy="151132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682" b="1">
                <a:solidFill>
                  <a:srgbClr val="DCA000"/>
                </a:solidFill>
                <a:latin typeface="Candara" panose="020E0502030303020204" pitchFamily="34" charset="0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127" y="4937367"/>
            <a:ext cx="3961368" cy="21544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100" b="1">
                <a:solidFill>
                  <a:srgbClr val="F2F8F5"/>
                </a:solidFill>
                <a:latin typeface="Candara" panose="020E0502030303020204" pitchFamily="34" charset="0"/>
              </a:rPr>
              <a:t>Service Layer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127" y="5226851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Axios / Fetch API client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127" y="5417301"/>
            <a:ext cx="3984222" cy="167866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91">
                <a:solidFill>
                  <a:srgbClr val="AFC6BC"/>
                </a:solidFill>
                <a:latin typeface="Candara" panose="020E0502030303020204" pitchFamily="34" charset="0"/>
              </a:rPr>
              <a:t>• deviceService, sensorService, readingService, alertService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799620" y="2545310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10800000">
            <a:off x="2738676" y="2712907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2799620" y="3528034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2738676" y="3695631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39" name="Connector 38"/>
          <p:cNvCxnSpPr/>
          <p:nvPr/>
        </p:nvCxnSpPr>
        <p:spPr>
          <a:xfrm>
            <a:off x="2799620" y="4503140"/>
            <a:ext cx="0" cy="167596"/>
          </a:xfrm>
          <a:prstGeom prst="line">
            <a:avLst/>
          </a:prstGeom>
          <a:ln w="15240">
            <a:solidFill>
              <a:srgbClr val="008C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10800000">
            <a:off x="2738676" y="4670737"/>
            <a:ext cx="121888" cy="121888"/>
          </a:xfrm>
          <a:prstGeom prst="triangle">
            <a:avLst/>
          </a:prstGeom>
          <a:solidFill>
            <a:srgbClr val="008C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5218340" y="1539733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Runtime Data Flow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218341" y="1844453"/>
            <a:ext cx="6437222" cy="3161476"/>
          </a:xfrm>
          <a:prstGeom prst="roundRect">
            <a:avLst/>
          </a:prstGeom>
          <a:solidFill>
            <a:srgbClr val="0D1A17"/>
          </a:solidFill>
          <a:ln w="11430">
            <a:solidFill>
              <a:srgbClr val="2346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5561151" y="2324388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622095" y="2423421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Backend API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095" y="2644344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DCA000"/>
                </a:solidFill>
                <a:latin typeface="Candara" panose="020E0502030303020204" pitchFamily="34" charset="0"/>
              </a:rPr>
              <a:t>REST JSON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61151" y="3543270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622095" y="3642304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 dirty="0">
                <a:solidFill>
                  <a:srgbClr val="F2F8F5"/>
                </a:solidFill>
                <a:latin typeface="Candara" panose="020E0502030303020204" pitchFamily="34" charset="0"/>
              </a:rPr>
              <a:t>SignalR Hub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2095" y="3863227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C896"/>
                </a:solidFill>
                <a:latin typeface="Candara" panose="020E0502030303020204" pitchFamily="34" charset="0"/>
              </a:rPr>
              <a:t>WebSocket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27565" y="2324388"/>
            <a:ext cx="140933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7488509" y="2423421"/>
            <a:ext cx="128744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API Services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88509" y="2644344"/>
            <a:ext cx="128744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DCA000"/>
                </a:solidFill>
                <a:latin typeface="Candara" panose="020E0502030303020204" pitchFamily="34" charset="0"/>
              </a:rPr>
              <a:t>Axios / Fetch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427565" y="3543270"/>
            <a:ext cx="140933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7488509" y="3642304"/>
            <a:ext cx="128744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 dirty="0">
                <a:solidFill>
                  <a:srgbClr val="F2F8F5"/>
                </a:solidFill>
                <a:latin typeface="Candara" panose="020E0502030303020204" pitchFamily="34" charset="0"/>
              </a:rPr>
              <a:t>SignalR Client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88509" y="3863227"/>
            <a:ext cx="128744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C896"/>
                </a:solidFill>
                <a:latin typeface="Candara" panose="020E0502030303020204" pitchFamily="34" charset="0"/>
              </a:rPr>
              <a:t>Subscriptions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9179708" y="2933829"/>
            <a:ext cx="144742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00B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240652" y="3032863"/>
            <a:ext cx="1325535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State Layer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40652" y="3253786"/>
            <a:ext cx="1325535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00B8DC"/>
                </a:solidFill>
                <a:latin typeface="Candara" panose="020E0502030303020204" pitchFamily="34" charset="0"/>
              </a:rPr>
              <a:t>Context + hooks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703311" y="2933829"/>
            <a:ext cx="1333153" cy="571351"/>
          </a:xfrm>
          <a:prstGeom prst="roundRect">
            <a:avLst/>
          </a:prstGeom>
          <a:solidFill>
            <a:srgbClr val="122621"/>
          </a:solidFill>
          <a:ln w="12700">
            <a:solidFill>
              <a:srgbClr val="AA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10764256" y="3032863"/>
            <a:ext cx="1211264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858" b="1">
                <a:solidFill>
                  <a:srgbClr val="F2F8F5"/>
                </a:solidFill>
                <a:latin typeface="Candara" panose="020E0502030303020204" pitchFamily="34" charset="0"/>
              </a:rPr>
              <a:t>UI Components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64256" y="3253786"/>
            <a:ext cx="1211264" cy="152478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691">
                <a:solidFill>
                  <a:srgbClr val="AA8CFF"/>
                </a:solidFill>
                <a:latin typeface="Candara" panose="020E0502030303020204" pitchFamily="34" charset="0"/>
              </a:rPr>
              <a:t>Pages + charts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894304" y="2606254"/>
            <a:ext cx="533261" cy="0"/>
          </a:xfrm>
          <a:prstGeom prst="line">
            <a:avLst/>
          </a:prstGeom>
          <a:ln w="16510">
            <a:solidFill>
              <a:srgbClr val="DCA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Isosceles Triangle 61"/>
          <p:cNvSpPr/>
          <p:nvPr/>
        </p:nvSpPr>
        <p:spPr>
          <a:xfrm rot="5400000">
            <a:off x="7351384" y="2545310"/>
            <a:ext cx="121888" cy="121888"/>
          </a:xfrm>
          <a:prstGeom prst="triangle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3" name="Connector 62"/>
          <p:cNvCxnSpPr/>
          <p:nvPr/>
        </p:nvCxnSpPr>
        <p:spPr>
          <a:xfrm>
            <a:off x="6894304" y="3825137"/>
            <a:ext cx="533261" cy="0"/>
          </a:xfrm>
          <a:prstGeom prst="line">
            <a:avLst/>
          </a:prstGeom>
          <a:ln w="16510">
            <a:solidFill>
              <a:srgbClr val="00C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5400000">
            <a:off x="7351384" y="3764193"/>
            <a:ext cx="121888" cy="121888"/>
          </a:xfrm>
          <a:prstGeom prst="triangl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5" name="Connector 64"/>
          <p:cNvCxnSpPr/>
          <p:nvPr/>
        </p:nvCxnSpPr>
        <p:spPr>
          <a:xfrm>
            <a:off x="8836897" y="2606254"/>
            <a:ext cx="342811" cy="502789"/>
          </a:xfrm>
          <a:prstGeom prst="line">
            <a:avLst/>
          </a:prstGeom>
          <a:ln w="15240">
            <a:solidFill>
              <a:srgbClr val="DCA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Isosceles Triangle 65"/>
          <p:cNvSpPr/>
          <p:nvPr/>
        </p:nvSpPr>
        <p:spPr>
          <a:xfrm rot="5400000">
            <a:off x="9103528" y="3010009"/>
            <a:ext cx="121888" cy="121888"/>
          </a:xfrm>
          <a:prstGeom prst="triangle">
            <a:avLst/>
          </a:prstGeom>
          <a:solidFill>
            <a:srgbClr val="DCA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7" name="Connector 66"/>
          <p:cNvCxnSpPr/>
          <p:nvPr/>
        </p:nvCxnSpPr>
        <p:spPr>
          <a:xfrm flipV="1">
            <a:off x="8836897" y="3390910"/>
            <a:ext cx="342811" cy="434227"/>
          </a:xfrm>
          <a:prstGeom prst="line">
            <a:avLst/>
          </a:prstGeom>
          <a:ln w="15240">
            <a:solidFill>
              <a:srgbClr val="00C89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/>
          <p:cNvSpPr/>
          <p:nvPr/>
        </p:nvSpPr>
        <p:spPr>
          <a:xfrm rot="5400000">
            <a:off x="9103528" y="3444235"/>
            <a:ext cx="121888" cy="121888"/>
          </a:xfrm>
          <a:prstGeom prst="triangle">
            <a:avLst/>
          </a:prstGeom>
          <a:solidFill>
            <a:srgbClr val="00C8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cxnSp>
        <p:nvCxnSpPr>
          <p:cNvPr id="69" name="Connector 68"/>
          <p:cNvCxnSpPr/>
          <p:nvPr/>
        </p:nvCxnSpPr>
        <p:spPr>
          <a:xfrm>
            <a:off x="10627131" y="3215696"/>
            <a:ext cx="76180" cy="0"/>
          </a:xfrm>
          <a:prstGeom prst="line">
            <a:avLst/>
          </a:prstGeom>
          <a:ln w="16510">
            <a:solidFill>
              <a:srgbClr val="00B8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5400000">
            <a:off x="10627131" y="3154751"/>
            <a:ext cx="121888" cy="121888"/>
          </a:xfrm>
          <a:prstGeom prst="triangle">
            <a:avLst/>
          </a:prstGeom>
          <a:solidFill>
            <a:srgbClr val="00B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1" name="Rounded Rectangle 70"/>
          <p:cNvSpPr/>
          <p:nvPr/>
        </p:nvSpPr>
        <p:spPr>
          <a:xfrm>
            <a:off x="5408791" y="1981577"/>
            <a:ext cx="1637873" cy="259013"/>
          </a:xfrm>
          <a:prstGeom prst="roundRect">
            <a:avLst/>
          </a:prstGeom>
          <a:solidFill>
            <a:srgbClr val="02120F"/>
          </a:solidFill>
          <a:ln w="10160">
            <a:solidFill>
              <a:srgbClr val="DCA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5408791" y="2042521"/>
            <a:ext cx="1637873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733" b="1">
                <a:solidFill>
                  <a:srgbClr val="DCA000"/>
                </a:solidFill>
                <a:latin typeface="Candara" panose="020E0502030303020204" pitchFamily="34" charset="0"/>
              </a:rPr>
              <a:t>REQUEST / RESPONSE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5408791" y="4404106"/>
            <a:ext cx="1637873" cy="259013"/>
          </a:xfrm>
          <a:prstGeom prst="roundRect">
            <a:avLst/>
          </a:prstGeom>
          <a:solidFill>
            <a:srgbClr val="02120F"/>
          </a:solidFill>
          <a:ln w="10160">
            <a:solidFill>
              <a:srgbClr val="00C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4" name="TextBox 73"/>
          <p:cNvSpPr txBox="1"/>
          <p:nvPr/>
        </p:nvSpPr>
        <p:spPr>
          <a:xfrm>
            <a:off x="5408791" y="4465050"/>
            <a:ext cx="1637873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ctr" defTabSz="380893"/>
            <a:r>
              <a:rPr sz="733" b="1">
                <a:solidFill>
                  <a:srgbClr val="00C896"/>
                </a:solidFill>
                <a:latin typeface="Candara" panose="020E0502030303020204" pitchFamily="34" charset="0"/>
              </a:rPr>
              <a:t>REAL-TIME EVENTS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94944" y="3809901"/>
            <a:ext cx="2742486" cy="156325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716">
                <a:solidFill>
                  <a:srgbClr val="AFC6BC"/>
                </a:solidFill>
                <a:latin typeface="Candara" panose="020E0502030303020204" pitchFamily="34" charset="0"/>
              </a:rPr>
              <a:t>Events: SensorReadingReceived · DeviceStatusChanged · AlertTriggered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7531" y="5600135"/>
            <a:ext cx="3047206" cy="20633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1041" b="1">
                <a:solidFill>
                  <a:srgbClr val="00C896"/>
                </a:solidFill>
                <a:latin typeface="Candara" panose="020E0502030303020204" pitchFamily="34" charset="0"/>
              </a:rPr>
              <a:t>Frontend Engineering Practices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47531" y="5866765"/>
            <a:ext cx="10893762" cy="441845"/>
          </a:xfrm>
          <a:prstGeom prst="roundRect">
            <a:avLst/>
          </a:prstGeom>
          <a:solidFill>
            <a:srgbClr val="020F0D"/>
          </a:solidFill>
          <a:ln w="10160">
            <a:solidFill>
              <a:srgbClr val="008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380893"/>
            <a:endParaRPr sz="1500">
              <a:solidFill>
                <a:prstClr val="white"/>
              </a:solidFill>
              <a:latin typeface="Candara" panose="020E0502030303020204" pitchFamily="34" charset="0"/>
            </a:endParaRPr>
          </a:p>
        </p:txBody>
      </p:sp>
      <p:sp>
        <p:nvSpPr>
          <p:cNvPr id="78" name="TextBox 77"/>
          <p:cNvSpPr txBox="1"/>
          <p:nvPr/>
        </p:nvSpPr>
        <p:spPr>
          <a:xfrm>
            <a:off x="837981" y="6003889"/>
            <a:ext cx="10512862" cy="178190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858" b="1">
                <a:solidFill>
                  <a:srgbClr val="00C896"/>
                </a:solidFill>
                <a:latin typeface="Candara" panose="020E0502030303020204" pitchFamily="34" charset="0"/>
              </a:rPr>
              <a:t>✓ TypeScript models   ✓ Route-based structure   ✓ Service abstraction   ✓ ErrorBoundary + loading states   ✓ Rolling real-time chart window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7531" y="6400027"/>
            <a:ext cx="10817582" cy="180819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defTabSz="380893"/>
            <a:r>
              <a:rPr sz="875" dirty="0">
                <a:solidFill>
                  <a:srgbClr val="AFC6BC"/>
                </a:solidFill>
                <a:latin typeface="Candara" panose="020E0502030303020204" pitchFamily="34" charset="0"/>
              </a:rPr>
              <a:t>Flow: REST API → Services → State → UI   |   SignalR → Context → Hooks → Components → Charts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427023" y="6537150"/>
            <a:ext cx="457081" cy="158954"/>
          </a:xfrm>
          <a:prstGeom prst="rect">
            <a:avLst/>
          </a:prstGeom>
          <a:noFill/>
        </p:spPr>
        <p:txBody>
          <a:bodyPr wrap="square" lIns="0" tIns="0" rIns="0">
            <a:spAutoFit/>
          </a:bodyPr>
          <a:lstStyle/>
          <a:p>
            <a:pPr algn="r" defTabSz="380893"/>
            <a:r>
              <a:rPr sz="733">
                <a:solidFill>
                  <a:srgbClr val="738C82"/>
                </a:solidFill>
                <a:latin typeface="Candara" panose="020E0502030303020204" pitchFamily="34" charset="0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44669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Key Features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878489"/>
            <a:ext cx="10969943" cy="316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2133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Core capabilities mapped directly to system architecture and real-world needs</a:t>
            </a:r>
            <a:endParaRPr lang="en-US" sz="2133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280720"/>
            <a:ext cx="5545915" cy="2376821"/>
          </a:xfrm>
          <a:prstGeom prst="rect">
            <a:avLst/>
          </a:prstGeom>
          <a:solidFill>
            <a:srgbClr val="132B1A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280719"/>
            <a:ext cx="5545915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8839" y="1426985"/>
            <a:ext cx="511931" cy="511931"/>
          </a:xfrm>
          <a:prstGeom prst="ellipse">
            <a:avLst/>
          </a:prstGeom>
          <a:solidFill>
            <a:srgbClr val="132B1A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72" y="1487929"/>
            <a:ext cx="365665" cy="3656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7036" y="1451363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Streaming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012049"/>
            <a:ext cx="5107118" cy="0"/>
          </a:xfrm>
          <a:prstGeom prst="line">
            <a:avLst/>
          </a:prstGeom>
          <a:noFill/>
          <a:ln w="9525">
            <a:solidFill>
              <a:srgbClr val="1E4A27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109560"/>
            <a:ext cx="182832" cy="1828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21371" y="206080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SignalR WebSocket pushes live sensor data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481319"/>
            <a:ext cx="182832" cy="1828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21371" y="243256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&lt;2s latency — no polling or refresh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853078"/>
            <a:ext cx="182832" cy="1828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21371" y="2804323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Supports multi-device concurrent streams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3224837"/>
            <a:ext cx="182832" cy="1828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21371" y="3176082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Rolling real-time charts (50-point window)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6399133" y="1280720"/>
            <a:ext cx="5545915" cy="2376821"/>
          </a:xfrm>
          <a:prstGeom prst="rect">
            <a:avLst/>
          </a:prstGeom>
          <a:solidFill>
            <a:srgbClr val="0E2B33"/>
          </a:solidFill>
          <a:ln w="9525">
            <a:solidFill>
              <a:srgbClr val="1A4A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6399133" y="1280719"/>
            <a:ext cx="5545915" cy="5485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6618531" y="1426985"/>
            <a:ext cx="511931" cy="511931"/>
          </a:xfrm>
          <a:prstGeom prst="ellipse">
            <a:avLst/>
          </a:prstGeom>
          <a:solidFill>
            <a:srgbClr val="0E2B33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664" y="1487929"/>
            <a:ext cx="365665" cy="36566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276728" y="1451363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Dashboard &amp; Visualization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18531" y="2012049"/>
            <a:ext cx="5107118" cy="0"/>
          </a:xfrm>
          <a:prstGeom prst="line">
            <a:avLst/>
          </a:prstGeom>
          <a:noFill/>
          <a:ln w="9525">
            <a:solidFill>
              <a:srgbClr val="1A4A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109560"/>
            <a:ext cx="182832" cy="18283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11063" y="206080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Interactive charts (Chart.js / Recharts)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481319"/>
            <a:ext cx="182832" cy="18283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11063" y="243256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Line, Bar, Gauge visualizations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853078"/>
            <a:ext cx="182832" cy="182832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11063" y="2804323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Historical analysis with date filters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3224837"/>
            <a:ext cx="182832" cy="18283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6911063" y="3176082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Responsive UI for monitoring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609441" y="3803806"/>
            <a:ext cx="5545915" cy="2376821"/>
          </a:xfrm>
          <a:prstGeom prst="rect">
            <a:avLst/>
          </a:prstGeom>
          <a:solidFill>
            <a:srgbClr val="2B2310"/>
          </a:solidFill>
          <a:ln w="9525">
            <a:solidFill>
              <a:srgbClr val="4A3A1A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609441" y="3803806"/>
            <a:ext cx="5545915" cy="5485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4" name="Shape 22"/>
          <p:cNvSpPr/>
          <p:nvPr/>
        </p:nvSpPr>
        <p:spPr>
          <a:xfrm>
            <a:off x="828839" y="3950072"/>
            <a:ext cx="511931" cy="511931"/>
          </a:xfrm>
          <a:prstGeom prst="ellipse">
            <a:avLst/>
          </a:prstGeom>
          <a:solidFill>
            <a:srgbClr val="2B231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972" y="4011016"/>
            <a:ext cx="365665" cy="365665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1487036" y="3974450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Alerting System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828839" y="4535136"/>
            <a:ext cx="5107118" cy="0"/>
          </a:xfrm>
          <a:prstGeom prst="line">
            <a:avLst/>
          </a:prstGeom>
          <a:noFill/>
          <a:ln w="9525">
            <a:solidFill>
              <a:srgbClr val="4A3A1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4632647"/>
            <a:ext cx="182832" cy="182832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1121371" y="4583891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Configurable threshold-based rules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0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004406"/>
            <a:ext cx="182832" cy="182832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1121371" y="495565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alerts via SignalR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376165"/>
            <a:ext cx="182832" cy="182832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1121371" y="532741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Acknowledge / Resolve workflow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747924"/>
            <a:ext cx="182832" cy="182832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1121371" y="569916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Persistent alert history tracking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6" name="Shape 29"/>
          <p:cNvSpPr/>
          <p:nvPr/>
        </p:nvSpPr>
        <p:spPr>
          <a:xfrm>
            <a:off x="6399133" y="3803806"/>
            <a:ext cx="5545915" cy="2376821"/>
          </a:xfrm>
          <a:prstGeom prst="rect">
            <a:avLst/>
          </a:prstGeom>
          <a:solidFill>
            <a:srgbClr val="1E1B2E"/>
          </a:solidFill>
          <a:ln w="9525">
            <a:solidFill>
              <a:srgbClr val="3A32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7" name="Shape 30"/>
          <p:cNvSpPr/>
          <p:nvPr/>
        </p:nvSpPr>
        <p:spPr>
          <a:xfrm>
            <a:off x="6399133" y="3803806"/>
            <a:ext cx="5545915" cy="5485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8" name="Shape 31"/>
          <p:cNvSpPr/>
          <p:nvPr/>
        </p:nvSpPr>
        <p:spPr>
          <a:xfrm>
            <a:off x="6618531" y="3950072"/>
            <a:ext cx="511931" cy="511931"/>
          </a:xfrm>
          <a:prstGeom prst="ellipse">
            <a:avLst/>
          </a:prstGeom>
          <a:solidFill>
            <a:srgbClr val="1E1B2E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49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1664" y="4011016"/>
            <a:ext cx="365665" cy="365665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7276728" y="3974450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Device Management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1" name="Shape 33"/>
          <p:cNvSpPr/>
          <p:nvPr/>
        </p:nvSpPr>
        <p:spPr>
          <a:xfrm>
            <a:off x="6618531" y="4535136"/>
            <a:ext cx="5107118" cy="0"/>
          </a:xfrm>
          <a:prstGeom prst="line">
            <a:avLst/>
          </a:prstGeom>
          <a:noFill/>
          <a:ln w="9525">
            <a:solidFill>
              <a:srgbClr val="3A32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4632647"/>
            <a:ext cx="182832" cy="182832"/>
          </a:xfrm>
          <a:prstGeom prst="rect">
            <a:avLst/>
          </a:prstGeom>
        </p:spPr>
      </p:pic>
      <p:sp>
        <p:nvSpPr>
          <p:cNvPr id="53" name="Text 34"/>
          <p:cNvSpPr/>
          <p:nvPr/>
        </p:nvSpPr>
        <p:spPr>
          <a:xfrm>
            <a:off x="6911063" y="4583891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Register IoT devices (Arduino, ESP32, Pi)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4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004406"/>
            <a:ext cx="182832" cy="182832"/>
          </a:xfrm>
          <a:prstGeom prst="rect">
            <a:avLst/>
          </a:prstGeom>
        </p:spPr>
      </p:pic>
      <p:sp>
        <p:nvSpPr>
          <p:cNvPr id="55" name="Text 35"/>
          <p:cNvSpPr/>
          <p:nvPr/>
        </p:nvSpPr>
        <p:spPr>
          <a:xfrm>
            <a:off x="6911063" y="495565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Online/offline detection via heartbeat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6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376165"/>
            <a:ext cx="182832" cy="182832"/>
          </a:xfrm>
          <a:prstGeom prst="rect">
            <a:avLst/>
          </a:prstGeom>
        </p:spPr>
      </p:pic>
      <p:sp>
        <p:nvSpPr>
          <p:cNvPr id="57" name="Text 36"/>
          <p:cNvSpPr/>
          <p:nvPr/>
        </p:nvSpPr>
        <p:spPr>
          <a:xfrm>
            <a:off x="6911063" y="532741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Sensor config (type, unit, thresholds)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58" name="Image 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747924"/>
            <a:ext cx="182832" cy="182832"/>
          </a:xfrm>
          <a:prstGeom prst="rect">
            <a:avLst/>
          </a:prstGeom>
        </p:spPr>
      </p:pic>
      <p:sp>
        <p:nvSpPr>
          <p:cNvPr id="59" name="Text 37"/>
          <p:cNvSpPr/>
          <p:nvPr/>
        </p:nvSpPr>
        <p:spPr>
          <a:xfrm>
            <a:off x="6911063" y="569916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Flexible key-value device configs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0" name="Shape 38"/>
          <p:cNvSpPr/>
          <p:nvPr/>
        </p:nvSpPr>
        <p:spPr>
          <a:xfrm>
            <a:off x="-1" y="6217194"/>
            <a:ext cx="12188825" cy="639913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61" name="Shape 39"/>
          <p:cNvSpPr/>
          <p:nvPr/>
        </p:nvSpPr>
        <p:spPr>
          <a:xfrm>
            <a:off x="-1" y="6217194"/>
            <a:ext cx="12188825" cy="0"/>
          </a:xfrm>
          <a:prstGeom prst="line">
            <a:avLst/>
          </a:prstGeom>
          <a:noFill/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62" name="Image 2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3988" y="6400026"/>
            <a:ext cx="243777" cy="243777"/>
          </a:xfrm>
          <a:prstGeom prst="rect">
            <a:avLst/>
          </a:prstGeom>
        </p:spPr>
      </p:pic>
      <p:sp>
        <p:nvSpPr>
          <p:cNvPr id="63" name="Text 40"/>
          <p:cNvSpPr/>
          <p:nvPr/>
        </p:nvSpPr>
        <p:spPr>
          <a:xfrm>
            <a:off x="2559653" y="6314704"/>
            <a:ext cx="7922736" cy="4266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Real-time system: </a:t>
            </a:r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Times New Roman" panose="02020603050405020304" pitchFamily="18" charset="0"/>
              </a:rPr>
              <a:t>MQTT → Backend → SignalR → Frontend dashboard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69047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 Demo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927244"/>
            <a:ext cx="1096994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Watch one sensor reading travel the full stack — from edge device to dashboard — in real time.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439174"/>
            <a:ext cx="10969943" cy="2096478"/>
          </a:xfrm>
          <a:prstGeom prst="rect">
            <a:avLst/>
          </a:prstGeom>
          <a:solidFill>
            <a:srgbClr val="0F2A1C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439174"/>
            <a:ext cx="10969943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2273" y="1561063"/>
            <a:ext cx="3656648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kern="0" spc="267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 FLOW PIPELINE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755707" y="1951105"/>
            <a:ext cx="1779568" cy="1365148"/>
          </a:xfrm>
          <a:prstGeom prst="rect">
            <a:avLst/>
          </a:prstGeom>
          <a:solidFill>
            <a:srgbClr val="173D24"/>
          </a:solidFill>
          <a:ln w="9525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55707" y="1951105"/>
            <a:ext cx="60944" cy="1365148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5" y="2085182"/>
            <a:ext cx="341287" cy="341287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53217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Edge Device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53217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Sends JSON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HTTP POST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8408" y="2463036"/>
            <a:ext cx="219399" cy="219399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900940" y="1951105"/>
            <a:ext cx="1779568" cy="1365148"/>
          </a:xfrm>
          <a:prstGeom prst="rect">
            <a:avLst/>
          </a:prstGeom>
          <a:solidFill>
            <a:srgbClr val="0E2B33"/>
          </a:solidFill>
          <a:ln w="9525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2900940" y="1951105"/>
            <a:ext cx="60944" cy="1365148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22828" y="2085182"/>
            <a:ext cx="341287" cy="341287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2998450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ASP.NET Core API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2998450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Validates &amp;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Persists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3641" y="2463036"/>
            <a:ext cx="219399" cy="219399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046173" y="1951105"/>
            <a:ext cx="1779568" cy="1365148"/>
          </a:xfrm>
          <a:prstGeom prst="rect">
            <a:avLst/>
          </a:prstGeom>
          <a:solidFill>
            <a:srgbClr val="111B2E"/>
          </a:solidFill>
          <a:ln w="9525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4"/>
          <p:cNvSpPr/>
          <p:nvPr/>
        </p:nvSpPr>
        <p:spPr>
          <a:xfrm>
            <a:off x="5046173" y="1951105"/>
            <a:ext cx="60944" cy="136514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8061" y="2085182"/>
            <a:ext cx="341287" cy="34128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143683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60A5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Server DB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Text 16"/>
          <p:cNvSpPr/>
          <p:nvPr/>
        </p:nvSpPr>
        <p:spPr>
          <a:xfrm>
            <a:off x="5143683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Stores to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8874" y="2463036"/>
            <a:ext cx="219399" cy="219399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7191406" y="1951105"/>
            <a:ext cx="1779568" cy="1365148"/>
          </a:xfrm>
          <a:prstGeom prst="rect">
            <a:avLst/>
          </a:prstGeom>
          <a:solidFill>
            <a:srgbClr val="2B2310"/>
          </a:solidFill>
          <a:ln w="9525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7191406" y="1951105"/>
            <a:ext cx="60944" cy="13651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3295" y="2085182"/>
            <a:ext cx="341287" cy="341287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288917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Hub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Text 20"/>
          <p:cNvSpPr/>
          <p:nvPr/>
        </p:nvSpPr>
        <p:spPr>
          <a:xfrm>
            <a:off x="7288917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Broadcasts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to clients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44108" y="2463036"/>
            <a:ext cx="219399" cy="219399"/>
          </a:xfrm>
          <a:prstGeom prst="rect">
            <a:avLst/>
          </a:prstGeom>
        </p:spPr>
      </p:pic>
      <p:sp>
        <p:nvSpPr>
          <p:cNvPr id="31" name="Shape 21"/>
          <p:cNvSpPr/>
          <p:nvPr/>
        </p:nvSpPr>
        <p:spPr>
          <a:xfrm>
            <a:off x="9336640" y="1951105"/>
            <a:ext cx="1779568" cy="1365148"/>
          </a:xfrm>
          <a:prstGeom prst="rect">
            <a:avLst/>
          </a:prstGeom>
          <a:solidFill>
            <a:srgbClr val="1E1B2E"/>
          </a:solidFill>
          <a:ln w="9525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22"/>
          <p:cNvSpPr/>
          <p:nvPr/>
        </p:nvSpPr>
        <p:spPr>
          <a:xfrm>
            <a:off x="9336640" y="1951105"/>
            <a:ext cx="60944" cy="1365148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58528" y="2085182"/>
            <a:ext cx="341287" cy="341287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9434150" y="2463036"/>
            <a:ext cx="163330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Dashboard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24"/>
          <p:cNvSpPr/>
          <p:nvPr/>
        </p:nvSpPr>
        <p:spPr>
          <a:xfrm>
            <a:off x="9434150" y="2804323"/>
            <a:ext cx="1633303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Chart updates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  <a:p>
            <a:pPr defTabSz="1218895"/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Text 25"/>
          <p:cNvSpPr/>
          <p:nvPr/>
        </p:nvSpPr>
        <p:spPr>
          <a:xfrm>
            <a:off x="609440" y="3779429"/>
            <a:ext cx="3656648" cy="2925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kern="0" spc="267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DEMO CHECKLIST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7" name="Shape 26"/>
          <p:cNvSpPr/>
          <p:nvPr/>
        </p:nvSpPr>
        <p:spPr>
          <a:xfrm>
            <a:off x="609441" y="4169471"/>
            <a:ext cx="2145233" cy="2096478"/>
          </a:xfrm>
          <a:prstGeom prst="rect">
            <a:avLst/>
          </a:prstGeom>
          <a:solidFill>
            <a:srgbClr val="132B1A"/>
          </a:solidFill>
          <a:ln w="9525">
            <a:solidFill>
              <a:srgbClr val="3DDB61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8" name="Shape 27"/>
          <p:cNvSpPr/>
          <p:nvPr/>
        </p:nvSpPr>
        <p:spPr>
          <a:xfrm>
            <a:off x="609441" y="4169471"/>
            <a:ext cx="2145233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28"/>
          <p:cNvSpPr/>
          <p:nvPr/>
        </p:nvSpPr>
        <p:spPr>
          <a:xfrm>
            <a:off x="1365148" y="4413248"/>
            <a:ext cx="633819" cy="633819"/>
          </a:xfrm>
          <a:prstGeom prst="ellipse">
            <a:avLst/>
          </a:prstGeom>
          <a:solidFill>
            <a:srgbClr val="132B1A"/>
          </a:solidFill>
          <a:ln w="190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0" name="Text 29"/>
          <p:cNvSpPr/>
          <p:nvPr/>
        </p:nvSpPr>
        <p:spPr>
          <a:xfrm>
            <a:off x="1365148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1" name="Text 30"/>
          <p:cNvSpPr/>
          <p:nvPr/>
        </p:nvSpPr>
        <p:spPr>
          <a:xfrm>
            <a:off x="780084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Register ESP32 device in dashboard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Shape 31"/>
          <p:cNvSpPr/>
          <p:nvPr/>
        </p:nvSpPr>
        <p:spPr>
          <a:xfrm>
            <a:off x="2815618" y="4169471"/>
            <a:ext cx="2145233" cy="2096478"/>
          </a:xfrm>
          <a:prstGeom prst="rect">
            <a:avLst/>
          </a:prstGeom>
          <a:solidFill>
            <a:srgbClr val="0E2B33"/>
          </a:solidFill>
          <a:ln w="9525">
            <a:solidFill>
              <a:srgbClr val="00BCD4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Shape 32"/>
          <p:cNvSpPr/>
          <p:nvPr/>
        </p:nvSpPr>
        <p:spPr>
          <a:xfrm>
            <a:off x="2815618" y="4169471"/>
            <a:ext cx="2145233" cy="5485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Shape 33"/>
          <p:cNvSpPr/>
          <p:nvPr/>
        </p:nvSpPr>
        <p:spPr>
          <a:xfrm>
            <a:off x="3571325" y="4413248"/>
            <a:ext cx="633819" cy="633819"/>
          </a:xfrm>
          <a:prstGeom prst="ellipse">
            <a:avLst/>
          </a:prstGeom>
          <a:solidFill>
            <a:srgbClr val="0E2B33"/>
          </a:solidFill>
          <a:ln w="190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Text 34"/>
          <p:cNvSpPr/>
          <p:nvPr/>
        </p:nvSpPr>
        <p:spPr>
          <a:xfrm>
            <a:off x="3571325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Text 35"/>
          <p:cNvSpPr/>
          <p:nvPr/>
        </p:nvSpPr>
        <p:spPr>
          <a:xfrm>
            <a:off x="2986262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Send POST from edge device or Postman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Shape 36"/>
          <p:cNvSpPr/>
          <p:nvPr/>
        </p:nvSpPr>
        <p:spPr>
          <a:xfrm>
            <a:off x="5021796" y="4169471"/>
            <a:ext cx="2145233" cy="2096478"/>
          </a:xfrm>
          <a:prstGeom prst="rect">
            <a:avLst/>
          </a:prstGeom>
          <a:solidFill>
            <a:srgbClr val="111B2E"/>
          </a:solidFill>
          <a:ln w="9525">
            <a:solidFill>
              <a:srgbClr val="60A5FA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7"/>
          <p:cNvSpPr/>
          <p:nvPr/>
        </p:nvSpPr>
        <p:spPr>
          <a:xfrm>
            <a:off x="5021796" y="4169471"/>
            <a:ext cx="2145233" cy="54850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9" name="Shape 38"/>
          <p:cNvSpPr/>
          <p:nvPr/>
        </p:nvSpPr>
        <p:spPr>
          <a:xfrm>
            <a:off x="5777503" y="4413248"/>
            <a:ext cx="633819" cy="633819"/>
          </a:xfrm>
          <a:prstGeom prst="ellipse">
            <a:avLst/>
          </a:prstGeom>
          <a:solidFill>
            <a:srgbClr val="111B2E"/>
          </a:solidFill>
          <a:ln w="19050">
            <a:solidFill>
              <a:srgbClr val="60A5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0" name="Text 39"/>
          <p:cNvSpPr/>
          <p:nvPr/>
        </p:nvSpPr>
        <p:spPr>
          <a:xfrm>
            <a:off x="5777503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60A5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Text 40"/>
          <p:cNvSpPr/>
          <p:nvPr/>
        </p:nvSpPr>
        <p:spPr>
          <a:xfrm>
            <a:off x="5192439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Watch real-time chart update within 2 sec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2" name="Shape 41"/>
          <p:cNvSpPr/>
          <p:nvPr/>
        </p:nvSpPr>
        <p:spPr>
          <a:xfrm>
            <a:off x="7227973" y="4169471"/>
            <a:ext cx="2145233" cy="2096478"/>
          </a:xfrm>
          <a:prstGeom prst="rect">
            <a:avLst/>
          </a:prstGeom>
          <a:solidFill>
            <a:srgbClr val="2B2310"/>
          </a:solidFill>
          <a:ln w="9525">
            <a:solidFill>
              <a:srgbClr val="F59E0B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3" name="Shape 42"/>
          <p:cNvSpPr/>
          <p:nvPr/>
        </p:nvSpPr>
        <p:spPr>
          <a:xfrm>
            <a:off x="7227973" y="4169471"/>
            <a:ext cx="2145233" cy="5485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Shape 43"/>
          <p:cNvSpPr/>
          <p:nvPr/>
        </p:nvSpPr>
        <p:spPr>
          <a:xfrm>
            <a:off x="7983680" y="4413248"/>
            <a:ext cx="633819" cy="633819"/>
          </a:xfrm>
          <a:prstGeom prst="ellipse">
            <a:avLst/>
          </a:prstGeom>
          <a:solidFill>
            <a:srgbClr val="2B2310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5" name="Text 44"/>
          <p:cNvSpPr/>
          <p:nvPr/>
        </p:nvSpPr>
        <p:spPr>
          <a:xfrm>
            <a:off x="7983680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6" name="Text 45"/>
          <p:cNvSpPr/>
          <p:nvPr/>
        </p:nvSpPr>
        <p:spPr>
          <a:xfrm>
            <a:off x="7398616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Trigger threshold breach — alert in real time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7" name="Shape 46"/>
          <p:cNvSpPr/>
          <p:nvPr/>
        </p:nvSpPr>
        <p:spPr>
          <a:xfrm>
            <a:off x="9434150" y="4169471"/>
            <a:ext cx="2145233" cy="2096478"/>
          </a:xfrm>
          <a:prstGeom prst="rect">
            <a:avLst/>
          </a:prstGeom>
          <a:solidFill>
            <a:srgbClr val="1E1B2E"/>
          </a:solidFill>
          <a:ln w="9525">
            <a:solidFill>
              <a:srgbClr val="A78BFA"/>
            </a:solidFill>
            <a:prstDash val="solid"/>
          </a:ln>
          <a:effectLst>
            <a:outerShdw blurRad="63500" dist="254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Shape 47"/>
          <p:cNvSpPr/>
          <p:nvPr/>
        </p:nvSpPr>
        <p:spPr>
          <a:xfrm>
            <a:off x="9434150" y="4169471"/>
            <a:ext cx="2145233" cy="5485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Shape 48"/>
          <p:cNvSpPr/>
          <p:nvPr/>
        </p:nvSpPr>
        <p:spPr>
          <a:xfrm>
            <a:off x="10189857" y="4413248"/>
            <a:ext cx="633819" cy="633819"/>
          </a:xfrm>
          <a:prstGeom prst="ellipse">
            <a:avLst/>
          </a:prstGeom>
          <a:solidFill>
            <a:srgbClr val="1E1B2E"/>
          </a:solidFill>
          <a:ln w="1905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Text 49"/>
          <p:cNvSpPr/>
          <p:nvPr/>
        </p:nvSpPr>
        <p:spPr>
          <a:xfrm>
            <a:off x="10189857" y="4413248"/>
            <a:ext cx="633819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Text 50"/>
          <p:cNvSpPr/>
          <p:nvPr/>
        </p:nvSpPr>
        <p:spPr>
          <a:xfrm>
            <a:off x="9604794" y="5193332"/>
            <a:ext cx="1803946" cy="9263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defTabSz="1218895"/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Query historical data via date-range filter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 51"/>
          <p:cNvSpPr/>
          <p:nvPr/>
        </p:nvSpPr>
        <p:spPr>
          <a:xfrm>
            <a:off x="10726166" y="6521914"/>
            <a:ext cx="1096994" cy="243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866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11 / 14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44669"/>
            <a:ext cx="10969943" cy="6338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Testing &amp; Code Quality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878489"/>
            <a:ext cx="10969943" cy="316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2133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Quality is built in — not bolted on. Applied throughout development, not added at the end.</a:t>
            </a:r>
            <a:endParaRPr lang="en-US" sz="2133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317286"/>
            <a:ext cx="5545915" cy="2376821"/>
          </a:xfrm>
          <a:prstGeom prst="rect">
            <a:avLst/>
          </a:prstGeom>
          <a:solidFill>
            <a:srgbClr val="132B1A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317286"/>
            <a:ext cx="5545915" cy="54850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28839" y="1439174"/>
            <a:ext cx="511931" cy="511931"/>
          </a:xfrm>
          <a:prstGeom prst="ellipse">
            <a:avLst/>
          </a:prstGeom>
          <a:solidFill>
            <a:srgbClr val="132B1A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72" y="1500118"/>
            <a:ext cx="365665" cy="36566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7036" y="1463552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 Validation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024238"/>
            <a:ext cx="5107118" cy="0"/>
          </a:xfrm>
          <a:prstGeom prst="line">
            <a:avLst/>
          </a:prstGeom>
          <a:noFill/>
          <a:ln w="9525">
            <a:solidFill>
              <a:srgbClr val="1E4A27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158315"/>
            <a:ext cx="182832" cy="1828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21371" y="210956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FluentValidation on all DTOs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530074"/>
            <a:ext cx="182832" cy="1828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121371" y="248131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SQL injection prevention via EF Core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2901834"/>
            <a:ext cx="182832" cy="1828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21371" y="2853078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XSS prevention — React escapes output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840" y="3273593"/>
            <a:ext cx="182832" cy="1828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1121371" y="322483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C# nullable types — null-safety at compile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1"/>
          <p:cNvSpPr/>
          <p:nvPr/>
        </p:nvSpPr>
        <p:spPr>
          <a:xfrm>
            <a:off x="6399133" y="1317286"/>
            <a:ext cx="5545915" cy="2376821"/>
          </a:xfrm>
          <a:prstGeom prst="rect">
            <a:avLst/>
          </a:prstGeom>
          <a:solidFill>
            <a:srgbClr val="2B2310"/>
          </a:solidFill>
          <a:ln w="9525">
            <a:solidFill>
              <a:srgbClr val="4A3A1A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Shape 12"/>
          <p:cNvSpPr/>
          <p:nvPr/>
        </p:nvSpPr>
        <p:spPr>
          <a:xfrm>
            <a:off x="6399133" y="1317286"/>
            <a:ext cx="5545915" cy="5485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3"/>
          <p:cNvSpPr/>
          <p:nvPr/>
        </p:nvSpPr>
        <p:spPr>
          <a:xfrm>
            <a:off x="6618531" y="1439174"/>
            <a:ext cx="511931" cy="511931"/>
          </a:xfrm>
          <a:prstGeom prst="ellipse">
            <a:avLst/>
          </a:prstGeom>
          <a:solidFill>
            <a:srgbClr val="2B231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1664" y="1500118"/>
            <a:ext cx="365665" cy="365665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7276728" y="1463552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6618531" y="2024238"/>
            <a:ext cx="5107118" cy="0"/>
          </a:xfrm>
          <a:prstGeom prst="line">
            <a:avLst/>
          </a:prstGeom>
          <a:noFill/>
          <a:ln w="9525">
            <a:solidFill>
              <a:srgbClr val="4A3A1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4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158315"/>
            <a:ext cx="182832" cy="182832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6911063" y="2109560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Global Exception Handler — JSON responses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6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530074"/>
            <a:ext cx="182832" cy="182832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6911063" y="2481319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ErrorBoundary for component failures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8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2901834"/>
            <a:ext cx="182832" cy="182832"/>
          </a:xfrm>
          <a:prstGeom prst="rect">
            <a:avLst/>
          </a:prstGeom>
        </p:spPr>
      </p:pic>
      <p:sp>
        <p:nvSpPr>
          <p:cNvPr id="29" name="Text 18"/>
          <p:cNvSpPr/>
          <p:nvPr/>
        </p:nvSpPr>
        <p:spPr>
          <a:xfrm>
            <a:off x="6911063" y="2853078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API: server vs network vs unexpected errors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0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2" y="3273593"/>
            <a:ext cx="182832" cy="182832"/>
          </a:xfrm>
          <a:prstGeom prst="rect">
            <a:avLst/>
          </a:prstGeom>
        </p:spPr>
      </p:pic>
      <p:sp>
        <p:nvSpPr>
          <p:cNvPr id="31" name="Text 19"/>
          <p:cNvSpPr/>
          <p:nvPr/>
        </p:nvSpPr>
        <p:spPr>
          <a:xfrm>
            <a:off x="6911063" y="322483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Device offline via LastSeenAt heartbeat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2" name="Shape 20"/>
          <p:cNvSpPr/>
          <p:nvPr/>
        </p:nvSpPr>
        <p:spPr>
          <a:xfrm>
            <a:off x="609441" y="3840373"/>
            <a:ext cx="5545915" cy="2376821"/>
          </a:xfrm>
          <a:prstGeom prst="rect">
            <a:avLst/>
          </a:prstGeom>
          <a:solidFill>
            <a:srgbClr val="0E2B33"/>
          </a:solidFill>
          <a:ln w="9525">
            <a:solidFill>
              <a:srgbClr val="1A4A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1"/>
          <p:cNvSpPr/>
          <p:nvPr/>
        </p:nvSpPr>
        <p:spPr>
          <a:xfrm>
            <a:off x="609441" y="3840373"/>
            <a:ext cx="5545915" cy="54850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Shape 22"/>
          <p:cNvSpPr/>
          <p:nvPr/>
        </p:nvSpPr>
        <p:spPr>
          <a:xfrm>
            <a:off x="828839" y="3962261"/>
            <a:ext cx="511931" cy="511931"/>
          </a:xfrm>
          <a:prstGeom prst="ellipse">
            <a:avLst/>
          </a:prstGeom>
          <a:solidFill>
            <a:srgbClr val="0E2B33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5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1972" y="4023205"/>
            <a:ext cx="365665" cy="365665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1487036" y="3986639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Database Quality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7" name="Shape 24"/>
          <p:cNvSpPr/>
          <p:nvPr/>
        </p:nvSpPr>
        <p:spPr>
          <a:xfrm>
            <a:off x="828839" y="4547325"/>
            <a:ext cx="5107118" cy="0"/>
          </a:xfrm>
          <a:prstGeom prst="line">
            <a:avLst/>
          </a:prstGeom>
          <a:noFill/>
          <a:ln w="9525">
            <a:solidFill>
              <a:srgbClr val="1A4A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8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4681402"/>
            <a:ext cx="182832" cy="182832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1121371" y="463264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EF Core Migrations — schema versioned in Git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0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053161"/>
            <a:ext cx="182832" cy="182832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1121371" y="5004406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Foreign keys with CASCADE DELETE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424920"/>
            <a:ext cx="182832" cy="182832"/>
          </a:xfrm>
          <a:prstGeom prst="rect">
            <a:avLst/>
          </a:prstGeom>
        </p:spPr>
      </p:pic>
      <p:sp>
        <p:nvSpPr>
          <p:cNvPr id="43" name="Text 27"/>
          <p:cNvSpPr/>
          <p:nvPr/>
        </p:nvSpPr>
        <p:spPr>
          <a:xfrm>
            <a:off x="1121371" y="5376165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Composite indexes (Timestamp + DeviceId)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4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8840" y="5796679"/>
            <a:ext cx="182832" cy="182832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1121371" y="574792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DECIMAL(18,4) — no floating-point errors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6" name="Shape 29"/>
          <p:cNvSpPr/>
          <p:nvPr/>
        </p:nvSpPr>
        <p:spPr>
          <a:xfrm>
            <a:off x="6399133" y="3840373"/>
            <a:ext cx="5545915" cy="2376821"/>
          </a:xfrm>
          <a:prstGeom prst="rect">
            <a:avLst/>
          </a:prstGeom>
          <a:solidFill>
            <a:srgbClr val="1E1B2E"/>
          </a:solidFill>
          <a:ln w="9525">
            <a:solidFill>
              <a:srgbClr val="3A3255"/>
            </a:solidFill>
            <a:prstDash val="solid"/>
          </a:ln>
          <a:effectLst>
            <a:outerShdw blurRad="76200" dist="254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7" name="Shape 30"/>
          <p:cNvSpPr/>
          <p:nvPr/>
        </p:nvSpPr>
        <p:spPr>
          <a:xfrm>
            <a:off x="6399133" y="3840373"/>
            <a:ext cx="5545915" cy="54850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1"/>
          <p:cNvSpPr/>
          <p:nvPr/>
        </p:nvSpPr>
        <p:spPr>
          <a:xfrm>
            <a:off x="6618531" y="3962261"/>
            <a:ext cx="511931" cy="511931"/>
          </a:xfrm>
          <a:prstGeom prst="ellipse">
            <a:avLst/>
          </a:prstGeom>
          <a:solidFill>
            <a:srgbClr val="1E1B2E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9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91664" y="4023205"/>
            <a:ext cx="365665" cy="365665"/>
          </a:xfrm>
          <a:prstGeom prst="rect">
            <a:avLst/>
          </a:prstGeom>
        </p:spPr>
      </p:pic>
      <p:sp>
        <p:nvSpPr>
          <p:cNvPr id="50" name="Text 32"/>
          <p:cNvSpPr/>
          <p:nvPr/>
        </p:nvSpPr>
        <p:spPr>
          <a:xfrm>
            <a:off x="7276728" y="3986639"/>
            <a:ext cx="450986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Code Architecture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33"/>
          <p:cNvSpPr/>
          <p:nvPr/>
        </p:nvSpPr>
        <p:spPr>
          <a:xfrm>
            <a:off x="6618531" y="4547325"/>
            <a:ext cx="5107118" cy="0"/>
          </a:xfrm>
          <a:prstGeom prst="line">
            <a:avLst/>
          </a:prstGeom>
          <a:noFill/>
          <a:ln w="9525">
            <a:solidFill>
              <a:srgbClr val="3A3255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2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4681402"/>
            <a:ext cx="182832" cy="182832"/>
          </a:xfrm>
          <a:prstGeom prst="rect">
            <a:avLst/>
          </a:prstGeom>
        </p:spPr>
      </p:pic>
      <p:sp>
        <p:nvSpPr>
          <p:cNvPr id="53" name="Text 34"/>
          <p:cNvSpPr/>
          <p:nvPr/>
        </p:nvSpPr>
        <p:spPr>
          <a:xfrm>
            <a:off x="6911063" y="4632647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Repository Pattern — data access abstracted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4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053161"/>
            <a:ext cx="182832" cy="182832"/>
          </a:xfrm>
          <a:prstGeom prst="rect">
            <a:avLst/>
          </a:prstGeom>
        </p:spPr>
      </p:pic>
      <p:sp>
        <p:nvSpPr>
          <p:cNvPr id="55" name="Text 35"/>
          <p:cNvSpPr/>
          <p:nvPr/>
        </p:nvSpPr>
        <p:spPr>
          <a:xfrm>
            <a:off x="6911063" y="5004406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Dependency Injection (Scoped services)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6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424920"/>
            <a:ext cx="182832" cy="182832"/>
          </a:xfrm>
          <a:prstGeom prst="rect">
            <a:avLst/>
          </a:prstGeom>
        </p:spPr>
      </p:pic>
      <p:sp>
        <p:nvSpPr>
          <p:cNvPr id="57" name="Text 36"/>
          <p:cNvSpPr/>
          <p:nvPr/>
        </p:nvSpPr>
        <p:spPr>
          <a:xfrm>
            <a:off x="6911063" y="5376165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TypeScript — type-safe API &amp; component props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8" name="Image 1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18532" y="5796679"/>
            <a:ext cx="182832" cy="182832"/>
          </a:xfrm>
          <a:prstGeom prst="rect">
            <a:avLst/>
          </a:prstGeom>
        </p:spPr>
      </p:pic>
      <p:sp>
        <p:nvSpPr>
          <p:cNvPr id="59" name="Text 37"/>
          <p:cNvSpPr/>
          <p:nvPr/>
        </p:nvSpPr>
        <p:spPr>
          <a:xfrm>
            <a:off x="6911063" y="5747924"/>
            <a:ext cx="4863341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Clean structure: API / Core / Infra / Services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Shape 38"/>
          <p:cNvSpPr/>
          <p:nvPr/>
        </p:nvSpPr>
        <p:spPr>
          <a:xfrm>
            <a:off x="-1" y="6217194"/>
            <a:ext cx="12188825" cy="639913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1" name="Shape 39"/>
          <p:cNvSpPr/>
          <p:nvPr/>
        </p:nvSpPr>
        <p:spPr>
          <a:xfrm>
            <a:off x="-1" y="6217194"/>
            <a:ext cx="12188825" cy="0"/>
          </a:xfrm>
          <a:prstGeom prst="line">
            <a:avLst/>
          </a:prstGeom>
          <a:noFill/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2" name="Text 40"/>
          <p:cNvSpPr/>
          <p:nvPr/>
        </p:nvSpPr>
        <p:spPr>
          <a:xfrm>
            <a:off x="609441" y="6253760"/>
            <a:ext cx="10969943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866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Every layer validated — </a:t>
            </a:r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Input → Business Logic → Database → Frontend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3" name="Text 41"/>
          <p:cNvSpPr/>
          <p:nvPr/>
        </p:nvSpPr>
        <p:spPr>
          <a:xfrm>
            <a:off x="10726166" y="6558481"/>
            <a:ext cx="1096994" cy="2437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866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13 / 14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342180"/>
            <a:ext cx="10969943" cy="7313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4266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42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609441" y="1073509"/>
            <a:ext cx="10969943" cy="3656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Four real engineering decisions — showing the depth of thinking behind the design.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585440"/>
            <a:ext cx="5399649" cy="2303688"/>
          </a:xfrm>
          <a:prstGeom prst="rect">
            <a:avLst/>
          </a:prstGeom>
          <a:solidFill>
            <a:srgbClr val="132B1A"/>
          </a:solidFill>
          <a:ln w="9525">
            <a:solidFill>
              <a:srgbClr val="1E4A27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Shape 3"/>
          <p:cNvSpPr/>
          <p:nvPr/>
        </p:nvSpPr>
        <p:spPr>
          <a:xfrm>
            <a:off x="609441" y="1585440"/>
            <a:ext cx="5545915" cy="60944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5399649" y="1707329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3DDB61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839" y="1756084"/>
            <a:ext cx="438798" cy="43879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89525" y="1731706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Real-Time Data Synchronization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828839" y="2268014"/>
            <a:ext cx="5107118" cy="0"/>
          </a:xfrm>
          <a:prstGeom prst="line">
            <a:avLst/>
          </a:prstGeom>
          <a:noFill/>
          <a:ln w="9525">
            <a:solidFill>
              <a:srgbClr val="1E4A27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828839" y="2353336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Keeping multiple browser clients in sync with live sensor data without polling or page refreshes.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828839" y="3218743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WebSocket hub with device-group subscriptions. Server pushes to groups on data receipt.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9"/>
          <p:cNvSpPr/>
          <p:nvPr/>
        </p:nvSpPr>
        <p:spPr>
          <a:xfrm>
            <a:off x="6399133" y="1585440"/>
            <a:ext cx="5424027" cy="2303688"/>
          </a:xfrm>
          <a:prstGeom prst="rect">
            <a:avLst/>
          </a:prstGeom>
          <a:solidFill>
            <a:srgbClr val="0E2B33"/>
          </a:solidFill>
          <a:ln w="9525">
            <a:solidFill>
              <a:srgbClr val="1A4A55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6399133" y="1585440"/>
            <a:ext cx="5545915" cy="60944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11189341" y="1707329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00BCD4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8531" y="1756084"/>
            <a:ext cx="438798" cy="43879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9217" y="1731706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High-Volume Time-Series Storage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7" name="Shape 13"/>
          <p:cNvSpPr/>
          <p:nvPr/>
        </p:nvSpPr>
        <p:spPr>
          <a:xfrm>
            <a:off x="6618531" y="2268014"/>
            <a:ext cx="5107118" cy="0"/>
          </a:xfrm>
          <a:prstGeom prst="line">
            <a:avLst/>
          </a:prstGeom>
          <a:noFill/>
          <a:ln w="9525">
            <a:solidFill>
              <a:srgbClr val="1A4A55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6618531" y="2353336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SensorReadings grows to thousands of rows per device per day. Queries must stay fast.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9" name="Text 15"/>
          <p:cNvSpPr/>
          <p:nvPr/>
        </p:nvSpPr>
        <p:spPr>
          <a:xfrm>
            <a:off x="6618531" y="3218743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BIGINT key, composite indexes on (Timestamp, DeviceId), 30-day detail + aggregated archive policy.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0" name="Shape 16"/>
          <p:cNvSpPr/>
          <p:nvPr/>
        </p:nvSpPr>
        <p:spPr>
          <a:xfrm>
            <a:off x="609441" y="4037135"/>
            <a:ext cx="5545915" cy="2657164"/>
          </a:xfrm>
          <a:prstGeom prst="rect">
            <a:avLst/>
          </a:prstGeom>
          <a:solidFill>
            <a:srgbClr val="2B2310"/>
          </a:solidFill>
          <a:ln w="9525">
            <a:solidFill>
              <a:srgbClr val="4A3A1A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Shape 17"/>
          <p:cNvSpPr/>
          <p:nvPr/>
        </p:nvSpPr>
        <p:spPr>
          <a:xfrm>
            <a:off x="609441" y="4037135"/>
            <a:ext cx="5545915" cy="6094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2" name="Text 18"/>
          <p:cNvSpPr/>
          <p:nvPr/>
        </p:nvSpPr>
        <p:spPr>
          <a:xfrm>
            <a:off x="5399649" y="4159023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F59E0B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839" y="4207778"/>
            <a:ext cx="438798" cy="43879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1389525" y="4183401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Cross-Layer Data Flow Design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5" name="Shape 20"/>
          <p:cNvSpPr/>
          <p:nvPr/>
        </p:nvSpPr>
        <p:spPr>
          <a:xfrm>
            <a:off x="828839" y="4719709"/>
            <a:ext cx="5107118" cy="0"/>
          </a:xfrm>
          <a:prstGeom prst="line">
            <a:avLst/>
          </a:prstGeom>
          <a:noFill/>
          <a:ln w="9525">
            <a:solidFill>
              <a:srgbClr val="4A3A1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6" name="Text 21"/>
          <p:cNvSpPr/>
          <p:nvPr/>
        </p:nvSpPr>
        <p:spPr>
          <a:xfrm>
            <a:off x="828839" y="4805031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One sensor reading must flow cleanly: edge device → API → DB → SignalR → React chart.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Text 22"/>
          <p:cNvSpPr/>
          <p:nvPr/>
        </p:nvSpPr>
        <p:spPr>
          <a:xfrm>
            <a:off x="828839" y="5670437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Layered architecture (Controller → Service → Repository → DB). SignalR notifies after DB write. DTOs decouple layers.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23"/>
          <p:cNvSpPr/>
          <p:nvPr/>
        </p:nvSpPr>
        <p:spPr>
          <a:xfrm>
            <a:off x="6399133" y="4005792"/>
            <a:ext cx="5545915" cy="2657164"/>
          </a:xfrm>
          <a:prstGeom prst="rect">
            <a:avLst/>
          </a:prstGeom>
          <a:solidFill>
            <a:srgbClr val="1E1B2E"/>
          </a:solidFill>
          <a:ln w="9525">
            <a:solidFill>
              <a:srgbClr val="3A3255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Shape 24"/>
          <p:cNvSpPr/>
          <p:nvPr/>
        </p:nvSpPr>
        <p:spPr>
          <a:xfrm>
            <a:off x="6399133" y="4005792"/>
            <a:ext cx="5545915" cy="60944"/>
          </a:xfrm>
          <a:prstGeom prst="rect">
            <a:avLst/>
          </a:prstGeom>
          <a:solidFill>
            <a:srgbClr val="A78BFA"/>
          </a:solidFill>
          <a:ln w="12700">
            <a:solidFill>
              <a:srgbClr val="A78BFA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Text 25"/>
          <p:cNvSpPr/>
          <p:nvPr/>
        </p:nvSpPr>
        <p:spPr>
          <a:xfrm>
            <a:off x="11189341" y="4127681"/>
            <a:ext cx="609441" cy="3900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b="1" dirty="0">
                <a:solidFill>
                  <a:srgbClr val="A78BFA">
                    <a:alpha val="40000"/>
                  </a:srgbClr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8531" y="4176436"/>
            <a:ext cx="438798" cy="43879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79217" y="4152058"/>
            <a:ext cx="4546432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600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Edge Device Compatibility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7"/>
          <p:cNvSpPr/>
          <p:nvPr/>
        </p:nvSpPr>
        <p:spPr>
          <a:xfrm>
            <a:off x="6618531" y="4688367"/>
            <a:ext cx="5107118" cy="0"/>
          </a:xfrm>
          <a:prstGeom prst="line">
            <a:avLst/>
          </a:prstGeom>
          <a:noFill/>
          <a:ln w="9525">
            <a:solidFill>
              <a:srgbClr val="3A3255"/>
            </a:solidFill>
            <a:prstDash val="solid"/>
          </a:ln>
        </p:spPr>
        <p:txBody>
          <a:bodyPr/>
          <a:lstStyle/>
          <a:p>
            <a:pPr defTabSz="1218895"/>
            <a:endParaRPr lang="en-US" sz="160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4" name="Text 28"/>
          <p:cNvSpPr/>
          <p:nvPr/>
        </p:nvSpPr>
        <p:spPr>
          <a:xfrm>
            <a:off x="6618531" y="4773688"/>
            <a:ext cx="5107118" cy="7922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FF8A65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Challenge  </a:t>
            </a:r>
            <a:r>
              <a:rPr lang="en-US" sz="1600" dirty="0">
                <a:solidFill>
                  <a:srgbClr val="A8C4B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Supporting Arduino, ESP32, and Raspberry Pi — all with different hardware and communication capabilities.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5" name="Text 29"/>
          <p:cNvSpPr/>
          <p:nvPr/>
        </p:nvSpPr>
        <p:spPr>
          <a:xfrm>
            <a:off x="6618531" y="5639095"/>
            <a:ext cx="5107118" cy="914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1218895"/>
            <a:r>
              <a:rPr lang="en-US" sz="1600" b="1" dirty="0">
                <a:solidFill>
                  <a:srgbClr val="A78BFA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Solution  </a:t>
            </a:r>
            <a:r>
              <a:rPr lang="en-US" sz="1600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Flexible JSON payload format. HTTP POST endpoint for all devices. EdgeDeviceId as universal identifier.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Text 30"/>
          <p:cNvSpPr/>
          <p:nvPr/>
        </p:nvSpPr>
        <p:spPr>
          <a:xfrm>
            <a:off x="10726166" y="6004760"/>
            <a:ext cx="1096994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defTabSz="1218895"/>
            <a:r>
              <a:rPr lang="en-US" sz="1600" dirty="0">
                <a:solidFill>
                  <a:srgbClr val="4A6A5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12 / 14</a:t>
            </a:r>
            <a:endParaRPr lang="en-US" sz="1600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441" y="269047"/>
            <a:ext cx="10969943" cy="6703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3999" b="1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3999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" name="Shape 1"/>
          <p:cNvSpPr/>
          <p:nvPr/>
        </p:nvSpPr>
        <p:spPr>
          <a:xfrm>
            <a:off x="609441" y="1073510"/>
            <a:ext cx="5545915" cy="463175"/>
          </a:xfrm>
          <a:prstGeom prst="rect">
            <a:avLst/>
          </a:prstGeom>
          <a:solidFill>
            <a:srgbClr val="132B1A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09441" y="1073510"/>
            <a:ext cx="73133" cy="463175"/>
          </a:xfrm>
          <a:prstGeom prst="rect">
            <a:avLst/>
          </a:prstGeom>
          <a:solidFill>
            <a:srgbClr val="3DDB61"/>
          </a:solidFill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792273" y="1073510"/>
            <a:ext cx="5241195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What's Been Achieved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670385" y="1707328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29" y="1743895"/>
            <a:ext cx="243777" cy="24377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82316" y="1658573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System architecture designed &amp; documented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70385" y="2316770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329" y="2353336"/>
            <a:ext cx="243777" cy="24377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82316" y="2268015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8-table SQL Server schema, 3NF normalized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2" name="Shape 8"/>
          <p:cNvSpPr/>
          <p:nvPr/>
        </p:nvSpPr>
        <p:spPr>
          <a:xfrm>
            <a:off x="670385" y="2926211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329" y="2962777"/>
            <a:ext cx="243777" cy="24377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82316" y="2877456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ASP.NET Core backend, Repository pattern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5" name="Shape 10"/>
          <p:cNvSpPr/>
          <p:nvPr/>
        </p:nvSpPr>
        <p:spPr>
          <a:xfrm>
            <a:off x="670385" y="3535652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329" y="3572218"/>
            <a:ext cx="243777" cy="24377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82316" y="3486897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SignalR real-time hub designed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18" name="Shape 12"/>
          <p:cNvSpPr/>
          <p:nvPr/>
        </p:nvSpPr>
        <p:spPr>
          <a:xfrm>
            <a:off x="670385" y="4145093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329" y="4181660"/>
            <a:ext cx="243777" cy="243777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182316" y="4096338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React SPA component hierarchy designed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1" name="Shape 14"/>
          <p:cNvSpPr/>
          <p:nvPr/>
        </p:nvSpPr>
        <p:spPr>
          <a:xfrm>
            <a:off x="670385" y="4754535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329" y="4791101"/>
            <a:ext cx="243777" cy="243777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1182316" y="4705780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All design docs completed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670385" y="5363976"/>
            <a:ext cx="365665" cy="365665"/>
          </a:xfrm>
          <a:prstGeom prst="ellipse">
            <a:avLst/>
          </a:prstGeom>
          <a:solidFill>
            <a:srgbClr val="173D24"/>
          </a:solidFill>
          <a:ln w="635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329" y="5400542"/>
            <a:ext cx="243777" cy="243777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1182316" y="5315221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Git + GitHub + 3-2-1 backup strategy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7" name="Shape 18"/>
          <p:cNvSpPr/>
          <p:nvPr/>
        </p:nvSpPr>
        <p:spPr>
          <a:xfrm>
            <a:off x="6435699" y="1073510"/>
            <a:ext cx="5143684" cy="463175"/>
          </a:xfrm>
          <a:prstGeom prst="rect">
            <a:avLst/>
          </a:prstGeom>
          <a:solidFill>
            <a:srgbClr val="0E2B33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8" name="Shape 19"/>
          <p:cNvSpPr/>
          <p:nvPr/>
        </p:nvSpPr>
        <p:spPr>
          <a:xfrm>
            <a:off x="6435699" y="1073510"/>
            <a:ext cx="73133" cy="463175"/>
          </a:xfrm>
          <a:prstGeom prst="rect">
            <a:avLst/>
          </a:prstGeom>
          <a:solidFill>
            <a:srgbClr val="00BCD4"/>
          </a:solidFill>
          <a:ln w="1270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29" name="Text 20"/>
          <p:cNvSpPr/>
          <p:nvPr/>
        </p:nvSpPr>
        <p:spPr>
          <a:xfrm>
            <a:off x="6618531" y="1073510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00BCD4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0" name="Shape 21"/>
          <p:cNvSpPr/>
          <p:nvPr/>
        </p:nvSpPr>
        <p:spPr>
          <a:xfrm>
            <a:off x="6496643" y="1707328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1" name="Image 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57587" y="1743895"/>
            <a:ext cx="243777" cy="243777"/>
          </a:xfrm>
          <a:prstGeom prst="rect">
            <a:avLst/>
          </a:prstGeom>
        </p:spPr>
      </p:pic>
      <p:sp>
        <p:nvSpPr>
          <p:cNvPr id="32" name="Text 22"/>
          <p:cNvSpPr/>
          <p:nvPr/>
        </p:nvSpPr>
        <p:spPr>
          <a:xfrm>
            <a:off x="7008574" y="1658573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Complete backend API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3" name="Shape 23"/>
          <p:cNvSpPr/>
          <p:nvPr/>
        </p:nvSpPr>
        <p:spPr>
          <a:xfrm>
            <a:off x="6496643" y="2194881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4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57587" y="2231448"/>
            <a:ext cx="243777" cy="243777"/>
          </a:xfrm>
          <a:prstGeom prst="rect">
            <a:avLst/>
          </a:prstGeom>
        </p:spPr>
      </p:pic>
      <p:sp>
        <p:nvSpPr>
          <p:cNvPr id="35" name="Text 24"/>
          <p:cNvSpPr/>
          <p:nvPr/>
        </p:nvSpPr>
        <p:spPr>
          <a:xfrm>
            <a:off x="7008574" y="2146126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Build React frontend + SignalR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6" name="Shape 25"/>
          <p:cNvSpPr/>
          <p:nvPr/>
        </p:nvSpPr>
        <p:spPr>
          <a:xfrm>
            <a:off x="6496643" y="2682434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37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57587" y="2719001"/>
            <a:ext cx="243777" cy="243777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7008574" y="2633679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Integrate ESP32 devices &amp; sensors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39" name="Shape 27"/>
          <p:cNvSpPr/>
          <p:nvPr/>
        </p:nvSpPr>
        <p:spPr>
          <a:xfrm>
            <a:off x="6496643" y="3169987"/>
            <a:ext cx="365665" cy="365665"/>
          </a:xfrm>
          <a:prstGeom prst="ellipse">
            <a:avLst/>
          </a:prstGeom>
          <a:solidFill>
            <a:srgbClr val="0E2B33"/>
          </a:solidFill>
          <a:ln w="6350">
            <a:solidFill>
              <a:srgbClr val="00BCD4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0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7587" y="3206554"/>
            <a:ext cx="243777" cy="243777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7008574" y="3121232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End-to-end live demo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2" name="Shape 29"/>
          <p:cNvSpPr/>
          <p:nvPr/>
        </p:nvSpPr>
        <p:spPr>
          <a:xfrm>
            <a:off x="6435699" y="3657541"/>
            <a:ext cx="5143684" cy="463175"/>
          </a:xfrm>
          <a:prstGeom prst="rect">
            <a:avLst/>
          </a:prstGeom>
          <a:solidFill>
            <a:srgbClr val="2B2310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3" name="Shape 30"/>
          <p:cNvSpPr/>
          <p:nvPr/>
        </p:nvSpPr>
        <p:spPr>
          <a:xfrm>
            <a:off x="6435699" y="3657541"/>
            <a:ext cx="73133" cy="463175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4" name="Text 31"/>
          <p:cNvSpPr/>
          <p:nvPr/>
        </p:nvSpPr>
        <p:spPr>
          <a:xfrm>
            <a:off x="6618531" y="3657541"/>
            <a:ext cx="4875530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b="1" dirty="0">
                <a:solidFill>
                  <a:srgbClr val="F59E0B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Future Enhancements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5" name="Shape 32"/>
          <p:cNvSpPr/>
          <p:nvPr/>
        </p:nvSpPr>
        <p:spPr>
          <a:xfrm>
            <a:off x="6496643" y="4266982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6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57587" y="4303548"/>
            <a:ext cx="243777" cy="243777"/>
          </a:xfrm>
          <a:prstGeom prst="rect">
            <a:avLst/>
          </a:prstGeom>
        </p:spPr>
      </p:pic>
      <p:sp>
        <p:nvSpPr>
          <p:cNvPr id="47" name="Text 33"/>
          <p:cNvSpPr/>
          <p:nvPr/>
        </p:nvSpPr>
        <p:spPr>
          <a:xfrm>
            <a:off x="7008574" y="4218227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Mobile app (iOS / Android)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48" name="Shape 34"/>
          <p:cNvSpPr/>
          <p:nvPr/>
        </p:nvSpPr>
        <p:spPr>
          <a:xfrm>
            <a:off x="6496643" y="4730157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49" name="Image 1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7587" y="4766723"/>
            <a:ext cx="243777" cy="243777"/>
          </a:xfrm>
          <a:prstGeom prst="rect">
            <a:avLst/>
          </a:prstGeom>
        </p:spPr>
      </p:pic>
      <p:sp>
        <p:nvSpPr>
          <p:cNvPr id="50" name="Text 35"/>
          <p:cNvSpPr/>
          <p:nvPr/>
        </p:nvSpPr>
        <p:spPr>
          <a:xfrm>
            <a:off x="7008574" y="4681402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ML predictive maintenance &amp; anomaly detection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1" name="Shape 36"/>
          <p:cNvSpPr/>
          <p:nvPr/>
        </p:nvSpPr>
        <p:spPr>
          <a:xfrm>
            <a:off x="6496643" y="5193332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2" name="Image 1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57587" y="5229899"/>
            <a:ext cx="243777" cy="243777"/>
          </a:xfrm>
          <a:prstGeom prst="rect">
            <a:avLst/>
          </a:prstGeom>
        </p:spPr>
      </p:pic>
      <p:sp>
        <p:nvSpPr>
          <p:cNvPr id="53" name="Text 37"/>
          <p:cNvSpPr/>
          <p:nvPr/>
        </p:nvSpPr>
        <p:spPr>
          <a:xfrm>
            <a:off x="7008574" y="5144577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OAuth / JWT authentication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4" name="Shape 38"/>
          <p:cNvSpPr/>
          <p:nvPr/>
        </p:nvSpPr>
        <p:spPr>
          <a:xfrm>
            <a:off x="6496643" y="5656508"/>
            <a:ext cx="365665" cy="365665"/>
          </a:xfrm>
          <a:prstGeom prst="ellipse">
            <a:avLst/>
          </a:prstGeom>
          <a:solidFill>
            <a:srgbClr val="2B2310"/>
          </a:solidFill>
          <a:ln w="6350">
            <a:solidFill>
              <a:srgbClr val="F59E0B"/>
            </a:solidFill>
            <a:prstDash val="solid"/>
          </a:ln>
        </p:spPr>
        <p:txBody>
          <a:bodyPr/>
          <a:lstStyle/>
          <a:p>
            <a:pPr defTabSz="1218895"/>
            <a:endParaRPr lang="en-US" sz="1866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pic>
        <p:nvPicPr>
          <p:cNvPr id="55" name="Image 14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557587" y="5693074"/>
            <a:ext cx="243777" cy="243777"/>
          </a:xfrm>
          <a:prstGeom prst="rect">
            <a:avLst/>
          </a:prstGeom>
        </p:spPr>
      </p:pic>
      <p:sp>
        <p:nvSpPr>
          <p:cNvPr id="56" name="Text 39"/>
          <p:cNvSpPr/>
          <p:nvPr/>
        </p:nvSpPr>
        <p:spPr>
          <a:xfrm>
            <a:off x="7008574" y="5607753"/>
            <a:ext cx="4448921" cy="463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defTabSz="1218895"/>
            <a:r>
              <a:rPr lang="en-US" sz="1866" dirty="0">
                <a:solidFill>
                  <a:srgbClr val="C8DDD0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Multi-tenant facility support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7" name="Shape 40"/>
          <p:cNvSpPr/>
          <p:nvPr/>
        </p:nvSpPr>
        <p:spPr>
          <a:xfrm>
            <a:off x="-1" y="6192816"/>
            <a:ext cx="12188825" cy="664291"/>
          </a:xfrm>
          <a:prstGeom prst="rect">
            <a:avLst/>
          </a:prstGeom>
          <a:solidFill>
            <a:srgbClr val="0A1F10"/>
          </a:solidFill>
          <a:ln w="12700">
            <a:solidFill>
              <a:srgbClr val="0A1F10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8" name="Shape 41"/>
          <p:cNvSpPr/>
          <p:nvPr/>
        </p:nvSpPr>
        <p:spPr>
          <a:xfrm>
            <a:off x="-1" y="6192816"/>
            <a:ext cx="12188825" cy="0"/>
          </a:xfrm>
          <a:prstGeom prst="line">
            <a:avLst/>
          </a:prstGeom>
          <a:noFill/>
          <a:ln w="12700">
            <a:solidFill>
              <a:srgbClr val="3DDB61"/>
            </a:solidFill>
            <a:prstDash val="solid"/>
          </a:ln>
        </p:spPr>
        <p:txBody>
          <a:bodyPr/>
          <a:lstStyle/>
          <a:p>
            <a:pPr defTabSz="1218895"/>
            <a:endParaRPr lang="en-US" sz="2399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59" name="Text 42"/>
          <p:cNvSpPr/>
          <p:nvPr/>
        </p:nvSpPr>
        <p:spPr>
          <a:xfrm>
            <a:off x="609441" y="6217194"/>
            <a:ext cx="10969943" cy="3412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866" dirty="0">
                <a:solidFill>
                  <a:srgbClr val="FFFFFF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Full stack — </a:t>
            </a:r>
            <a:r>
              <a:rPr lang="en-US" sz="1866" b="1" dirty="0">
                <a:solidFill>
                  <a:srgbClr val="3DDB61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physical sensor to cloud dashboard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  <p:sp>
        <p:nvSpPr>
          <p:cNvPr id="60" name="Text 43"/>
          <p:cNvSpPr/>
          <p:nvPr/>
        </p:nvSpPr>
        <p:spPr>
          <a:xfrm>
            <a:off x="609441" y="6558481"/>
            <a:ext cx="10969943" cy="2681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defTabSz="1218895"/>
            <a:r>
              <a:rPr lang="en-US" sz="1866" i="1" dirty="0">
                <a:solidFill>
                  <a:srgbClr val="7DAE8E"/>
                </a:solidFill>
                <a:latin typeface="Candara" panose="020E0502030303020204" pitchFamily="34" charset="0"/>
                <a:ea typeface="Calibri" pitchFamily="34" charset="-122"/>
                <a:cs typeface="Calibri" pitchFamily="34" charset="-120"/>
              </a:rPr>
              <a:t>Practical evidence of BAS Application Development program competency.</a:t>
            </a:r>
            <a:endParaRPr lang="en-US" sz="1866" dirty="0">
              <a:solidFill>
                <a:prstClr val="black"/>
              </a:solidFill>
              <a:latin typeface="Candara" panose="020E0502030303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4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</TotalTime>
  <Words>1761</Words>
  <Application>Microsoft Office PowerPoint</Application>
  <PresentationFormat>Custom</PresentationFormat>
  <Paragraphs>396</Paragraphs>
  <Slides>14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14</vt:i4>
      </vt:variant>
    </vt:vector>
  </HeadingPairs>
  <TitlesOfParts>
    <vt:vector size="22" baseType="lpstr">
      <vt:lpstr>Aptos</vt:lpstr>
      <vt:lpstr>Arial</vt:lpstr>
      <vt:lpstr>Calibri</vt:lpstr>
      <vt:lpstr>Candara</vt:lpstr>
      <vt:lpstr>Office Theme</vt:lpstr>
      <vt:lpstr>1_Office Theme</vt:lpstr>
      <vt:lpstr>2_Office Theme</vt:lpstr>
      <vt:lpstr>3_Office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Quoc Bao Tran</cp:lastModifiedBy>
  <cp:revision>101</cp:revision>
  <dcterms:created xsi:type="dcterms:W3CDTF">2013-01-27T09:14:16Z</dcterms:created>
  <dcterms:modified xsi:type="dcterms:W3CDTF">2026-04-27T04:03:34Z</dcterms:modified>
  <cp:category/>
</cp:coreProperties>
</file>