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19"/>
  </p:notesMasterIdLst>
  <p:sldIdLst>
    <p:sldId id="256" r:id="rId5"/>
    <p:sldId id="289" r:id="rId6"/>
    <p:sldId id="287" r:id="rId7"/>
    <p:sldId id="286" r:id="rId8"/>
    <p:sldId id="288" r:id="rId9"/>
    <p:sldId id="274" r:id="rId10"/>
    <p:sldId id="276" r:id="rId11"/>
    <p:sldId id="277" r:id="rId12"/>
    <p:sldId id="278" r:id="rId13"/>
    <p:sldId id="284" r:id="rId14"/>
    <p:sldId id="283" r:id="rId15"/>
    <p:sldId id="285" r:id="rId16"/>
    <p:sldId id="281" r:id="rId17"/>
    <p:sldId id="28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6666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C74A3D-EE77-4EA1-8E36-75207C739CF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1945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5E3099-AD53-4D24-BA47-6CABBFAD57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908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3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622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1218895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086" indent="-457086" algn="l" defTabSz="1218895" rtl="0" eaLnBrk="1" latinLnBrk="0" hangingPunct="1">
        <a:spcBef>
          <a:spcPct val="20000"/>
        </a:spcBef>
        <a:buFont typeface="Arial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352" indent="-380905" algn="l" defTabSz="1218895" rtl="0" eaLnBrk="1" latinLnBrk="0" hangingPunct="1">
        <a:spcBef>
          <a:spcPct val="20000"/>
        </a:spcBef>
        <a:buFont typeface="Arial" pitchFamily="34" charset="0"/>
        <a:buChar char="–"/>
        <a:defRPr sz="3732" kern="1200">
          <a:solidFill>
            <a:schemeClr val="tx1"/>
          </a:solidFill>
          <a:latin typeface="+mn-lt"/>
          <a:ea typeface="+mn-ea"/>
          <a:cs typeface="+mn-cs"/>
        </a:defRPr>
      </a:lvl2pPr>
      <a:lvl3pPr marL="152361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3pPr>
      <a:lvl4pPr marL="2133067" indent="-304724" algn="l" defTabSz="1218895" rtl="0" eaLnBrk="1" latinLnBrk="0" hangingPunct="1">
        <a:spcBef>
          <a:spcPct val="20000"/>
        </a:spcBef>
        <a:buFont typeface="Arial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4" indent="-304724" algn="l" defTabSz="1218895" rtl="0" eaLnBrk="1" latinLnBrk="0" hangingPunct="1">
        <a:spcBef>
          <a:spcPct val="20000"/>
        </a:spcBef>
        <a:buFont typeface="Arial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2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140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0857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5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4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895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23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686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1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4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5" Type="http://schemas.openxmlformats.org/officeDocument/2006/relationships/image" Target="../media/image35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6.png"/><Relationship Id="rId5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0.png"/><Relationship Id="rId11" Type="http://schemas.openxmlformats.org/officeDocument/2006/relationships/image" Target="../media/image47.png"/><Relationship Id="rId5" Type="http://schemas.openxmlformats.org/officeDocument/2006/relationships/image" Target="../media/image42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941" y="2234881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183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|  </a:t>
            </a:r>
            <a:endParaRPr lang="en-US" sz="1400" i="1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| </a:t>
            </a: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15390" y="429547"/>
            <a:ext cx="62735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53312" y="1408176"/>
            <a:ext cx="3182111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72184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2184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75104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Why IoT monitoring matters in industrial settings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3312" y="2679192"/>
            <a:ext cx="3182111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72184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72184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5" y="3246120"/>
            <a:ext cx="2487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Objectives, requirements, boundaries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53312" y="3950208"/>
            <a:ext cx="3163824" cy="1181587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72184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472184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4133088"/>
            <a:ext cx="248716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Technology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4517136"/>
            <a:ext cx="24871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C#, ASP.NET Core, React, SQL Server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3312" y="5212079"/>
            <a:ext cx="3182111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472184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72184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5104" y="5394959"/>
            <a:ext cx="2560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System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75104" y="5779007"/>
            <a:ext cx="2761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DB → SignalR → React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1408176"/>
            <a:ext cx="3113532" cy="118158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62856" y="1408176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73659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73659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1" y="1591056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Database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9511" y="1975104"/>
            <a:ext cx="19933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Devices, sensors, readings, alerts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2679192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62856" y="2679192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73659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73659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9511" y="2862072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Backend &amp;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1" y="3246120"/>
            <a:ext cx="22494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Services, repositories, DTOs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3950208"/>
            <a:ext cx="3113532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562856" y="3950208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73659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3659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1" y="4133088"/>
            <a:ext cx="276148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Frontend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9511" y="4517136"/>
            <a:ext cx="20574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React SPA, charts,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client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5212079"/>
            <a:ext cx="3113532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62856" y="5212079"/>
            <a:ext cx="45719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736592" y="5413247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736592" y="5404103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1" y="5394959"/>
            <a:ext cx="276148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Key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1" y="5779007"/>
            <a:ext cx="21671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Streaming, dashboards, alerts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63840" y="1408176"/>
            <a:ext cx="3154553" cy="115816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772400" y="1408176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982712" y="1609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82712" y="1600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3" y="159105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Live Demo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3" y="1975104"/>
            <a:ext cx="2395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Edge → API → SignalR → Dashboard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2679192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772400" y="2679192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982712" y="2880360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982712" y="2871216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862072"/>
            <a:ext cx="224028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Challenges &amp; Solutions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85632" y="3246120"/>
            <a:ext cx="22402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Sync, data volume, design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63840" y="3950208"/>
            <a:ext cx="3154553" cy="1188719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772400" y="3950208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982712" y="4151376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82712" y="4142232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3" y="4133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Conclusion &amp; Future</a:t>
            </a:r>
          </a:p>
        </p:txBody>
      </p:sp>
      <p:sp>
        <p:nvSpPr>
          <p:cNvPr id="74" name="Rounded Rectangle 65">
            <a:extLst>
              <a:ext uri="{FF2B5EF4-FFF2-40B4-BE49-F238E27FC236}">
                <a16:creationId xmlns:a16="http://schemas.microsoft.com/office/drawing/2014/main" id="{47AB4A4A-A8CE-FF32-418B-F6A5ECDEFA50}"/>
              </a:ext>
            </a:extLst>
          </p:cNvPr>
          <p:cNvSpPr/>
          <p:nvPr/>
        </p:nvSpPr>
        <p:spPr>
          <a:xfrm>
            <a:off x="7885937" y="5212079"/>
            <a:ext cx="3132456" cy="1090148"/>
          </a:xfrm>
          <a:prstGeom prst="roundRect">
            <a:avLst>
              <a:gd name="adj" fmla="val 4000"/>
            </a:avLst>
          </a:prstGeom>
          <a:solidFill>
            <a:srgbClr val="0F261A"/>
          </a:solidFill>
          <a:ln w="7620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7DB0902-45A1-6AAA-C9B7-2054F58EC30E}"/>
              </a:ext>
            </a:extLst>
          </p:cNvPr>
          <p:cNvSpPr/>
          <p:nvPr/>
        </p:nvSpPr>
        <p:spPr>
          <a:xfrm>
            <a:off x="7772400" y="5212079"/>
            <a:ext cx="54480" cy="1090148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Rounded Rectangle 67">
            <a:extLst>
              <a:ext uri="{FF2B5EF4-FFF2-40B4-BE49-F238E27FC236}">
                <a16:creationId xmlns:a16="http://schemas.microsoft.com/office/drawing/2014/main" id="{393D4FDF-306E-5F8B-2AE3-3DC411ACC2EB}"/>
              </a:ext>
            </a:extLst>
          </p:cNvPr>
          <p:cNvSpPr/>
          <p:nvPr/>
        </p:nvSpPr>
        <p:spPr>
          <a:xfrm>
            <a:off x="8014335" y="5427344"/>
            <a:ext cx="420624" cy="329184"/>
          </a:xfrm>
          <a:prstGeom prst="roundRect">
            <a:avLst>
              <a:gd name="adj" fmla="val 4000"/>
            </a:avLst>
          </a:prstGeom>
          <a:solidFill>
            <a:srgbClr val="143A26"/>
          </a:solidFill>
          <a:ln w="6350">
            <a:solidFill>
              <a:srgbClr val="3EC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8A8FEF-47C5-679C-F49E-19721944EA82}"/>
              </a:ext>
            </a:extLst>
          </p:cNvPr>
          <p:cNvSpPr txBox="1"/>
          <p:nvPr/>
        </p:nvSpPr>
        <p:spPr>
          <a:xfrm>
            <a:off x="8014335" y="5418200"/>
            <a:ext cx="4206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2</a:t>
            </a:r>
            <a:endParaRPr kumimoji="0" sz="1400" b="1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B7797C-7309-8EC4-1A4D-B8987CFB0555}"/>
              </a:ext>
            </a:extLst>
          </p:cNvPr>
          <p:cNvSpPr txBox="1"/>
          <p:nvPr/>
        </p:nvSpPr>
        <p:spPr>
          <a:xfrm>
            <a:off x="8517256" y="5409056"/>
            <a:ext cx="20714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End Of Presentation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ndar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8699" y="578072"/>
            <a:ext cx="4583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Project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8699" y="1483114"/>
            <a:ext cx="438546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Continuous monitoring is critical in industrial, commercial, and agricultural settings for safety, early fault detection, and performance optimization. SCADA/BMS solutions are often costly, complex, and vendor-locked.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3" y="2932098"/>
            <a:ext cx="44823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This project </a:t>
            </a: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delivers</a:t>
            </a: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a web-based IoT monitoring system that 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6161" y="4241232"/>
            <a:ext cx="4048963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 — no proprietary hardware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 via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Server-backed historical storage</a:t>
            </a:r>
          </a:p>
          <a:p>
            <a:pPr marL="285750" marR="0" lvl="0" indent="-28575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ECF8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browser</a:t>
            </a:r>
          </a:p>
        </p:txBody>
      </p:sp>
      <p:sp>
        <p:nvSpPr>
          <p:cNvPr id="6" name="Rectangle 5"/>
          <p:cNvSpPr/>
          <p:nvPr/>
        </p:nvSpPr>
        <p:spPr>
          <a:xfrm flipH="1">
            <a:off x="5424679" y="1298448"/>
            <a:ext cx="45719" cy="4352544"/>
          </a:xfrm>
          <a:prstGeom prst="rect">
            <a:avLst/>
          </a:prstGeom>
          <a:solidFill>
            <a:srgbClr val="255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493" y="1298448"/>
            <a:ext cx="475488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4284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Web-Based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4284" y="1572768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No proprietary hardware required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2853" y="1298448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54645" y="1316736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Any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4645" y="1572768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Accessible from any device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493" y="3236976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4284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Real-Time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284" y="3511296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SignalR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 / WebSocket streaming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3" y="3236976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54645" y="3255264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Cost-Effective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4645" y="3511296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Open-source technology stack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2493" y="5175504"/>
            <a:ext cx="475488" cy="4754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74284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4284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Full historical data storage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2853" y="5175504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54645" y="5193792"/>
            <a:ext cx="24688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4645" y="5449824"/>
            <a:ext cx="2468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/>
                <a:ea typeface="+mn-ea"/>
                <a:cs typeface="+mn-cs"/>
              </a:rPr>
              <a:t>Arduino, ESP32, Raspberry 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320040"/>
            <a:ext cx="106344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Project Goals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7406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Six core objectives mapped to key system capabilities and platform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9616" y="14630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CORE SYSTEM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76872" y="14630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PLATFORM &amp; INTEGRATION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1874519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56232" y="18745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2" y="213055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 sensor streaming (&lt;2s latency) via SignalR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97864" y="187451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32918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32918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Interactive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6232" y="35478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Live dashboards with charts, gauges, and trends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" y="329183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016" y="4709160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56232" y="47091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Historical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2" y="49651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Query, filter, and export time-series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7864" y="470916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1874519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18745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7" y="2130552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Register and manage IoT devices (Arduino, ESP32, Raspberry Pi)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187451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2" y="3291839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9207" y="32918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Alerting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9207" y="354787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Threshold-based alerts with real-time notifications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291839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2" y="4709160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79207" y="47091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Capstone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7" y="496519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C#, React, SQL, REST APIs, SignalR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20840" y="4709160"/>
            <a:ext cx="36576" cy="420624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74552" cy="9144"/>
          </a:xfrm>
          <a:prstGeom prst="rect">
            <a:avLst/>
          </a:prstGeom>
          <a:solidFill>
            <a:srgbClr val="2A6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745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Out of Scope (Future Enhancements):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4D7A5E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Auth · RBAC · Mobile · ML · Multi-tenancy · ERP</a:t>
            </a:r>
            <a:b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</a:b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4D7A5E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Focused on delivering a scalable, real-time IoT monitoring foundation.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86968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End-to-end pipeline: Device → MQTT → Backend →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→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984248"/>
            <a:ext cx="804672" cy="80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C# / ASP.NET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Handles ingestion, processing,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19956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091940" y="1362908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428" y="1984248"/>
            <a:ext cx="804672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02836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IoT Messaging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2836" y="1901952"/>
            <a:ext cx="2377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MQTT + Broker (Mosquitto/EMQX)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0258" y="242517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Device → Broker → 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1389888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863840" y="1412861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6184" y="1984248"/>
            <a:ext cx="804672" cy="804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65592" y="1572768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Real-Time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190195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SignalR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167128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7AAB8A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Server-to-client live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206240"/>
            <a:ext cx="804672" cy="8046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React + TypeScript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19956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107942" y="3611880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3428" y="4206240"/>
            <a:ext cx="804672" cy="8046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02836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2836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SQL Server + EF 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2712" y="3611880"/>
            <a:ext cx="3566160" cy="1993392"/>
          </a:xfrm>
          <a:prstGeom prst="roundRect">
            <a:avLst>
              <a:gd name="adj" fmla="val 4000"/>
            </a:avLst>
          </a:prstGeom>
          <a:solidFill>
            <a:srgbClr val="112B1D"/>
          </a:solidFill>
          <a:ln w="9525">
            <a:solidFill>
              <a:srgbClr val="1E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863840" y="3602736"/>
            <a:ext cx="50292" cy="1993392"/>
          </a:xfrm>
          <a:prstGeom prst="rect">
            <a:avLst/>
          </a:prstGeom>
          <a:solidFill>
            <a:srgbClr val="3EC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4206240"/>
            <a:ext cx="804672" cy="8046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65592" y="3794760"/>
            <a:ext cx="237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123944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Git + GitHub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3ECF80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 + Azure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3ECF80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0435" y="749588"/>
            <a:ext cx="555152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0436" y="1389668"/>
            <a:ext cx="51892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C8C8C8"/>
                </a:solidFill>
                <a:latin typeface="Candara" panose="020E0502030303020204" pitchFamily="34" charset="0"/>
              </a:rPr>
              <a:t>Six layers — from physical sensor to browser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3346" y="1995059"/>
            <a:ext cx="172515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Edge Devices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Arduino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ESP32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Raspberry 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Sensors &amp; Actuators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4925" y="2192695"/>
            <a:ext cx="1609736" cy="17656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IoT Messaging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Broker</a:t>
            </a:r>
          </a:p>
          <a:p>
            <a:pPr>
              <a:lnSpc>
                <a:spcPct val="150000"/>
              </a:lnSpc>
            </a:pPr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/ EMQX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Pub/Sub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Device →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2888" y="4035277"/>
            <a:ext cx="141577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Backend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ASP.NET Core 8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RESTful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Hub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2811" y="2318224"/>
            <a:ext cx="1186543" cy="11207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Database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SQL Server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EF Core 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5100" y="4135533"/>
            <a:ext cx="164782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Real-Time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WebSocket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Server Push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&lt;2 sec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34" y="2307680"/>
            <a:ext cx="121860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Frontend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React 18 SPA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Client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Chart.js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1543" y="6189931"/>
            <a:ext cx="483779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00C896"/>
                </a:solidFill>
                <a:latin typeface="Candara" panose="020E0502030303020204" pitchFamily="34" charset="0"/>
              </a:rPr>
              <a:t>⚡ Real-time via SignalR WebSocket — updates in &lt;2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0" y="595099"/>
            <a:ext cx="6094413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2666" b="1" dirty="0">
                <a:solidFill>
                  <a:srgbClr val="F5FAF8"/>
                </a:solidFill>
                <a:latin typeface="Candara" panose="020E0502030303020204" pitchFamily="34" charset="0"/>
              </a:rPr>
              <a:t>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52180"/>
            <a:ext cx="9293979" cy="26161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1400" b="1" dirty="0">
                <a:solidFill>
                  <a:srgbClr val="F5FAF8"/>
                </a:solidFill>
                <a:latin typeface="Candara" panose="020E0502030303020204" pitchFamily="34" charset="0"/>
              </a:rPr>
              <a:t>Entity Relationship Diagram</a:t>
            </a:r>
            <a:r>
              <a:rPr lang="en-US" sz="1333" i="1" dirty="0">
                <a:solidFill>
                  <a:srgbClr val="B9CDC3"/>
                </a:solidFill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8990" y="1562585"/>
            <a:ext cx="2818666" cy="3656648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261" y="1654003"/>
            <a:ext cx="259012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SENSOR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0467" y="1562585"/>
            <a:ext cx="5218341" cy="438035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94737" y="1654003"/>
            <a:ext cx="4989800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8770"/>
                </a:solidFill>
                <a:latin typeface="Candara" panose="020E0502030303020204" pitchFamily="34" charset="0"/>
              </a:rPr>
              <a:t>DEVICE 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1168" y="1562585"/>
            <a:ext cx="2780576" cy="453271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65438" y="1654003"/>
            <a:ext cx="255203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ALERTING &amp; CONFIGURATION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885187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85187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7102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13087" y="2880503"/>
            <a:ext cx="0" cy="1005578"/>
          </a:xfrm>
          <a:prstGeom prst="line">
            <a:avLst/>
          </a:prstGeom>
          <a:ln w="15875">
            <a:solidFill>
              <a:srgbClr val="00B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390016" y="2933829"/>
            <a:ext cx="1371243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90016" y="2933829"/>
            <a:ext cx="0" cy="1500749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23386" y="4434578"/>
            <a:ext cx="26663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89475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265546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6554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89475" y="2758615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65546" y="2758615"/>
            <a:ext cx="0" cy="1165556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65546" y="3924171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08791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989800" y="4305072"/>
            <a:ext cx="41899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89800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41943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1943" y="4305072"/>
            <a:ext cx="83798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79925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60501" y="4495522"/>
            <a:ext cx="0" cy="418991"/>
          </a:xfrm>
          <a:prstGeom prst="line">
            <a:avLst/>
          </a:prstGeom>
          <a:ln w="15875">
            <a:solidFill>
              <a:srgbClr val="E6A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13087" y="1433080"/>
            <a:ext cx="0" cy="434227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13087" y="1433080"/>
            <a:ext cx="10032927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46014" y="1433080"/>
            <a:ext cx="0" cy="2491091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541293" y="3924171"/>
            <a:ext cx="304721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531" y="1867307"/>
            <a:ext cx="232349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7531" y="1867307"/>
            <a:ext cx="232349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48791" y="1913015"/>
            <a:ext cx="52097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184" y="2194881"/>
            <a:ext cx="2110189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SensorId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SensorName · SensorType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Unit · MinValue · MaxValue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CreatedAt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531" y="3886081"/>
            <a:ext cx="2475855" cy="1104612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7531" y="3886081"/>
            <a:ext cx="247585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57269" y="3931789"/>
            <a:ext cx="1056379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 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183" y="4213655"/>
            <a:ext cx="226255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ReadingId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Value · Timestamp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Quality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1259" y="1943487"/>
            <a:ext cx="2628215" cy="1256973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761259" y="1943487"/>
            <a:ext cx="262821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842932" y="1989196"/>
            <a:ext cx="46487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7911" y="2271062"/>
            <a:ext cx="241491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DeviceName · DeviceType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Location · FacilityType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EdgeDeviceType · EdgeDeviceId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LastSeenAt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7097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847097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01310" y="4693590"/>
            <a:ext cx="137698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STATUS HISTORY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3750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StatusHistoryId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PreviousStatus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Message · Timestamp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37222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37222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916281" y="4693590"/>
            <a:ext cx="132728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OPERATIONAL METRICS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43875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MetricId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MetricType · MetricValue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PeriodStart · PeriodEnd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79708" y="1867307"/>
            <a:ext cx="236158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179708" y="1867307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902842" y="1913015"/>
            <a:ext cx="915315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CONFIGS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6361" y="2194882"/>
            <a:ext cx="214828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ConfigurationId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ConfigurationKey · 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Unique: DeviceId + Key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79708" y="3352820"/>
            <a:ext cx="2361585" cy="1142702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179708" y="3352820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90207" y="3398528"/>
            <a:ext cx="740588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 RULES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6361" y="3680394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AlertRuleId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Condition · Threshold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Severity · IsEnabled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79708" y="4914513"/>
            <a:ext cx="236158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179708" y="4914513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149706" y="4960222"/>
            <a:ext cx="42159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6361" y="5242088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AlertRuleId → AlertRules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TriggeredAt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17483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625349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86261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066876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83581" y="2910975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791447" y="2918593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83581" y="3710867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764196" y="3718485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17483" y="285003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625349" y="2857649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08150" y="434316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88765" y="4350780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2801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550667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13078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993693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42801" y="26671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550667" y="2674817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13078" y="384799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993693" y="385560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94520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402386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860293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940908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27672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735538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0419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531034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230994" y="4480286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338860" y="4487905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30994" y="47392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0311609" y="4746917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5963" y="1692093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783829" y="1699711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56529" y="377942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1570619" y="3787047"/>
            <a:ext cx="230833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0..∞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71351" y="6080069"/>
            <a:ext cx="11122303" cy="403755"/>
          </a:xfrm>
          <a:prstGeom prst="roundRect">
            <a:avLst/>
          </a:prstGeom>
          <a:solidFill>
            <a:srgbClr val="0C1C1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166" dirty="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61801" y="6179103"/>
            <a:ext cx="1523603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Legend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99783" y="6171486"/>
            <a:ext cx="8379817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1 → ∞ = one-to-many     0..∞ = optional child relationship     dashed line = optional sensor-level alert rule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22411" y="6171486"/>
            <a:ext cx="1104612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8 tables · 3NF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427023" y="6567622"/>
            <a:ext cx="457081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>
                <a:solidFill>
                  <a:srgbClr val="73877F"/>
                </a:solidFill>
                <a:latin typeface="Candara" panose="020E0502030303020204" pitchFamily="34" charset="0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609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4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441" y="457974"/>
            <a:ext cx="5044971" cy="5847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3200" b="1" dirty="0">
                <a:solidFill>
                  <a:srgbClr val="F0F8F5"/>
                </a:solidFill>
                <a:latin typeface="Candara" panose="020E0502030303020204" pitchFamily="34" charset="0"/>
              </a:rPr>
              <a:t>Backend &amp; API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1" y="1067416"/>
            <a:ext cx="4613764" cy="33855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Layered architecture + RESTful APIs + </a:t>
            </a:r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real-time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 streaming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1" y="1753036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Presentation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Controllers · SignalR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1" y="2743378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Service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Business Logic ·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1" y="3733720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 Access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EF Core · Repository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1" y="4724063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Database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SQL Server · IoTMonitoringDB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12" y="790230"/>
            <a:ext cx="4951710" cy="13687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Device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/devices/{id}/status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12" y="2389092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BEE6"/>
                </a:solidFill>
                <a:latin typeface="Candara" panose="020E0502030303020204" pitchFamily="34" charset="0"/>
              </a:rPr>
              <a:t>Sensor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/sensors/{id}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4412" y="380622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Sensor Readings (Core IoT)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/batch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4412" y="522698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>
                <a:solidFill>
                  <a:srgbClr val="E6AA00"/>
                </a:solidFill>
                <a:latin typeface="Candara" panose="020E0502030303020204" pitchFamily="34" charset="0"/>
              </a:rPr>
              <a:t>Alert APIs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/alerts/{id}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/alerts/active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/alerts/{id}/acknowledge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1" y="6400026"/>
            <a:ext cx="5889754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⚡ MQTT → Broker → API → SignalR → Frontend  (&lt;2s real-time updates)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1351" y="259906"/>
            <a:ext cx="2818666" cy="1640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66" b="1">
                <a:solidFill>
                  <a:srgbClr val="00C896"/>
                </a:solidFill>
                <a:latin typeface="Candara" panose="020E0502030303020204" pitchFamily="34" charset="0"/>
              </a:rPr>
              <a:t>FRONTEND DESIGN · INDUSTRY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351" y="465592"/>
            <a:ext cx="2094954" cy="1904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1" y="595099"/>
            <a:ext cx="5942052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2666" b="1">
                <a:solidFill>
                  <a:srgbClr val="F2F8F5"/>
                </a:solidFill>
                <a:latin typeface="Candara" panose="020E0502030303020204" pitchFamily="34" charset="0"/>
              </a:rPr>
              <a:t>Frontend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90270"/>
            <a:ext cx="8989258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i="1" dirty="0">
                <a:solidFill>
                  <a:srgbClr val="AFC6BC"/>
                </a:solidFill>
                <a:latin typeface="Candara" panose="020E0502030303020204" pitchFamily="34" charset="0"/>
              </a:rPr>
              <a:t>React SPA organized by layers: routes, reusable components, state, API services, and SignalR real-time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531" y="1356900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Layered Frontend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722" y="1646122"/>
            <a:ext cx="4304179" cy="700857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7531" y="1844453"/>
            <a:ext cx="68562" cy="700857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5127" y="193586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C896"/>
                </a:solidFill>
                <a:latin typeface="Candara" panose="020E0502030303020204" pitchFamily="34" charset="0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27" y="210346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Pages /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27" y="239294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27" y="258339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27" y="277385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27" y="296430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Historical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531" y="2663669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7531" y="2728142"/>
            <a:ext cx="68562" cy="799892"/>
          </a:xfrm>
          <a:prstGeom prst="rect">
            <a:avLst/>
          </a:prstGeom>
          <a:solidFill>
            <a:srgbClr val="A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5127" y="281955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AA8CFF"/>
                </a:solidFill>
                <a:latin typeface="Candara" panose="020E0502030303020204" pitchFamily="34" charset="0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127" y="298715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Reusable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127" y="32766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Layout, Card, Table, Button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127" y="346709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•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DeviceCard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SensorCard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AlertCard</a:t>
            </a:r>
            <a:endParaRPr sz="791" dirty="0">
              <a:solidFill>
                <a:srgbClr val="AFC6BC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5127" y="36575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RealTimeChart, HistoricalChart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1" y="3703248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7531" y="3703248"/>
            <a:ext cx="68562" cy="799892"/>
          </a:xfrm>
          <a:prstGeom prst="rect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5127" y="3794665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B8DC"/>
                </a:solidFill>
                <a:latin typeface="Candara" panose="020E0502030303020204" pitchFamily="34" charset="0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27" y="3962261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State + Hooks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27" y="425174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DeviceContext, AlertContext, SignalRContext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127" y="444219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useDevices, useAlerts, useSensorReadings, useSignalR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531" y="4678355"/>
            <a:ext cx="4304179" cy="723711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7531" y="4678355"/>
            <a:ext cx="68562" cy="723711"/>
          </a:xfrm>
          <a:prstGeom prst="rect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5127" y="4769771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DCA000"/>
                </a:solidFill>
                <a:latin typeface="Candara" panose="020E0502030303020204" pitchFamily="34" charset="0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127" y="4937367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Service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127" y="522685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Axios / Fetch API 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27" y="541730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deviceService, sensorService, readingService, alertService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99620" y="254531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2738676" y="271290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799620" y="3528034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2738676" y="3695631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2799620" y="450314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2738676" y="467073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218340" y="1539733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Runtime Data Flow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8341" y="1844453"/>
            <a:ext cx="6437222" cy="3161476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561151" y="2324388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622095" y="2423421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Backend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095" y="2644344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REST JSON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61151" y="3543270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622095" y="3642304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095" y="3863227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WebSocket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27565" y="2324388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88509" y="2423421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API Services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509" y="2644344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Axios / Fetch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27565" y="3543270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488509" y="3642304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Client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8509" y="3863227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Subscriptions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79708" y="2933829"/>
            <a:ext cx="144742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B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40652" y="3032863"/>
            <a:ext cx="132553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State Layer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0652" y="3253786"/>
            <a:ext cx="132553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B8DC"/>
                </a:solidFill>
                <a:latin typeface="Candara" panose="020E0502030303020204" pitchFamily="34" charset="0"/>
              </a:rPr>
              <a:t>Context + hooks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703311" y="2933829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AA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764256" y="3032863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UI 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64256" y="3253786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AA8CFF"/>
                </a:solidFill>
                <a:latin typeface="Candara" panose="020E0502030303020204" pitchFamily="34" charset="0"/>
              </a:rPr>
              <a:t>Pages + charts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94304" y="2606254"/>
            <a:ext cx="533261" cy="0"/>
          </a:xfrm>
          <a:prstGeom prst="line">
            <a:avLst/>
          </a:prstGeom>
          <a:ln w="1651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351384" y="2545310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6894304" y="3825137"/>
            <a:ext cx="533261" cy="0"/>
          </a:xfrm>
          <a:prstGeom prst="line">
            <a:avLst/>
          </a:prstGeom>
          <a:ln w="1651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7351384" y="3764193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8836897" y="2606254"/>
            <a:ext cx="342811" cy="502789"/>
          </a:xfrm>
          <a:prstGeom prst="line">
            <a:avLst/>
          </a:prstGeom>
          <a:ln w="1524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Isosceles Triangle 65"/>
          <p:cNvSpPr/>
          <p:nvPr/>
        </p:nvSpPr>
        <p:spPr>
          <a:xfrm rot="5400000">
            <a:off x="9103528" y="3010009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7" name="Connector 66"/>
          <p:cNvCxnSpPr/>
          <p:nvPr/>
        </p:nvCxnSpPr>
        <p:spPr>
          <a:xfrm flipV="1">
            <a:off x="8836897" y="3390910"/>
            <a:ext cx="342811" cy="434227"/>
          </a:xfrm>
          <a:prstGeom prst="line">
            <a:avLst/>
          </a:prstGeom>
          <a:ln w="1524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9103528" y="3444235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9" name="Connector 68"/>
          <p:cNvCxnSpPr/>
          <p:nvPr/>
        </p:nvCxnSpPr>
        <p:spPr>
          <a:xfrm>
            <a:off x="10627131" y="3215696"/>
            <a:ext cx="76180" cy="0"/>
          </a:xfrm>
          <a:prstGeom prst="line">
            <a:avLst/>
          </a:prstGeom>
          <a:ln w="16510">
            <a:solidFill>
              <a:srgbClr val="00B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10627131" y="3154751"/>
            <a:ext cx="121888" cy="121888"/>
          </a:xfrm>
          <a:prstGeom prst="triangle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08791" y="1981577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8791" y="2042521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DCA000"/>
                </a:solidFill>
                <a:latin typeface="Candara" panose="020E0502030303020204" pitchFamily="34" charset="0"/>
              </a:rPr>
              <a:t>REQUEST / RESPONSE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08791" y="4404106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408791" y="4465050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00C896"/>
                </a:solidFill>
                <a:latin typeface="Candara" panose="020E0502030303020204" pitchFamily="34" charset="0"/>
              </a:rPr>
              <a:t>REAL-TIME EVENTS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94944" y="3809901"/>
            <a:ext cx="2742486" cy="15632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16">
                <a:solidFill>
                  <a:srgbClr val="AFC6BC"/>
                </a:solidFill>
                <a:latin typeface="Candara" panose="020E0502030303020204" pitchFamily="34" charset="0"/>
              </a:rPr>
              <a:t>Events: SensorReadingReceived · DeviceStatusChanged · AlertTriggered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7531" y="5600135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Frontend Engineering Practices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7531" y="5866765"/>
            <a:ext cx="10893762" cy="441845"/>
          </a:xfrm>
          <a:prstGeom prst="roundRect">
            <a:avLst/>
          </a:prstGeom>
          <a:solidFill>
            <a:srgbClr val="020F0D"/>
          </a:solidFill>
          <a:ln w="10160">
            <a:solidFill>
              <a:srgbClr val="008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37981" y="6003889"/>
            <a:ext cx="10512862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58" b="1">
                <a:solidFill>
                  <a:srgbClr val="00C896"/>
                </a:solidFill>
                <a:latin typeface="Candara" panose="020E0502030303020204" pitchFamily="34" charset="0"/>
              </a:rPr>
              <a:t>✓ TypeScript models   ✓ Route-based structure   ✓ Service abstraction   ✓ ErrorBoundary + loading states   ✓ Rolling real-time chart window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7531" y="6400027"/>
            <a:ext cx="10817582" cy="1808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75" dirty="0">
                <a:solidFill>
                  <a:srgbClr val="AFC6BC"/>
                </a:solidFill>
                <a:latin typeface="Candara" panose="020E0502030303020204" pitchFamily="34" charset="0"/>
              </a:rPr>
              <a:t>Flow: REST API → Services → State → UI   |   SignalR → Context → Hooks → Components → Charts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27023" y="6537150"/>
            <a:ext cx="457081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733">
                <a:solidFill>
                  <a:srgbClr val="738C82"/>
                </a:solidFill>
                <a:latin typeface="Candara" panose="020E0502030303020204" pitchFamily="34" charset="0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Key Features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Core capabilities mapped directly to system architecture and real-world needs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280720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280719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26985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487929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Streaming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12049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09560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SignalR WebSocket pushes live sensor data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481319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&lt;2s latency — no polling or refresh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853078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Supports multi-device concurrent streams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24837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Rolling real-time charts (50-point window)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280720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280719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26985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487929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Dashboard &amp; Visualization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12049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09560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Interactive charts (Chart.js / Recharts)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481319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Line, Bar, Gauge visualizations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853078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Historical analysis with date filters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24837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Responsive UI for monitoring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0380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0380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50072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11016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Alerting System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35136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32647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Configurable threshold-based rules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04406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alerts via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376165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Acknowledge / Resolve workflow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47924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Persistent alert history tracking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03806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03806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50072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11016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Device Management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35136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32647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Register IoT devices (Arduino, ESP32, Pi)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04406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Online/offline detection via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376165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Sensor config (type, unit, thresholds)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47924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Flexible key-value device configs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2" name="Image 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988" y="6400026"/>
            <a:ext cx="243777" cy="243777"/>
          </a:xfrm>
          <a:prstGeom prst="rect">
            <a:avLst/>
          </a:prstGeom>
        </p:spPr>
      </p:pic>
      <p:sp>
        <p:nvSpPr>
          <p:cNvPr id="63" name="Text 40"/>
          <p:cNvSpPr/>
          <p:nvPr/>
        </p:nvSpPr>
        <p:spPr>
          <a:xfrm>
            <a:off x="2559653" y="6314704"/>
            <a:ext cx="7922736" cy="426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system: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MQTT → Backend → SignalR → Frontend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92724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one sensor reading travel the full stack — from edge device to dashboard — in real time.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439174"/>
            <a:ext cx="10969943" cy="2096478"/>
          </a:xfrm>
          <a:prstGeom prst="rect">
            <a:avLst/>
          </a:prstGeom>
          <a:solidFill>
            <a:srgbClr val="0F2A1C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439174"/>
            <a:ext cx="1096994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2273" y="1561063"/>
            <a:ext cx="3656648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FLOW PIPELINE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55707" y="1951105"/>
            <a:ext cx="1779568" cy="1365148"/>
          </a:xfrm>
          <a:prstGeom prst="rect">
            <a:avLst/>
          </a:prstGeom>
          <a:solidFill>
            <a:srgbClr val="173D24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5707" y="1951105"/>
            <a:ext cx="60944" cy="1365148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5" y="2085182"/>
            <a:ext cx="341287" cy="3412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32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32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Sends JSON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408" y="2463036"/>
            <a:ext cx="219399" cy="21939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900940" y="1951105"/>
            <a:ext cx="1779568" cy="136514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900940" y="1951105"/>
            <a:ext cx="60944" cy="136514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2828" y="2085182"/>
            <a:ext cx="341287" cy="3412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9984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API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9984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Validates &amp;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Persists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641" y="2463036"/>
            <a:ext cx="219399" cy="219399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6173" y="1951105"/>
            <a:ext cx="1779568" cy="136514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5046173" y="1951105"/>
            <a:ext cx="60944" cy="136514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8061" y="2085182"/>
            <a:ext cx="341287" cy="34128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143683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 DB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5143683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Stores to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874" y="2463036"/>
            <a:ext cx="219399" cy="219399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191406" y="1951105"/>
            <a:ext cx="1779568" cy="136514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7191406" y="1951105"/>
            <a:ext cx="60944" cy="13651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5" y="2085182"/>
            <a:ext cx="341287" cy="341287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2889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Hub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72889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Broadcasts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to clients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108" y="2463036"/>
            <a:ext cx="219399" cy="219399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9336640" y="1951105"/>
            <a:ext cx="1779568" cy="136514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9336640" y="1951105"/>
            <a:ext cx="60944" cy="1365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8528" y="2085182"/>
            <a:ext cx="341287" cy="341287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94341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4"/>
          <p:cNvSpPr/>
          <p:nvPr/>
        </p:nvSpPr>
        <p:spPr>
          <a:xfrm>
            <a:off x="94341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Chart updates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25"/>
          <p:cNvSpPr/>
          <p:nvPr/>
        </p:nvSpPr>
        <p:spPr>
          <a:xfrm>
            <a:off x="609440" y="3779429"/>
            <a:ext cx="3656648" cy="29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DEMO CHECKLIST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6"/>
          <p:cNvSpPr/>
          <p:nvPr/>
        </p:nvSpPr>
        <p:spPr>
          <a:xfrm>
            <a:off x="609441" y="4169471"/>
            <a:ext cx="2145233" cy="2096478"/>
          </a:xfrm>
          <a:prstGeom prst="rect">
            <a:avLst/>
          </a:prstGeom>
          <a:solidFill>
            <a:srgbClr val="132B1A"/>
          </a:solidFill>
          <a:ln w="9525">
            <a:solidFill>
              <a:srgbClr val="3DDB61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Shape 27"/>
          <p:cNvSpPr/>
          <p:nvPr/>
        </p:nvSpPr>
        <p:spPr>
          <a:xfrm>
            <a:off x="609441" y="4169471"/>
            <a:ext cx="214523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1365148" y="4413248"/>
            <a:ext cx="633819" cy="633819"/>
          </a:xfrm>
          <a:prstGeom prst="ellipse">
            <a:avLst/>
          </a:prstGeom>
          <a:solidFill>
            <a:srgbClr val="132B1A"/>
          </a:solidFill>
          <a:ln w="190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Text 29"/>
          <p:cNvSpPr/>
          <p:nvPr/>
        </p:nvSpPr>
        <p:spPr>
          <a:xfrm>
            <a:off x="1365148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0"/>
          <p:cNvSpPr/>
          <p:nvPr/>
        </p:nvSpPr>
        <p:spPr>
          <a:xfrm>
            <a:off x="78008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Register ESP32 device in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31"/>
          <p:cNvSpPr/>
          <p:nvPr/>
        </p:nvSpPr>
        <p:spPr>
          <a:xfrm>
            <a:off x="2815618" y="4169471"/>
            <a:ext cx="2145233" cy="209647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2815618" y="4169471"/>
            <a:ext cx="2145233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33"/>
          <p:cNvSpPr/>
          <p:nvPr/>
        </p:nvSpPr>
        <p:spPr>
          <a:xfrm>
            <a:off x="3571325" y="4413248"/>
            <a:ext cx="633819" cy="633819"/>
          </a:xfrm>
          <a:prstGeom prst="ellipse">
            <a:avLst/>
          </a:prstGeom>
          <a:solidFill>
            <a:srgbClr val="0E2B33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34"/>
          <p:cNvSpPr/>
          <p:nvPr/>
        </p:nvSpPr>
        <p:spPr>
          <a:xfrm>
            <a:off x="3571325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Text 35"/>
          <p:cNvSpPr/>
          <p:nvPr/>
        </p:nvSpPr>
        <p:spPr>
          <a:xfrm>
            <a:off x="2986262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 POST from edge device or Postman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6"/>
          <p:cNvSpPr/>
          <p:nvPr/>
        </p:nvSpPr>
        <p:spPr>
          <a:xfrm>
            <a:off x="5021796" y="4169471"/>
            <a:ext cx="2145233" cy="209647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5021796" y="4169471"/>
            <a:ext cx="2145233" cy="5485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Shape 38"/>
          <p:cNvSpPr/>
          <p:nvPr/>
        </p:nvSpPr>
        <p:spPr>
          <a:xfrm>
            <a:off x="5777503" y="4413248"/>
            <a:ext cx="633819" cy="633819"/>
          </a:xfrm>
          <a:prstGeom prst="ellipse">
            <a:avLst/>
          </a:prstGeom>
          <a:solidFill>
            <a:srgbClr val="111B2E"/>
          </a:solidFill>
          <a:ln w="1905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 39"/>
          <p:cNvSpPr/>
          <p:nvPr/>
        </p:nvSpPr>
        <p:spPr>
          <a:xfrm>
            <a:off x="5777503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5192439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real-time chart update within 2 sec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2" name="Shape 41"/>
          <p:cNvSpPr/>
          <p:nvPr/>
        </p:nvSpPr>
        <p:spPr>
          <a:xfrm>
            <a:off x="7227973" y="4169471"/>
            <a:ext cx="2145233" cy="209647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Shape 42"/>
          <p:cNvSpPr/>
          <p:nvPr/>
        </p:nvSpPr>
        <p:spPr>
          <a:xfrm>
            <a:off x="7227973" y="4169471"/>
            <a:ext cx="2145233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7983680" y="4413248"/>
            <a:ext cx="633819" cy="633819"/>
          </a:xfrm>
          <a:prstGeom prst="ellipse">
            <a:avLst/>
          </a:prstGeom>
          <a:solidFill>
            <a:srgbClr val="2B2310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7983680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 45"/>
          <p:cNvSpPr/>
          <p:nvPr/>
        </p:nvSpPr>
        <p:spPr>
          <a:xfrm>
            <a:off x="7398616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Trigger threshold breach — alert in real time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6"/>
          <p:cNvSpPr/>
          <p:nvPr/>
        </p:nvSpPr>
        <p:spPr>
          <a:xfrm>
            <a:off x="9434150" y="4169471"/>
            <a:ext cx="2145233" cy="209647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7"/>
          <p:cNvSpPr/>
          <p:nvPr/>
        </p:nvSpPr>
        <p:spPr>
          <a:xfrm>
            <a:off x="9434150" y="4169471"/>
            <a:ext cx="2145233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Shape 48"/>
          <p:cNvSpPr/>
          <p:nvPr/>
        </p:nvSpPr>
        <p:spPr>
          <a:xfrm>
            <a:off x="10189857" y="4413248"/>
            <a:ext cx="633819" cy="633819"/>
          </a:xfrm>
          <a:prstGeom prst="ellipse">
            <a:avLst/>
          </a:prstGeom>
          <a:solidFill>
            <a:srgbClr val="1E1B2E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10189857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960479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Query historical data via date-range filter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10726166" y="6521914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Testing &amp; Code Quality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Quality is built in — not bolted on. Applied throughout development, not added at the end.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317286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317286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39174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500118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24238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58315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FluentValidation on all DTOs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530074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injection prevention via EF Core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901834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XSS prevention — React escapes output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73593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C# nullable types — null-safety at compile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31728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31728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39174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500118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24238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58315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Global Exception Handler — JSON responses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530074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ErrorBoundary for component failures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901834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API: server vs network vs unexpected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73593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offline via LastSeenAt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40373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40373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62261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23205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Quality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47325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81402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Migrations — schema versioned in Git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53161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Foreign keys with CASCADE DELETE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424920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Composite indexes (Timestamp + DeviceId)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96679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DECIMAL(18,4) — no floating-point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40373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40373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62261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23205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Code Architecture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47325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81402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Repository Pattern — data access abstracted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53161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Dependency Injection (Scoped services)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424920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TypeScript — type-safe API &amp; component props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96679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Clean structure: API / Core / Infra / Services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40"/>
          <p:cNvSpPr/>
          <p:nvPr/>
        </p:nvSpPr>
        <p:spPr>
          <a:xfrm>
            <a:off x="609441" y="6253760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Every layer validated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→ Business Logic → Database → Frontend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 41"/>
          <p:cNvSpPr/>
          <p:nvPr/>
        </p:nvSpPr>
        <p:spPr>
          <a:xfrm>
            <a:off x="10726166" y="6558481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342180"/>
            <a:ext cx="10969943" cy="731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073509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Four real engineering decisions — showing the depth of thinking behind the design.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585440"/>
            <a:ext cx="5399649" cy="2303688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585440"/>
            <a:ext cx="5545915" cy="60944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399649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3DDB61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39" y="1756084"/>
            <a:ext cx="438798" cy="438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525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268014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8839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Keeping multiple browser clients in sync with live sensor data without polling or page refreshes.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8839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WebSocket hub with device-group subscriptions. Server pushes to groups on data receipt.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99133" y="1585440"/>
            <a:ext cx="5424027" cy="2303688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399133" y="1585440"/>
            <a:ext cx="5545915" cy="6094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89341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00BCD4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1" y="1756084"/>
            <a:ext cx="438798" cy="43879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9217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High-Volume Time-Series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618531" y="2268014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618531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 grows to thousands of rows per device per day. Queries must stay fast.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618531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BIGINT key, composite indexes on (Timestamp, DeviceId), 30-day detail + aggregated archive policy.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09441" y="4037135"/>
            <a:ext cx="5545915" cy="2657164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9441" y="4037135"/>
            <a:ext cx="5545915" cy="60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399649" y="4159023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F59E0B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839" y="4207778"/>
            <a:ext cx="438798" cy="43879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89525" y="4183401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Cross-Layer Data Flow Design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28839" y="4719709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28839" y="4805031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One sensor reading must flow cleanly: edge device → API → DB → SignalR → React chart.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828839" y="5670437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(Controller → Service → Repository → DB). SignalR notifies after DB write. DTOs decouple layers.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399133" y="4005792"/>
            <a:ext cx="5545915" cy="2657164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399133" y="4005792"/>
            <a:ext cx="5545915" cy="6094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1189341" y="4127681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A78BFA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1" y="4176436"/>
            <a:ext cx="438798" cy="43879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79217" y="4152058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 Compatibility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618531" y="4688367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618531" y="4773688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Supporting Arduino, ESP32, and Raspberry Pi — all with different hardware and communication capabilities.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618531" y="5639095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Flexible JSON payload format. HTTP POST endpoint for all devices. EdgeDeviceId as universal identifier.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0726166" y="6004760"/>
            <a:ext cx="1096994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70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9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39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09441" y="1073510"/>
            <a:ext cx="5545915" cy="463175"/>
          </a:xfrm>
          <a:prstGeom prst="rect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073510"/>
            <a:ext cx="73133" cy="463175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2273" y="1073510"/>
            <a:ext cx="524119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What's Been Achieved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0385" y="1707328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1743895"/>
            <a:ext cx="243777" cy="24377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2316" y="1658573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designed &amp; documented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70385" y="2316770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29" y="2353336"/>
            <a:ext cx="243777" cy="2437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2316" y="2268015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8-table SQL Server schema, 3NF normalized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70385" y="2926211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329" y="2962777"/>
            <a:ext cx="243777" cy="24377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2316" y="2877456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backend, Repository pattern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670385" y="3535652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9" y="3572218"/>
            <a:ext cx="243777" cy="24377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2316" y="3486897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real-time hub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70385" y="4145093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" y="4181660"/>
            <a:ext cx="243777" cy="24377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2316" y="4096338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 component hierarchy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70385" y="4754535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4791101"/>
            <a:ext cx="243777" cy="24377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82316" y="470578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design docs completed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70385" y="5363976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329" y="5400542"/>
            <a:ext cx="243777" cy="24377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182316" y="531522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Git + GitHub + 3-2-1 backup strategy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19"/>
          <p:cNvSpPr/>
          <p:nvPr/>
        </p:nvSpPr>
        <p:spPr>
          <a:xfrm>
            <a:off x="6435699" y="1073510"/>
            <a:ext cx="73133" cy="463175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18531" y="107351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1"/>
          <p:cNvSpPr/>
          <p:nvPr/>
        </p:nvSpPr>
        <p:spPr>
          <a:xfrm>
            <a:off x="6496643" y="1707328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7587" y="1743895"/>
            <a:ext cx="243777" cy="243777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008574" y="165857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Complete backend API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6496643" y="2194881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587" y="2231448"/>
            <a:ext cx="243777" cy="243777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008574" y="2146126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Build React frontend +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6496643" y="2682434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587" y="2719001"/>
            <a:ext cx="243777" cy="243777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008574" y="2633679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Integrate ESP32 devices &amp; sensors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6496643" y="3169987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587" y="3206554"/>
            <a:ext cx="243777" cy="243777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7008574" y="312123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End-to-end live demo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435699" y="3657541"/>
            <a:ext cx="5143684" cy="463175"/>
          </a:xfrm>
          <a:prstGeom prst="rect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435699" y="3657541"/>
            <a:ext cx="73133" cy="4631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 31"/>
          <p:cNvSpPr/>
          <p:nvPr/>
        </p:nvSpPr>
        <p:spPr>
          <a:xfrm>
            <a:off x="6618531" y="365754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6496643" y="426698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7587" y="4303548"/>
            <a:ext cx="243777" cy="243777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7008574" y="421822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Mobile app (iOS / Android)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6496643" y="4730157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587" y="4766723"/>
            <a:ext cx="243777" cy="243777"/>
          </a:xfrm>
          <a:prstGeom prst="rect">
            <a:avLst/>
          </a:prstGeom>
        </p:spPr>
      </p:pic>
      <p:sp>
        <p:nvSpPr>
          <p:cNvPr id="50" name="Text 35"/>
          <p:cNvSpPr/>
          <p:nvPr/>
        </p:nvSpPr>
        <p:spPr>
          <a:xfrm>
            <a:off x="7008574" y="468140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ML predictive maintenance &amp; anomaly detection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6496643" y="519333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7587" y="5229899"/>
            <a:ext cx="243777" cy="243777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7008574" y="514457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OAuth / JWT authentication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6496643" y="5656508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7587" y="5693074"/>
            <a:ext cx="243777" cy="243777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7008574" y="560775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Multi-tenant facility support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1"/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 42"/>
          <p:cNvSpPr/>
          <p:nvPr/>
        </p:nvSpPr>
        <p:spPr>
          <a:xfrm>
            <a:off x="609441" y="621719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stack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physical sensor to cloud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3"/>
          <p:cNvSpPr/>
          <p:nvPr/>
        </p:nvSpPr>
        <p:spPr>
          <a:xfrm>
            <a:off x="609441" y="6558481"/>
            <a:ext cx="10969943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Practical evidence of BAS Application Development program competency.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2742</TotalTime>
  <Words>1765</Words>
  <Application>Microsoft Office PowerPoint</Application>
  <PresentationFormat>Custom</PresentationFormat>
  <Paragraphs>413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Aptos</vt:lpstr>
      <vt:lpstr>Arial</vt:lpstr>
      <vt:lpstr>Calibri</vt:lpstr>
      <vt:lpstr>Candara</vt:lpstr>
      <vt:lpstr>Wingdings</vt:lpstr>
      <vt:lpstr>Office Theme</vt:lpstr>
      <vt:lpstr>1_Office Theme</vt:lpstr>
      <vt:lpstr>2_Office Theme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128</cp:revision>
  <dcterms:created xsi:type="dcterms:W3CDTF">2013-01-27T09:14:16Z</dcterms:created>
  <dcterms:modified xsi:type="dcterms:W3CDTF">2026-04-28T17:35:51Z</dcterms:modified>
  <cp:category/>
</cp:coreProperties>
</file>