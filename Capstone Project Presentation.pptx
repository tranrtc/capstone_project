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257" r:id="rId4"/>
    <p:sldId id="261" r:id="rId5"/>
    <p:sldId id="260" r:id="rId6"/>
    <p:sldId id="262" r:id="rId7"/>
    <p:sldId id="263" r:id="rId8"/>
    <p:sldId id="264" r:id="rId9"/>
    <p:sldId id="265" r:id="rId10"/>
    <p:sldId id="266" r:id="rId11"/>
    <p:sldId id="258" r:id="rId12"/>
    <p:sldId id="267" r:id="rId13"/>
    <p:sldId id="268" r:id="rId14"/>
    <p:sldId id="269" r:id="rId1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754880" y="50292"/>
            <a:ext cx="45719" cy="6807708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andara" panose="020E0502030303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-62283" y="2094045"/>
            <a:ext cx="4572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600" b="1" dirty="0">
                <a:solidFill>
                  <a:srgbClr val="00C896"/>
                </a:solidFill>
                <a:latin typeface="Candara" panose="020E0502030303020204" pitchFamily="34" charset="0"/>
              </a:rPr>
              <a:t>IoT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94" y="2825396"/>
            <a:ext cx="12824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Backend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7866" y="1969810"/>
            <a:ext cx="10307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 dirty="0">
                <a:solidFill>
                  <a:srgbClr val="009A72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React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3321" y="1987087"/>
            <a:ext cx="12824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Frontend SPA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05694" y="4228930"/>
            <a:ext cx="11832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 dirty="0" err="1">
                <a:solidFill>
                  <a:srgbClr val="00B8D4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SignalR</a:t>
            </a:r>
            <a:endParaRPr sz="1400" b="1" i="0" dirty="0">
              <a:solidFill>
                <a:srgbClr val="00B8D4"/>
              </a:solidFill>
              <a:latin typeface="Candara" panose="020E0502030303020204" pitchFamily="34" charset="0"/>
              <a:ea typeface="Cambria Math" panose="020405030504060302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517805" y="4246207"/>
            <a:ext cx="13859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Real-Time Hub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95663" y="3577086"/>
            <a:ext cx="122729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 dirty="0">
                <a:solidFill>
                  <a:srgbClr val="F0A500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SQL Server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6387" y="3570939"/>
            <a:ext cx="10577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Database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1657779"/>
            <a:ext cx="704088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200" b="1" dirty="0">
                <a:solidFill>
                  <a:srgbClr val="E8F5EE"/>
                </a:solidFill>
                <a:latin typeface="Candara" panose="020E0502030303020204" pitchFamily="34" charset="0"/>
              </a:rPr>
              <a:t>Web-Based IoT Device</a:t>
            </a:r>
          </a:p>
          <a:p>
            <a:pPr algn="r"/>
            <a:r>
              <a:rPr sz="3200" b="1" dirty="0">
                <a:solidFill>
                  <a:srgbClr val="00C896"/>
                </a:solidFill>
                <a:latin typeface="Candara" panose="020E0502030303020204" pitchFamily="34" charset="0"/>
              </a:rPr>
              <a:t>Real-Time Monitoring System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3583216"/>
            <a:ext cx="512064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b="1" dirty="0">
                <a:solidFill>
                  <a:srgbClr val="00C896"/>
                </a:solidFill>
                <a:latin typeface="Candara" panose="020E0502030303020204" pitchFamily="34" charset="0"/>
              </a:rPr>
              <a:t>CAPSTONE PROJECT</a:t>
            </a:r>
          </a:p>
          <a:p>
            <a:pPr algn="r"/>
            <a:endParaRPr lang="en-US" sz="1400" b="0" i="0" dirty="0">
              <a:solidFill>
                <a:srgbClr val="E8F5EE"/>
              </a:solidFill>
              <a:latin typeface="Candara" panose="020E0502030303020204" pitchFamily="34" charset="0"/>
            </a:endParaRPr>
          </a:p>
          <a:p>
            <a:pPr algn="r"/>
            <a:r>
              <a:rPr sz="1400" b="0" i="0" dirty="0">
                <a:solidFill>
                  <a:srgbClr val="E8F5EE"/>
                </a:solidFill>
                <a:latin typeface="Candara" panose="020E0502030303020204" pitchFamily="34" charset="0"/>
              </a:rPr>
              <a:t>BAS — Application Development</a:t>
            </a:r>
            <a:endParaRPr lang="en-US" sz="1400" b="0" i="0" dirty="0">
              <a:solidFill>
                <a:srgbClr val="E8F5EE"/>
              </a:solidFill>
              <a:latin typeface="Candara" panose="020E0502030303020204" pitchFamily="34" charset="0"/>
            </a:endParaRPr>
          </a:p>
          <a:p>
            <a:pPr algn="r"/>
            <a:r>
              <a:rPr lang="en-US" sz="1400" b="0" i="0" dirty="0">
                <a:solidFill>
                  <a:srgbClr val="E8F5EE"/>
                </a:solidFill>
                <a:latin typeface="Candara" panose="020E0502030303020204" pitchFamily="34" charset="0"/>
              </a:rPr>
              <a:t>Instructor</a:t>
            </a:r>
          </a:p>
          <a:p>
            <a:pPr algn="r"/>
            <a:r>
              <a:rPr lang="en-US" sz="1400" dirty="0">
                <a:solidFill>
                  <a:srgbClr val="E8F5EE"/>
                </a:solidFill>
                <a:latin typeface="Candara" panose="020E0502030303020204" pitchFamily="34" charset="0"/>
              </a:rPr>
              <a:t>Student</a:t>
            </a:r>
          </a:p>
        </p:txBody>
      </p:sp>
      <p:sp>
        <p:nvSpPr>
          <p:cNvPr id="45" name="Rectangle 44"/>
          <p:cNvSpPr/>
          <p:nvPr/>
        </p:nvSpPr>
        <p:spPr>
          <a:xfrm flipV="1">
            <a:off x="0" y="6857999"/>
            <a:ext cx="12188952" cy="45719"/>
          </a:xfrm>
          <a:prstGeom prst="rect">
            <a:avLst/>
          </a:prstGeom>
          <a:solidFill>
            <a:srgbClr val="0E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andara" panose="020E0502030303020204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71D83F4-9365-79B9-0BBD-C1AA74F11C60}"/>
              </a:ext>
            </a:extLst>
          </p:cNvPr>
          <p:cNvSpPr txBox="1"/>
          <p:nvPr/>
        </p:nvSpPr>
        <p:spPr>
          <a:xfrm>
            <a:off x="2950930" y="2734997"/>
            <a:ext cx="163286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009A72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C#, ASP.net core, Restful</a:t>
            </a:r>
            <a:endParaRPr sz="1400" b="1" i="0" dirty="0">
              <a:solidFill>
                <a:srgbClr val="009A72"/>
              </a:solidFill>
              <a:latin typeface="Candara" panose="020E0502030303020204" pitchFamily="34" charset="0"/>
              <a:ea typeface="Cambria Math" panose="020405030504060302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320272" y="6492240"/>
            <a:ext cx="7498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6A8A78"/>
                </a:solidFill>
                <a:latin typeface="Candara" panose="020E0502030303020204" pitchFamily="34" charset="0"/>
              </a:rPr>
              <a:t>4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"/>
            <a:ext cx="155813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96"/>
                </a:solidFill>
                <a:latin typeface="Candara" panose="020E0502030303020204" pitchFamily="34" charset="0"/>
              </a:rPr>
              <a:t>GOALS &amp; SCOPE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429768"/>
            <a:ext cx="1558137" cy="2286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" y="475488"/>
            <a:ext cx="112471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E8F5EE"/>
                </a:solidFill>
                <a:latin typeface="Candara" panose="020E0502030303020204" pitchFamily="34" charset="0"/>
              </a:rPr>
              <a:t>Project Goals &amp;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115568"/>
            <a:ext cx="11155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A8A78"/>
                </a:solidFill>
                <a:latin typeface="Candara" panose="020E0502030303020204" pitchFamily="34" charset="0"/>
              </a:rPr>
              <a:t>Six core objectives — each maps directly to a program competency demonstrated in this project.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508760"/>
            <a:ext cx="5376672" cy="1280160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21792" y="1508760"/>
            <a:ext cx="5376672" cy="64008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58952" y="1618488"/>
            <a:ext cx="5120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96"/>
                </a:solidFill>
                <a:latin typeface="Candara" panose="020E0502030303020204" pitchFamily="34" charset="0"/>
              </a:rPr>
              <a:t>Real-Time Monitoring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2039112"/>
            <a:ext cx="5120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9EC4AE"/>
                </a:solidFill>
                <a:latin typeface="Candara" panose="020E0502030303020204" pitchFamily="34" charset="0"/>
              </a:rPr>
              <a:t>Live sensor data streaming with &lt;2 sec latency via </a:t>
            </a:r>
            <a:r>
              <a:rPr sz="1400" b="0" i="0" dirty="0" err="1">
                <a:solidFill>
                  <a:srgbClr val="9EC4AE"/>
                </a:solidFill>
                <a:latin typeface="Candara" panose="020E0502030303020204" pitchFamily="34" charset="0"/>
              </a:rPr>
              <a:t>SignalR</a:t>
            </a:r>
            <a:r>
              <a:rPr sz="1400" b="0" i="0" dirty="0">
                <a:solidFill>
                  <a:srgbClr val="9EC4AE"/>
                </a:solidFill>
                <a:latin typeface="Candara" panose="020E0502030303020204" pitchFamily="34" charset="0"/>
              </a:rPr>
              <a:t> WebSocket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28231" y="1508760"/>
            <a:ext cx="5376672" cy="1280160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428231" y="1508760"/>
            <a:ext cx="5376672" cy="64008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565392" y="1618488"/>
            <a:ext cx="5120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09A72"/>
                </a:solidFill>
                <a:latin typeface="Candara" panose="020E0502030303020204" pitchFamily="34" charset="0"/>
              </a:rPr>
              <a:t>Device Management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5392" y="2039112"/>
            <a:ext cx="5120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9EC4AE"/>
                </a:solidFill>
                <a:latin typeface="Candara" panose="020E0502030303020204" pitchFamily="34" charset="0"/>
              </a:rPr>
              <a:t>Register, configure, and track IoT devices (Arduino, ESP32, Raspberry Pi)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" y="2926080"/>
            <a:ext cx="5376672" cy="1280160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21792" y="2926080"/>
            <a:ext cx="5376672" cy="64008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58952" y="3035808"/>
            <a:ext cx="5120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96"/>
                </a:solidFill>
                <a:latin typeface="Candara" panose="020E0502030303020204" pitchFamily="34" charset="0"/>
              </a:rPr>
              <a:t>Interactive Dashboard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" y="3456432"/>
            <a:ext cx="5120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Visualize data with Chart.js — live charts, gauges, historical trends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28231" y="2926080"/>
            <a:ext cx="5376672" cy="1280160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428231" y="2926080"/>
            <a:ext cx="5376672" cy="64008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565392" y="3035808"/>
            <a:ext cx="5120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9A72"/>
                </a:solidFill>
                <a:latin typeface="Candara" panose="020E0502030303020204" pitchFamily="34" charset="0"/>
              </a:rPr>
              <a:t>Alerting System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65392" y="3456432"/>
            <a:ext cx="5120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Threshold-based alerts with real-time notifications and acknowledgement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" y="4343400"/>
            <a:ext cx="5376672" cy="1280160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21792" y="4343400"/>
            <a:ext cx="5376672" cy="64008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58952" y="4453128"/>
            <a:ext cx="5120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96"/>
                </a:solidFill>
                <a:latin typeface="Candara" panose="020E0502030303020204" pitchFamily="34" charset="0"/>
              </a:rPr>
              <a:t>Historical Analysis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" y="4873752"/>
            <a:ext cx="5120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Query, filter, and export sensor data by device, type, and date range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28231" y="4343400"/>
            <a:ext cx="5376672" cy="1280160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6428231" y="4343400"/>
            <a:ext cx="5376672" cy="64008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565392" y="4453128"/>
            <a:ext cx="5120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9A72"/>
                </a:solidFill>
                <a:latin typeface="Candara" panose="020E0502030303020204" pitchFamily="34" charset="0"/>
              </a:rPr>
              <a:t>Capstone Integration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65392" y="4873752"/>
            <a:ext cx="5120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Demonstrates: C#, React, SQL, REST APIs, SignalR, software engineering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" y="6080760"/>
            <a:ext cx="10972800" cy="347472"/>
          </a:xfrm>
          <a:prstGeom prst="rect">
            <a:avLst/>
          </a:prstGeom>
          <a:solidFill>
            <a:srgbClr val="3A2800"/>
          </a:solidFill>
          <a:ln w="9525">
            <a:solidFill>
              <a:srgbClr val="F0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804672" y="6108192"/>
            <a:ext cx="106070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A500"/>
                </a:solidFill>
                <a:latin typeface="Candara" panose="020E0502030303020204" pitchFamily="34" charset="0"/>
              </a:rPr>
              <a:t>OUT OF SCOPE:  Advanced Auth/OAuth  ·  RBAC  ·  Mobile App  ·  ML Analytics  ·  Multi-tenancy  ·  ERP Integration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320272" y="6492240"/>
            <a:ext cx="749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A8A78"/>
                </a:solidFill>
                <a:latin typeface="Calibri"/>
              </a:rPr>
              <a:t>2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7548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dirty="0">
                <a:solidFill>
                  <a:srgbClr val="E8F5EE"/>
                </a:solidFill>
                <a:latin typeface="Georgia"/>
              </a:rPr>
              <a:t>Presentation Agenda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261872"/>
            <a:ext cx="3383280" cy="841248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94944" y="1371600"/>
            <a:ext cx="4023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00C896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144" y="1353312"/>
            <a:ext cx="47365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E8F5EE"/>
                </a:solidFill>
                <a:latin typeface="Calibri"/>
              </a:rPr>
              <a:t>Problem 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" y="1719072"/>
            <a:ext cx="4736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000" b="0" i="0" dirty="0">
                <a:solidFill>
                  <a:srgbClr val="9EC4AE"/>
                </a:solidFill>
                <a:latin typeface="Calibri"/>
              </a:rPr>
              <a:t>Why IoT monitoring matters in industrial settings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28231" y="1261872"/>
            <a:ext cx="5376672" cy="841248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01383" y="1371600"/>
            <a:ext cx="40233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00C896"/>
                </a:solidFill>
                <a:latin typeface="Calibri"/>
              </a:rPr>
              <a:t>0</a:t>
            </a:r>
            <a:r>
              <a:rPr lang="en-US" sz="1100" b="1" i="0" dirty="0">
                <a:solidFill>
                  <a:srgbClr val="00C896"/>
                </a:solidFill>
                <a:latin typeface="Calibri"/>
              </a:rPr>
              <a:t>2</a:t>
            </a:r>
            <a:endParaRPr sz="1100" b="1" i="0" dirty="0">
              <a:solidFill>
                <a:srgbClr val="00C896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958583" y="1353312"/>
            <a:ext cx="473659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E8F5EE"/>
                </a:solidFill>
                <a:latin typeface="Calibri"/>
              </a:rPr>
              <a:t>Project </a:t>
            </a:r>
            <a:r>
              <a:rPr lang="en-US" sz="1200" b="1" i="0" dirty="0">
                <a:solidFill>
                  <a:srgbClr val="E8F5EE"/>
                </a:solidFill>
                <a:latin typeface="Calibri"/>
              </a:rPr>
              <a:t>Statement, </a:t>
            </a:r>
            <a:r>
              <a:rPr sz="1200" b="1" i="0" dirty="0">
                <a:solidFill>
                  <a:srgbClr val="E8F5EE"/>
                </a:solidFill>
                <a:latin typeface="Calibri"/>
              </a:rPr>
              <a:t>Goals &amp; 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58583" y="1719072"/>
            <a:ext cx="4736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9EC4AE"/>
                </a:solidFill>
                <a:latin typeface="Calibri"/>
              </a:rPr>
              <a:t>Objectives, requirements, and capstone boundaries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" y="2231136"/>
            <a:ext cx="3383280" cy="841248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94944" y="2340864"/>
            <a:ext cx="4023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00C896"/>
                </a:solidFill>
                <a:latin typeface="Calibri"/>
              </a:rPr>
              <a:t>0</a:t>
            </a:r>
            <a:r>
              <a:rPr lang="en-US" sz="1100" b="1" i="0" dirty="0">
                <a:solidFill>
                  <a:srgbClr val="00C896"/>
                </a:solidFill>
                <a:latin typeface="Calibri"/>
              </a:rPr>
              <a:t>3</a:t>
            </a:r>
            <a:endParaRPr sz="1100" b="1" i="0" dirty="0">
              <a:solidFill>
                <a:srgbClr val="00C896"/>
              </a:solidFill>
              <a:latin typeface="Calibri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152144" y="2322576"/>
            <a:ext cx="47365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F5EE"/>
                </a:solidFill>
                <a:latin typeface="Calibri"/>
              </a:rPr>
              <a:t>System Architecture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" y="2688336"/>
            <a:ext cx="4736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C4AE"/>
                </a:solidFill>
                <a:latin typeface="Calibri"/>
              </a:rPr>
              <a:t>Five-layer: Edge → API → DB → SignalR → React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28231" y="2231136"/>
            <a:ext cx="5376672" cy="841248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01383" y="2340864"/>
            <a:ext cx="40233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00C896"/>
                </a:solidFill>
                <a:latin typeface="Calibri"/>
              </a:rPr>
              <a:t>0</a:t>
            </a:r>
            <a:r>
              <a:rPr lang="en-US" sz="1100" b="1" i="0" dirty="0">
                <a:solidFill>
                  <a:srgbClr val="00C896"/>
                </a:solidFill>
                <a:latin typeface="Calibri"/>
              </a:rPr>
              <a:t>4</a:t>
            </a:r>
            <a:endParaRPr sz="1100" b="1" i="0" dirty="0">
              <a:solidFill>
                <a:srgbClr val="00C896"/>
              </a:solidFill>
              <a:latin typeface="Calibr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958583" y="2322576"/>
            <a:ext cx="473659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F5EE"/>
                </a:solidFill>
                <a:latin typeface="Calibri"/>
              </a:rPr>
              <a:t>Technology Stack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58583" y="2688336"/>
            <a:ext cx="473659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C4AE"/>
                </a:solidFill>
                <a:latin typeface="Calibri"/>
              </a:rPr>
              <a:t>C#, ASP.NET Core, React, SignalR, SQL Server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" y="3200400"/>
            <a:ext cx="3383280" cy="841248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94944" y="3310128"/>
            <a:ext cx="4023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00C896"/>
                </a:solidFill>
                <a:latin typeface="Calibri"/>
              </a:rPr>
              <a:t>0</a:t>
            </a:r>
            <a:r>
              <a:rPr lang="en-US" sz="1100" b="1" i="0" dirty="0">
                <a:solidFill>
                  <a:srgbClr val="00C896"/>
                </a:solidFill>
                <a:latin typeface="Calibri"/>
              </a:rPr>
              <a:t>5</a:t>
            </a:r>
            <a:endParaRPr sz="1100" b="1" i="0" dirty="0">
              <a:solidFill>
                <a:srgbClr val="00C896"/>
              </a:solidFill>
              <a:latin typeface="Calibri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152144" y="3291840"/>
            <a:ext cx="47365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F5EE"/>
                </a:solidFill>
                <a:latin typeface="Calibri"/>
              </a:rPr>
              <a:t>Database Design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52144" y="3657600"/>
            <a:ext cx="4736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C4AE"/>
                </a:solidFill>
                <a:latin typeface="Calibri"/>
              </a:rPr>
              <a:t>8-table schema: devices, sensors, readings, alerts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28231" y="3200400"/>
            <a:ext cx="5376672" cy="841248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501383" y="3310128"/>
            <a:ext cx="40233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96"/>
                </a:solidFill>
                <a:latin typeface="Calibri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58583" y="3291840"/>
            <a:ext cx="473659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F5EE"/>
                </a:solidFill>
                <a:latin typeface="Calibri"/>
              </a:rPr>
              <a:t>Backend &amp; API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58583" y="3657600"/>
            <a:ext cx="473659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C4AE"/>
                </a:solidFill>
                <a:latin typeface="Calibri"/>
              </a:rPr>
              <a:t>Layered architecture, services, repositories, DTOs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" y="4169664"/>
            <a:ext cx="3383280" cy="841248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94944" y="4279392"/>
            <a:ext cx="4023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96"/>
                </a:solidFill>
                <a:latin typeface="Calibri"/>
              </a:rPr>
              <a:t>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52144" y="4261104"/>
            <a:ext cx="47365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F5EE"/>
                </a:solidFill>
                <a:latin typeface="Calibri"/>
              </a:rPr>
              <a:t>Frontend Design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52144" y="4626864"/>
            <a:ext cx="4736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C4AE"/>
                </a:solidFill>
                <a:latin typeface="Calibri"/>
              </a:rPr>
              <a:t>React SPA, pages, real-time charts, SignalR client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28231" y="4169664"/>
            <a:ext cx="5376672" cy="841248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501383" y="4279392"/>
            <a:ext cx="40233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96"/>
                </a:solidFill>
                <a:latin typeface="Calibri"/>
              </a:rPr>
              <a:t>08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58583" y="4261104"/>
            <a:ext cx="473659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F5EE"/>
                </a:solidFill>
                <a:latin typeface="Calibri"/>
              </a:rPr>
              <a:t>Key Features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58583" y="4626864"/>
            <a:ext cx="473659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C4AE"/>
                </a:solidFill>
                <a:latin typeface="Calibri"/>
              </a:rPr>
              <a:t>Streaming, dashboards, alerting, device management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1792" y="5138928"/>
            <a:ext cx="3383280" cy="841248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94944" y="5248656"/>
            <a:ext cx="4023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96"/>
                </a:solidFill>
                <a:latin typeface="Calibri"/>
              </a:rPr>
              <a:t>09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52144" y="5230368"/>
            <a:ext cx="47365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F5EE"/>
                </a:solidFill>
                <a:latin typeface="Calibri"/>
              </a:rPr>
              <a:t>Live Demo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52144" y="5596128"/>
            <a:ext cx="4736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C4AE"/>
                </a:solidFill>
                <a:latin typeface="Calibri"/>
              </a:rPr>
              <a:t>Edge device → API → SignalR → Dashboard — live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28231" y="5138928"/>
            <a:ext cx="5376672" cy="841248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501383" y="5248656"/>
            <a:ext cx="40233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96"/>
                </a:solidFill>
                <a:latin typeface="Calibri"/>
              </a:rP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58583" y="5230368"/>
            <a:ext cx="473659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F5EE"/>
                </a:solidFill>
                <a:latin typeface="Calibri"/>
              </a:rPr>
              <a:t>Challenges &amp; Solutions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58583" y="5596128"/>
            <a:ext cx="473659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C4AE"/>
                </a:solidFill>
                <a:latin typeface="Calibri"/>
              </a:rPr>
              <a:t>Real-time sync, data volume, cross-layer design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21792" y="6108192"/>
            <a:ext cx="3383280" cy="841248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94944" y="6217920"/>
            <a:ext cx="4023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96"/>
                </a:solidFill>
                <a:latin typeface="Calibri"/>
              </a:rPr>
              <a:t>11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52144" y="6199632"/>
            <a:ext cx="47365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F5EE"/>
                </a:solidFill>
                <a:latin typeface="Calibri"/>
              </a:rPr>
              <a:t>Conclusion &amp; Future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52144" y="6565392"/>
            <a:ext cx="4736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C4AE"/>
                </a:solidFill>
                <a:latin typeface="Calibri"/>
              </a:rPr>
              <a:t>Current status, next steps, lessons learned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E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85800" y="6583680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A8A78"/>
                </a:solidFill>
                <a:latin typeface="Calibri"/>
              </a:rPr>
              <a:t>11 topics  ·  14 slides  ·  10–15 minutes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320272" y="6492240"/>
            <a:ext cx="749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A8A78"/>
                </a:solidFill>
                <a:latin typeface="Calibri"/>
              </a:rPr>
              <a:t>6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"/>
            <a:ext cx="1854403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896"/>
                </a:solidFill>
                <a:latin typeface="Calibri"/>
              </a:rPr>
              <a:t>TECHNOLOGY 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429768"/>
            <a:ext cx="1854403" cy="2286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475488"/>
            <a:ext cx="112471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8F5EE"/>
                </a:solidFill>
                <a:latin typeface="Candara" panose="020E0502030303020204" pitchFamily="34" charset="0"/>
              </a:rPr>
              <a:t>Technology Stack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115568"/>
            <a:ext cx="11155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A8A78"/>
                </a:solidFill>
                <a:latin typeface="Candara" panose="020E0502030303020204" pitchFamily="34" charset="0"/>
              </a:rPr>
              <a:t>Every technology was chosen deliberately — not just familiarity, but fit for purpose.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536192"/>
            <a:ext cx="5376672" cy="1316736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21792" y="1536192"/>
            <a:ext cx="5376672" cy="64008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77240" y="1627632"/>
            <a:ext cx="919886" cy="210312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13816" y="1627632"/>
            <a:ext cx="91988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141E1A"/>
                </a:solidFill>
                <a:latin typeface="Candara" panose="020E0502030303020204" pitchFamily="34" charset="0"/>
              </a:rPr>
              <a:t>Backend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920240"/>
            <a:ext cx="50749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F5EE"/>
                </a:solidFill>
                <a:latin typeface="Candara" panose="020E0502030303020204" pitchFamily="34" charset="0"/>
              </a:rPr>
              <a:t>C# / ASP.NET Core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295144"/>
            <a:ext cx="5074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Type-safe, high-performance, cross-platform. Industry standard for enterprise APIs. Native SignalR support.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28231" y="1536192"/>
            <a:ext cx="5376672" cy="1316736"/>
          </a:xfrm>
          <a:prstGeom prst="rect">
            <a:avLst/>
          </a:prstGeom>
          <a:solidFill>
            <a:srgbClr val="172620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428231" y="1536192"/>
            <a:ext cx="5376672" cy="64008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583679" y="1627632"/>
            <a:ext cx="1009497" cy="210312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620255" y="1627632"/>
            <a:ext cx="100949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41E1A"/>
                </a:solidFill>
                <a:latin typeface="Candara" panose="020E0502030303020204" pitchFamily="34" charset="0"/>
              </a:rPr>
              <a:t>Frontend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79" y="1920240"/>
            <a:ext cx="50749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F5EE"/>
                </a:solidFill>
                <a:latin typeface="Candara" panose="020E0502030303020204" pitchFamily="34" charset="0"/>
              </a:rPr>
              <a:t>React 18 + TypeScript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79" y="2295144"/>
            <a:ext cx="5074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Component-based SPA. Hooks-based state, React Router v6, reusable device and chart component library.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" y="2999232"/>
            <a:ext cx="5376672" cy="1316736"/>
          </a:xfrm>
          <a:prstGeom prst="rect">
            <a:avLst/>
          </a:prstGeom>
          <a:solidFill>
            <a:srgbClr val="002A34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21792" y="2999232"/>
            <a:ext cx="5376672" cy="64008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77240" y="3090672"/>
            <a:ext cx="1099108" cy="210312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13816" y="3090672"/>
            <a:ext cx="10991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41E1A"/>
                </a:solidFill>
                <a:latin typeface="Candara" panose="020E0502030303020204" pitchFamily="34" charset="0"/>
              </a:rPr>
              <a:t>Real-Time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383280"/>
            <a:ext cx="50749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F5EE"/>
                </a:solidFill>
                <a:latin typeface="Candara" panose="020E0502030303020204" pitchFamily="34" charset="0"/>
              </a:rPr>
              <a:t>SignalR (WebSocket)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758184"/>
            <a:ext cx="5074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Server-to-client push over WebSocket. Enables &lt;2 sec live sensor streaming without polling. Native to ASP.NET.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28231" y="2999232"/>
            <a:ext cx="5376672" cy="1316736"/>
          </a:xfrm>
          <a:prstGeom prst="rect">
            <a:avLst/>
          </a:prstGeom>
          <a:solidFill>
            <a:srgbClr val="3A2800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428231" y="2999232"/>
            <a:ext cx="5376672" cy="6400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583679" y="3090672"/>
            <a:ext cx="1009497" cy="21031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620255" y="3090672"/>
            <a:ext cx="100949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41E1A"/>
                </a:solidFill>
                <a:latin typeface="Candara" panose="020E0502030303020204" pitchFamily="34" charset="0"/>
              </a:rPr>
              <a:t>Database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79" y="3383280"/>
            <a:ext cx="50749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F5EE"/>
                </a:solidFill>
                <a:latin typeface="Candara" panose="020E0502030303020204" pitchFamily="34" charset="0"/>
              </a:rPr>
              <a:t>SQL Server + EF Core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79" y="3758184"/>
            <a:ext cx="5074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Relational DB with strong consistency for time-series data. EF Core migrations version-control the schema.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" y="4462272"/>
            <a:ext cx="5376672" cy="1316736"/>
          </a:xfrm>
          <a:prstGeom prst="rect">
            <a:avLst/>
          </a:prstGeom>
          <a:solidFill>
            <a:srgbClr val="0A203A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621792" y="4462272"/>
            <a:ext cx="5376672" cy="64008"/>
          </a:xfrm>
          <a:prstGeom prst="rect">
            <a:avLst/>
          </a:prstGeom>
          <a:solidFill>
            <a:srgbClr val="4D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777240" y="4553712"/>
            <a:ext cx="1457553" cy="210312"/>
          </a:xfrm>
          <a:prstGeom prst="rect">
            <a:avLst/>
          </a:prstGeom>
          <a:solidFill>
            <a:srgbClr val="4D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813816" y="4553712"/>
            <a:ext cx="14575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41E1A"/>
                </a:solidFill>
                <a:latin typeface="Candara" panose="020E0502030303020204" pitchFamily="34" charset="0"/>
              </a:rPr>
              <a:t>Visualization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4846320"/>
            <a:ext cx="50749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F5EE"/>
                </a:solidFill>
                <a:latin typeface="Candara" panose="020E0502030303020204" pitchFamily="34" charset="0"/>
              </a:rPr>
              <a:t>Chart.js / Recharts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221224"/>
            <a:ext cx="5074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Interactive line, bar, gauge, and real-time streaming charts. 50-point rolling window for live sensor feeds.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28231" y="4462272"/>
            <a:ext cx="5376672" cy="1316736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6428231" y="4462272"/>
            <a:ext cx="5376672" cy="64008"/>
          </a:xfrm>
          <a:prstGeom prst="rect">
            <a:avLst/>
          </a:prstGeom>
          <a:solidFill>
            <a:srgbClr val="6A8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6583679" y="4553712"/>
            <a:ext cx="830275" cy="210312"/>
          </a:xfrm>
          <a:prstGeom prst="rect">
            <a:avLst/>
          </a:prstGeom>
          <a:solidFill>
            <a:srgbClr val="6A8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620255" y="4553712"/>
            <a:ext cx="8302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41E1A"/>
                </a:solidFill>
                <a:latin typeface="Candara" panose="020E0502030303020204" pitchFamily="34" charset="0"/>
              </a:rPr>
              <a:t>DevOps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79" y="4846320"/>
            <a:ext cx="50749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F5EE"/>
                </a:solidFill>
                <a:latin typeface="Candara" panose="020E0502030303020204" pitchFamily="34" charset="0"/>
              </a:rPr>
              <a:t>Git + GitHub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79" y="5221224"/>
            <a:ext cx="5074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Full version control with regular commits. 3-2-1 backup: GitHub primary + Google Drive ZIP snapshots.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320272" y="6492240"/>
            <a:ext cx="749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A8A78"/>
                </a:solidFill>
                <a:latin typeface="Calibri"/>
              </a:rPr>
              <a:t>5 /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82880"/>
            <a:ext cx="215066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896"/>
                </a:solidFill>
                <a:latin typeface="Calibri"/>
              </a:rP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429768"/>
            <a:ext cx="2150668" cy="2286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 dirty="0">
                <a:solidFill>
                  <a:srgbClr val="E8F5EE"/>
                </a:solidFill>
                <a:latin typeface="Georgia"/>
              </a:rPr>
              <a:t>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24128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C896"/>
                </a:solidFill>
                <a:latin typeface="Georgia"/>
              </a:rPr>
              <a:t>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A8A78"/>
                </a:solidFill>
                <a:latin typeface="Calibri"/>
              </a:rPr>
              <a:t>Five layers — from physical sensor to browser dashboard.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" y="1993392"/>
            <a:ext cx="2194560" cy="2395728"/>
          </a:xfrm>
          <a:prstGeom prst="rect">
            <a:avLst/>
          </a:prstGeom>
          <a:solidFill>
            <a:srgbClr val="1C2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9" name="Rectangle 8"/>
          <p:cNvSpPr/>
          <p:nvPr/>
        </p:nvSpPr>
        <p:spPr>
          <a:xfrm>
            <a:off x="608076" y="1993392"/>
            <a:ext cx="45720" cy="2395728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10" name="TextBox 9"/>
          <p:cNvSpPr txBox="1"/>
          <p:nvPr/>
        </p:nvSpPr>
        <p:spPr>
          <a:xfrm>
            <a:off x="772668" y="2157984"/>
            <a:ext cx="1938528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96"/>
                </a:solidFill>
                <a:latin typeface="Calibri"/>
              </a:rPr>
              <a:t>Edge Devices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8" y="2615184"/>
            <a:ext cx="1938528" cy="1007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 dirty="0">
                <a:solidFill>
                  <a:srgbClr val="9EC4AE"/>
                </a:solidFill>
                <a:latin typeface="Calibri"/>
              </a:rPr>
              <a:t>Arduino</a:t>
            </a:r>
            <a:endParaRPr lang="en-US" sz="1300" dirty="0">
              <a:solidFill>
                <a:srgbClr val="9EC4AE"/>
              </a:solidFill>
              <a:latin typeface="Calibri"/>
            </a:endParaRPr>
          </a:p>
          <a:p>
            <a:pPr>
              <a:spcBef>
                <a:spcPts val="300"/>
              </a:spcBef>
            </a:pPr>
            <a:r>
              <a:rPr sz="1300" dirty="0">
                <a:solidFill>
                  <a:srgbClr val="9EC4AE"/>
                </a:solidFill>
                <a:latin typeface="Calibri"/>
              </a:rPr>
              <a:t>ESP32</a:t>
            </a:r>
          </a:p>
          <a:p>
            <a:pPr>
              <a:spcBef>
                <a:spcPts val="300"/>
              </a:spcBef>
            </a:pPr>
            <a:r>
              <a:rPr sz="1300" dirty="0">
                <a:solidFill>
                  <a:srgbClr val="9EC4AE"/>
                </a:solidFill>
                <a:latin typeface="Calibri"/>
              </a:rPr>
              <a:t>Raspberry Pi</a:t>
            </a:r>
          </a:p>
          <a:p>
            <a:pPr>
              <a:spcBef>
                <a:spcPts val="300"/>
              </a:spcBef>
            </a:pPr>
            <a:r>
              <a:rPr sz="1300" dirty="0">
                <a:solidFill>
                  <a:srgbClr val="9EC4AE"/>
                </a:solidFill>
                <a:latin typeface="Calibri"/>
              </a:rPr>
              <a:t>Sensors &amp; Actuators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02636" y="1993392"/>
            <a:ext cx="2194560" cy="2395728"/>
          </a:xfrm>
          <a:prstGeom prst="rect">
            <a:avLst/>
          </a:prstGeom>
          <a:solidFill>
            <a:srgbClr val="1C2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13" name="Rectangle 12"/>
          <p:cNvSpPr/>
          <p:nvPr/>
        </p:nvSpPr>
        <p:spPr>
          <a:xfrm>
            <a:off x="2802636" y="1993392"/>
            <a:ext cx="45720" cy="2395728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14" name="Rectangle 13"/>
          <p:cNvSpPr/>
          <p:nvPr/>
        </p:nvSpPr>
        <p:spPr>
          <a:xfrm>
            <a:off x="2802636" y="1993392"/>
            <a:ext cx="16459" cy="2395728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15" name="TextBox 14"/>
          <p:cNvSpPr txBox="1"/>
          <p:nvPr/>
        </p:nvSpPr>
        <p:spPr>
          <a:xfrm>
            <a:off x="2967228" y="2157984"/>
            <a:ext cx="1938528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9A72"/>
                </a:solidFill>
                <a:latin typeface="Calibri"/>
              </a:rPr>
              <a:t>Backend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67228" y="2615184"/>
            <a:ext cx="193852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9EC4AE"/>
                </a:solidFill>
                <a:latin typeface="Calibri"/>
              </a:rPr>
              <a:t>ASP.NET Core 8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9EC4AE"/>
                </a:solidFill>
                <a:latin typeface="Calibri"/>
              </a:rPr>
              <a:t>RESTful + SignalR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9EC4AE"/>
                </a:solidFill>
                <a:latin typeface="Calibri"/>
              </a:rPr>
              <a:t>Hub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97196" y="1993392"/>
            <a:ext cx="2194560" cy="2395728"/>
          </a:xfrm>
          <a:prstGeom prst="rect">
            <a:avLst/>
          </a:prstGeom>
          <a:solidFill>
            <a:srgbClr val="1C2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18" name="Rectangle 17"/>
          <p:cNvSpPr/>
          <p:nvPr/>
        </p:nvSpPr>
        <p:spPr>
          <a:xfrm>
            <a:off x="4997196" y="1993392"/>
            <a:ext cx="45720" cy="2395728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19" name="Rectangle 18"/>
          <p:cNvSpPr/>
          <p:nvPr/>
        </p:nvSpPr>
        <p:spPr>
          <a:xfrm>
            <a:off x="4997196" y="1993392"/>
            <a:ext cx="16459" cy="2395728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20" name="TextBox 19"/>
          <p:cNvSpPr txBox="1"/>
          <p:nvPr/>
        </p:nvSpPr>
        <p:spPr>
          <a:xfrm>
            <a:off x="5161788" y="2157984"/>
            <a:ext cx="1938528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96"/>
                </a:solidFill>
                <a:latin typeface="Calibri"/>
              </a:rPr>
              <a:t>Database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1788" y="2615184"/>
            <a:ext cx="193852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9EC4AE"/>
                </a:solidFill>
                <a:latin typeface="Calibri"/>
              </a:rPr>
              <a:t>SQL Server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9EC4AE"/>
                </a:solidFill>
                <a:latin typeface="Calibri"/>
              </a:rPr>
              <a:t>8 Tables · 3NF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9EC4AE"/>
                </a:solidFill>
                <a:latin typeface="Calibri"/>
              </a:rPr>
              <a:t>EF Core ORM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91755" y="1993392"/>
            <a:ext cx="2194560" cy="2395728"/>
          </a:xfrm>
          <a:prstGeom prst="rect">
            <a:avLst/>
          </a:prstGeom>
          <a:solidFill>
            <a:srgbClr val="1C2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23" name="Rectangle 22"/>
          <p:cNvSpPr/>
          <p:nvPr/>
        </p:nvSpPr>
        <p:spPr>
          <a:xfrm>
            <a:off x="7191755" y="1993392"/>
            <a:ext cx="45720" cy="2395728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24" name="Rectangle 23"/>
          <p:cNvSpPr/>
          <p:nvPr/>
        </p:nvSpPr>
        <p:spPr>
          <a:xfrm>
            <a:off x="7191755" y="1993392"/>
            <a:ext cx="16459" cy="2395728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25" name="TextBox 24"/>
          <p:cNvSpPr txBox="1"/>
          <p:nvPr/>
        </p:nvSpPr>
        <p:spPr>
          <a:xfrm>
            <a:off x="7356348" y="2157984"/>
            <a:ext cx="1938528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8D4"/>
                </a:solidFill>
                <a:latin typeface="Calibri"/>
              </a:rPr>
              <a:t>Real-Time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56348" y="2615184"/>
            <a:ext cx="193852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9EC4AE"/>
                </a:solidFill>
                <a:latin typeface="Calibri"/>
              </a:rPr>
              <a:t>SignalR WebSocket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9EC4AE"/>
                </a:solidFill>
                <a:latin typeface="Calibri"/>
              </a:rPr>
              <a:t>Server Push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9EC4AE"/>
                </a:solidFill>
                <a:latin typeface="Calibri"/>
              </a:rPr>
              <a:t>&lt;2 sec latency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86316" y="1993392"/>
            <a:ext cx="2194560" cy="2395728"/>
          </a:xfrm>
          <a:prstGeom prst="rect">
            <a:avLst/>
          </a:prstGeom>
          <a:solidFill>
            <a:srgbClr val="1C2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28" name="Rectangle 27"/>
          <p:cNvSpPr/>
          <p:nvPr/>
        </p:nvSpPr>
        <p:spPr>
          <a:xfrm>
            <a:off x="9386316" y="1993392"/>
            <a:ext cx="45720" cy="2395728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29" name="Rectangle 28"/>
          <p:cNvSpPr/>
          <p:nvPr/>
        </p:nvSpPr>
        <p:spPr>
          <a:xfrm>
            <a:off x="9386316" y="1993392"/>
            <a:ext cx="16459" cy="2395728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30" name="TextBox 29"/>
          <p:cNvSpPr txBox="1"/>
          <p:nvPr/>
        </p:nvSpPr>
        <p:spPr>
          <a:xfrm>
            <a:off x="9550908" y="2157984"/>
            <a:ext cx="1938528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9A72"/>
                </a:solidFill>
                <a:latin typeface="Calibri"/>
              </a:rPr>
              <a:t>Frontend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50908" y="2615184"/>
            <a:ext cx="193852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9EC4AE"/>
                </a:solidFill>
                <a:latin typeface="Calibri"/>
              </a:rPr>
              <a:t>React 18 SPA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9EC4AE"/>
                </a:solidFill>
                <a:latin typeface="Calibri"/>
              </a:rPr>
              <a:t>SignalR Client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9EC4AE"/>
                </a:solidFill>
                <a:latin typeface="Calibri"/>
              </a:rPr>
              <a:t>Chart.js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382512"/>
            <a:ext cx="12188952" cy="475488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02920" y="6437376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41E1A"/>
                </a:solidFill>
                <a:latin typeface="Calibri"/>
              </a:rPr>
              <a:t>⚡  Real-time via SignalR WebSocket — updates in &lt;2 seconds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320272" y="6492240"/>
            <a:ext cx="749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A8A78"/>
                </a:solidFill>
                <a:latin typeface="Calibri"/>
              </a:rPr>
              <a:t>7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"/>
            <a:ext cx="175564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896"/>
                </a:solidFill>
                <a:latin typeface="Calibri"/>
              </a:rPr>
              <a:t>DATABASE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429768"/>
            <a:ext cx="1755648" cy="2286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47548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8F5EE"/>
                </a:solidFill>
                <a:latin typeface="Georgia"/>
              </a:rPr>
              <a:t>Database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115568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A8A78"/>
                </a:solidFill>
                <a:latin typeface="Calibri"/>
              </a:rPr>
              <a:t>Eight tables in 3NF — Devices is the central hub; all others relate back via foreign keys.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645152" y="2423160"/>
            <a:ext cx="2907792" cy="804672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45152" y="2514600"/>
            <a:ext cx="29077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41E1A"/>
                </a:solidFill>
                <a:latin typeface="Calibri"/>
              </a:rPr>
              <a:t>DEVICES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5152" y="2898648"/>
            <a:ext cx="2907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3D2E"/>
                </a:solidFill>
                <a:latin typeface="Calibri"/>
              </a:rPr>
              <a:t>Central Table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4592" y="1417320"/>
            <a:ext cx="2633472" cy="1170432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64592" y="1417320"/>
            <a:ext cx="2633472" cy="41148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64592" y="1417320"/>
            <a:ext cx="36576" cy="1170432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56032" y="1490472"/>
            <a:ext cx="2468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896"/>
                </a:solidFill>
                <a:latin typeface="Calibri"/>
              </a:rPr>
              <a:t>SENSORS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" y="1874519"/>
            <a:ext cx="246887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C4AE"/>
                </a:solidFill>
                <a:latin typeface="Calibri"/>
              </a:rPr>
              <a:t>SensorId · DeviceId
SensorType · Unit · MinValue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592" y="3182112"/>
            <a:ext cx="2633472" cy="1170432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64592" y="3182112"/>
            <a:ext cx="2633472" cy="41148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64592" y="3182112"/>
            <a:ext cx="36576" cy="1170432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56032" y="3255264"/>
            <a:ext cx="2468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896"/>
                </a:solidFill>
                <a:latin typeface="Calibri"/>
              </a:rPr>
              <a:t>SENSOR READINGS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032" y="3639312"/>
            <a:ext cx="246887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C4AE"/>
                </a:solidFill>
                <a:latin typeface="Calibri"/>
              </a:rPr>
              <a:t>ReadingId (BIGINT)
Value · Timestamp · Status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" y="4846320"/>
            <a:ext cx="2633472" cy="1170432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64592" y="4846320"/>
            <a:ext cx="2633472" cy="41148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64592" y="4846320"/>
            <a:ext cx="36576" cy="1170432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56032" y="4919472"/>
            <a:ext cx="2468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896"/>
                </a:solidFill>
                <a:latin typeface="Calibri"/>
              </a:rPr>
              <a:t>STATUS HISTORY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" y="5303520"/>
            <a:ext cx="246887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C4AE"/>
                </a:solidFill>
                <a:latin typeface="Calibri"/>
              </a:rPr>
              <a:t>StatusHistoryId · DeviceId
Status · PreviousStatus · Message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70832" y="4846320"/>
            <a:ext cx="3108960" cy="1170432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370832" y="4846320"/>
            <a:ext cx="3108960" cy="41148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370832" y="4846320"/>
            <a:ext cx="36576" cy="1170432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62272" y="4919472"/>
            <a:ext cx="2944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896"/>
                </a:solidFill>
                <a:latin typeface="Calibri"/>
              </a:rPr>
              <a:t>OPERATIONAL METRICS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62272" y="5303520"/>
            <a:ext cx="2944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C4AE"/>
                </a:solidFill>
                <a:latin typeface="Calibri"/>
              </a:rPr>
              <a:t>MetricId · DeviceId
MetricName · Value · Period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869680" y="4846320"/>
            <a:ext cx="2962656" cy="1170432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869680" y="4846320"/>
            <a:ext cx="2962656" cy="41148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869680" y="4846320"/>
            <a:ext cx="36576" cy="1170432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961119" y="4919472"/>
            <a:ext cx="27980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896"/>
                </a:solidFill>
                <a:latin typeface="Calibri"/>
              </a:rPr>
              <a:t>ALERT RULES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19" y="5303520"/>
            <a:ext cx="279806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C4AE"/>
                </a:solidFill>
                <a:latin typeface="Calibri"/>
              </a:rPr>
              <a:t>RuleId · DeviceId · SensorId
Condition · Threshold · IsActive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869680" y="3182112"/>
            <a:ext cx="2962656" cy="1170432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869680" y="3182112"/>
            <a:ext cx="2962656" cy="41148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8869680" y="3182112"/>
            <a:ext cx="36576" cy="1170432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961119" y="3255264"/>
            <a:ext cx="27980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896"/>
                </a:solidFill>
                <a:latin typeface="Calibri"/>
              </a:rPr>
              <a:t>ALERTS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61119" y="3639312"/>
            <a:ext cx="279806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C4AE"/>
                </a:solidFill>
                <a:latin typeface="Calibri"/>
              </a:rPr>
              <a:t>AlertId · RuleId · DeviceId
Status · TriggeredAt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869680" y="1417320"/>
            <a:ext cx="2962656" cy="1170432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8869680" y="1417320"/>
            <a:ext cx="2962656" cy="41148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8869680" y="1417320"/>
            <a:ext cx="36576" cy="1170432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961119" y="1490472"/>
            <a:ext cx="27980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896"/>
                </a:solidFill>
                <a:latin typeface="Calibri"/>
              </a:rPr>
              <a:t>DEVICE CONFIGS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61119" y="1874519"/>
            <a:ext cx="279806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C4AE"/>
                </a:solidFill>
                <a:latin typeface="Calibri"/>
              </a:rPr>
              <a:t>ConfigId · DeviceId
Key · Value · Description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798064" y="2404491"/>
            <a:ext cx="1847088" cy="19050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2798064" y="3286887"/>
            <a:ext cx="1847088" cy="19050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3712083" y="2825496"/>
            <a:ext cx="19050" cy="2606039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7552944" y="2404491"/>
            <a:ext cx="1316735" cy="19050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7552944" y="3286887"/>
            <a:ext cx="1316735" cy="19050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8201787" y="2825496"/>
            <a:ext cx="19050" cy="2606039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6002655" y="3227832"/>
            <a:ext cx="19050" cy="1618488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1474978" y="2587752"/>
            <a:ext cx="13716" cy="594359"/>
          </a:xfrm>
          <a:prstGeom prst="rect">
            <a:avLst/>
          </a:prstGeom>
          <a:solidFill>
            <a:srgbClr val="2A4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10344658" y="4352544"/>
            <a:ext cx="13716" cy="493776"/>
          </a:xfrm>
          <a:prstGeom prst="rect">
            <a:avLst/>
          </a:prstGeom>
          <a:solidFill>
            <a:srgbClr val="2A4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164592" y="6263640"/>
            <a:ext cx="11777472" cy="347472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92608" y="6281928"/>
            <a:ext cx="11475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C896"/>
                </a:solidFill>
                <a:latin typeface="Calibri"/>
              </a:rPr>
              <a:t>  ✓  3NF Normalized   ✓  BIGINT SensorReadings (high-volume)   ✓  Composite Indexes on Timestamp+DeviceId   ✓  CASCADE DELETE   ✓  DATETIME2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320272" y="6492240"/>
            <a:ext cx="749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A8A78"/>
                </a:solidFill>
                <a:latin typeface="Calibri"/>
              </a:rPr>
              <a:t>8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"/>
            <a:ext cx="165689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896"/>
                </a:solidFill>
                <a:latin typeface="Calibri"/>
              </a:rPr>
              <a:t>BACKEND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429768"/>
            <a:ext cx="1656892" cy="2286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47548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8F5EE"/>
                </a:solidFill>
                <a:latin typeface="Georgia"/>
              </a:rPr>
              <a:t>Backend &amp; API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115568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A8A78"/>
                </a:solidFill>
                <a:latin typeface="Calibri"/>
              </a:rPr>
              <a:t>Four clear layers — each with a single responsibility, flowing top-to-bottom from request to database.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1463040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C896"/>
                </a:solidFill>
                <a:latin typeface="Calibri"/>
              </a:rPr>
              <a:t>Layered Architecture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" y="1810512"/>
            <a:ext cx="5029200" cy="36576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792" y="1901952"/>
            <a:ext cx="5120640" cy="822960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" y="1901952"/>
            <a:ext cx="5120640" cy="64008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" y="1965960"/>
            <a:ext cx="48646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96"/>
                </a:solidFill>
                <a:latin typeface="Calibri"/>
              </a:rPr>
              <a:t>Presentation 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359152"/>
            <a:ext cx="486460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Controllers  ·  SignalR Hub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724912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9A72"/>
                </a:solidFill>
                <a:latin typeface="Calibri"/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" y="2889504"/>
            <a:ext cx="4956048" cy="822960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1792" y="2889504"/>
            <a:ext cx="4956048" cy="64008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4672" y="2953512"/>
            <a:ext cx="47000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9A72"/>
                </a:solidFill>
                <a:latin typeface="Calibri"/>
              </a:rPr>
              <a:t>Service Layer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346704"/>
            <a:ext cx="47000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Business Logic  ·  FluentValidation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712464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9A72"/>
                </a:solidFill>
                <a:latin typeface="Calibri"/>
              </a:rPr>
              <a:t>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" y="3877056"/>
            <a:ext cx="4791455" cy="822960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1792" y="3877056"/>
            <a:ext cx="4791455" cy="64008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4672" y="3941064"/>
            <a:ext cx="453542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96"/>
                </a:solidFill>
                <a:latin typeface="Calibri"/>
              </a:rPr>
              <a:t>Data Access Layer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334256"/>
            <a:ext cx="453542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EF Core DbContext  ·  Repository Pattern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700016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9A72"/>
                </a:solidFill>
                <a:latin typeface="Calibri"/>
              </a:rPr>
              <a:t>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" y="4864608"/>
            <a:ext cx="4626864" cy="822960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21792" y="4864608"/>
            <a:ext cx="4626864" cy="64008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04672" y="4928616"/>
            <a:ext cx="437083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9A72"/>
                </a:solidFill>
                <a:latin typeface="Calibri"/>
              </a:rPr>
              <a:t>Database Layer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" y="5321808"/>
            <a:ext cx="4370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SQL Server  ·  IoTMonitoringDB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" y="5925312"/>
            <a:ext cx="5029200" cy="329184"/>
          </a:xfrm>
          <a:prstGeom prst="rect">
            <a:avLst/>
          </a:prstGeom>
          <a:solidFill>
            <a:srgbClr val="003D2E"/>
          </a:solidFill>
          <a:ln w="9525">
            <a:solidFill>
              <a:srgbClr val="009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49808" y="5952744"/>
            <a:ext cx="4773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A8A78"/>
                </a:solidFill>
                <a:latin typeface="Calibri"/>
              </a:rPr>
              <a:t>IoTMonitoringSystem.API  ·  .Core  ·  .Infrastructure  ·  .Services  ·  .Shared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1463040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C896"/>
                </a:solidFill>
                <a:latin typeface="Calibri"/>
              </a:rPr>
              <a:t>Key REST API Endpoints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80760" y="1810512"/>
            <a:ext cx="5486400" cy="36576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080760" y="1901952"/>
            <a:ext cx="5742432" cy="512064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080760" y="1901952"/>
            <a:ext cx="685800" cy="512064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80760" y="2029968"/>
            <a:ext cx="685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41E1A"/>
                </a:solidFill>
                <a:latin typeface="Calibri"/>
              </a:rPr>
              <a:t>GET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21424" y="1938528"/>
            <a:ext cx="3456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F5EE"/>
                </a:solidFill>
                <a:latin typeface="Calibri"/>
              </a:rPr>
              <a:t>/api/devices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21424" y="2194560"/>
            <a:ext cx="34564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C4AE"/>
                </a:solidFill>
                <a:latin typeface="Calibri"/>
              </a:rPr>
              <a:t>List all registered devices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2464308"/>
            <a:ext cx="5742432" cy="512064"/>
          </a:xfrm>
          <a:prstGeom prst="rect">
            <a:avLst/>
          </a:prstGeom>
          <a:solidFill>
            <a:srgbClr val="172620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080760" y="2464308"/>
            <a:ext cx="685800" cy="512064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080760" y="2592324"/>
            <a:ext cx="685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41E1A"/>
                </a:solidFill>
                <a:latin typeface="Calibri"/>
              </a:rPr>
              <a:t>POST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21424" y="2500884"/>
            <a:ext cx="3456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F5EE"/>
                </a:solidFill>
                <a:latin typeface="Calibri"/>
              </a:rPr>
              <a:t>/api/devices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21424" y="2756916"/>
            <a:ext cx="34564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C4AE"/>
                </a:solidFill>
                <a:latin typeface="Calibri"/>
              </a:rPr>
              <a:t>Register a new IoT device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80760" y="3026664"/>
            <a:ext cx="5742432" cy="512064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080760" y="3026664"/>
            <a:ext cx="685800" cy="512064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080760" y="3154680"/>
            <a:ext cx="685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41E1A"/>
                </a:solidFill>
                <a:latin typeface="Calibri"/>
              </a:rPr>
              <a:t>GET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21424" y="3063240"/>
            <a:ext cx="3456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F5EE"/>
                </a:solidFill>
                <a:latin typeface="Calibri"/>
              </a:rPr>
              <a:t>/api/devices/{id}/sensors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21424" y="3319272"/>
            <a:ext cx="34564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C4AE"/>
                </a:solidFill>
                <a:latin typeface="Calibri"/>
              </a:rPr>
              <a:t>Get all sensors for a device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80760" y="3589020"/>
            <a:ext cx="5742432" cy="512064"/>
          </a:xfrm>
          <a:prstGeom prst="rect">
            <a:avLst/>
          </a:prstGeom>
          <a:solidFill>
            <a:srgbClr val="172620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6080760" y="3589020"/>
            <a:ext cx="685800" cy="512064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080760" y="3717035"/>
            <a:ext cx="685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41E1A"/>
                </a:solidFill>
                <a:latin typeface="Calibri"/>
              </a:rPr>
              <a:t>POST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21424" y="3625596"/>
            <a:ext cx="3456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F5EE"/>
                </a:solidFill>
                <a:latin typeface="Calibri"/>
              </a:rPr>
              <a:t>/api/readings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21424" y="3881628"/>
            <a:ext cx="34564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C4AE"/>
                </a:solidFill>
                <a:latin typeface="Calibri"/>
              </a:rPr>
              <a:t>Ingest sensor reading from edge device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80760" y="4151376"/>
            <a:ext cx="5742432" cy="512064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6080760" y="4151376"/>
            <a:ext cx="685800" cy="512064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080760" y="4279392"/>
            <a:ext cx="685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41E1A"/>
                </a:solidFill>
                <a:latin typeface="Calibri"/>
              </a:rPr>
              <a:t>GET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21424" y="4187952"/>
            <a:ext cx="3456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F5EE"/>
                </a:solidFill>
                <a:latin typeface="Calibri"/>
              </a:rPr>
              <a:t>/api/readings?deviceId&amp;start&amp;end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1424" y="4443984"/>
            <a:ext cx="34564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C4AE"/>
                </a:solidFill>
                <a:latin typeface="Calibri"/>
              </a:rPr>
              <a:t>Query historical sensor data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80760" y="4713732"/>
            <a:ext cx="5742432" cy="512064"/>
          </a:xfrm>
          <a:prstGeom prst="rect">
            <a:avLst/>
          </a:prstGeom>
          <a:solidFill>
            <a:srgbClr val="3A2800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6080760" y="4713732"/>
            <a:ext cx="685800" cy="5120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080760" y="4841748"/>
            <a:ext cx="685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41E1A"/>
                </a:solidFill>
                <a:latin typeface="Calibri"/>
              </a:rPr>
              <a:t>GET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21424" y="4750308"/>
            <a:ext cx="3456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F5EE"/>
                </a:solidFill>
                <a:latin typeface="Calibri"/>
              </a:rPr>
              <a:t>/api/alerts/active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21424" y="5006340"/>
            <a:ext cx="34564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C4AE"/>
                </a:solidFill>
                <a:latin typeface="Calibri"/>
              </a:rPr>
              <a:t>Get all active alerts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80760" y="5276088"/>
            <a:ext cx="5742432" cy="512064"/>
          </a:xfrm>
          <a:prstGeom prst="rect">
            <a:avLst/>
          </a:prstGeom>
          <a:solidFill>
            <a:srgbClr val="3A2800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6080760" y="5276088"/>
            <a:ext cx="685800" cy="5120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080760" y="5404103"/>
            <a:ext cx="685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41E1A"/>
                </a:solidFill>
                <a:latin typeface="Calibri"/>
              </a:rPr>
              <a:t>PUT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21424" y="5312664"/>
            <a:ext cx="3456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F5EE"/>
                </a:solidFill>
                <a:latin typeface="Calibri"/>
              </a:rPr>
              <a:t>/api/alerts/{id}/acknowledge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21424" y="5568696"/>
            <a:ext cx="34564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C4AE"/>
                </a:solidFill>
                <a:latin typeface="Calibri"/>
              </a:rPr>
              <a:t>Acknowledge an alert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080760" y="5838444"/>
            <a:ext cx="5742432" cy="512064"/>
          </a:xfrm>
          <a:prstGeom prst="rect">
            <a:avLst/>
          </a:prstGeom>
          <a:solidFill>
            <a:srgbClr val="002A34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6080760" y="5838444"/>
            <a:ext cx="685800" cy="512064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080760" y="5966459"/>
            <a:ext cx="685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41E1A"/>
                </a:solidFill>
                <a:latin typeface="Calibri"/>
              </a:rPr>
              <a:t>WS Hub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21424" y="5875020"/>
            <a:ext cx="3456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F5EE"/>
                </a:solidFill>
                <a:latin typeface="Calibri"/>
              </a:rPr>
              <a:t>/hubs/monitoring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21424" y="6131052"/>
            <a:ext cx="34564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EC4AE"/>
                </a:solidFill>
                <a:latin typeface="Calibri"/>
              </a:rPr>
              <a:t>SignalR real-time streaming hub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320272" y="6492240"/>
            <a:ext cx="749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A8A78"/>
                </a:solidFill>
                <a:latin typeface="Calibri"/>
              </a:rPr>
              <a:t>9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"/>
            <a:ext cx="175564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896"/>
                </a:solidFill>
                <a:latin typeface="Calibri"/>
              </a:rPr>
              <a:t>FRONTEND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429768"/>
            <a:ext cx="1755648" cy="2286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47548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8F5EE"/>
                </a:solidFill>
                <a:latin typeface="Georgia"/>
              </a:rPr>
              <a:t>Frontend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115568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A8A78"/>
                </a:solidFill>
                <a:latin typeface="Calibri"/>
              </a:rPr>
              <a:t>A React SPA built around reusable components — real-time data flows from SignalR directly into chart state.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14630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C896"/>
                </a:solidFill>
                <a:latin typeface="Calibri"/>
              </a:rPr>
              <a:t>Application Pages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" y="1801368"/>
            <a:ext cx="5029200" cy="36576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792" y="1901952"/>
            <a:ext cx="5349240" cy="768096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" y="1901952"/>
            <a:ext cx="5349240" cy="64008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8" y="201168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96"/>
                </a:solidFill>
                <a:latin typeface="Calibri"/>
              </a:rPr>
              <a:t>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340864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Device status overview · Active alerts · Real-time charts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2788920"/>
            <a:ext cx="5349240" cy="768096"/>
          </a:xfrm>
          <a:prstGeom prst="rect">
            <a:avLst/>
          </a:prstGeom>
          <a:solidFill>
            <a:srgbClr val="172620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1792" y="2788920"/>
            <a:ext cx="5349240" cy="64008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9808" y="289864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9A72"/>
                </a:solidFill>
                <a:latin typeface="Calibri"/>
              </a:rPr>
              <a:t>Device List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227832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All devices with online/offline status · DeviceCard components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" y="3675887"/>
            <a:ext cx="5349240" cy="768096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1792" y="3675887"/>
            <a:ext cx="5349240" cy="64008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49808" y="3785615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96"/>
                </a:solidFill>
                <a:latin typeface="Calibri"/>
              </a:rPr>
              <a:t>Device Detail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1480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Live sensor readings · Sensor cards · Per-device real-time charts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4562856"/>
            <a:ext cx="5349240" cy="768096"/>
          </a:xfrm>
          <a:prstGeom prst="rect">
            <a:avLst/>
          </a:prstGeom>
          <a:solidFill>
            <a:srgbClr val="3A2800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1792" y="4562856"/>
            <a:ext cx="5349240" cy="6400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49808" y="4672584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Calibri"/>
              </a:rPr>
              <a:t>Alerts Page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00176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Active &amp; resolved alerts · Acknowledge and Resolve workflow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" y="5449824"/>
            <a:ext cx="5349240" cy="768096"/>
          </a:xfrm>
          <a:prstGeom prst="rect">
            <a:avLst/>
          </a:prstGeom>
          <a:solidFill>
            <a:srgbClr val="002A34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21792" y="5449824"/>
            <a:ext cx="5349240" cy="64008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49808" y="5559552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8D4"/>
                </a:solidFill>
                <a:latin typeface="Calibri"/>
              </a:rPr>
              <a:t>Historical Data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5888736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Date-range picker · Multi-sensor line charts · CSV data export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60" y="146304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C896"/>
                </a:solidFill>
                <a:latin typeface="Calibri"/>
              </a:rPr>
              <a:t>Key Patterns &amp; Technology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80760" y="1801368"/>
            <a:ext cx="5486400" cy="36576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080760" y="1901952"/>
            <a:ext cx="5742432" cy="768096"/>
          </a:xfrm>
          <a:prstGeom prst="rect">
            <a:avLst/>
          </a:prstGeom>
          <a:solidFill>
            <a:srgbClr val="002A34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080760" y="1901952"/>
            <a:ext cx="5742432" cy="64008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208776" y="2011680"/>
            <a:ext cx="5440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8D4"/>
                </a:solidFill>
                <a:latin typeface="Calibri"/>
              </a:rPr>
              <a:t>SignalR Client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8776" y="2340864"/>
            <a:ext cx="5440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Persistent WebSocket. Subscribes to device groups. Pushes readings directly into RealTimeChart state.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80760" y="2788920"/>
            <a:ext cx="5742432" cy="768096"/>
          </a:xfrm>
          <a:prstGeom prst="rect">
            <a:avLst/>
          </a:prstGeom>
          <a:solidFill>
            <a:srgbClr val="172620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080760" y="2788920"/>
            <a:ext cx="5742432" cy="64008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208776" y="2898648"/>
            <a:ext cx="5440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9A72"/>
                </a:solidFill>
                <a:latin typeface="Calibri"/>
              </a:rPr>
              <a:t>State Management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27832"/>
            <a:ext cx="5440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React Context API for global state. useDevices, useSensorReadings, useAlerts, useSignalR custom hooks.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80760" y="3675887"/>
            <a:ext cx="5742432" cy="768096"/>
          </a:xfrm>
          <a:prstGeom prst="rect">
            <a:avLst/>
          </a:prstGeom>
          <a:solidFill>
            <a:srgbClr val="3A2800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080760" y="3675887"/>
            <a:ext cx="5742432" cy="6400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208776" y="3785615"/>
            <a:ext cx="5440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Calibri"/>
              </a:rPr>
              <a:t>Data Visualization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4114800"/>
            <a:ext cx="5440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Chart.js RealTimeChart: rolling 50-point window. Line, Bar, Gauge types. Recharts for historical comparisons.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80760" y="4562856"/>
            <a:ext cx="5742432" cy="768096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080760" y="4562856"/>
            <a:ext cx="5742432" cy="64008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208776" y="4672584"/>
            <a:ext cx="5440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96"/>
                </a:solidFill>
                <a:latin typeface="Calibri"/>
              </a:rPr>
              <a:t>TypeScript + Router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08776" y="5001768"/>
            <a:ext cx="5440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Type-safe API responses and props. React Router v6: /dashboard, /devices/:id, /alerts, /history.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80760" y="5449824"/>
            <a:ext cx="5742432" cy="768096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6080760" y="5449824"/>
            <a:ext cx="5742432" cy="64008"/>
          </a:xfrm>
          <a:prstGeom prst="rect">
            <a:avLst/>
          </a:prstGeom>
          <a:solidFill>
            <a:srgbClr val="6A8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208776" y="5559552"/>
            <a:ext cx="5440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A8A78"/>
                </a:solidFill>
                <a:latin typeface="Calibri"/>
              </a:rPr>
              <a:t>Error &amp; Loading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08776" y="5888736"/>
            <a:ext cx="5440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ErrorBoundary catches component failures. LoadingSpinner and API error states handled per component.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320272" y="6492240"/>
            <a:ext cx="749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A8A78"/>
                </a:solidFill>
                <a:latin typeface="Calibri"/>
              </a:rPr>
              <a:t>10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"/>
            <a:ext cx="145938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896"/>
                </a:solidFill>
                <a:latin typeface="Calibri"/>
              </a:rPr>
              <a:t>KEY 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429768"/>
            <a:ext cx="1459382" cy="2286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47548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8F5EE"/>
                </a:solidFill>
                <a:latin typeface="Georgia"/>
              </a:rPr>
              <a:t>Key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115568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A8A78"/>
                </a:solidFill>
                <a:latin typeface="Calibri"/>
              </a:rPr>
              <a:t>Four pillars of the system — each addressing a real need identified in the problem statement.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481328"/>
            <a:ext cx="5376672" cy="2267712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1792" y="1481328"/>
            <a:ext cx="5376672" cy="64008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591056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96"/>
                </a:solidFill>
                <a:latin typeface="Calibri"/>
              </a:rPr>
              <a:t>Real-Time Streaming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075688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  ·  Live sensor data pushed via SignalR WebSocket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78024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  ·  Updates in &lt;2 seconds — no page refresh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80360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  ·  Multiple devices monitored simultaneously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282696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  ·  Rolling real-time charts — 50-point window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28231" y="1481328"/>
            <a:ext cx="5376672" cy="2267712"/>
          </a:xfrm>
          <a:prstGeom prst="rect">
            <a:avLst/>
          </a:prstGeom>
          <a:solidFill>
            <a:srgbClr val="002A34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28231" y="1481328"/>
            <a:ext cx="5376672" cy="64008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79" y="1591056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8D4"/>
                </a:solidFill>
                <a:latin typeface="Calibri"/>
              </a:rPr>
              <a:t>Dashboard &amp; Charts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79" y="2075688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  ·  Interactive Chart.js visualizations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79" y="2478024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  ·  Line, Bar, Gauge chart types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79" y="2880360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  ·  Historical data with date-range filter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79" y="3282696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  ·  Responsive desktop-first layout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3877056"/>
            <a:ext cx="5376672" cy="2267712"/>
          </a:xfrm>
          <a:prstGeom prst="rect">
            <a:avLst/>
          </a:prstGeom>
          <a:solidFill>
            <a:srgbClr val="3A2800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1792" y="3877056"/>
            <a:ext cx="5376672" cy="6400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3986784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A500"/>
                </a:solidFill>
                <a:latin typeface="Calibri"/>
              </a:rPr>
              <a:t>Alerting System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471416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  ·  Configurable threshold-based alert rules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873752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  ·  Real-time notifications via SignalR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276088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  ·  Acknowledge and resolve workflow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678424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  ·  Full alert history maintained in DB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28231" y="3877056"/>
            <a:ext cx="5376672" cy="2267712"/>
          </a:xfrm>
          <a:prstGeom prst="rect">
            <a:avLst/>
          </a:prstGeom>
          <a:solidFill>
            <a:srgbClr val="172620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428231" y="3877056"/>
            <a:ext cx="5376672" cy="64008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83679" y="3986784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9A72"/>
                </a:solidFill>
                <a:latin typeface="Calibri"/>
              </a:rPr>
              <a:t>Device Management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79" y="4471416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  ·  Register: Arduino, ESP32, Raspberry Pi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79" y="4873752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  ·  Online/Offline via LastSeenAt heartbeat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79" y="5276088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  ·  Sensor config: type, unit, min/max values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79" y="5678424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  ·  Device configuration key-value store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320272" y="6492240"/>
            <a:ext cx="749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A8A78"/>
                </a:solidFill>
                <a:latin typeface="Calibri"/>
              </a:rPr>
              <a:t>11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"/>
            <a:ext cx="116311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896"/>
                </a:solidFill>
                <a:latin typeface="Calibri"/>
              </a:rPr>
              <a:t>LIVE DEMO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429768"/>
            <a:ext cx="1163116" cy="2286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47548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8F5EE"/>
                </a:solidFill>
                <a:latin typeface="Georgia"/>
              </a:rPr>
              <a:t>Live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115568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A8A78"/>
                </a:solidFill>
                <a:latin typeface="Calibri"/>
              </a:rPr>
              <a:t>Watch one sensor reading travel the full stack — from edge device to dashboard — in real time.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920240"/>
            <a:ext cx="2084831" cy="1536192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66928" y="1920240"/>
            <a:ext cx="2084831" cy="4572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380744" y="2057400"/>
            <a:ext cx="457200" cy="457200"/>
          </a:xfrm>
          <a:prstGeom prst="ellipse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8" y="2633472"/>
            <a:ext cx="199339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C896"/>
                </a:solidFill>
                <a:latin typeface="Calibri"/>
              </a:rPr>
              <a:t>ESP32
Edge Device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3054096"/>
            <a:ext cx="19933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EC4AE"/>
                </a:solidFill>
                <a:latin typeface="Calibri"/>
              </a:rPr>
              <a:t>Sends JSON
HTTP POST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71216" y="1920240"/>
            <a:ext cx="2084831" cy="1536192"/>
          </a:xfrm>
          <a:prstGeom prst="rect">
            <a:avLst/>
          </a:prstGeom>
          <a:solidFill>
            <a:srgbClr val="172620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871216" y="1920240"/>
            <a:ext cx="2084831" cy="45720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3685032" y="2057400"/>
            <a:ext cx="457200" cy="457200"/>
          </a:xfrm>
          <a:prstGeom prst="ellipse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916936" y="2633472"/>
            <a:ext cx="199339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9A72"/>
                </a:solidFill>
                <a:latin typeface="Calibri"/>
              </a:rPr>
              <a:t>ASP.NET
Core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6936" y="3054096"/>
            <a:ext cx="19933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EC4AE"/>
                </a:solidFill>
                <a:latin typeface="Calibri"/>
              </a:rPr>
              <a:t>Validates &amp;
Persists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75504" y="1920240"/>
            <a:ext cx="2084831" cy="1536192"/>
          </a:xfrm>
          <a:prstGeom prst="rect">
            <a:avLst/>
          </a:prstGeom>
          <a:solidFill>
            <a:srgbClr val="002A34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175504" y="1920240"/>
            <a:ext cx="2084831" cy="45720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989320" y="2057400"/>
            <a:ext cx="457200" cy="457200"/>
          </a:xfrm>
          <a:prstGeom prst="ellipse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21224" y="2633472"/>
            <a:ext cx="199339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B8D4"/>
                </a:solidFill>
                <a:latin typeface="Calibri"/>
              </a:rPr>
              <a:t>SQL Server
Database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21224" y="3054096"/>
            <a:ext cx="19933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EC4AE"/>
                </a:solidFill>
                <a:latin typeface="Calibri"/>
              </a:rPr>
              <a:t>Stores to
SensorReadings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79792" y="1920240"/>
            <a:ext cx="2084831" cy="1536192"/>
          </a:xfrm>
          <a:prstGeom prst="rect">
            <a:avLst/>
          </a:prstGeom>
          <a:solidFill>
            <a:srgbClr val="3A2800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479792" y="1920240"/>
            <a:ext cx="2084831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293608" y="2057400"/>
            <a:ext cx="457200" cy="457200"/>
          </a:xfrm>
          <a:prstGeom prst="ellipse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525512" y="2633472"/>
            <a:ext cx="199339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0A500"/>
                </a:solidFill>
                <a:latin typeface="Calibri"/>
              </a:rPr>
              <a:t>SignalR
Hub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25512" y="3054096"/>
            <a:ext cx="19933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EC4AE"/>
                </a:solidFill>
                <a:latin typeface="Calibri"/>
              </a:rPr>
              <a:t>Broadcasts to
clients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84080" y="1920240"/>
            <a:ext cx="2084831" cy="1536192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784080" y="1920240"/>
            <a:ext cx="2084831" cy="4572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10597896" y="2057400"/>
            <a:ext cx="457200" cy="457200"/>
          </a:xfrm>
          <a:prstGeom prst="ellipse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829800" y="2633472"/>
            <a:ext cx="199339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C896"/>
                </a:solidFill>
                <a:latin typeface="Calibri"/>
              </a:rPr>
              <a:t>React
Dashboard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800" y="3054096"/>
            <a:ext cx="19933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EC4AE"/>
                </a:solidFill>
                <a:latin typeface="Calibri"/>
              </a:rPr>
              <a:t>Chart updates
live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697480" y="2633472"/>
            <a:ext cx="146304" cy="45720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2825496" y="2532888"/>
            <a:ext cx="128016" cy="228600"/>
          </a:xfrm>
          <a:prstGeom prst="round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5001768" y="2633472"/>
            <a:ext cx="146304" cy="45720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5129783" y="2532888"/>
            <a:ext cx="128016" cy="228600"/>
          </a:xfrm>
          <a:prstGeom prst="round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7306056" y="2633472"/>
            <a:ext cx="146304" cy="45720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7434072" y="2532888"/>
            <a:ext cx="128016" cy="228600"/>
          </a:xfrm>
          <a:prstGeom prst="round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9610344" y="2633472"/>
            <a:ext cx="146304" cy="45720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9738360" y="2532888"/>
            <a:ext cx="128016" cy="228600"/>
          </a:xfrm>
          <a:prstGeom prst="round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21792" y="3749039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96"/>
                </a:solidFill>
                <a:latin typeface="Calibri"/>
              </a:rPr>
              <a:t>Demo Checklist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1792" y="4096512"/>
            <a:ext cx="2926080" cy="36576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566928" y="4206240"/>
            <a:ext cx="2176272" cy="1481328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66928" y="4206240"/>
            <a:ext cx="2176272" cy="41148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1426464" y="4334255"/>
            <a:ext cx="457200" cy="457200"/>
          </a:xfrm>
          <a:prstGeom prst="ellipse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426464" y="4361688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41E1A"/>
                </a:solidFill>
                <a:latin typeface="Calibri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6656" y="4937759"/>
            <a:ext cx="193852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9EC4AE"/>
                </a:solidFill>
                <a:latin typeface="Calibri"/>
              </a:rPr>
              <a:t>Register an ESP32 device in the dashboard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898648" y="4206240"/>
            <a:ext cx="2176272" cy="1481328"/>
          </a:xfrm>
          <a:prstGeom prst="rect">
            <a:avLst/>
          </a:prstGeom>
          <a:solidFill>
            <a:srgbClr val="172620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2898648" y="4206240"/>
            <a:ext cx="2176272" cy="41148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3758183" y="4334255"/>
            <a:ext cx="457200" cy="457200"/>
          </a:xfrm>
          <a:prstGeom prst="ellipse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758183" y="4361688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41E1A"/>
                </a:solidFill>
                <a:latin typeface="Calibri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08376" y="4937759"/>
            <a:ext cx="193852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9EC4AE"/>
                </a:solidFill>
                <a:latin typeface="Calibri"/>
              </a:rPr>
              <a:t>Send POST request from edge device (or simulate via Postman)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30368" y="4206240"/>
            <a:ext cx="2176272" cy="1481328"/>
          </a:xfrm>
          <a:prstGeom prst="rect">
            <a:avLst/>
          </a:prstGeom>
          <a:solidFill>
            <a:srgbClr val="002A34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5230368" y="4206240"/>
            <a:ext cx="2176272" cy="41148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6089904" y="4334255"/>
            <a:ext cx="457200" cy="457200"/>
          </a:xfrm>
          <a:prstGeom prst="ellipse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089904" y="4361688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41E1A"/>
                </a:solidFill>
                <a:latin typeface="Calibri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40096" y="4937759"/>
            <a:ext cx="193852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9EC4AE"/>
                </a:solidFill>
                <a:latin typeface="Calibri"/>
              </a:rPr>
              <a:t>Watch real-time chart update on dashboard within 2 seconds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62088" y="4206240"/>
            <a:ext cx="2176272" cy="1481328"/>
          </a:xfrm>
          <a:prstGeom prst="rect">
            <a:avLst/>
          </a:prstGeom>
          <a:solidFill>
            <a:srgbClr val="3A2800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7562088" y="4206240"/>
            <a:ext cx="2176272" cy="4114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8421624" y="4334255"/>
            <a:ext cx="457200" cy="457200"/>
          </a:xfrm>
          <a:prstGeom prst="ellipse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8421624" y="4361688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41E1A"/>
                </a:solidFill>
                <a:latin typeface="Calibri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71815" y="4937759"/>
            <a:ext cx="193852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9EC4AE"/>
                </a:solidFill>
                <a:latin typeface="Calibri"/>
              </a:rPr>
              <a:t>Trigger a threshold breach — show alert appear in real-time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893807" y="4206240"/>
            <a:ext cx="2176272" cy="1481328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9893807" y="4206240"/>
            <a:ext cx="2176272" cy="41148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10753343" y="4334255"/>
            <a:ext cx="457200" cy="457200"/>
          </a:xfrm>
          <a:prstGeom prst="ellipse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10753343" y="4361688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41E1A"/>
                </a:solidFill>
                <a:latin typeface="Calibri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03535" y="4937759"/>
            <a:ext cx="193852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9EC4AE"/>
                </a:solidFill>
                <a:latin typeface="Calibri"/>
              </a:rPr>
              <a:t>Query historical data using the date-range filter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320272" y="6492240"/>
            <a:ext cx="749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A8A78"/>
                </a:solidFill>
                <a:latin typeface="Calibri"/>
              </a:rPr>
              <a:t>3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"/>
            <a:ext cx="195315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896"/>
                </a:solidFill>
                <a:latin typeface="Calibri"/>
              </a:rPr>
              <a:t>PROBLEM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429768"/>
            <a:ext cx="1953158" cy="2286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47548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8F5EE"/>
                </a:solidFill>
                <a:latin typeface="Georgia"/>
              </a:rPr>
              <a:t>The Challenge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115568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A8A78"/>
                </a:solidFill>
                <a:latin typeface="Calibri"/>
              </a:rPr>
              <a:t>Industrial, commercial, and agricultural facilities need continuous device monitoring — but current solutions fall short.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7223760" cy="868680"/>
          </a:xfrm>
          <a:prstGeom prst="rect">
            <a:avLst/>
          </a:prstGeom>
          <a:solidFill>
            <a:srgbClr val="35100E"/>
          </a:solidFill>
          <a:ln w="9525">
            <a:solidFill>
              <a:srgbClr val="E55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1792" y="1664208"/>
            <a:ext cx="41148" cy="868680"/>
          </a:xfrm>
          <a:prstGeom prst="rect">
            <a:avLst/>
          </a:prstGeom>
          <a:solidFill>
            <a:srgbClr val="E55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" y="1737360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E5534B"/>
                </a:solidFill>
                <a:latin typeface="Calibri"/>
              </a:rPr>
              <a:t>Equipment Failure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139696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Unmonitored devices lead to costly failures, downtime, and safety hazards.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2670048"/>
            <a:ext cx="7223760" cy="868680"/>
          </a:xfrm>
          <a:prstGeom prst="rect">
            <a:avLst/>
          </a:prstGeom>
          <a:solidFill>
            <a:srgbClr val="35100E"/>
          </a:solidFill>
          <a:ln w="9525">
            <a:solidFill>
              <a:srgbClr val="E55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1792" y="2670048"/>
            <a:ext cx="41148" cy="868680"/>
          </a:xfrm>
          <a:prstGeom prst="rect">
            <a:avLst/>
          </a:prstGeom>
          <a:solidFill>
            <a:srgbClr val="E55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2" y="2743200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E5534B"/>
                </a:solidFill>
                <a:latin typeface="Calibri"/>
              </a:rPr>
              <a:t>Distributed Locations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145536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Equipment spans multiple facilities — no single point of visibility or control.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" y="3675888"/>
            <a:ext cx="7223760" cy="868680"/>
          </a:xfrm>
          <a:prstGeom prst="rect">
            <a:avLst/>
          </a:prstGeom>
          <a:solidFill>
            <a:srgbClr val="3A2800"/>
          </a:solidFill>
          <a:ln w="9525">
            <a:solidFill>
              <a:srgbClr val="F0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1792" y="3675888"/>
            <a:ext cx="41148" cy="86868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2" y="3749040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0A500"/>
                </a:solidFill>
                <a:latin typeface="Calibri"/>
              </a:rPr>
              <a:t>SCADA Cost Barrier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151376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Industrial SCADA systems are prohibitively expensive and require proprietary hardware.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" y="4681728"/>
            <a:ext cx="7223760" cy="868680"/>
          </a:xfrm>
          <a:prstGeom prst="rect">
            <a:avLst/>
          </a:prstGeom>
          <a:solidFill>
            <a:srgbClr val="3A2800"/>
          </a:solidFill>
          <a:ln w="9525">
            <a:solidFill>
              <a:srgbClr val="F0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1792" y="4681728"/>
            <a:ext cx="41148" cy="86868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4672" y="4754880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0A500"/>
                </a:solidFill>
                <a:latin typeface="Calibri"/>
              </a:rPr>
              <a:t>No Historical Traceability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157216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Without data logging, trace-back analysis and trend detection is impossible.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11312" y="1417320"/>
            <a:ext cx="3657600" cy="4892040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211312" y="1417320"/>
            <a:ext cx="41148" cy="489204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211312" y="1417320"/>
            <a:ext cx="3657600" cy="36576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366760" y="1536192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96"/>
                </a:solidFill>
                <a:latin typeface="Calibri"/>
              </a:rPr>
              <a:t>Our Solution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66760" y="1920240"/>
            <a:ext cx="3108960" cy="36576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366760" y="202996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EC4AE"/>
                </a:solidFill>
                <a:latin typeface="Calibri"/>
              </a:rPr>
              <a:t>✓  Web-based — no proprietary hardware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2468880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EC4AE"/>
                </a:solidFill>
                <a:latin typeface="Calibri"/>
              </a:rPr>
              <a:t>✓  Real-time via SignalR WebSocket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290779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EC4AE"/>
                </a:solidFill>
                <a:latin typeface="Calibri"/>
              </a:rPr>
              <a:t>✓  Historical storage in SQL Server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3346704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EC4AE"/>
                </a:solidFill>
                <a:latin typeface="Calibri"/>
              </a:rPr>
              <a:t>✓  Remote access from any browser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3785616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EC4AE"/>
                </a:solidFill>
                <a:latin typeface="Calibri"/>
              </a:rPr>
              <a:t>✓  Cost-effective open-source stack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6760" y="42245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EC4AE"/>
                </a:solidFill>
                <a:latin typeface="Calibri"/>
              </a:rPr>
              <a:t>✓  Arduino, ESP32, Raspberry Pi support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E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85800" y="6583680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A8A78"/>
                </a:solidFill>
                <a:latin typeface="Calibri"/>
              </a:rPr>
              <a:t>Problem → Solution: a cost-effective web-based alternative to industrial SCADA systems.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320272" y="6492240"/>
            <a:ext cx="749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A8A78"/>
                </a:solidFill>
                <a:latin typeface="Calibri"/>
              </a:rPr>
              <a:t>12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"/>
            <a:ext cx="2446934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896"/>
                </a:solidFill>
                <a:latin typeface="Calibri"/>
              </a:rPr>
              <a:t>CHALLENGES &amp; SOLUTIONS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429768"/>
            <a:ext cx="2446934" cy="2286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47548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8F5EE"/>
                </a:solidFill>
                <a:latin typeface="Georgia"/>
              </a:rPr>
              <a:t>Challenges &amp; Solutions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115568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A8A78"/>
                </a:solidFill>
                <a:latin typeface="Calibri"/>
              </a:rPr>
              <a:t>Four real engineering decisions — these show the depth of thinking behind the design, not just the features.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481328"/>
            <a:ext cx="11247120" cy="1143000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1792" y="1481328"/>
            <a:ext cx="11247120" cy="64008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" y="1536192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C896"/>
                </a:solidFill>
                <a:latin typeface="Calibri"/>
              </a:rPr>
              <a:t>Real-Time Data Synchronization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Challenge:  Keeping multiple browser clients in sync with live sensor data without polling or page refreshes.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249424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5EE"/>
                </a:solidFill>
                <a:latin typeface="Calibri"/>
              </a:rPr>
              <a:t>Solution:    SignalR WebSocket hub with device-group subscriptions. Server pushes to groups on data receipt.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743200"/>
            <a:ext cx="11247120" cy="1143000"/>
          </a:xfrm>
          <a:prstGeom prst="rect">
            <a:avLst/>
          </a:prstGeom>
          <a:solidFill>
            <a:srgbClr val="3A2800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792" y="2743200"/>
            <a:ext cx="11247120" cy="6400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" y="2798064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0A500"/>
                </a:solidFill>
                <a:latin typeface="Calibri"/>
              </a:rPr>
              <a:t>High-Volume Time-Series Storage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3163824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Challenge:  SensorReadings grows large — thousands of rows per device per day. Queries must stay fast.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3511296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5EE"/>
                </a:solidFill>
                <a:latin typeface="Calibri"/>
              </a:rPr>
              <a:t>Solution:    BIGINT key, composite indexes on (Timestamp, DeviceId), 30-day detail + aggregated archive policy.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" y="4005072"/>
            <a:ext cx="11247120" cy="1143000"/>
          </a:xfrm>
          <a:prstGeom prst="rect">
            <a:avLst/>
          </a:prstGeom>
          <a:solidFill>
            <a:srgbClr val="002A34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1792" y="4005072"/>
            <a:ext cx="11247120" cy="64008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2" y="4059935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B8D4"/>
                </a:solidFill>
                <a:latin typeface="Calibri"/>
              </a:rPr>
              <a:t>Cross-Layer Data Flow Design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4425696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Challenge:  One sensor reading must flow cleanly: edge device → API → DB → SignalR → React chart.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477316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5EE"/>
                </a:solidFill>
                <a:latin typeface="Calibri"/>
              </a:rPr>
              <a:t>Solution:    Layered architecture (Controller → Service → Repository → DB). SignalR notifies after DB write. DTOs decouple layers.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" y="5266944"/>
            <a:ext cx="11247120" cy="1143000"/>
          </a:xfrm>
          <a:prstGeom prst="rect">
            <a:avLst/>
          </a:prstGeom>
          <a:solidFill>
            <a:srgbClr val="172620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21792" y="5266944"/>
            <a:ext cx="11247120" cy="64008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04672" y="5321807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9A72"/>
                </a:solidFill>
                <a:latin typeface="Calibri"/>
              </a:rPr>
              <a:t>Edge Device Compatibility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68756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Challenge:  Supporting Arduino, ESP32, and Raspberry Pi — all with different hardware and communication capabilities.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603504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5EE"/>
                </a:solidFill>
                <a:latin typeface="Calibri"/>
              </a:rPr>
              <a:t>Solution:    Flexible JSON payload format. HTTP POST endpoint for all devices. EdgeDeviceId as universal identifier.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320272" y="6492240"/>
            <a:ext cx="749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A8A78"/>
                </a:solidFill>
                <a:latin typeface="Calibri"/>
              </a:rPr>
              <a:t>13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"/>
            <a:ext cx="195315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896"/>
                </a:solidFill>
                <a:latin typeface="Calibri"/>
              </a:rPr>
              <a:t>QUALITY &amp; TESTING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429768"/>
            <a:ext cx="1953158" cy="2286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47548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8F5EE"/>
                </a:solidFill>
                <a:latin typeface="Georgia"/>
              </a:rPr>
              <a:t>Testing &amp; Code Quality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115568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A8A78"/>
                </a:solidFill>
                <a:latin typeface="Calibri"/>
              </a:rPr>
              <a:t>Quality is built in — not bolted on. These practices were applied throughout development, not added at the end.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536192"/>
            <a:ext cx="5376672" cy="2212848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1792" y="1536192"/>
            <a:ext cx="5376672" cy="64008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655064"/>
            <a:ext cx="5074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96"/>
                </a:solidFill>
                <a:latin typeface="Calibri"/>
              </a:rPr>
              <a:t>Input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084831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·  FluentValidation on all DTOs — DeviceName, DeviceType, SensorType length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87168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·  SQL injection prevention via parameterized Entity Framework Core queries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89503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·  XSS prevention — React escapes output by default on all renders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291839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·  C# nullable reference types — null-safety enforced at compile time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28231" y="1536192"/>
            <a:ext cx="5376672" cy="2212848"/>
          </a:xfrm>
          <a:prstGeom prst="rect">
            <a:avLst/>
          </a:prstGeom>
          <a:solidFill>
            <a:srgbClr val="3A2800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28231" y="1536192"/>
            <a:ext cx="5376672" cy="6400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79" y="1655064"/>
            <a:ext cx="5074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A500"/>
                </a:solidFill>
                <a:latin typeface="Calibri"/>
              </a:rPr>
              <a:t>Error Handling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79" y="2084831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·  Global Exception Handler middleware — consistent JSON error responses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79" y="2487168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·  React ErrorBoundary catches component tree failures gracefully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79" y="2889503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·  API error handling: server error vs network error vs unexpected error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79" y="3291839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·  Device offline detection via LastSeenAt heartbeat timeout logic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3913632"/>
            <a:ext cx="5376672" cy="2212848"/>
          </a:xfrm>
          <a:prstGeom prst="rect">
            <a:avLst/>
          </a:prstGeom>
          <a:solidFill>
            <a:srgbClr val="002A34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1792" y="3913632"/>
            <a:ext cx="5376672" cy="64008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4032504"/>
            <a:ext cx="5074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8D4"/>
                </a:solidFill>
                <a:latin typeface="Calibri"/>
              </a:rPr>
              <a:t>Database Quality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462272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·  EF Core Migrations — all schema changes version-controlled in Git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864608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·  Foreign key constraints with CASCADE DELETE enforce referential integrity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266944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·  Composite indexes designed for actual query patterns (Timestamp + DeviceId)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669280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·  DECIMAL(18,4) precision for sensor values — no floating-point errors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28231" y="3913632"/>
            <a:ext cx="5376672" cy="2212848"/>
          </a:xfrm>
          <a:prstGeom prst="rect">
            <a:avLst/>
          </a:prstGeom>
          <a:solidFill>
            <a:srgbClr val="172620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428231" y="3913632"/>
            <a:ext cx="5376672" cy="64008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83679" y="4032504"/>
            <a:ext cx="5074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9A72"/>
                </a:solidFill>
                <a:latin typeface="Calibri"/>
              </a:rPr>
              <a:t>Code Architecture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79" y="4462272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·  Repository Pattern: data access fully abstracted from business logic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79" y="4864608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·  Dependency Injection throughout ASP.NET Core (Scoped services)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79" y="5266944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·  TypeScript on frontend: type-safe API responses and component props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79" y="5669280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EC4AE"/>
                </a:solidFill>
                <a:latin typeface="Calibri"/>
              </a:rPr>
              <a:t>·  Clean structure: API / Core / Infrastructure / Services / Shared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320272" y="6492240"/>
            <a:ext cx="749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A8A78"/>
                </a:solidFill>
                <a:latin typeface="Calibri"/>
              </a:rPr>
              <a:t>14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"/>
            <a:ext cx="1261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896"/>
                </a:solidFill>
                <a:latin typeface="Calibri"/>
              </a:rPr>
              <a:t>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429768"/>
            <a:ext cx="1261872" cy="2286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47548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8F5EE"/>
                </a:solidFill>
                <a:latin typeface="Georgia"/>
              </a:rPr>
              <a:t>Conclusion &amp; Future 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234440"/>
            <a:ext cx="5486400" cy="4526280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1792" y="1234440"/>
            <a:ext cx="5486400" cy="64008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2" y="1353312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96"/>
                </a:solidFill>
                <a:latin typeface="Calibri"/>
              </a:rPr>
              <a:t>✅  What's Been Achieved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" y="1737360"/>
            <a:ext cx="4846320" cy="36576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2" y="184708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EC4AE"/>
                </a:solidFill>
                <a:latin typeface="Calibri"/>
              </a:rPr>
              <a:t>  ✓  Complete system architecture designed &amp; documented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23113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EC4AE"/>
                </a:solidFill>
                <a:latin typeface="Calibri"/>
              </a:rPr>
              <a:t>  ✓  8-table SQL Server schema — 3NF normalized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61518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EC4AE"/>
                </a:solidFill>
                <a:latin typeface="Calibri"/>
              </a:rPr>
              <a:t>  ✓  ASP.NET Core layered backend with Repository pattern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99923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EC4AE"/>
                </a:solidFill>
                <a:latin typeface="Calibri"/>
              </a:rPr>
              <a:t>  ✓  SignalR real-time hub architecture defined &amp; designed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3832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EC4AE"/>
                </a:solidFill>
                <a:latin typeface="Calibri"/>
              </a:rPr>
              <a:t>  ✓  React SPA component hierarchy &amp; service layer designed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376732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EC4AE"/>
                </a:solidFill>
                <a:latin typeface="Calibri"/>
              </a:rPr>
              <a:t>  ✓  All design docs: Overview, Requirements, DB, App, Frontend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1513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EC4AE"/>
                </a:solidFill>
                <a:latin typeface="Calibri"/>
              </a:rPr>
              <a:t>  ✓  Git + GitHub version control + 3-2-1 backup strategy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1234440"/>
            <a:ext cx="5422392" cy="2148840"/>
          </a:xfrm>
          <a:prstGeom prst="rect">
            <a:avLst/>
          </a:prstGeom>
          <a:solidFill>
            <a:srgbClr val="002A34"/>
          </a:solidFill>
          <a:ln w="9525">
            <a:solidFill>
              <a:srgbClr val="00B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46520" y="1234440"/>
            <a:ext cx="5422392" cy="64008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29400" y="1353312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8D4"/>
                </a:solidFill>
                <a:latin typeface="Calibri"/>
              </a:rPr>
              <a:t>🔭  Next Steps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184708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EC4AE"/>
                </a:solidFill>
                <a:latin typeface="Calibri"/>
              </a:rPr>
              <a:t>  →  Complete backend API implementation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23113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EC4AE"/>
                </a:solidFill>
                <a:latin typeface="Calibri"/>
              </a:rPr>
              <a:t>  →  Build React frontend &amp; connect to SignalR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261518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EC4AE"/>
                </a:solidFill>
                <a:latin typeface="Calibri"/>
              </a:rPr>
              <a:t>  →  Integrate real ESP32 devices + sensors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299923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EC4AE"/>
                </a:solidFill>
                <a:latin typeface="Calibri"/>
              </a:rPr>
              <a:t>  →  End-to-end live demo with real sensor data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46520" y="3593592"/>
            <a:ext cx="5422392" cy="2148840"/>
          </a:xfrm>
          <a:prstGeom prst="rect">
            <a:avLst/>
          </a:prstGeom>
          <a:solidFill>
            <a:srgbClr val="3A2800"/>
          </a:solidFill>
          <a:ln w="9525">
            <a:solidFill>
              <a:srgbClr val="F0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446520" y="3593592"/>
            <a:ext cx="5422392" cy="6400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629400" y="3712463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A500"/>
                </a:solidFill>
                <a:latin typeface="Calibri"/>
              </a:rPr>
              <a:t>🚀  Future Enhancements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2062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EC4AE"/>
                </a:solidFill>
                <a:latin typeface="Calibri"/>
              </a:rPr>
              <a:t>  +  Mobile application (iOS / Android)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59028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EC4AE"/>
                </a:solidFill>
                <a:latin typeface="Calibri"/>
              </a:rPr>
              <a:t>  +  ML-based predictive maintenance &amp; anomaly detection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497433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EC4AE"/>
                </a:solidFill>
                <a:latin typeface="Calibri"/>
              </a:rPr>
              <a:t>  +  OAuth / JWT advanced authentication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358383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EC4AE"/>
                </a:solidFill>
                <a:latin typeface="Calibri"/>
              </a:rPr>
              <a:t>  +  Multi-tenant support for multiple facilities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016752"/>
            <a:ext cx="12188952" cy="841248"/>
          </a:xfrm>
          <a:prstGeom prst="rect">
            <a:avLst/>
          </a:prstGeom>
          <a:solidFill>
            <a:srgbClr val="00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0" y="6016752"/>
            <a:ext cx="12188952" cy="41148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8640" y="6080760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E8F5EE"/>
                </a:solidFill>
                <a:latin typeface="Georgia"/>
              </a:rPr>
              <a:t>This project demonstrates the full development stack — from physical sensor to cloud dashboard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37376"/>
            <a:ext cx="11064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00C896"/>
                </a:solidFill>
                <a:latin typeface="Calibri"/>
              </a:rPr>
              <a:t>as practical evidence of BAS Application Development program competency.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</TotalTime>
  <Words>2071</Words>
  <Application>Microsoft Office PowerPoint</Application>
  <PresentationFormat>Custom</PresentationFormat>
  <Paragraphs>339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Candara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Quoc Bao Tran</cp:lastModifiedBy>
  <cp:revision>11</cp:revision>
  <dcterms:created xsi:type="dcterms:W3CDTF">2013-01-27T09:14:16Z</dcterms:created>
  <dcterms:modified xsi:type="dcterms:W3CDTF">2026-04-26T21:19:22Z</dcterms:modified>
  <cp:category/>
</cp:coreProperties>
</file>